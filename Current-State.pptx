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8"/>
  </p:notesMasterIdLst>
  <p:handoutMasterIdLst>
    <p:handoutMasterId r:id="rId9"/>
  </p:handoutMasterIdLst>
  <p:sldIdLst>
    <p:sldId id="360" r:id="rId5"/>
    <p:sldId id="419" r:id="rId6"/>
    <p:sldId id="427" r:id="rId7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6DD9FF"/>
    <a:srgbClr val="5F5E5F"/>
    <a:srgbClr val="919D9D"/>
    <a:srgbClr val="F3F4F0"/>
    <a:srgbClr val="F3FDD3"/>
    <a:srgbClr val="000000"/>
    <a:srgbClr val="F37021"/>
    <a:srgbClr val="CCE0D7"/>
    <a:srgbClr val="E1E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0" autoAdjust="0"/>
    <p:restoredTop sz="94291" autoAdjust="0"/>
  </p:normalViewPr>
  <p:slideViewPr>
    <p:cSldViewPr snapToGrid="0">
      <p:cViewPr varScale="1">
        <p:scale>
          <a:sx n="102" d="100"/>
          <a:sy n="102" d="100"/>
        </p:scale>
        <p:origin x="128" y="48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1/28/2022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1/28/2022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7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8" r:id="rId13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 (Transformation As A Service)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cap="small">
                <a:solidFill>
                  <a:srgbClr val="DA291C"/>
                </a:solidFill>
                <a:latin typeface="Helvetica" panose="020B0604020202020204" pitchFamily="2" charset="0"/>
              </a:defRPr>
            </a:lvl1pPr>
          </a:lstStyle>
          <a:p>
            <a:pPr algn="ctr"/>
            <a:r>
              <a:rPr lang="en-US"/>
              <a:t>Capabilities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D3C48-BA0F-4B60-A233-D7410E80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6372" y="513728"/>
            <a:ext cx="8454366" cy="44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6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Key Capabilities / Accelerator / Gaps / Risks</a:t>
            </a:r>
          </a:p>
        </p:txBody>
      </p:sp>
      <p:graphicFrame>
        <p:nvGraphicFramePr>
          <p:cNvPr id="15" name="Table 19">
            <a:extLst>
              <a:ext uri="{FF2B5EF4-FFF2-40B4-BE49-F238E27FC236}">
                <a16:creationId xmlns:a16="http://schemas.microsoft.com/office/drawing/2014/main" id="{F789A1AB-BAFD-47B1-8A01-285DCB434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33189"/>
              </p:ext>
            </p:extLst>
          </p:nvPr>
        </p:nvGraphicFramePr>
        <p:xfrm>
          <a:off x="213360" y="463550"/>
          <a:ext cx="8715024" cy="2034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3806">
                  <a:extLst>
                    <a:ext uri="{9D8B030D-6E8A-4147-A177-3AD203B41FA5}">
                      <a16:colId xmlns:a16="http://schemas.microsoft.com/office/drawing/2014/main" val="1336944094"/>
                    </a:ext>
                  </a:extLst>
                </a:gridCol>
                <a:gridCol w="3930043">
                  <a:extLst>
                    <a:ext uri="{9D8B030D-6E8A-4147-A177-3AD203B41FA5}">
                      <a16:colId xmlns:a16="http://schemas.microsoft.com/office/drawing/2014/main" val="1229190048"/>
                    </a:ext>
                  </a:extLst>
                </a:gridCol>
                <a:gridCol w="2771175">
                  <a:extLst>
                    <a:ext uri="{9D8B030D-6E8A-4147-A177-3AD203B41FA5}">
                      <a16:colId xmlns:a16="http://schemas.microsoft.com/office/drawing/2014/main" val="1891228367"/>
                    </a:ext>
                  </a:extLst>
                </a:gridCol>
              </a:tblGrid>
              <a:tr h="280696">
                <a:tc>
                  <a:txBody>
                    <a:bodyPr/>
                    <a:lstStyle/>
                    <a:p>
                      <a:r>
                        <a:rPr lang="en-US" dirty="0"/>
                        <a:t>Services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Accelerator- Tools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Accelerator- People Resources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663259"/>
                  </a:ext>
                </a:extLst>
              </a:tr>
              <a:tr h="1598121">
                <a:tc>
                  <a:txBody>
                    <a:bodyPr/>
                    <a:lstStyle/>
                    <a:p>
                      <a:r>
                        <a:rPr lang="en-US" dirty="0"/>
                        <a:t>TAAS /</a:t>
                      </a:r>
                    </a:p>
                    <a:p>
                      <a:r>
                        <a:rPr lang="en-US" dirty="0"/>
                        <a:t>Migration And</a:t>
                      </a:r>
                    </a:p>
                    <a:p>
                      <a:r>
                        <a:rPr lang="en-US" dirty="0"/>
                        <a:t>Modernization / RFP based projects/ Outsource team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Automation blocks for Cloud Infrastructure Provisioning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/>
                        <a:t>Cross Cloud monitoring solution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/>
                        <a:t>App Blocks for Microservices –RAD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/>
                        <a:t>DevSecOps Audit Tools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/>
                        <a:t>CI/CD templates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/>
                        <a:t>Procurement &amp; EMS example solution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/>
                        <a:t>Our Process / Architecture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Ready resource pipeline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Cloud Engineer / DevOps Engineer / Kuberenetes Engineer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FSD – UI / API / Design specialists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374420"/>
                  </a:ext>
                </a:extLst>
              </a:tr>
            </a:tbl>
          </a:graphicData>
        </a:graphic>
      </p:graphicFrame>
      <p:graphicFrame>
        <p:nvGraphicFramePr>
          <p:cNvPr id="40" name="Table 19">
            <a:extLst>
              <a:ext uri="{FF2B5EF4-FFF2-40B4-BE49-F238E27FC236}">
                <a16:creationId xmlns:a16="http://schemas.microsoft.com/office/drawing/2014/main" id="{4E5D2E74-1DF8-442F-B305-C27DD7F53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704632"/>
              </p:ext>
            </p:extLst>
          </p:nvPr>
        </p:nvGraphicFramePr>
        <p:xfrm>
          <a:off x="213357" y="2550749"/>
          <a:ext cx="8585485" cy="1490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7412">
                  <a:extLst>
                    <a:ext uri="{9D8B030D-6E8A-4147-A177-3AD203B41FA5}">
                      <a16:colId xmlns:a16="http://schemas.microsoft.com/office/drawing/2014/main" val="1336944094"/>
                    </a:ext>
                  </a:extLst>
                </a:gridCol>
                <a:gridCol w="2561750">
                  <a:extLst>
                    <a:ext uri="{9D8B030D-6E8A-4147-A177-3AD203B41FA5}">
                      <a16:colId xmlns:a16="http://schemas.microsoft.com/office/drawing/2014/main" val="1229190048"/>
                    </a:ext>
                  </a:extLst>
                </a:gridCol>
                <a:gridCol w="1634646">
                  <a:extLst>
                    <a:ext uri="{9D8B030D-6E8A-4147-A177-3AD203B41FA5}">
                      <a16:colId xmlns:a16="http://schemas.microsoft.com/office/drawing/2014/main" val="1891228367"/>
                    </a:ext>
                  </a:extLst>
                </a:gridCol>
                <a:gridCol w="2341677">
                  <a:extLst>
                    <a:ext uri="{9D8B030D-6E8A-4147-A177-3AD203B41FA5}">
                      <a16:colId xmlns:a16="http://schemas.microsoft.com/office/drawing/2014/main" val="3901856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RCA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Risks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Resolution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66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No Marketing expertise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Lack in continuous release in any products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Neither capable nor have any tie ups with appropriate body – Need huge upfront investments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Team Retention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Sustainability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Fix Marketing Gap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Focus on only product with pure investment model with an aim to sell out product.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374420"/>
                  </a:ext>
                </a:extLst>
              </a:tr>
            </a:tbl>
          </a:graphicData>
        </a:graphic>
      </p:graphicFrame>
      <p:graphicFrame>
        <p:nvGraphicFramePr>
          <p:cNvPr id="20" name="Table 25">
            <a:extLst>
              <a:ext uri="{FF2B5EF4-FFF2-40B4-BE49-F238E27FC236}">
                <a16:creationId xmlns:a16="http://schemas.microsoft.com/office/drawing/2014/main" id="{827EA279-198D-4D59-BA3E-F466B7E21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502127"/>
              </p:ext>
            </p:extLst>
          </p:nvPr>
        </p:nvGraphicFramePr>
        <p:xfrm>
          <a:off x="213357" y="4059846"/>
          <a:ext cx="8585486" cy="11201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8585486">
                  <a:extLst>
                    <a:ext uri="{9D8B030D-6E8A-4147-A177-3AD203B41FA5}">
                      <a16:colId xmlns:a16="http://schemas.microsoft.com/office/drawing/2014/main" val="1304929113"/>
                    </a:ext>
                  </a:extLst>
                </a:gridCol>
              </a:tblGrid>
              <a:tr h="1074094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Complete Procurement Solution (Web/Mobile) and Extend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Fill few Gaps in Cross Cloud Monitoring Product – make complete release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Improve on Data Management and Analytics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Expand team – be ready for team outsource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Bid more projects – run campaign in LinkedIn + Visit expos in Middle Easts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772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325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1062</TotalTime>
  <Words>212</Words>
  <Application>Microsoft Office PowerPoint</Application>
  <PresentationFormat>On-screen Show (16:9)</PresentationFormat>
  <Paragraphs>41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Raleway</vt:lpstr>
      <vt:lpstr>Raleway ExtraBold</vt:lpstr>
      <vt:lpstr>Raleway Medium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125</cp:revision>
  <dcterms:created xsi:type="dcterms:W3CDTF">2020-09-08T11:22:38Z</dcterms:created>
  <dcterms:modified xsi:type="dcterms:W3CDTF">2022-01-28T10:32:01Z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