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361" r:id="rId6"/>
    <p:sldId id="416" r:id="rId7"/>
    <p:sldId id="419" r:id="rId8"/>
    <p:sldId id="424" r:id="rId9"/>
    <p:sldId id="264" r:id="rId10"/>
    <p:sldId id="262" r:id="rId11"/>
    <p:sldId id="421" r:id="rId12"/>
    <p:sldId id="422" r:id="rId13"/>
    <p:sldId id="425" r:id="rId14"/>
    <p:sldId id="423" r:id="rId15"/>
    <p:sldId id="426" r:id="rId16"/>
    <p:sldId id="427" r:id="rId17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pu Bhattacharya" initials="PB" lastIdx="1" clrIdx="0">
    <p:extLst>
      <p:ext uri="{19B8F6BF-5375-455C-9EA6-DF929625EA0E}">
        <p15:presenceInfo xmlns:p15="http://schemas.microsoft.com/office/powerpoint/2012/main" userId="S::papu.bhattacharya@synectiks.com::2280e00b-70e3-47b8-954c-0faca14d8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919D9D"/>
    <a:srgbClr val="FFC000"/>
    <a:srgbClr val="5A6F8C"/>
    <a:srgbClr val="3D97CF"/>
    <a:srgbClr val="EE853E"/>
    <a:srgbClr val="2B2B2B"/>
    <a:srgbClr val="2E2E2D"/>
    <a:srgbClr val="859EAB"/>
    <a:srgbClr val="E23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3730" autoAdjust="0"/>
  </p:normalViewPr>
  <p:slideViewPr>
    <p:cSldViewPr snapToGrid="0">
      <p:cViewPr varScale="1">
        <p:scale>
          <a:sx n="77" d="100"/>
          <a:sy n="77" d="100"/>
        </p:scale>
        <p:origin x="192" y="68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11386"/>
      </p:ext>
    </p:extLst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2514600"/>
            <a:ext cx="12192000" cy="3657601"/>
          </a:xfrm>
        </p:spPr>
        <p:txBody>
          <a:bodyPr anchor="ctr" anchorCtr="0"/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65760"/>
            <a:ext cx="8644128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975360"/>
            <a:ext cx="8644128" cy="6096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1606288" y="6505783"/>
            <a:ext cx="291709" cy="2120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6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09.05.2022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  <p:sldLayoutId id="2147483828" r:id="rId3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11224346" y="0"/>
            <a:ext cx="914400" cy="4444651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8237350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65" y="1065695"/>
            <a:ext cx="65747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Open Platform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Enterprise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/>
      <p:bldP spid="36874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89E8CF-1511-47D2-9548-39550353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28E69F-EB68-48F2-8234-817A53DB421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6206D-F63A-4E7C-BD19-E9ED6BE6879B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BA9351D-1F8B-4D06-8853-CF016A7B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843889" y="59592"/>
            <a:ext cx="342900" cy="369331"/>
            <a:chOff x="0" y="148425"/>
            <a:chExt cx="342900" cy="59071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1DB6A2-0054-4B52-B7E6-44071ACAA833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CDD684-C1AE-4972-8578-D031FF3ED978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EA842B2-A1C4-4CB1-AC79-3B52F9F3CCC7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What you focus at!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4A3F36-4CE9-46ED-8CCB-566E8722C8A6}"/>
              </a:ext>
            </a:extLst>
          </p:cNvPr>
          <p:cNvSpPr txBox="1"/>
          <p:nvPr/>
        </p:nvSpPr>
        <p:spPr>
          <a:xfrm>
            <a:off x="574270" y="737636"/>
            <a:ext cx="89820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12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Capabilities: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4870" marR="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Manage Microservices at scale - Build, Deploy, Operate,.. using reusable building blocks, blueprint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IaC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57912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4870" marR="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SRE -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CloudOps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Dashboard, Proactive monitoring, Alerts, SLO/SLIs..</a:t>
            </a:r>
          </a:p>
          <a:p>
            <a:pPr marL="57912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12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- DevSecOps - How security first approach helps accelerating cloud modernization at scale. Especially in the areas of security controls, IAM roles, fine grained entitlements, regulatory controls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12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12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Any customer success stories and any solutions you can demo.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06D81-F668-6733-42A2-0872D938EA28}"/>
              </a:ext>
            </a:extLst>
          </p:cNvPr>
          <p:cNvSpPr txBox="1"/>
          <p:nvPr/>
        </p:nvSpPr>
        <p:spPr>
          <a:xfrm>
            <a:off x="6524626" y="2030298"/>
            <a:ext cx="5124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Sec </a:t>
            </a:r>
            <a:r>
              <a:rPr lang="en-US" sz="1400" b="1" dirty="0">
                <a:solidFill>
                  <a:schemeClr val="bg1"/>
                </a:solidFill>
              </a:rPr>
              <a:t>– Infra /App /Data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601881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89E8CF-1511-47D2-9548-39550353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28E69F-EB68-48F2-8234-817A53DB421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B6206D-F63A-4E7C-BD19-E9ED6BE6879B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BA9351D-1F8B-4D06-8853-CF016A7B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843889" y="59592"/>
            <a:ext cx="342900" cy="369331"/>
            <a:chOff x="0" y="148425"/>
            <a:chExt cx="342900" cy="59071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1DB6A2-0054-4B52-B7E6-44071ACAA833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CDD684-C1AE-4972-8578-D031FF3ED978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EA842B2-A1C4-4CB1-AC79-3B52F9F3CCC7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Answering Following Query!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CAE9F-87D3-4DF2-8A9C-8EEFBCC30308}"/>
              </a:ext>
            </a:extLst>
          </p:cNvPr>
          <p:cNvSpPr txBox="1"/>
          <p:nvPr/>
        </p:nvSpPr>
        <p:spPr>
          <a:xfrm>
            <a:off x="342901" y="742950"/>
            <a:ext cx="451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Select a Simple solution To Manage: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F7276-A540-4683-A522-B93BEA29929C}"/>
              </a:ext>
            </a:extLst>
          </p:cNvPr>
          <p:cNvSpPr txBox="1"/>
          <p:nvPr/>
        </p:nvSpPr>
        <p:spPr>
          <a:xfrm>
            <a:off x="619127" y="1038225"/>
            <a:ext cx="5762624" cy="263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N – Products spread across M Clouds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Cloud Has P - no of  Landing Zones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Landing Zones Q no of Product Enclaves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Each Landing hosts R no total services (App+ Data+ NW)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Some are hosted in S no of k8.. Cluster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(R-S) are hosted from Cloud Managed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R services partitioned across T environments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Implement U Business Services with (App/Data/NW)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4DE6C-E5BE-4B74-B66A-C86758D2604C}"/>
              </a:ext>
            </a:extLst>
          </p:cNvPr>
          <p:cNvSpPr txBox="1"/>
          <p:nvPr/>
        </p:nvSpPr>
        <p:spPr>
          <a:xfrm>
            <a:off x="436702" y="3944663"/>
            <a:ext cx="310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Where Solution  provide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4A3F36-4CE9-46ED-8CCB-566E8722C8A6}"/>
              </a:ext>
            </a:extLst>
          </p:cNvPr>
          <p:cNvSpPr txBox="1"/>
          <p:nvPr/>
        </p:nvSpPr>
        <p:spPr>
          <a:xfrm>
            <a:off x="436702" y="4375907"/>
            <a:ext cx="8982073" cy="1347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Simple Catalogue of Dev/Sec/Ops  templates and Utilities  to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Provision Landing Zone/Product Enclaves/Cluster/ Services ( In Cluster + Cloud-Managed)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Establish Operation Management System  (Cost &amp; Quality)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Accelerated building block to do rapid  SOA transformation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94D43C-A1BF-4733-AB6F-D93E745DBEC9}"/>
              </a:ext>
            </a:extLst>
          </p:cNvPr>
          <p:cNvGrpSpPr/>
          <p:nvPr/>
        </p:nvGrpSpPr>
        <p:grpSpPr>
          <a:xfrm>
            <a:off x="6429375" y="752475"/>
            <a:ext cx="5219701" cy="2514600"/>
            <a:chOff x="6181725" y="742950"/>
            <a:chExt cx="5219701" cy="2514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B4C014-FF64-4488-9432-C9276D3A7486}"/>
                </a:ext>
              </a:extLst>
            </p:cNvPr>
            <p:cNvSpPr/>
            <p:nvPr/>
          </p:nvSpPr>
          <p:spPr>
            <a:xfrm>
              <a:off x="6181725" y="742950"/>
              <a:ext cx="5124451" cy="2514600"/>
            </a:xfrm>
            <a:prstGeom prst="rect">
              <a:avLst/>
            </a:prstGeom>
            <a:solidFill>
              <a:srgbClr val="DA291C"/>
            </a:solidFill>
            <a:ln w="57150">
              <a:solidFill>
                <a:srgbClr val="919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0D702-60E2-424F-8487-77F8A11C6E31}"/>
                </a:ext>
              </a:extLst>
            </p:cNvPr>
            <p:cNvSpPr txBox="1"/>
            <p:nvPr/>
          </p:nvSpPr>
          <p:spPr>
            <a:xfrm>
              <a:off x="6276976" y="935947"/>
              <a:ext cx="51244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M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N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P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Q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R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S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T </a:t>
              </a:r>
              <a:r>
                <a:rPr lang="en-US" sz="1000" dirty="0">
                  <a:solidFill>
                    <a:schemeClr val="bg1"/>
                  </a:solidFill>
                </a:rPr>
                <a:t>x</a:t>
              </a:r>
              <a:r>
                <a:rPr lang="en-US" sz="1400" dirty="0">
                  <a:solidFill>
                    <a:schemeClr val="bg1"/>
                  </a:solidFill>
                </a:rPr>
                <a:t> U  complexity across following  dimension: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6F285A-169D-4341-8A6A-6488C2583192}"/>
                </a:ext>
              </a:extLst>
            </p:cNvPr>
            <p:cNvSpPr txBox="1"/>
            <p:nvPr/>
          </p:nvSpPr>
          <p:spPr>
            <a:xfrm>
              <a:off x="6276976" y="1516972"/>
              <a:ext cx="5124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Dev </a:t>
              </a:r>
              <a:r>
                <a:rPr lang="en-US" sz="1400" b="1" dirty="0">
                  <a:solidFill>
                    <a:schemeClr val="bg1"/>
                  </a:solidFill>
                </a:rPr>
                <a:t>– </a:t>
              </a:r>
              <a:r>
                <a:rPr lang="en-US" sz="1400" dirty="0">
                  <a:solidFill>
                    <a:schemeClr val="bg1"/>
                  </a:solidFill>
                </a:rPr>
                <a:t>Volume/Velocity /Reliability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08D729-DD70-4943-BEDC-84CE269FCDDE}"/>
                </a:ext>
              </a:extLst>
            </p:cNvPr>
            <p:cNvSpPr txBox="1"/>
            <p:nvPr/>
          </p:nvSpPr>
          <p:spPr>
            <a:xfrm>
              <a:off x="6276976" y="2478997"/>
              <a:ext cx="5124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Ops </a:t>
              </a:r>
              <a:r>
                <a:rPr lang="en-US" sz="1400" b="1" dirty="0">
                  <a:solidFill>
                    <a:schemeClr val="bg1"/>
                  </a:solidFill>
                </a:rPr>
                <a:t>- </a:t>
              </a:r>
              <a:r>
                <a:rPr lang="en-US" sz="1400" dirty="0">
                  <a:solidFill>
                    <a:schemeClr val="bg1"/>
                  </a:solidFill>
                </a:rPr>
                <a:t>Volume/Velocity /Reliability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D222F6-15EE-4C0A-82A9-E52D47BB87D5}"/>
                </a:ext>
              </a:extLst>
            </p:cNvPr>
            <p:cNvSpPr txBox="1"/>
            <p:nvPr/>
          </p:nvSpPr>
          <p:spPr>
            <a:xfrm>
              <a:off x="8558213" y="2001326"/>
              <a:ext cx="371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+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2306D81-F668-6733-42A2-0872D938EA28}"/>
              </a:ext>
            </a:extLst>
          </p:cNvPr>
          <p:cNvSpPr txBox="1"/>
          <p:nvPr/>
        </p:nvSpPr>
        <p:spPr>
          <a:xfrm>
            <a:off x="6524626" y="2030298"/>
            <a:ext cx="5124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Sec </a:t>
            </a:r>
            <a:r>
              <a:rPr lang="en-US" sz="1400" b="1" dirty="0">
                <a:solidFill>
                  <a:schemeClr val="bg1"/>
                </a:solidFill>
              </a:rPr>
              <a:t>– Infra /App /Data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19673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4206B54-FA3B-811E-2433-5E4B1C522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62" y="914400"/>
            <a:ext cx="50196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6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5FF0BC5-71CF-4427-A541-AF0D8B649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30610"/>
            <a:ext cx="12026900" cy="5727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E11EBD-DEBD-412A-96DB-D06ECAC1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112"/>
            <a:ext cx="12192000" cy="581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6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, timeline&#10;&#10;Description automatically generated">
            <a:extLst>
              <a:ext uri="{FF2B5EF4-FFF2-40B4-BE49-F238E27FC236}">
                <a16:creationId xmlns:a16="http://schemas.microsoft.com/office/drawing/2014/main" id="{D6BAFCA2-64A4-4E36-A6BA-37A5821B4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972E1D80-DAD4-4757-AE6A-0B3E14A20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583"/>
            <a:ext cx="12192000" cy="504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88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C-Log/Perf Manager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2D933-AFE8-B9D0-A7DB-47B95C7A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15" y="0"/>
            <a:ext cx="6277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9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C-File repo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6C8F8-296A-5AEE-32DD-0C13B7F2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2005565"/>
            <a:ext cx="6949439" cy="36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6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C-Workflows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28A74-1C78-5828-508D-7073F44A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533525"/>
            <a:ext cx="101727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2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C-Dataflows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28A74-1C78-5828-508D-7073F44A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533525"/>
            <a:ext cx="10172700" cy="3790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93F751-3C14-FBBF-0FA3-AC4E7ED2A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0950"/>
            <a:ext cx="12192000" cy="543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Few Strength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7DD46-6EC2-3577-7CE7-A75739C3FE80}"/>
              </a:ext>
            </a:extLst>
          </p:cNvPr>
          <p:cNvSpPr txBox="1"/>
          <p:nvPr/>
        </p:nvSpPr>
        <p:spPr>
          <a:xfrm>
            <a:off x="335280" y="675955"/>
            <a:ext cx="1100766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Simplicity -- Landing Zone / Product Enclave / App Cluster  / Services (App /Data / Network) - we take care of learning effort </a:t>
            </a:r>
          </a:p>
          <a:p>
            <a:endParaRPr lang="en-US" dirty="0"/>
          </a:p>
          <a:p>
            <a:r>
              <a:rPr lang="en-US" dirty="0"/>
              <a:t>Framework --A very flexible / extensible framework for Analytics +  Simple Automation framework based on </a:t>
            </a:r>
            <a:r>
              <a:rPr lang="en-US" dirty="0" err="1"/>
              <a:t>gitops</a:t>
            </a:r>
            <a:r>
              <a:rPr lang="en-US" dirty="0"/>
              <a:t> (GitHub + A sync jobs) + Catalogue based approach + K8 at best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Solution / Framework - Neither a licensed product / Nor pure human supply</a:t>
            </a:r>
          </a:p>
          <a:p>
            <a:endParaRPr lang="en-US" dirty="0"/>
          </a:p>
          <a:p>
            <a:r>
              <a:rPr lang="en-US" dirty="0"/>
              <a:t>Infinite Flexibility- source / docs / trainings / empowerment / learning </a:t>
            </a:r>
          </a:p>
          <a:p>
            <a:endParaRPr lang="en-US" dirty="0"/>
          </a:p>
          <a:p>
            <a:r>
              <a:rPr lang="en-US" dirty="0"/>
              <a:t>We always prefer to do stuff with available cloud native stuff - but we also know how to do anything inside k8 cluster</a:t>
            </a:r>
          </a:p>
          <a:p>
            <a:endParaRPr lang="en-US" dirty="0"/>
          </a:p>
          <a:p>
            <a:r>
              <a:rPr lang="en-US" dirty="0"/>
              <a:t>We are Trick driven - Outcome based financial model - zero loss </a:t>
            </a:r>
          </a:p>
          <a:p>
            <a:endParaRPr lang="en-US" dirty="0"/>
          </a:p>
          <a:p>
            <a:r>
              <a:rPr lang="en-US" dirty="0"/>
              <a:t>Nodejs + Go Stack /java </a:t>
            </a:r>
          </a:p>
          <a:p>
            <a:endParaRPr lang="en-US" dirty="0"/>
          </a:p>
          <a:p>
            <a:r>
              <a:rPr lang="en-US" dirty="0"/>
              <a:t>Framework is more cloud native - applied many other open framework to its best to achieve business outcome.</a:t>
            </a:r>
          </a:p>
          <a:p>
            <a:endParaRPr lang="en-US" dirty="0"/>
          </a:p>
          <a:p>
            <a:r>
              <a:rPr lang="en-US" dirty="0"/>
              <a:t>Business Model  is plugin-based solutions.  DevSecOps Tooling approach </a:t>
            </a:r>
          </a:p>
        </p:txBody>
      </p:sp>
    </p:spTree>
    <p:extLst>
      <p:ext uri="{BB962C8B-B14F-4D97-AF65-F5344CB8AC3E}">
        <p14:creationId xmlns:p14="http://schemas.microsoft.com/office/powerpoint/2010/main" val="197180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08000" y="202566"/>
            <a:ext cx="249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Few Weakness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7DD46-6EC2-3577-7CE7-A75739C3FE80}"/>
              </a:ext>
            </a:extLst>
          </p:cNvPr>
          <p:cNvSpPr txBox="1"/>
          <p:nvPr/>
        </p:nvSpPr>
        <p:spPr>
          <a:xfrm>
            <a:off x="335280" y="675955"/>
            <a:ext cx="110076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are yet to get a complete - released product - still operating on SOW based solutioning model </a:t>
            </a:r>
          </a:p>
          <a:p>
            <a:endParaRPr lang="en-US" dirty="0"/>
          </a:p>
          <a:p>
            <a:r>
              <a:rPr lang="en-US" dirty="0"/>
              <a:t>We need to improve a lot of stuffs - documentation / processes</a:t>
            </a:r>
          </a:p>
          <a:p>
            <a:endParaRPr lang="en-US" dirty="0"/>
          </a:p>
          <a:p>
            <a:r>
              <a:rPr lang="en-US" dirty="0"/>
              <a:t>We often say you directly on ROI - we don't waste your time, neither our time</a:t>
            </a:r>
          </a:p>
          <a:p>
            <a:endParaRPr lang="en-US" dirty="0"/>
          </a:p>
          <a:p>
            <a:r>
              <a:rPr lang="en-US" dirty="0"/>
              <a:t>Dev Mindset - we need courageous management support</a:t>
            </a:r>
          </a:p>
          <a:p>
            <a:endParaRPr lang="en-US" dirty="0"/>
          </a:p>
          <a:p>
            <a:r>
              <a:rPr lang="en-US" dirty="0"/>
              <a:t>Document &amp; POC driven - Follow a strict discovery process </a:t>
            </a:r>
          </a:p>
          <a:p>
            <a:endParaRPr lang="en-US" dirty="0"/>
          </a:p>
          <a:p>
            <a:r>
              <a:rPr lang="en-US" dirty="0"/>
              <a:t>We are having less people - we are very choosy - only recruit dedicated / passionate guys </a:t>
            </a:r>
          </a:p>
          <a:p>
            <a:endParaRPr lang="en-US" dirty="0"/>
          </a:p>
          <a:p>
            <a:r>
              <a:rPr lang="en-US" dirty="0"/>
              <a:t>Retention 100% - acquisition very less</a:t>
            </a:r>
          </a:p>
          <a:p>
            <a:endParaRPr lang="en-US" dirty="0"/>
          </a:p>
          <a:p>
            <a:r>
              <a:rPr lang="en-US" dirty="0"/>
              <a:t>Follow no shortcuts</a:t>
            </a:r>
          </a:p>
          <a:p>
            <a:endParaRPr lang="en-US" dirty="0"/>
          </a:p>
          <a:p>
            <a:r>
              <a:rPr lang="en-US" dirty="0"/>
              <a:t>We are not human supplier </a:t>
            </a:r>
          </a:p>
        </p:txBody>
      </p:sp>
    </p:spTree>
    <p:extLst>
      <p:ext uri="{BB962C8B-B14F-4D97-AF65-F5344CB8AC3E}">
        <p14:creationId xmlns:p14="http://schemas.microsoft.com/office/powerpoint/2010/main" val="4416531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D938AE-9373-4D0D-8808-5E3ED707707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6A054E-ABAA-487E-BDCC-4A9FD79941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D2A5A3-3151-4923-9A9F-F2B71B246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645</Words>
  <Application>Microsoft Office PowerPoint</Application>
  <PresentationFormat>Widescreen</PresentationFormat>
  <Paragraphs>83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Helvetica</vt:lpstr>
      <vt:lpstr>Raleway</vt:lpstr>
      <vt:lpstr>Raleway ExtraBold</vt:lpstr>
      <vt:lpstr>Raleway Medium</vt:lpstr>
      <vt:lpstr>Raleway SemiBold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76</cp:revision>
  <dcterms:created xsi:type="dcterms:W3CDTF">2020-09-24T16:20:12Z</dcterms:created>
  <dcterms:modified xsi:type="dcterms:W3CDTF">2022-05-09T14:13:21Z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