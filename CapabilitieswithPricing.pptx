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4" r:id="rId4"/>
  </p:sldMasterIdLst>
  <p:notesMasterIdLst>
    <p:notesMasterId r:id="rId12"/>
  </p:notesMasterIdLst>
  <p:handoutMasterIdLst>
    <p:handoutMasterId r:id="rId13"/>
  </p:handoutMasterIdLst>
  <p:sldIdLst>
    <p:sldId id="360" r:id="rId5"/>
    <p:sldId id="419" r:id="rId6"/>
    <p:sldId id="420" r:id="rId7"/>
    <p:sldId id="426" r:id="rId8"/>
    <p:sldId id="421" r:id="rId9"/>
    <p:sldId id="422" r:id="rId10"/>
    <p:sldId id="424" r:id="rId11"/>
  </p:sldIdLst>
  <p:sldSz cx="9144000" cy="5143500" type="screen16x9"/>
  <p:notesSz cx="9601200" cy="7315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8" userDrawn="1">
          <p15:clr>
            <a:srgbClr val="A4A3A4"/>
          </p15:clr>
        </p15:guide>
        <p15:guide id="2" pos="355">
          <p15:clr>
            <a:srgbClr val="A4A3A4"/>
          </p15:clr>
        </p15:guide>
        <p15:guide id="3" orient="horz" pos="1212" userDrawn="1">
          <p15:clr>
            <a:srgbClr val="A4A3A4"/>
          </p15:clr>
        </p15:guide>
        <p15:guide id="4" orient="horz" pos="948" userDrawn="1">
          <p15:clr>
            <a:srgbClr val="A4A3A4"/>
          </p15:clr>
        </p15:guide>
        <p15:guide id="5" orient="horz" pos="2964" userDrawn="1">
          <p15:clr>
            <a:srgbClr val="A4A3A4"/>
          </p15:clr>
        </p15:guide>
        <p15:guide id="6" orient="horz" pos="516" userDrawn="1">
          <p15:clr>
            <a:srgbClr val="A4A3A4"/>
          </p15:clr>
        </p15:guide>
        <p15:guide id="7" orient="horz" pos="1190">
          <p15:clr>
            <a:srgbClr val="A4A3A4"/>
          </p15:clr>
        </p15:guide>
        <p15:guide id="8" orient="horz" pos="750">
          <p15:clr>
            <a:srgbClr val="A4A3A4"/>
          </p15:clr>
        </p15:guide>
        <p15:guide id="9" orient="horz" pos="2916">
          <p15:clr>
            <a:srgbClr val="A4A3A4"/>
          </p15:clr>
        </p15:guide>
        <p15:guide id="10" pos="145">
          <p15:clr>
            <a:srgbClr val="A4A3A4"/>
          </p15:clr>
        </p15:guide>
        <p15:guide id="11" pos="5617">
          <p15:clr>
            <a:srgbClr val="A4A3A4"/>
          </p15:clr>
        </p15:guide>
        <p15:guide id="12" pos="288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4" userDrawn="1">
          <p15:clr>
            <a:srgbClr val="A4A3A4"/>
          </p15:clr>
        </p15:guide>
        <p15:guide id="3" orient="horz" pos="2304">
          <p15:clr>
            <a:srgbClr val="A4A3A4"/>
          </p15:clr>
        </p15:guide>
        <p15:guide id="4" pos="30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irban Banerjee" initials="AB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291C"/>
    <a:srgbClr val="6DD9FF"/>
    <a:srgbClr val="5F5E5F"/>
    <a:srgbClr val="919D9D"/>
    <a:srgbClr val="F3F4F0"/>
    <a:srgbClr val="F3FDD3"/>
    <a:srgbClr val="000000"/>
    <a:srgbClr val="F37021"/>
    <a:srgbClr val="CCE0D7"/>
    <a:srgbClr val="E1E2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0" autoAdjust="0"/>
    <p:restoredTop sz="94291" autoAdjust="0"/>
  </p:normalViewPr>
  <p:slideViewPr>
    <p:cSldViewPr snapToGrid="0">
      <p:cViewPr varScale="1">
        <p:scale>
          <a:sx n="104" d="100"/>
          <a:sy n="104" d="100"/>
        </p:scale>
        <p:origin x="68" y="92"/>
      </p:cViewPr>
      <p:guideLst>
        <p:guide orient="horz" pos="708"/>
        <p:guide pos="355"/>
        <p:guide orient="horz" pos="1212"/>
        <p:guide orient="horz" pos="948"/>
        <p:guide orient="horz" pos="2964"/>
        <p:guide orient="horz" pos="516"/>
        <p:guide orient="horz" pos="1190"/>
        <p:guide orient="horz" pos="750"/>
        <p:guide orient="horz" pos="2916"/>
        <p:guide pos="145"/>
        <p:guide pos="5617"/>
        <p:guide pos="2881"/>
      </p:guideLst>
    </p:cSldViewPr>
  </p:slideViewPr>
  <p:outlineViewPr>
    <p:cViewPr>
      <p:scale>
        <a:sx n="33" d="100"/>
        <a:sy n="33" d="100"/>
      </p:scale>
      <p:origin x="0" y="17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5490"/>
    </p:cViewPr>
  </p:sorterViewPr>
  <p:notesViewPr>
    <p:cSldViewPr snapToGrid="0">
      <p:cViewPr varScale="1">
        <p:scale>
          <a:sx n="98" d="100"/>
          <a:sy n="98" d="100"/>
        </p:scale>
        <p:origin x="3516" y="72"/>
      </p:cViewPr>
      <p:guideLst>
        <p:guide orient="horz" pos="3024"/>
        <p:guide pos="2304"/>
        <p:guide orient="horz" pos="2304"/>
        <p:guide pos="30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1B9E88C5-C104-1D4D-887E-00A617007132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AE1561C0-4582-414D-9482-B90AA17E592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36734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438459" y="0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/>
          <a:lstStyle>
            <a:lvl1pPr algn="r">
              <a:defRPr sz="1300"/>
            </a:lvl1pPr>
          </a:lstStyle>
          <a:p>
            <a:fld id="{0F237061-72E3-FC45-B1DA-EE364FA20673}" type="datetimeFigureOut">
              <a:rPr lang="en-US" smtClean="0"/>
              <a:pPr/>
              <a:t>3/31/2023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2200" y="549275"/>
            <a:ext cx="4876800" cy="2743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48" tIns="48325" rIns="96648" bIns="48325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60121" y="3474720"/>
            <a:ext cx="7680960" cy="3291840"/>
          </a:xfrm>
          <a:prstGeom prst="rect">
            <a:avLst/>
          </a:prstGeom>
        </p:spPr>
        <p:txBody>
          <a:bodyPr vert="horz" lIns="96648" tIns="48325" rIns="96648" bIns="48325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438459" y="6948171"/>
            <a:ext cx="4160520" cy="365760"/>
          </a:xfrm>
          <a:prstGeom prst="rect">
            <a:avLst/>
          </a:prstGeom>
        </p:spPr>
        <p:txBody>
          <a:bodyPr vert="horz" lIns="96648" tIns="48325" rIns="96648" bIns="48325" rtlCol="0" anchor="b"/>
          <a:lstStyle>
            <a:lvl1pPr algn="r">
              <a:defRPr sz="1300"/>
            </a:lvl1pPr>
          </a:lstStyle>
          <a:p>
            <a:fld id="{11D4D097-0016-D44A-A908-ADB1EED4D51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6525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D54283D-B617-4C0C-8B6C-DC7F41934E18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34698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38BC4-A547-4D3A-B6AA-E8386FC03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8DE963-94FB-4E7F-8ED9-DABC5B5A78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3F490-324D-4289-B024-6675AD95A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7AA4F-B2B7-4D4F-A263-B329CDEE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E05013-8926-4B30-8D77-BD3EFC814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7864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046DB-24D7-437D-8EC1-CEFC7CBD7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0DDBB-FA4B-4012-9257-B11F5E3D5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2F17C-148F-44BD-872F-A575D02D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86F3-D503-48BB-AC96-52E4E6D41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3797D4-869E-46DD-BFF4-2B38220D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614203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9D5C9-77D6-44FE-8CCC-284964621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6D2073-29E1-4E94-AB0A-04E1B38C08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22732-F87F-40A5-BEB1-D27D4BF04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52FC0-84F5-4474-80AE-8961864D8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057BC-E475-4DCE-A61C-29BAF7CAD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124232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EF5-DFED-4C21-888D-D7BED2D2B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E111A-5EB3-4490-9307-70D935F75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5E1F54-CA9E-4C4D-9C51-0D92F37A3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464EB-5873-4C58-942F-292D85500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F9439-6DD3-4668-8CF0-4688B7BC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EB6FD-D6B1-4F02-98D2-4C363CFC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41076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935A2E-BAA3-4E34-B724-80A1F0D2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A9807-C8BB-4234-8860-3F68BE08D2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AEDF8-3BFA-49F6-99AF-2BE8413853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EFD341-B7E4-44B0-9D48-BEF005DD12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43030-77F2-4ADB-9944-3AF5258546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69B3C9-487B-4040-805A-A310B4B63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3A9871-48F8-4850-9F26-89D0E1FEA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9C7D0-4810-44BC-B20D-5EF9FBFEB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13712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EC320-690D-49B4-91F5-C81F2B383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2612F1-84F3-44A8-81AE-49EAE40E6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4FF993-8FCA-48CF-B85F-80B0E64BA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53CB4D-B770-49B5-9D96-451D90E9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4405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289ED-BC44-42E9-A1FE-AB2AD213A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5124C0-8767-4C67-A78E-32ADC58C4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C312F6-0C46-4CDE-8FFD-3DA06D75D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61975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CDD26-D23F-4D83-93BC-B89EDD45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BDA66-B8C4-4614-AE44-7E1C453D9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C6DCCE-D0B2-4282-84F1-11D675F3A2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7502F-D39D-4EBB-BF29-F535F25A3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ED6705-95C1-46CD-87DA-00463E402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34521-9210-42EA-A79B-1CD85AA87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216245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3AA4B-24BF-4290-9C02-3CB84746B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0D23B6-AA70-482B-A6AE-B8E5ACAFB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2E2872-1849-4BEF-B7B0-2637880583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03588-CC90-4BAF-8FE0-1103BE110C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FC51A-B2CE-4CAC-A3F9-AC3F8B083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A2259-6DCB-4E0A-A386-8A50ED45F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399134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EC70-26BC-4EE2-8107-1D6068F2A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A128FD-A093-41E0-9199-9737B37C7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0F7E2-DFB9-4894-B6EE-C0A70D8CF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ECD0A-9BB8-461B-AB3D-F750A02C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24A06-BDCF-42CC-953D-0F78B9AF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72374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1AC359-4D48-4680-B1E0-00CB3C23C0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774572-3123-4FB2-98FC-1DAC45C9E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41ABD-D28A-4AE4-8B55-6862AE38A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3F08A-35EB-470E-94EB-4704B8F66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5F89D-1A84-46DE-987B-3CCC9E806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96417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564298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1885949"/>
            <a:ext cx="9144000" cy="2743201"/>
          </a:xfrm>
        </p:spPr>
        <p:txBody>
          <a:bodyPr anchor="ctr" anchorCtr="0"/>
          <a:lstStyle>
            <a:lvl1pPr marL="0" indent="0" algn="ctr">
              <a:buFontTx/>
              <a:buNone/>
              <a:defRPr sz="1200"/>
            </a:lvl1pPr>
          </a:lstStyle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74320"/>
            <a:ext cx="6483096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baseline="0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228600" y="731520"/>
            <a:ext cx="6483096" cy="457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800"/>
            </a:lvl1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704716" y="4879337"/>
            <a:ext cx="218782" cy="15903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17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EC3C52-4500-4CA3-A206-F85571BA3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660867-C9D9-4675-A550-02D62B46F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2B27E-4705-4E1E-9CA1-00FDD5D33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FD98AD-7C5B-4994-98B8-765221AB7D4C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570698-B20A-4D82-AA53-61843F48A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4B147F-9946-473B-98F7-7A14B0D350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9FFC66-0D3C-4E37-A53B-41621C3CE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53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8" r:id="rId13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5" Type="http://schemas.openxmlformats.org/officeDocument/2006/relationships/image" Target="../media/image18.sv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7E520EA-5F2A-4D8A-BD76-DAD2517D46BD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88627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ru-RU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DFADA0-5E43-48D1-BDC7-1C83EA8674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" y="799272"/>
            <a:ext cx="914400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Raleway SemiBold" panose="020B0703030101060003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Raleway SemiBold" panose="020B0703030101060003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Raleway SemiBold" panose="020B0703030101060003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Raleway SemiBold" panose="020B0703030101060003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chemeClr val="bg1"/>
                </a:solidFill>
                <a:latin typeface="Raleway Medium" panose="020B0603030101060003" pitchFamily="34" charset="0"/>
              </a:rPr>
              <a:t>Open Products Accelerating </a:t>
            </a:r>
          </a:p>
          <a:p>
            <a:pPr algn="ctr"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ru-RU" dirty="0">
                <a:solidFill>
                  <a:srgbClr val="DA291C"/>
                </a:solidFill>
                <a:latin typeface="Raleway ExtraBold" panose="020B0903030101060003" pitchFamily="34" charset="0"/>
              </a:rPr>
              <a:t>Enterprise Transformation</a:t>
            </a:r>
          </a:p>
        </p:txBody>
      </p:sp>
      <p:grpSp>
        <p:nvGrpSpPr>
          <p:cNvPr id="36864" name="Group 36863">
            <a:extLst>
              <a:ext uri="{FF2B5EF4-FFF2-40B4-BE49-F238E27FC236}">
                <a16:creationId xmlns:a16="http://schemas.microsoft.com/office/drawing/2014/main" id="{EF8582F1-C5DB-4534-89E0-07978C7C0FAC}"/>
              </a:ext>
            </a:extLst>
          </p:cNvPr>
          <p:cNvGrpSpPr/>
          <p:nvPr/>
        </p:nvGrpSpPr>
        <p:grpSpPr>
          <a:xfrm>
            <a:off x="451541" y="1786181"/>
            <a:ext cx="1785098" cy="3449696"/>
            <a:chOff x="591895" y="2381574"/>
            <a:chExt cx="2380130" cy="4599595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B5294FF-0750-4E16-9783-831B09A1BD47}"/>
                </a:ext>
              </a:extLst>
            </p:cNvPr>
            <p:cNvSpPr/>
            <p:nvPr/>
          </p:nvSpPr>
          <p:spPr>
            <a:xfrm>
              <a:off x="591895" y="3218137"/>
              <a:ext cx="2380130" cy="3763032"/>
            </a:xfrm>
            <a:custGeom>
              <a:avLst/>
              <a:gdLst>
                <a:gd name="connsiteX0" fmla="*/ 847165 w 1603937"/>
                <a:gd name="connsiteY0" fmla="*/ 0 h 2003612"/>
                <a:gd name="connsiteX1" fmla="*/ 860612 w 1603937"/>
                <a:gd name="connsiteY1" fmla="*/ 94129 h 2003612"/>
                <a:gd name="connsiteX2" fmla="*/ 820271 w 1603937"/>
                <a:gd name="connsiteY2" fmla="*/ 389965 h 2003612"/>
                <a:gd name="connsiteX3" fmla="*/ 766483 w 1603937"/>
                <a:gd name="connsiteY3" fmla="*/ 470647 h 2003612"/>
                <a:gd name="connsiteX4" fmla="*/ 726142 w 1603937"/>
                <a:gd name="connsiteY4" fmla="*/ 510988 h 2003612"/>
                <a:gd name="connsiteX5" fmla="*/ 672353 w 1603937"/>
                <a:gd name="connsiteY5" fmla="*/ 524435 h 2003612"/>
                <a:gd name="connsiteX6" fmla="*/ 537883 w 1603937"/>
                <a:gd name="connsiteY6" fmla="*/ 564776 h 2003612"/>
                <a:gd name="connsiteX7" fmla="*/ 510989 w 1603937"/>
                <a:gd name="connsiteY7" fmla="*/ 591671 h 2003612"/>
                <a:gd name="connsiteX8" fmla="*/ 174812 w 1603937"/>
                <a:gd name="connsiteY8" fmla="*/ 578224 h 2003612"/>
                <a:gd name="connsiteX9" fmla="*/ 80683 w 1603937"/>
                <a:gd name="connsiteY9" fmla="*/ 537882 h 2003612"/>
                <a:gd name="connsiteX10" fmla="*/ 40342 w 1603937"/>
                <a:gd name="connsiteY10" fmla="*/ 524435 h 2003612"/>
                <a:gd name="connsiteX11" fmla="*/ 13447 w 1603937"/>
                <a:gd name="connsiteY11" fmla="*/ 443753 h 2003612"/>
                <a:gd name="connsiteX12" fmla="*/ 0 w 1603937"/>
                <a:gd name="connsiteY12" fmla="*/ 403412 h 2003612"/>
                <a:gd name="connsiteX13" fmla="*/ 13447 w 1603937"/>
                <a:gd name="connsiteY13" fmla="*/ 215153 h 2003612"/>
                <a:gd name="connsiteX14" fmla="*/ 53789 w 1603937"/>
                <a:gd name="connsiteY14" fmla="*/ 188259 h 2003612"/>
                <a:gd name="connsiteX15" fmla="*/ 134471 w 1603937"/>
                <a:gd name="connsiteY15" fmla="*/ 147918 h 2003612"/>
                <a:gd name="connsiteX16" fmla="*/ 484095 w 1603937"/>
                <a:gd name="connsiteY16" fmla="*/ 161365 h 2003612"/>
                <a:gd name="connsiteX17" fmla="*/ 510989 w 1603937"/>
                <a:gd name="connsiteY17" fmla="*/ 201706 h 2003612"/>
                <a:gd name="connsiteX18" fmla="*/ 551330 w 1603937"/>
                <a:gd name="connsiteY18" fmla="*/ 215153 h 2003612"/>
                <a:gd name="connsiteX19" fmla="*/ 605118 w 1603937"/>
                <a:gd name="connsiteY19" fmla="*/ 255494 h 2003612"/>
                <a:gd name="connsiteX20" fmla="*/ 672353 w 1603937"/>
                <a:gd name="connsiteY20" fmla="*/ 349624 h 2003612"/>
                <a:gd name="connsiteX21" fmla="*/ 712695 w 1603937"/>
                <a:gd name="connsiteY21" fmla="*/ 363071 h 2003612"/>
                <a:gd name="connsiteX22" fmla="*/ 766483 w 1603937"/>
                <a:gd name="connsiteY22" fmla="*/ 389965 h 2003612"/>
                <a:gd name="connsiteX23" fmla="*/ 806824 w 1603937"/>
                <a:gd name="connsiteY23" fmla="*/ 430306 h 2003612"/>
                <a:gd name="connsiteX24" fmla="*/ 860612 w 1603937"/>
                <a:gd name="connsiteY24" fmla="*/ 443753 h 2003612"/>
                <a:gd name="connsiteX25" fmla="*/ 900953 w 1603937"/>
                <a:gd name="connsiteY25" fmla="*/ 457200 h 2003612"/>
                <a:gd name="connsiteX26" fmla="*/ 1371600 w 1603937"/>
                <a:gd name="connsiteY26" fmla="*/ 403412 h 2003612"/>
                <a:gd name="connsiteX27" fmla="*/ 1385047 w 1603937"/>
                <a:gd name="connsiteY27" fmla="*/ 349624 h 2003612"/>
                <a:gd name="connsiteX28" fmla="*/ 1371600 w 1603937"/>
                <a:gd name="connsiteY28" fmla="*/ 174812 h 2003612"/>
                <a:gd name="connsiteX29" fmla="*/ 981636 w 1603937"/>
                <a:gd name="connsiteY29" fmla="*/ 201706 h 2003612"/>
                <a:gd name="connsiteX30" fmla="*/ 954742 w 1603937"/>
                <a:gd name="connsiteY30" fmla="*/ 242047 h 2003612"/>
                <a:gd name="connsiteX31" fmla="*/ 887506 w 1603937"/>
                <a:gd name="connsiteY31" fmla="*/ 309282 h 2003612"/>
                <a:gd name="connsiteX32" fmla="*/ 860612 w 1603937"/>
                <a:gd name="connsiteY32" fmla="*/ 389965 h 2003612"/>
                <a:gd name="connsiteX33" fmla="*/ 833718 w 1603937"/>
                <a:gd name="connsiteY33" fmla="*/ 430306 h 2003612"/>
                <a:gd name="connsiteX34" fmla="*/ 820271 w 1603937"/>
                <a:gd name="connsiteY34" fmla="*/ 470647 h 2003612"/>
                <a:gd name="connsiteX35" fmla="*/ 766483 w 1603937"/>
                <a:gd name="connsiteY35" fmla="*/ 551329 h 2003612"/>
                <a:gd name="connsiteX36" fmla="*/ 739589 w 1603937"/>
                <a:gd name="connsiteY36" fmla="*/ 591671 h 2003612"/>
                <a:gd name="connsiteX37" fmla="*/ 685800 w 1603937"/>
                <a:gd name="connsiteY37" fmla="*/ 658906 h 2003612"/>
                <a:gd name="connsiteX38" fmla="*/ 645459 w 1603937"/>
                <a:gd name="connsiteY38" fmla="*/ 712694 h 2003612"/>
                <a:gd name="connsiteX39" fmla="*/ 605118 w 1603937"/>
                <a:gd name="connsiteY39" fmla="*/ 726141 h 2003612"/>
                <a:gd name="connsiteX40" fmla="*/ 443753 w 1603937"/>
                <a:gd name="connsiteY40" fmla="*/ 712694 h 2003612"/>
                <a:gd name="connsiteX41" fmla="*/ 430306 w 1603937"/>
                <a:gd name="connsiteY41" fmla="*/ 672353 h 2003612"/>
                <a:gd name="connsiteX42" fmla="*/ 403412 w 1603937"/>
                <a:gd name="connsiteY42" fmla="*/ 618565 h 2003612"/>
                <a:gd name="connsiteX43" fmla="*/ 376518 w 1603937"/>
                <a:gd name="connsiteY43" fmla="*/ 537882 h 2003612"/>
                <a:gd name="connsiteX44" fmla="*/ 430306 w 1603937"/>
                <a:gd name="connsiteY44" fmla="*/ 349624 h 2003612"/>
                <a:gd name="connsiteX45" fmla="*/ 484095 w 1603937"/>
                <a:gd name="connsiteY45" fmla="*/ 363071 h 2003612"/>
                <a:gd name="connsiteX46" fmla="*/ 524436 w 1603937"/>
                <a:gd name="connsiteY46" fmla="*/ 416859 h 2003612"/>
                <a:gd name="connsiteX47" fmla="*/ 564777 w 1603937"/>
                <a:gd name="connsiteY47" fmla="*/ 457200 h 2003612"/>
                <a:gd name="connsiteX48" fmla="*/ 591671 w 1603937"/>
                <a:gd name="connsiteY48" fmla="*/ 537882 h 2003612"/>
                <a:gd name="connsiteX49" fmla="*/ 618565 w 1603937"/>
                <a:gd name="connsiteY49" fmla="*/ 578224 h 2003612"/>
                <a:gd name="connsiteX50" fmla="*/ 658906 w 1603937"/>
                <a:gd name="connsiteY50" fmla="*/ 672353 h 2003612"/>
                <a:gd name="connsiteX51" fmla="*/ 672353 w 1603937"/>
                <a:gd name="connsiteY51" fmla="*/ 712694 h 2003612"/>
                <a:gd name="connsiteX52" fmla="*/ 685800 w 1603937"/>
                <a:gd name="connsiteY52" fmla="*/ 766482 h 2003612"/>
                <a:gd name="connsiteX53" fmla="*/ 712695 w 1603937"/>
                <a:gd name="connsiteY53" fmla="*/ 793376 h 2003612"/>
                <a:gd name="connsiteX54" fmla="*/ 766483 w 1603937"/>
                <a:gd name="connsiteY54" fmla="*/ 860612 h 2003612"/>
                <a:gd name="connsiteX55" fmla="*/ 793377 w 1603937"/>
                <a:gd name="connsiteY55" fmla="*/ 900953 h 2003612"/>
                <a:gd name="connsiteX56" fmla="*/ 874059 w 1603937"/>
                <a:gd name="connsiteY56" fmla="*/ 968188 h 2003612"/>
                <a:gd name="connsiteX57" fmla="*/ 1385047 w 1603937"/>
                <a:gd name="connsiteY57" fmla="*/ 954741 h 2003612"/>
                <a:gd name="connsiteX58" fmla="*/ 1452283 w 1603937"/>
                <a:gd name="connsiteY58" fmla="*/ 887506 h 2003612"/>
                <a:gd name="connsiteX59" fmla="*/ 1519518 w 1603937"/>
                <a:gd name="connsiteY59" fmla="*/ 793376 h 2003612"/>
                <a:gd name="connsiteX60" fmla="*/ 1546412 w 1603937"/>
                <a:gd name="connsiteY60" fmla="*/ 699247 h 2003612"/>
                <a:gd name="connsiteX61" fmla="*/ 1519518 w 1603937"/>
                <a:gd name="connsiteY61" fmla="*/ 443753 h 2003612"/>
                <a:gd name="connsiteX62" fmla="*/ 1479177 w 1603937"/>
                <a:gd name="connsiteY62" fmla="*/ 416859 h 2003612"/>
                <a:gd name="connsiteX63" fmla="*/ 1411942 w 1603937"/>
                <a:gd name="connsiteY63" fmla="*/ 363071 h 2003612"/>
                <a:gd name="connsiteX64" fmla="*/ 1290918 w 1603937"/>
                <a:gd name="connsiteY64" fmla="*/ 389965 h 2003612"/>
                <a:gd name="connsiteX65" fmla="*/ 1223683 w 1603937"/>
                <a:gd name="connsiteY65" fmla="*/ 470647 h 2003612"/>
                <a:gd name="connsiteX66" fmla="*/ 1183342 w 1603937"/>
                <a:gd name="connsiteY66" fmla="*/ 497541 h 2003612"/>
                <a:gd name="connsiteX67" fmla="*/ 1143000 w 1603937"/>
                <a:gd name="connsiteY67" fmla="*/ 578224 h 2003612"/>
                <a:gd name="connsiteX68" fmla="*/ 1116106 w 1603937"/>
                <a:gd name="connsiteY68" fmla="*/ 618565 h 2003612"/>
                <a:gd name="connsiteX69" fmla="*/ 1089212 w 1603937"/>
                <a:gd name="connsiteY69" fmla="*/ 699247 h 2003612"/>
                <a:gd name="connsiteX70" fmla="*/ 1062318 w 1603937"/>
                <a:gd name="connsiteY70" fmla="*/ 779929 h 2003612"/>
                <a:gd name="connsiteX71" fmla="*/ 1048871 w 1603937"/>
                <a:gd name="connsiteY71" fmla="*/ 820271 h 2003612"/>
                <a:gd name="connsiteX72" fmla="*/ 1062318 w 1603937"/>
                <a:gd name="connsiteY72" fmla="*/ 1021976 h 2003612"/>
                <a:gd name="connsiteX73" fmla="*/ 1089212 w 1603937"/>
                <a:gd name="connsiteY73" fmla="*/ 1102659 h 2003612"/>
                <a:gd name="connsiteX74" fmla="*/ 1183342 w 1603937"/>
                <a:gd name="connsiteY74" fmla="*/ 1183341 h 2003612"/>
                <a:gd name="connsiteX75" fmla="*/ 1223683 w 1603937"/>
                <a:gd name="connsiteY75" fmla="*/ 1223682 h 2003612"/>
                <a:gd name="connsiteX76" fmla="*/ 1304365 w 1603937"/>
                <a:gd name="connsiteY76" fmla="*/ 1277471 h 2003612"/>
                <a:gd name="connsiteX77" fmla="*/ 1573306 w 1603937"/>
                <a:gd name="connsiteY77" fmla="*/ 1250576 h 2003612"/>
                <a:gd name="connsiteX78" fmla="*/ 1532965 w 1603937"/>
                <a:gd name="connsiteY78" fmla="*/ 712694 h 2003612"/>
                <a:gd name="connsiteX79" fmla="*/ 1465730 w 1603937"/>
                <a:gd name="connsiteY79" fmla="*/ 645459 h 2003612"/>
                <a:gd name="connsiteX80" fmla="*/ 1385047 w 1603937"/>
                <a:gd name="connsiteY80" fmla="*/ 591671 h 2003612"/>
                <a:gd name="connsiteX81" fmla="*/ 1331259 w 1603937"/>
                <a:gd name="connsiteY81" fmla="*/ 551329 h 2003612"/>
                <a:gd name="connsiteX82" fmla="*/ 1277471 w 1603937"/>
                <a:gd name="connsiteY82" fmla="*/ 578224 h 2003612"/>
                <a:gd name="connsiteX83" fmla="*/ 1264024 w 1603937"/>
                <a:gd name="connsiteY83" fmla="*/ 618565 h 2003612"/>
                <a:gd name="connsiteX84" fmla="*/ 1237130 w 1603937"/>
                <a:gd name="connsiteY84" fmla="*/ 672353 h 2003612"/>
                <a:gd name="connsiteX85" fmla="*/ 1196789 w 1603937"/>
                <a:gd name="connsiteY85" fmla="*/ 766482 h 2003612"/>
                <a:gd name="connsiteX86" fmla="*/ 1169895 w 1603937"/>
                <a:gd name="connsiteY86" fmla="*/ 806824 h 2003612"/>
                <a:gd name="connsiteX87" fmla="*/ 1102659 w 1603937"/>
                <a:gd name="connsiteY87" fmla="*/ 981635 h 2003612"/>
                <a:gd name="connsiteX88" fmla="*/ 1035424 w 1603937"/>
                <a:gd name="connsiteY88" fmla="*/ 1116106 h 2003612"/>
                <a:gd name="connsiteX89" fmla="*/ 995083 w 1603937"/>
                <a:gd name="connsiteY89" fmla="*/ 1156447 h 2003612"/>
                <a:gd name="connsiteX90" fmla="*/ 941295 w 1603937"/>
                <a:gd name="connsiteY90" fmla="*/ 1169894 h 2003612"/>
                <a:gd name="connsiteX91" fmla="*/ 510989 w 1603937"/>
                <a:gd name="connsiteY91" fmla="*/ 1156447 h 2003612"/>
                <a:gd name="connsiteX92" fmla="*/ 470647 w 1603937"/>
                <a:gd name="connsiteY92" fmla="*/ 1129553 h 2003612"/>
                <a:gd name="connsiteX93" fmla="*/ 376518 w 1603937"/>
                <a:gd name="connsiteY93" fmla="*/ 1062318 h 2003612"/>
                <a:gd name="connsiteX94" fmla="*/ 349624 w 1603937"/>
                <a:gd name="connsiteY94" fmla="*/ 1021976 h 2003612"/>
                <a:gd name="connsiteX95" fmla="*/ 255495 w 1603937"/>
                <a:gd name="connsiteY95" fmla="*/ 981635 h 2003612"/>
                <a:gd name="connsiteX96" fmla="*/ 174812 w 1603937"/>
                <a:gd name="connsiteY96" fmla="*/ 874059 h 2003612"/>
                <a:gd name="connsiteX97" fmla="*/ 121024 w 1603937"/>
                <a:gd name="connsiteY97" fmla="*/ 793376 h 2003612"/>
                <a:gd name="connsiteX98" fmla="*/ 134471 w 1603937"/>
                <a:gd name="connsiteY98" fmla="*/ 699247 h 2003612"/>
                <a:gd name="connsiteX99" fmla="*/ 242047 w 1603937"/>
                <a:gd name="connsiteY99" fmla="*/ 672353 h 2003612"/>
                <a:gd name="connsiteX100" fmla="*/ 497542 w 1603937"/>
                <a:gd name="connsiteY100" fmla="*/ 699247 h 2003612"/>
                <a:gd name="connsiteX101" fmla="*/ 591671 w 1603937"/>
                <a:gd name="connsiteY101" fmla="*/ 726141 h 2003612"/>
                <a:gd name="connsiteX102" fmla="*/ 632012 w 1603937"/>
                <a:gd name="connsiteY102" fmla="*/ 779929 h 2003612"/>
                <a:gd name="connsiteX103" fmla="*/ 658906 w 1603937"/>
                <a:gd name="connsiteY103" fmla="*/ 860612 h 2003612"/>
                <a:gd name="connsiteX104" fmla="*/ 685800 w 1603937"/>
                <a:gd name="connsiteY104" fmla="*/ 1223682 h 2003612"/>
                <a:gd name="connsiteX105" fmla="*/ 712695 w 1603937"/>
                <a:gd name="connsiteY105" fmla="*/ 1277471 h 2003612"/>
                <a:gd name="connsiteX106" fmla="*/ 766483 w 1603937"/>
                <a:gd name="connsiteY106" fmla="*/ 1331259 h 2003612"/>
                <a:gd name="connsiteX107" fmla="*/ 847165 w 1603937"/>
                <a:gd name="connsiteY107" fmla="*/ 1425388 h 2003612"/>
                <a:gd name="connsiteX108" fmla="*/ 1129553 w 1603937"/>
                <a:gd name="connsiteY108" fmla="*/ 1398494 h 2003612"/>
                <a:gd name="connsiteX109" fmla="*/ 1156447 w 1603937"/>
                <a:gd name="connsiteY109" fmla="*/ 1331259 h 2003612"/>
                <a:gd name="connsiteX110" fmla="*/ 1183342 w 1603937"/>
                <a:gd name="connsiteY110" fmla="*/ 1223682 h 2003612"/>
                <a:gd name="connsiteX111" fmla="*/ 1210236 w 1603937"/>
                <a:gd name="connsiteY111" fmla="*/ 1008529 h 2003612"/>
                <a:gd name="connsiteX112" fmla="*/ 1183342 w 1603937"/>
                <a:gd name="connsiteY112" fmla="*/ 712694 h 2003612"/>
                <a:gd name="connsiteX113" fmla="*/ 1143000 w 1603937"/>
                <a:gd name="connsiteY113" fmla="*/ 699247 h 2003612"/>
                <a:gd name="connsiteX114" fmla="*/ 1075765 w 1603937"/>
                <a:gd name="connsiteY114" fmla="*/ 658906 h 2003612"/>
                <a:gd name="connsiteX115" fmla="*/ 1008530 w 1603937"/>
                <a:gd name="connsiteY115" fmla="*/ 645459 h 2003612"/>
                <a:gd name="connsiteX116" fmla="*/ 954742 w 1603937"/>
                <a:gd name="connsiteY116" fmla="*/ 632012 h 2003612"/>
                <a:gd name="connsiteX117" fmla="*/ 564777 w 1603937"/>
                <a:gd name="connsiteY117" fmla="*/ 645459 h 2003612"/>
                <a:gd name="connsiteX118" fmla="*/ 524436 w 1603937"/>
                <a:gd name="connsiteY118" fmla="*/ 685800 h 2003612"/>
                <a:gd name="connsiteX119" fmla="*/ 497542 w 1603937"/>
                <a:gd name="connsiteY119" fmla="*/ 739588 h 2003612"/>
                <a:gd name="connsiteX120" fmla="*/ 470647 w 1603937"/>
                <a:gd name="connsiteY120" fmla="*/ 779929 h 2003612"/>
                <a:gd name="connsiteX121" fmla="*/ 430306 w 1603937"/>
                <a:gd name="connsiteY121" fmla="*/ 847165 h 2003612"/>
                <a:gd name="connsiteX122" fmla="*/ 416859 w 1603937"/>
                <a:gd name="connsiteY122" fmla="*/ 900953 h 2003612"/>
                <a:gd name="connsiteX123" fmla="*/ 403412 w 1603937"/>
                <a:gd name="connsiteY123" fmla="*/ 941294 h 2003612"/>
                <a:gd name="connsiteX124" fmla="*/ 376518 w 1603937"/>
                <a:gd name="connsiteY124" fmla="*/ 1143000 h 2003612"/>
                <a:gd name="connsiteX125" fmla="*/ 457200 w 1603937"/>
                <a:gd name="connsiteY125" fmla="*/ 1479176 h 2003612"/>
                <a:gd name="connsiteX126" fmla="*/ 551330 w 1603937"/>
                <a:gd name="connsiteY126" fmla="*/ 1532965 h 2003612"/>
                <a:gd name="connsiteX127" fmla="*/ 658906 w 1603937"/>
                <a:gd name="connsiteY127" fmla="*/ 1559859 h 2003612"/>
                <a:gd name="connsiteX128" fmla="*/ 1183342 w 1603937"/>
                <a:gd name="connsiteY128" fmla="*/ 1519518 h 2003612"/>
                <a:gd name="connsiteX129" fmla="*/ 1210236 w 1603937"/>
                <a:gd name="connsiteY129" fmla="*/ 1479176 h 2003612"/>
                <a:gd name="connsiteX130" fmla="*/ 1250577 w 1603937"/>
                <a:gd name="connsiteY130" fmla="*/ 1425388 h 2003612"/>
                <a:gd name="connsiteX131" fmla="*/ 1277471 w 1603937"/>
                <a:gd name="connsiteY131" fmla="*/ 1344706 h 2003612"/>
                <a:gd name="connsiteX132" fmla="*/ 1304365 w 1603937"/>
                <a:gd name="connsiteY132" fmla="*/ 1250576 h 2003612"/>
                <a:gd name="connsiteX133" fmla="*/ 1196789 w 1603937"/>
                <a:gd name="connsiteY133" fmla="*/ 793376 h 2003612"/>
                <a:gd name="connsiteX134" fmla="*/ 1156447 w 1603937"/>
                <a:gd name="connsiteY134" fmla="*/ 766482 h 2003612"/>
                <a:gd name="connsiteX135" fmla="*/ 1089212 w 1603937"/>
                <a:gd name="connsiteY135" fmla="*/ 779929 h 2003612"/>
                <a:gd name="connsiteX136" fmla="*/ 1062318 w 1603937"/>
                <a:gd name="connsiteY136" fmla="*/ 860612 h 2003612"/>
                <a:gd name="connsiteX137" fmla="*/ 1048871 w 1603937"/>
                <a:gd name="connsiteY137" fmla="*/ 900953 h 2003612"/>
                <a:gd name="connsiteX138" fmla="*/ 1062318 w 1603937"/>
                <a:gd name="connsiteY138" fmla="*/ 1156447 h 2003612"/>
                <a:gd name="connsiteX139" fmla="*/ 1102659 w 1603937"/>
                <a:gd name="connsiteY139" fmla="*/ 1196788 h 2003612"/>
                <a:gd name="connsiteX140" fmla="*/ 1210236 w 1603937"/>
                <a:gd name="connsiteY140" fmla="*/ 1317812 h 2003612"/>
                <a:gd name="connsiteX141" fmla="*/ 1264024 w 1603937"/>
                <a:gd name="connsiteY141" fmla="*/ 1344706 h 2003612"/>
                <a:gd name="connsiteX142" fmla="*/ 1385047 w 1603937"/>
                <a:gd name="connsiteY142" fmla="*/ 1411941 h 2003612"/>
                <a:gd name="connsiteX143" fmla="*/ 1411942 w 1603937"/>
                <a:gd name="connsiteY143" fmla="*/ 1452282 h 2003612"/>
                <a:gd name="connsiteX144" fmla="*/ 1425389 w 1603937"/>
                <a:gd name="connsiteY144" fmla="*/ 1492624 h 2003612"/>
                <a:gd name="connsiteX145" fmla="*/ 1452283 w 1603937"/>
                <a:gd name="connsiteY145" fmla="*/ 1613647 h 2003612"/>
                <a:gd name="connsiteX146" fmla="*/ 1465730 w 1603937"/>
                <a:gd name="connsiteY146" fmla="*/ 1653988 h 2003612"/>
                <a:gd name="connsiteX147" fmla="*/ 1479177 w 1603937"/>
                <a:gd name="connsiteY147" fmla="*/ 1734671 h 2003612"/>
                <a:gd name="connsiteX148" fmla="*/ 1492624 w 1603937"/>
                <a:gd name="connsiteY148" fmla="*/ 1775012 h 2003612"/>
                <a:gd name="connsiteX149" fmla="*/ 1465730 w 1603937"/>
                <a:gd name="connsiteY149" fmla="*/ 1936376 h 2003612"/>
                <a:gd name="connsiteX150" fmla="*/ 1438836 w 1603937"/>
                <a:gd name="connsiteY150" fmla="*/ 1976718 h 2003612"/>
                <a:gd name="connsiteX151" fmla="*/ 1425389 w 1603937"/>
                <a:gd name="connsiteY151" fmla="*/ 2003612 h 2003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</a:cxnLst>
              <a:rect l="l" t="t" r="r" b="b"/>
              <a:pathLst>
                <a:path w="1603937" h="2003612">
                  <a:moveTo>
                    <a:pt x="847165" y="0"/>
                  </a:moveTo>
                  <a:cubicBezTo>
                    <a:pt x="851647" y="31376"/>
                    <a:pt x="860612" y="62434"/>
                    <a:pt x="860612" y="94129"/>
                  </a:cubicBezTo>
                  <a:cubicBezTo>
                    <a:pt x="860612" y="126098"/>
                    <a:pt x="863885" y="324543"/>
                    <a:pt x="820271" y="389965"/>
                  </a:cubicBezTo>
                  <a:cubicBezTo>
                    <a:pt x="802342" y="416859"/>
                    <a:pt x="789339" y="447791"/>
                    <a:pt x="766483" y="470647"/>
                  </a:cubicBezTo>
                  <a:cubicBezTo>
                    <a:pt x="753036" y="484094"/>
                    <a:pt x="742653" y="501553"/>
                    <a:pt x="726142" y="510988"/>
                  </a:cubicBezTo>
                  <a:cubicBezTo>
                    <a:pt x="710096" y="520157"/>
                    <a:pt x="690055" y="519124"/>
                    <a:pt x="672353" y="524435"/>
                  </a:cubicBezTo>
                  <a:cubicBezTo>
                    <a:pt x="508654" y="573544"/>
                    <a:pt x="661864" y="533781"/>
                    <a:pt x="537883" y="564776"/>
                  </a:cubicBezTo>
                  <a:cubicBezTo>
                    <a:pt x="528918" y="573741"/>
                    <a:pt x="523659" y="591202"/>
                    <a:pt x="510989" y="591671"/>
                  </a:cubicBezTo>
                  <a:cubicBezTo>
                    <a:pt x="398917" y="595822"/>
                    <a:pt x="286676" y="586215"/>
                    <a:pt x="174812" y="578224"/>
                  </a:cubicBezTo>
                  <a:cubicBezTo>
                    <a:pt x="149587" y="576422"/>
                    <a:pt x="98878" y="545680"/>
                    <a:pt x="80683" y="537882"/>
                  </a:cubicBezTo>
                  <a:cubicBezTo>
                    <a:pt x="67655" y="532298"/>
                    <a:pt x="53789" y="528917"/>
                    <a:pt x="40342" y="524435"/>
                  </a:cubicBezTo>
                  <a:lnTo>
                    <a:pt x="13447" y="443753"/>
                  </a:lnTo>
                  <a:lnTo>
                    <a:pt x="0" y="403412"/>
                  </a:lnTo>
                  <a:cubicBezTo>
                    <a:pt x="4482" y="340659"/>
                    <a:pt x="-1812" y="276187"/>
                    <a:pt x="13447" y="215153"/>
                  </a:cubicBezTo>
                  <a:cubicBezTo>
                    <a:pt x="17367" y="199474"/>
                    <a:pt x="39334" y="195487"/>
                    <a:pt x="53789" y="188259"/>
                  </a:cubicBezTo>
                  <a:cubicBezTo>
                    <a:pt x="165131" y="132589"/>
                    <a:pt x="18864" y="224989"/>
                    <a:pt x="134471" y="147918"/>
                  </a:cubicBezTo>
                  <a:cubicBezTo>
                    <a:pt x="251012" y="152400"/>
                    <a:pt x="368640" y="144871"/>
                    <a:pt x="484095" y="161365"/>
                  </a:cubicBezTo>
                  <a:cubicBezTo>
                    <a:pt x="500094" y="163651"/>
                    <a:pt x="498369" y="191610"/>
                    <a:pt x="510989" y="201706"/>
                  </a:cubicBezTo>
                  <a:cubicBezTo>
                    <a:pt x="522057" y="210561"/>
                    <a:pt x="537883" y="210671"/>
                    <a:pt x="551330" y="215153"/>
                  </a:cubicBezTo>
                  <a:cubicBezTo>
                    <a:pt x="569259" y="228600"/>
                    <a:pt x="589271" y="239647"/>
                    <a:pt x="605118" y="255494"/>
                  </a:cubicBezTo>
                  <a:cubicBezTo>
                    <a:pt x="654170" y="304546"/>
                    <a:pt x="608827" y="296686"/>
                    <a:pt x="672353" y="349624"/>
                  </a:cubicBezTo>
                  <a:cubicBezTo>
                    <a:pt x="683242" y="358698"/>
                    <a:pt x="699666" y="357487"/>
                    <a:pt x="712695" y="363071"/>
                  </a:cubicBezTo>
                  <a:cubicBezTo>
                    <a:pt x="731120" y="370967"/>
                    <a:pt x="750171" y="378314"/>
                    <a:pt x="766483" y="389965"/>
                  </a:cubicBezTo>
                  <a:cubicBezTo>
                    <a:pt x="781958" y="401018"/>
                    <a:pt x="790313" y="420871"/>
                    <a:pt x="806824" y="430306"/>
                  </a:cubicBezTo>
                  <a:cubicBezTo>
                    <a:pt x="822870" y="439475"/>
                    <a:pt x="842842" y="438676"/>
                    <a:pt x="860612" y="443753"/>
                  </a:cubicBezTo>
                  <a:cubicBezTo>
                    <a:pt x="874241" y="447647"/>
                    <a:pt x="887506" y="452718"/>
                    <a:pt x="900953" y="457200"/>
                  </a:cubicBezTo>
                  <a:cubicBezTo>
                    <a:pt x="999770" y="454206"/>
                    <a:pt x="1302053" y="565689"/>
                    <a:pt x="1371600" y="403412"/>
                  </a:cubicBezTo>
                  <a:cubicBezTo>
                    <a:pt x="1378880" y="386425"/>
                    <a:pt x="1380565" y="367553"/>
                    <a:pt x="1385047" y="349624"/>
                  </a:cubicBezTo>
                  <a:cubicBezTo>
                    <a:pt x="1380565" y="291353"/>
                    <a:pt x="1426471" y="194931"/>
                    <a:pt x="1371600" y="174812"/>
                  </a:cubicBezTo>
                  <a:cubicBezTo>
                    <a:pt x="1249268" y="129957"/>
                    <a:pt x="1110270" y="180959"/>
                    <a:pt x="981636" y="201706"/>
                  </a:cubicBezTo>
                  <a:cubicBezTo>
                    <a:pt x="965681" y="204279"/>
                    <a:pt x="965384" y="229884"/>
                    <a:pt x="954742" y="242047"/>
                  </a:cubicBezTo>
                  <a:cubicBezTo>
                    <a:pt x="933870" y="265900"/>
                    <a:pt x="887506" y="309282"/>
                    <a:pt x="887506" y="309282"/>
                  </a:cubicBezTo>
                  <a:cubicBezTo>
                    <a:pt x="878541" y="336176"/>
                    <a:pt x="876337" y="366377"/>
                    <a:pt x="860612" y="389965"/>
                  </a:cubicBezTo>
                  <a:cubicBezTo>
                    <a:pt x="851647" y="403412"/>
                    <a:pt x="840946" y="415851"/>
                    <a:pt x="833718" y="430306"/>
                  </a:cubicBezTo>
                  <a:cubicBezTo>
                    <a:pt x="827379" y="442984"/>
                    <a:pt x="827155" y="458256"/>
                    <a:pt x="820271" y="470647"/>
                  </a:cubicBezTo>
                  <a:cubicBezTo>
                    <a:pt x="804574" y="498902"/>
                    <a:pt x="784412" y="524435"/>
                    <a:pt x="766483" y="551329"/>
                  </a:cubicBezTo>
                  <a:lnTo>
                    <a:pt x="739589" y="591671"/>
                  </a:lnTo>
                  <a:cubicBezTo>
                    <a:pt x="673098" y="691409"/>
                    <a:pt x="749669" y="582264"/>
                    <a:pt x="685800" y="658906"/>
                  </a:cubicBezTo>
                  <a:cubicBezTo>
                    <a:pt x="671452" y="676123"/>
                    <a:pt x="662676" y="698346"/>
                    <a:pt x="645459" y="712694"/>
                  </a:cubicBezTo>
                  <a:cubicBezTo>
                    <a:pt x="634570" y="721768"/>
                    <a:pt x="618565" y="721659"/>
                    <a:pt x="605118" y="726141"/>
                  </a:cubicBezTo>
                  <a:cubicBezTo>
                    <a:pt x="551330" y="721659"/>
                    <a:pt x="495341" y="728567"/>
                    <a:pt x="443753" y="712694"/>
                  </a:cubicBezTo>
                  <a:cubicBezTo>
                    <a:pt x="430205" y="708526"/>
                    <a:pt x="435890" y="685381"/>
                    <a:pt x="430306" y="672353"/>
                  </a:cubicBezTo>
                  <a:cubicBezTo>
                    <a:pt x="422410" y="653928"/>
                    <a:pt x="410857" y="637177"/>
                    <a:pt x="403412" y="618565"/>
                  </a:cubicBezTo>
                  <a:cubicBezTo>
                    <a:pt x="392883" y="592244"/>
                    <a:pt x="376518" y="537882"/>
                    <a:pt x="376518" y="537882"/>
                  </a:cubicBezTo>
                  <a:cubicBezTo>
                    <a:pt x="378729" y="511346"/>
                    <a:pt x="348822" y="361264"/>
                    <a:pt x="430306" y="349624"/>
                  </a:cubicBezTo>
                  <a:cubicBezTo>
                    <a:pt x="448602" y="347010"/>
                    <a:pt x="466165" y="358589"/>
                    <a:pt x="484095" y="363071"/>
                  </a:cubicBezTo>
                  <a:cubicBezTo>
                    <a:pt x="497542" y="381000"/>
                    <a:pt x="509851" y="399843"/>
                    <a:pt x="524436" y="416859"/>
                  </a:cubicBezTo>
                  <a:cubicBezTo>
                    <a:pt x="536812" y="431298"/>
                    <a:pt x="555542" y="440576"/>
                    <a:pt x="564777" y="457200"/>
                  </a:cubicBezTo>
                  <a:cubicBezTo>
                    <a:pt x="578544" y="481981"/>
                    <a:pt x="582706" y="510988"/>
                    <a:pt x="591671" y="537882"/>
                  </a:cubicBezTo>
                  <a:cubicBezTo>
                    <a:pt x="596782" y="553214"/>
                    <a:pt x="609600" y="564777"/>
                    <a:pt x="618565" y="578224"/>
                  </a:cubicBezTo>
                  <a:cubicBezTo>
                    <a:pt x="646551" y="690168"/>
                    <a:pt x="612474" y="579489"/>
                    <a:pt x="658906" y="672353"/>
                  </a:cubicBezTo>
                  <a:cubicBezTo>
                    <a:pt x="665245" y="685031"/>
                    <a:pt x="668459" y="699065"/>
                    <a:pt x="672353" y="712694"/>
                  </a:cubicBezTo>
                  <a:cubicBezTo>
                    <a:pt x="677430" y="730464"/>
                    <a:pt x="677535" y="749952"/>
                    <a:pt x="685800" y="766482"/>
                  </a:cubicBezTo>
                  <a:cubicBezTo>
                    <a:pt x="691470" y="777822"/>
                    <a:pt x="703730" y="784411"/>
                    <a:pt x="712695" y="793376"/>
                  </a:cubicBezTo>
                  <a:cubicBezTo>
                    <a:pt x="738873" y="871913"/>
                    <a:pt x="705659" y="799788"/>
                    <a:pt x="766483" y="860612"/>
                  </a:cubicBezTo>
                  <a:cubicBezTo>
                    <a:pt x="777911" y="872040"/>
                    <a:pt x="783031" y="888538"/>
                    <a:pt x="793377" y="900953"/>
                  </a:cubicBezTo>
                  <a:cubicBezTo>
                    <a:pt x="825732" y="939780"/>
                    <a:pt x="834393" y="941744"/>
                    <a:pt x="874059" y="968188"/>
                  </a:cubicBezTo>
                  <a:lnTo>
                    <a:pt x="1385047" y="954741"/>
                  </a:lnTo>
                  <a:cubicBezTo>
                    <a:pt x="1416438" y="950361"/>
                    <a:pt x="1433266" y="912862"/>
                    <a:pt x="1452283" y="887506"/>
                  </a:cubicBezTo>
                  <a:cubicBezTo>
                    <a:pt x="1461423" y="875319"/>
                    <a:pt x="1509685" y="813043"/>
                    <a:pt x="1519518" y="793376"/>
                  </a:cubicBezTo>
                  <a:cubicBezTo>
                    <a:pt x="1529164" y="774084"/>
                    <a:pt x="1542103" y="716481"/>
                    <a:pt x="1546412" y="699247"/>
                  </a:cubicBezTo>
                  <a:cubicBezTo>
                    <a:pt x="1537447" y="614082"/>
                    <a:pt x="1539353" y="527059"/>
                    <a:pt x="1519518" y="443753"/>
                  </a:cubicBezTo>
                  <a:cubicBezTo>
                    <a:pt x="1515775" y="428031"/>
                    <a:pt x="1490605" y="428287"/>
                    <a:pt x="1479177" y="416859"/>
                  </a:cubicBezTo>
                  <a:cubicBezTo>
                    <a:pt x="1418353" y="356035"/>
                    <a:pt x="1490478" y="389250"/>
                    <a:pt x="1411942" y="363071"/>
                  </a:cubicBezTo>
                  <a:cubicBezTo>
                    <a:pt x="1371601" y="372036"/>
                    <a:pt x="1330123" y="376897"/>
                    <a:pt x="1290918" y="389965"/>
                  </a:cubicBezTo>
                  <a:cubicBezTo>
                    <a:pt x="1230435" y="410126"/>
                    <a:pt x="1262099" y="424547"/>
                    <a:pt x="1223683" y="470647"/>
                  </a:cubicBezTo>
                  <a:cubicBezTo>
                    <a:pt x="1213337" y="483062"/>
                    <a:pt x="1196789" y="488576"/>
                    <a:pt x="1183342" y="497541"/>
                  </a:cubicBezTo>
                  <a:cubicBezTo>
                    <a:pt x="1106271" y="613143"/>
                    <a:pt x="1198669" y="466885"/>
                    <a:pt x="1143000" y="578224"/>
                  </a:cubicBezTo>
                  <a:cubicBezTo>
                    <a:pt x="1135773" y="592679"/>
                    <a:pt x="1122670" y="603797"/>
                    <a:pt x="1116106" y="618565"/>
                  </a:cubicBezTo>
                  <a:cubicBezTo>
                    <a:pt x="1104592" y="644470"/>
                    <a:pt x="1098177" y="672353"/>
                    <a:pt x="1089212" y="699247"/>
                  </a:cubicBezTo>
                  <a:lnTo>
                    <a:pt x="1062318" y="779929"/>
                  </a:lnTo>
                  <a:lnTo>
                    <a:pt x="1048871" y="820271"/>
                  </a:lnTo>
                  <a:cubicBezTo>
                    <a:pt x="1053353" y="887506"/>
                    <a:pt x="1052788" y="955269"/>
                    <a:pt x="1062318" y="1021976"/>
                  </a:cubicBezTo>
                  <a:cubicBezTo>
                    <a:pt x="1066327" y="1050040"/>
                    <a:pt x="1069166" y="1082613"/>
                    <a:pt x="1089212" y="1102659"/>
                  </a:cubicBezTo>
                  <a:cubicBezTo>
                    <a:pt x="1189312" y="1202759"/>
                    <a:pt x="1062588" y="1079839"/>
                    <a:pt x="1183342" y="1183341"/>
                  </a:cubicBezTo>
                  <a:cubicBezTo>
                    <a:pt x="1197781" y="1195717"/>
                    <a:pt x="1208672" y="1212007"/>
                    <a:pt x="1223683" y="1223682"/>
                  </a:cubicBezTo>
                  <a:cubicBezTo>
                    <a:pt x="1249197" y="1243526"/>
                    <a:pt x="1304365" y="1277471"/>
                    <a:pt x="1304365" y="1277471"/>
                  </a:cubicBezTo>
                  <a:cubicBezTo>
                    <a:pt x="1394012" y="1268506"/>
                    <a:pt x="1533848" y="1331570"/>
                    <a:pt x="1573306" y="1250576"/>
                  </a:cubicBezTo>
                  <a:cubicBezTo>
                    <a:pt x="1592651" y="1210867"/>
                    <a:pt x="1648651" y="844907"/>
                    <a:pt x="1532965" y="712694"/>
                  </a:cubicBezTo>
                  <a:cubicBezTo>
                    <a:pt x="1512094" y="688841"/>
                    <a:pt x="1490261" y="665529"/>
                    <a:pt x="1465730" y="645459"/>
                  </a:cubicBezTo>
                  <a:cubicBezTo>
                    <a:pt x="1440713" y="624991"/>
                    <a:pt x="1410905" y="611065"/>
                    <a:pt x="1385047" y="591671"/>
                  </a:cubicBezTo>
                  <a:lnTo>
                    <a:pt x="1331259" y="551329"/>
                  </a:lnTo>
                  <a:cubicBezTo>
                    <a:pt x="1313330" y="560294"/>
                    <a:pt x="1291645" y="564049"/>
                    <a:pt x="1277471" y="578224"/>
                  </a:cubicBezTo>
                  <a:cubicBezTo>
                    <a:pt x="1267448" y="588247"/>
                    <a:pt x="1269608" y="605537"/>
                    <a:pt x="1264024" y="618565"/>
                  </a:cubicBezTo>
                  <a:cubicBezTo>
                    <a:pt x="1256128" y="636990"/>
                    <a:pt x="1245425" y="654104"/>
                    <a:pt x="1237130" y="672353"/>
                  </a:cubicBezTo>
                  <a:cubicBezTo>
                    <a:pt x="1223004" y="703430"/>
                    <a:pt x="1212055" y="735949"/>
                    <a:pt x="1196789" y="766482"/>
                  </a:cubicBezTo>
                  <a:cubicBezTo>
                    <a:pt x="1189561" y="780937"/>
                    <a:pt x="1176373" y="792017"/>
                    <a:pt x="1169895" y="806824"/>
                  </a:cubicBezTo>
                  <a:cubicBezTo>
                    <a:pt x="1144871" y="864021"/>
                    <a:pt x="1125287" y="923448"/>
                    <a:pt x="1102659" y="981635"/>
                  </a:cubicBezTo>
                  <a:cubicBezTo>
                    <a:pt x="1081287" y="1036590"/>
                    <a:pt x="1071695" y="1067745"/>
                    <a:pt x="1035424" y="1116106"/>
                  </a:cubicBezTo>
                  <a:cubicBezTo>
                    <a:pt x="1024014" y="1131320"/>
                    <a:pt x="1011594" y="1147012"/>
                    <a:pt x="995083" y="1156447"/>
                  </a:cubicBezTo>
                  <a:cubicBezTo>
                    <a:pt x="979037" y="1165616"/>
                    <a:pt x="959224" y="1165412"/>
                    <a:pt x="941295" y="1169894"/>
                  </a:cubicBezTo>
                  <a:cubicBezTo>
                    <a:pt x="797860" y="1165412"/>
                    <a:pt x="653970" y="1168702"/>
                    <a:pt x="510989" y="1156447"/>
                  </a:cubicBezTo>
                  <a:cubicBezTo>
                    <a:pt x="494886" y="1155067"/>
                    <a:pt x="483798" y="1138947"/>
                    <a:pt x="470647" y="1129553"/>
                  </a:cubicBezTo>
                  <a:cubicBezTo>
                    <a:pt x="353874" y="1046144"/>
                    <a:pt x="471603" y="1125708"/>
                    <a:pt x="376518" y="1062318"/>
                  </a:cubicBezTo>
                  <a:cubicBezTo>
                    <a:pt x="367553" y="1048871"/>
                    <a:pt x="361052" y="1033404"/>
                    <a:pt x="349624" y="1021976"/>
                  </a:cubicBezTo>
                  <a:cubicBezTo>
                    <a:pt x="318670" y="991022"/>
                    <a:pt x="296643" y="991922"/>
                    <a:pt x="255495" y="981635"/>
                  </a:cubicBezTo>
                  <a:cubicBezTo>
                    <a:pt x="228601" y="945776"/>
                    <a:pt x="199675" y="911355"/>
                    <a:pt x="174812" y="874059"/>
                  </a:cubicBezTo>
                  <a:lnTo>
                    <a:pt x="121024" y="793376"/>
                  </a:lnTo>
                  <a:cubicBezTo>
                    <a:pt x="125506" y="762000"/>
                    <a:pt x="112059" y="721659"/>
                    <a:pt x="134471" y="699247"/>
                  </a:cubicBezTo>
                  <a:cubicBezTo>
                    <a:pt x="160607" y="673111"/>
                    <a:pt x="242047" y="672353"/>
                    <a:pt x="242047" y="672353"/>
                  </a:cubicBezTo>
                  <a:cubicBezTo>
                    <a:pt x="327212" y="681318"/>
                    <a:pt x="412626" y="688171"/>
                    <a:pt x="497542" y="699247"/>
                  </a:cubicBezTo>
                  <a:cubicBezTo>
                    <a:pt x="525281" y="702865"/>
                    <a:pt x="564322" y="717025"/>
                    <a:pt x="591671" y="726141"/>
                  </a:cubicBezTo>
                  <a:cubicBezTo>
                    <a:pt x="605118" y="744070"/>
                    <a:pt x="621989" y="759883"/>
                    <a:pt x="632012" y="779929"/>
                  </a:cubicBezTo>
                  <a:cubicBezTo>
                    <a:pt x="644690" y="805285"/>
                    <a:pt x="658906" y="860612"/>
                    <a:pt x="658906" y="860612"/>
                  </a:cubicBezTo>
                  <a:cubicBezTo>
                    <a:pt x="659068" y="864347"/>
                    <a:pt x="649848" y="1127813"/>
                    <a:pt x="685800" y="1223682"/>
                  </a:cubicBezTo>
                  <a:cubicBezTo>
                    <a:pt x="692839" y="1242452"/>
                    <a:pt x="700667" y="1261434"/>
                    <a:pt x="712695" y="1277471"/>
                  </a:cubicBezTo>
                  <a:cubicBezTo>
                    <a:pt x="727909" y="1297756"/>
                    <a:pt x="751269" y="1310974"/>
                    <a:pt x="766483" y="1331259"/>
                  </a:cubicBezTo>
                  <a:cubicBezTo>
                    <a:pt x="845590" y="1436736"/>
                    <a:pt x="730170" y="1337642"/>
                    <a:pt x="847165" y="1425388"/>
                  </a:cubicBezTo>
                  <a:cubicBezTo>
                    <a:pt x="941294" y="1416423"/>
                    <a:pt x="1039094" y="1426025"/>
                    <a:pt x="1129553" y="1398494"/>
                  </a:cubicBezTo>
                  <a:cubicBezTo>
                    <a:pt x="1152645" y="1391466"/>
                    <a:pt x="1147971" y="1353860"/>
                    <a:pt x="1156447" y="1331259"/>
                  </a:cubicBezTo>
                  <a:cubicBezTo>
                    <a:pt x="1170889" y="1292748"/>
                    <a:pt x="1177167" y="1266904"/>
                    <a:pt x="1183342" y="1223682"/>
                  </a:cubicBezTo>
                  <a:cubicBezTo>
                    <a:pt x="1193563" y="1152133"/>
                    <a:pt x="1210236" y="1008529"/>
                    <a:pt x="1210236" y="1008529"/>
                  </a:cubicBezTo>
                  <a:cubicBezTo>
                    <a:pt x="1201271" y="909917"/>
                    <a:pt x="1204377" y="809452"/>
                    <a:pt x="1183342" y="712694"/>
                  </a:cubicBezTo>
                  <a:cubicBezTo>
                    <a:pt x="1180331" y="698843"/>
                    <a:pt x="1155678" y="705586"/>
                    <a:pt x="1143000" y="699247"/>
                  </a:cubicBezTo>
                  <a:cubicBezTo>
                    <a:pt x="1119623" y="687559"/>
                    <a:pt x="1100032" y="668613"/>
                    <a:pt x="1075765" y="658906"/>
                  </a:cubicBezTo>
                  <a:cubicBezTo>
                    <a:pt x="1054544" y="650418"/>
                    <a:pt x="1030841" y="650417"/>
                    <a:pt x="1008530" y="645459"/>
                  </a:cubicBezTo>
                  <a:cubicBezTo>
                    <a:pt x="990489" y="641450"/>
                    <a:pt x="972671" y="636494"/>
                    <a:pt x="954742" y="632012"/>
                  </a:cubicBezTo>
                  <a:cubicBezTo>
                    <a:pt x="824754" y="636494"/>
                    <a:pt x="693838" y="629326"/>
                    <a:pt x="564777" y="645459"/>
                  </a:cubicBezTo>
                  <a:cubicBezTo>
                    <a:pt x="545907" y="647818"/>
                    <a:pt x="535489" y="670325"/>
                    <a:pt x="524436" y="685800"/>
                  </a:cubicBezTo>
                  <a:cubicBezTo>
                    <a:pt x="512785" y="702112"/>
                    <a:pt x="507488" y="722184"/>
                    <a:pt x="497542" y="739588"/>
                  </a:cubicBezTo>
                  <a:cubicBezTo>
                    <a:pt x="489524" y="753620"/>
                    <a:pt x="479213" y="766224"/>
                    <a:pt x="470647" y="779929"/>
                  </a:cubicBezTo>
                  <a:cubicBezTo>
                    <a:pt x="456795" y="802093"/>
                    <a:pt x="443753" y="824753"/>
                    <a:pt x="430306" y="847165"/>
                  </a:cubicBezTo>
                  <a:cubicBezTo>
                    <a:pt x="425824" y="865094"/>
                    <a:pt x="421936" y="883183"/>
                    <a:pt x="416859" y="900953"/>
                  </a:cubicBezTo>
                  <a:cubicBezTo>
                    <a:pt x="412965" y="914582"/>
                    <a:pt x="405417" y="927262"/>
                    <a:pt x="403412" y="941294"/>
                  </a:cubicBezTo>
                  <a:cubicBezTo>
                    <a:pt x="368132" y="1188258"/>
                    <a:pt x="409498" y="1011079"/>
                    <a:pt x="376518" y="1143000"/>
                  </a:cubicBezTo>
                  <a:cubicBezTo>
                    <a:pt x="393311" y="1254953"/>
                    <a:pt x="378127" y="1386925"/>
                    <a:pt x="457200" y="1479176"/>
                  </a:cubicBezTo>
                  <a:cubicBezTo>
                    <a:pt x="469005" y="1492948"/>
                    <a:pt x="539169" y="1528911"/>
                    <a:pt x="551330" y="1532965"/>
                  </a:cubicBezTo>
                  <a:cubicBezTo>
                    <a:pt x="586395" y="1544653"/>
                    <a:pt x="658906" y="1559859"/>
                    <a:pt x="658906" y="1559859"/>
                  </a:cubicBezTo>
                  <a:cubicBezTo>
                    <a:pt x="783296" y="1556497"/>
                    <a:pt x="1068614" y="1662927"/>
                    <a:pt x="1183342" y="1519518"/>
                  </a:cubicBezTo>
                  <a:cubicBezTo>
                    <a:pt x="1193438" y="1506898"/>
                    <a:pt x="1200842" y="1492327"/>
                    <a:pt x="1210236" y="1479176"/>
                  </a:cubicBezTo>
                  <a:cubicBezTo>
                    <a:pt x="1223262" y="1460939"/>
                    <a:pt x="1237130" y="1443317"/>
                    <a:pt x="1250577" y="1425388"/>
                  </a:cubicBezTo>
                  <a:cubicBezTo>
                    <a:pt x="1259542" y="1398494"/>
                    <a:pt x="1270595" y="1372208"/>
                    <a:pt x="1277471" y="1344706"/>
                  </a:cubicBezTo>
                  <a:cubicBezTo>
                    <a:pt x="1294356" y="1277167"/>
                    <a:pt x="1285074" y="1308451"/>
                    <a:pt x="1304365" y="1250576"/>
                  </a:cubicBezTo>
                  <a:cubicBezTo>
                    <a:pt x="1265566" y="862588"/>
                    <a:pt x="1368617" y="922247"/>
                    <a:pt x="1196789" y="793376"/>
                  </a:cubicBezTo>
                  <a:cubicBezTo>
                    <a:pt x="1183860" y="783679"/>
                    <a:pt x="1169894" y="775447"/>
                    <a:pt x="1156447" y="766482"/>
                  </a:cubicBezTo>
                  <a:cubicBezTo>
                    <a:pt x="1134035" y="770964"/>
                    <a:pt x="1105373" y="763768"/>
                    <a:pt x="1089212" y="779929"/>
                  </a:cubicBezTo>
                  <a:cubicBezTo>
                    <a:pt x="1069166" y="799975"/>
                    <a:pt x="1071283" y="833718"/>
                    <a:pt x="1062318" y="860612"/>
                  </a:cubicBezTo>
                  <a:lnTo>
                    <a:pt x="1048871" y="900953"/>
                  </a:lnTo>
                  <a:cubicBezTo>
                    <a:pt x="1053353" y="986118"/>
                    <a:pt x="1047062" y="1072540"/>
                    <a:pt x="1062318" y="1156447"/>
                  </a:cubicBezTo>
                  <a:cubicBezTo>
                    <a:pt x="1065720" y="1175157"/>
                    <a:pt x="1090283" y="1182349"/>
                    <a:pt x="1102659" y="1196788"/>
                  </a:cubicBezTo>
                  <a:cubicBezTo>
                    <a:pt x="1132796" y="1231948"/>
                    <a:pt x="1168479" y="1296933"/>
                    <a:pt x="1210236" y="1317812"/>
                  </a:cubicBezTo>
                  <a:cubicBezTo>
                    <a:pt x="1228165" y="1326777"/>
                    <a:pt x="1246835" y="1334393"/>
                    <a:pt x="1264024" y="1344706"/>
                  </a:cubicBezTo>
                  <a:cubicBezTo>
                    <a:pt x="1379619" y="1414063"/>
                    <a:pt x="1303904" y="1384893"/>
                    <a:pt x="1385047" y="1411941"/>
                  </a:cubicBezTo>
                  <a:cubicBezTo>
                    <a:pt x="1394012" y="1425388"/>
                    <a:pt x="1404714" y="1437827"/>
                    <a:pt x="1411942" y="1452282"/>
                  </a:cubicBezTo>
                  <a:cubicBezTo>
                    <a:pt x="1418281" y="1464960"/>
                    <a:pt x="1421495" y="1478995"/>
                    <a:pt x="1425389" y="1492624"/>
                  </a:cubicBezTo>
                  <a:cubicBezTo>
                    <a:pt x="1452999" y="1589261"/>
                    <a:pt x="1424551" y="1502720"/>
                    <a:pt x="1452283" y="1613647"/>
                  </a:cubicBezTo>
                  <a:cubicBezTo>
                    <a:pt x="1455721" y="1627398"/>
                    <a:pt x="1461248" y="1640541"/>
                    <a:pt x="1465730" y="1653988"/>
                  </a:cubicBezTo>
                  <a:cubicBezTo>
                    <a:pt x="1470212" y="1680882"/>
                    <a:pt x="1473262" y="1708055"/>
                    <a:pt x="1479177" y="1734671"/>
                  </a:cubicBezTo>
                  <a:cubicBezTo>
                    <a:pt x="1482252" y="1748508"/>
                    <a:pt x="1492624" y="1760838"/>
                    <a:pt x="1492624" y="1775012"/>
                  </a:cubicBezTo>
                  <a:cubicBezTo>
                    <a:pt x="1492624" y="1804838"/>
                    <a:pt x="1486770" y="1894296"/>
                    <a:pt x="1465730" y="1936376"/>
                  </a:cubicBezTo>
                  <a:cubicBezTo>
                    <a:pt x="1458502" y="1950831"/>
                    <a:pt x="1447151" y="1962860"/>
                    <a:pt x="1438836" y="1976718"/>
                  </a:cubicBezTo>
                  <a:cubicBezTo>
                    <a:pt x="1433679" y="1985313"/>
                    <a:pt x="1429871" y="1994647"/>
                    <a:pt x="1425389" y="2003612"/>
                  </a:cubicBezTo>
                </a:path>
              </a:pathLst>
            </a:custGeom>
            <a:noFill/>
            <a:ln w="285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5555765-277B-45E4-81FA-0DEBFB937580}"/>
                </a:ext>
              </a:extLst>
            </p:cNvPr>
            <p:cNvGrpSpPr/>
            <p:nvPr/>
          </p:nvGrpSpPr>
          <p:grpSpPr>
            <a:xfrm rot="10800000">
              <a:off x="1393816" y="2381574"/>
              <a:ext cx="914400" cy="914400"/>
              <a:chOff x="9757619" y="2093495"/>
              <a:chExt cx="914400" cy="914400"/>
            </a:xfr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bg2">
                    <a:lumMod val="90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path path="circle">
                <a:fillToRect l="100000" t="100000"/>
              </a:path>
            </a:gradFill>
          </p:grpSpPr>
          <p:grpSp>
            <p:nvGrpSpPr>
              <p:cNvPr id="18" name="Graphic 2" descr="Lightbulb">
                <a:extLst>
                  <a:ext uri="{FF2B5EF4-FFF2-40B4-BE49-F238E27FC236}">
                    <a16:creationId xmlns:a16="http://schemas.microsoft.com/office/drawing/2014/main" id="{13A6E969-530B-4193-995B-AE1F80BAF26B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  <a:grpFill/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8B8D8659-C068-4CA9-99B2-6307F4F49F43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1">
                    <a:lumMod val="95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CB94DE0F-6ED1-4594-82D6-19A77CB1117F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chemeClr val="bg2"/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CAE5DA39-4960-48C2-A455-680759D6D352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chemeClr val="tx2">
                    <a:lumMod val="20000"/>
                    <a:lumOff val="80000"/>
                  </a:schemeClr>
                </a:solidFill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63FE4E93-F418-4B70-BE07-048F74B44B96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grpFill/>
                <a:ln w="9525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92455C61-0793-4DBB-8BF9-03D1BF5FF2BF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CBE6B62-A2B2-4E0A-9208-77D5179B9475}"/>
              </a:ext>
            </a:extLst>
          </p:cNvPr>
          <p:cNvGrpSpPr/>
          <p:nvPr/>
        </p:nvGrpSpPr>
        <p:grpSpPr>
          <a:xfrm>
            <a:off x="7831520" y="0"/>
            <a:ext cx="685800" cy="3333489"/>
            <a:chOff x="9757619" y="-26894"/>
            <a:chExt cx="914400" cy="3034789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5348050-D971-41B5-AEE8-856EABC5BDBD}"/>
                </a:ext>
              </a:extLst>
            </p:cNvPr>
            <p:cNvCxnSpPr/>
            <p:nvPr/>
          </p:nvCxnSpPr>
          <p:spPr>
            <a:xfrm flipV="1">
              <a:off x="10223528" y="-26894"/>
              <a:ext cx="0" cy="2181601"/>
            </a:xfrm>
            <a:prstGeom prst="line">
              <a:avLst/>
            </a:prstGeom>
            <a:ln w="571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06EB8CE-EA91-426B-86EB-62FAC860BC63}"/>
                </a:ext>
              </a:extLst>
            </p:cNvPr>
            <p:cNvGrpSpPr/>
            <p:nvPr/>
          </p:nvGrpSpPr>
          <p:grpSpPr>
            <a:xfrm>
              <a:off x="9757619" y="2093495"/>
              <a:ext cx="914400" cy="914400"/>
              <a:chOff x="9757619" y="2093495"/>
              <a:chExt cx="914400" cy="914400"/>
            </a:xfrm>
          </p:grpSpPr>
          <p:grpSp>
            <p:nvGrpSpPr>
              <p:cNvPr id="4" name="Graphic 2" descr="Lightbulb">
                <a:extLst>
                  <a:ext uri="{FF2B5EF4-FFF2-40B4-BE49-F238E27FC236}">
                    <a16:creationId xmlns:a16="http://schemas.microsoft.com/office/drawing/2014/main" id="{FD2BB3C1-3444-4585-9E80-54FB43266207}"/>
                  </a:ext>
                </a:extLst>
              </p:cNvPr>
              <p:cNvGrpSpPr/>
              <p:nvPr/>
            </p:nvGrpSpPr>
            <p:grpSpPr>
              <a:xfrm rot="10800000">
                <a:off x="9757619" y="2093495"/>
                <a:ext cx="914400" cy="914400"/>
                <a:chOff x="9757619" y="2093495"/>
                <a:chExt cx="914400" cy="914400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6FEA3A4F-F5F3-4DB7-8456-4768B01FDB91}"/>
                    </a:ext>
                  </a:extLst>
                </p:cNvPr>
                <p:cNvSpPr/>
                <p:nvPr/>
              </p:nvSpPr>
              <p:spPr>
                <a:xfrm>
                  <a:off x="10083850" y="269595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5CC37F91-1EDC-4A39-B54C-5EC0BAB5E1B8}"/>
                    </a:ext>
                  </a:extLst>
                </p:cNvPr>
                <p:cNvSpPr/>
                <p:nvPr/>
              </p:nvSpPr>
              <p:spPr>
                <a:xfrm>
                  <a:off x="10083850" y="2791201"/>
                  <a:ext cx="257175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257175" h="66675">
                      <a:moveTo>
                        <a:pt x="35719" y="7144"/>
                      </a:moveTo>
                      <a:lnTo>
                        <a:pt x="226219" y="7144"/>
                      </a:lnTo>
                      <a:cubicBezTo>
                        <a:pt x="242411" y="7144"/>
                        <a:pt x="254794" y="19526"/>
                        <a:pt x="254794" y="35719"/>
                      </a:cubicBezTo>
                      <a:cubicBezTo>
                        <a:pt x="254794" y="51911"/>
                        <a:pt x="242411" y="64294"/>
                        <a:pt x="226219" y="64294"/>
                      </a:cubicBezTo>
                      <a:lnTo>
                        <a:pt x="35719" y="64294"/>
                      </a:lnTo>
                      <a:cubicBezTo>
                        <a:pt x="19526" y="64294"/>
                        <a:pt x="7144" y="51911"/>
                        <a:pt x="7144" y="35719"/>
                      </a:cubicBezTo>
                      <a:cubicBezTo>
                        <a:pt x="7144" y="19526"/>
                        <a:pt x="19526" y="7144"/>
                        <a:pt x="35719" y="7144"/>
                      </a:cubicBez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EB1A4252-13E8-43EB-A5F8-64A9E33EED4F}"/>
                    </a:ext>
                  </a:extLst>
                </p:cNvPr>
                <p:cNvSpPr/>
                <p:nvPr/>
              </p:nvSpPr>
              <p:spPr>
                <a:xfrm>
                  <a:off x="10145763" y="2886451"/>
                  <a:ext cx="133350" cy="666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133350" h="66675">
                      <a:moveTo>
                        <a:pt x="7144" y="7144"/>
                      </a:moveTo>
                      <a:cubicBezTo>
                        <a:pt x="10001" y="39529"/>
                        <a:pt x="36671" y="64294"/>
                        <a:pt x="69056" y="64294"/>
                      </a:cubicBezTo>
                      <a:cubicBezTo>
                        <a:pt x="101441" y="64294"/>
                        <a:pt x="128111" y="39529"/>
                        <a:pt x="130969" y="7144"/>
                      </a:cubicBezTo>
                      <a:lnTo>
                        <a:pt x="7144" y="7144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/>
                </a:p>
              </p:txBody>
            </p:sp>
            <p:sp>
              <p:nvSpPr>
                <p:cNvPr id="11" name="Freeform: Shape 10">
                  <a:extLst>
                    <a:ext uri="{FF2B5EF4-FFF2-40B4-BE49-F238E27FC236}">
                      <a16:creationId xmlns:a16="http://schemas.microsoft.com/office/drawing/2014/main" id="{2AAC16E2-8A3E-4664-B069-26A9B96006C1}"/>
                    </a:ext>
                  </a:extLst>
                </p:cNvPr>
                <p:cNvSpPr/>
                <p:nvPr/>
              </p:nvSpPr>
              <p:spPr>
                <a:xfrm>
                  <a:off x="9960025" y="2143501"/>
                  <a:ext cx="504825" cy="5238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04825" h="523875">
                      <a:moveTo>
                        <a:pt x="254794" y="7144"/>
                      </a:move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254794" y="7144"/>
                        <a:pt x="254794" y="7144"/>
                        <a:pt x="254794" y="7144"/>
                      </a:cubicBezTo>
                      <a:cubicBezTo>
                        <a:pt x="119539" y="8096"/>
                        <a:pt x="10001" y="116681"/>
                        <a:pt x="7144" y="251936"/>
                      </a:cubicBezTo>
                      <a:lnTo>
                        <a:pt x="7144" y="260509"/>
                      </a:lnTo>
                      <a:cubicBezTo>
                        <a:pt x="8096" y="290036"/>
                        <a:pt x="13811" y="318611"/>
                        <a:pt x="24289" y="346234"/>
                      </a:cubicBezTo>
                      <a:cubicBezTo>
                        <a:pt x="34766" y="371951"/>
                        <a:pt x="49054" y="395764"/>
                        <a:pt x="67151" y="416719"/>
                      </a:cubicBezTo>
                      <a:cubicBezTo>
                        <a:pt x="90011" y="441484"/>
                        <a:pt x="114776" y="490061"/>
                        <a:pt x="125254" y="511016"/>
                      </a:cubicBezTo>
                      <a:cubicBezTo>
                        <a:pt x="128111" y="517684"/>
                        <a:pt x="134779" y="521494"/>
                        <a:pt x="142399" y="521494"/>
                      </a:cubicBezTo>
                      <a:lnTo>
                        <a:pt x="367189" y="521494"/>
                      </a:lnTo>
                      <a:cubicBezTo>
                        <a:pt x="374809" y="521494"/>
                        <a:pt x="381476" y="517684"/>
                        <a:pt x="384334" y="511016"/>
                      </a:cubicBezTo>
                      <a:cubicBezTo>
                        <a:pt x="394811" y="490061"/>
                        <a:pt x="419576" y="441484"/>
                        <a:pt x="442436" y="416719"/>
                      </a:cubicBezTo>
                      <a:cubicBezTo>
                        <a:pt x="460534" y="395764"/>
                        <a:pt x="475774" y="371951"/>
                        <a:pt x="485299" y="346234"/>
                      </a:cubicBezTo>
                      <a:cubicBezTo>
                        <a:pt x="495776" y="318611"/>
                        <a:pt x="501491" y="290036"/>
                        <a:pt x="502444" y="260509"/>
                      </a:cubicBezTo>
                      <a:lnTo>
                        <a:pt x="502444" y="251936"/>
                      </a:lnTo>
                      <a:cubicBezTo>
                        <a:pt x="499586" y="116681"/>
                        <a:pt x="390049" y="8096"/>
                        <a:pt x="254794" y="7144"/>
                      </a:cubicBezTo>
                      <a:close/>
                      <a:moveTo>
                        <a:pt x="445294" y="259556"/>
                      </a:moveTo>
                      <a:cubicBezTo>
                        <a:pt x="444341" y="282416"/>
                        <a:pt x="439579" y="305276"/>
                        <a:pt x="431959" y="326231"/>
                      </a:cubicBezTo>
                      <a:cubicBezTo>
                        <a:pt x="424339" y="345281"/>
                        <a:pt x="413861" y="363379"/>
                        <a:pt x="399574" y="378619"/>
                      </a:cubicBezTo>
                      <a:cubicBezTo>
                        <a:pt x="377666" y="405289"/>
                        <a:pt x="358616" y="433864"/>
                        <a:pt x="344329" y="464344"/>
                      </a:cubicBezTo>
                      <a:lnTo>
                        <a:pt x="254794" y="464344"/>
                      </a:lnTo>
                      <a:lnTo>
                        <a:pt x="166211" y="464344"/>
                      </a:lnTo>
                      <a:cubicBezTo>
                        <a:pt x="150971" y="433864"/>
                        <a:pt x="131921" y="405289"/>
                        <a:pt x="110966" y="378619"/>
                      </a:cubicBezTo>
                      <a:cubicBezTo>
                        <a:pt x="97631" y="363379"/>
                        <a:pt x="86201" y="345281"/>
                        <a:pt x="78581" y="326231"/>
                      </a:cubicBezTo>
                      <a:cubicBezTo>
                        <a:pt x="70009" y="305276"/>
                        <a:pt x="66199" y="282416"/>
                        <a:pt x="65246" y="259556"/>
                      </a:cubicBezTo>
                      <a:lnTo>
                        <a:pt x="65246" y="251936"/>
                      </a:lnTo>
                      <a:cubicBezTo>
                        <a:pt x="67151" y="148114"/>
                        <a:pt x="151924" y="64294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255746" y="63341"/>
                        <a:pt x="255746" y="63341"/>
                        <a:pt x="255746" y="63341"/>
                      </a:cubicBezTo>
                      <a:cubicBezTo>
                        <a:pt x="255746" y="63341"/>
                        <a:pt x="255746" y="63341"/>
                        <a:pt x="255746" y="63341"/>
                      </a:cubicBezTo>
                      <a:lnTo>
                        <a:pt x="255746" y="63341"/>
                      </a:lnTo>
                      <a:lnTo>
                        <a:pt x="255746" y="63341"/>
                      </a:lnTo>
                      <a:cubicBezTo>
                        <a:pt x="359569" y="64294"/>
                        <a:pt x="444341" y="147161"/>
                        <a:pt x="446246" y="251936"/>
                      </a:cubicBezTo>
                      <a:lnTo>
                        <a:pt x="446246" y="259556"/>
                      </a:lnTo>
                      <a:close/>
                    </a:path>
                  </a:pathLst>
                </a:custGeom>
                <a:solidFill>
                  <a:srgbClr val="FFFF00"/>
                </a:solidFill>
                <a:ln w="9525" cap="flat">
                  <a:solidFill>
                    <a:srgbClr val="FFFF00"/>
                  </a:solidFill>
                  <a:prstDash val="solid"/>
                  <a:miter/>
                </a:ln>
              </p:spPr>
              <p:txBody>
                <a:bodyPr/>
                <a:lstStyle/>
                <a:p>
                  <a:endParaRPr lang="en-US" sz="1350" dirty="0"/>
                </a:p>
              </p:txBody>
            </p:sp>
          </p:grp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BD76A508-0D8E-4FE9-B177-B36E6A23E986}"/>
                  </a:ext>
                </a:extLst>
              </p:cNvPr>
              <p:cNvSpPr/>
              <p:nvPr/>
            </p:nvSpPr>
            <p:spPr>
              <a:xfrm>
                <a:off x="10008394" y="2462213"/>
                <a:ext cx="426244" cy="457200"/>
              </a:xfrm>
              <a:custGeom>
                <a:avLst/>
                <a:gdLst>
                  <a:gd name="connsiteX0" fmla="*/ 114300 w 426244"/>
                  <a:gd name="connsiteY0" fmla="*/ 4762 h 457200"/>
                  <a:gd name="connsiteX1" fmla="*/ 26194 w 426244"/>
                  <a:gd name="connsiteY1" fmla="*/ 130968 h 457200"/>
                  <a:gd name="connsiteX2" fmla="*/ 0 w 426244"/>
                  <a:gd name="connsiteY2" fmla="*/ 307181 h 457200"/>
                  <a:gd name="connsiteX3" fmla="*/ 119062 w 426244"/>
                  <a:gd name="connsiteY3" fmla="*/ 433387 h 457200"/>
                  <a:gd name="connsiteX4" fmla="*/ 254794 w 426244"/>
                  <a:gd name="connsiteY4" fmla="*/ 457200 h 457200"/>
                  <a:gd name="connsiteX5" fmla="*/ 369094 w 426244"/>
                  <a:gd name="connsiteY5" fmla="*/ 388143 h 457200"/>
                  <a:gd name="connsiteX6" fmla="*/ 426244 w 426244"/>
                  <a:gd name="connsiteY6" fmla="*/ 223837 h 457200"/>
                  <a:gd name="connsiteX7" fmla="*/ 381000 w 426244"/>
                  <a:gd name="connsiteY7" fmla="*/ 128587 h 457200"/>
                  <a:gd name="connsiteX8" fmla="*/ 345281 w 426244"/>
                  <a:gd name="connsiteY8" fmla="*/ 54768 h 457200"/>
                  <a:gd name="connsiteX9" fmla="*/ 302419 w 426244"/>
                  <a:gd name="connsiteY9" fmla="*/ 9525 h 457200"/>
                  <a:gd name="connsiteX10" fmla="*/ 254794 w 426244"/>
                  <a:gd name="connsiteY10" fmla="*/ 0 h 457200"/>
                  <a:gd name="connsiteX11" fmla="*/ 114300 w 426244"/>
                  <a:gd name="connsiteY11" fmla="*/ 4762 h 4572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6244" h="457200">
                    <a:moveTo>
                      <a:pt x="114300" y="4762"/>
                    </a:moveTo>
                    <a:lnTo>
                      <a:pt x="26194" y="130968"/>
                    </a:lnTo>
                    <a:lnTo>
                      <a:pt x="0" y="307181"/>
                    </a:lnTo>
                    <a:lnTo>
                      <a:pt x="119062" y="433387"/>
                    </a:lnTo>
                    <a:lnTo>
                      <a:pt x="254794" y="457200"/>
                    </a:lnTo>
                    <a:lnTo>
                      <a:pt x="369094" y="388143"/>
                    </a:lnTo>
                    <a:lnTo>
                      <a:pt x="426244" y="223837"/>
                    </a:lnTo>
                    <a:lnTo>
                      <a:pt x="381000" y="128587"/>
                    </a:lnTo>
                    <a:lnTo>
                      <a:pt x="345281" y="54768"/>
                    </a:lnTo>
                    <a:lnTo>
                      <a:pt x="302419" y="9525"/>
                    </a:lnTo>
                    <a:lnTo>
                      <a:pt x="254794" y="0"/>
                    </a:lnTo>
                    <a:lnTo>
                      <a:pt x="114300" y="4762"/>
                    </a:lnTo>
                    <a:close/>
                  </a:path>
                </a:pathLst>
              </a:cu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0" dirty="0"/>
              </a:p>
            </p:txBody>
          </p:sp>
        </p:grpSp>
      </p:grpSp>
      <p:pic>
        <p:nvPicPr>
          <p:cNvPr id="36871" name="Picture 36870">
            <a:extLst>
              <a:ext uri="{FF2B5EF4-FFF2-40B4-BE49-F238E27FC236}">
                <a16:creationId xmlns:a16="http://schemas.microsoft.com/office/drawing/2014/main" id="{3A8F1B80-B132-4FBA-B4A4-D802F899D9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97" y="220967"/>
            <a:ext cx="1331785" cy="158477"/>
          </a:xfrm>
          <a:prstGeom prst="rect">
            <a:avLst/>
          </a:prstGeom>
        </p:spPr>
      </p:pic>
      <p:sp>
        <p:nvSpPr>
          <p:cNvPr id="36873" name="TextBox 36872">
            <a:extLst>
              <a:ext uri="{FF2B5EF4-FFF2-40B4-BE49-F238E27FC236}">
                <a16:creationId xmlns:a16="http://schemas.microsoft.com/office/drawing/2014/main" id="{D213D14F-503E-4E61-A079-A575362B8A1F}"/>
              </a:ext>
            </a:extLst>
          </p:cNvPr>
          <p:cNvSpPr txBox="1"/>
          <p:nvPr/>
        </p:nvSpPr>
        <p:spPr>
          <a:xfrm>
            <a:off x="6391126" y="4143218"/>
            <a:ext cx="16062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ru-RU" sz="1500" dirty="0">
                <a:solidFill>
                  <a:schemeClr val="bg1"/>
                </a:solidFill>
                <a:latin typeface="Raleway Medium" panose="020B0603030101060003" pitchFamily="34" charset="0"/>
              </a:rPr>
              <a:t>Keep it simple…</a:t>
            </a:r>
            <a:endParaRPr lang="ru-RU" altLang="ru-RU" sz="1500" dirty="0">
              <a:solidFill>
                <a:schemeClr val="bg1"/>
              </a:solidFill>
              <a:latin typeface="Raleway ExtraBold" panose="020B0903030101060003" pitchFamily="34" charset="0"/>
            </a:endParaRPr>
          </a:p>
        </p:txBody>
      </p:sp>
      <p:sp>
        <p:nvSpPr>
          <p:cNvPr id="36874" name="Rectangle 36873">
            <a:extLst>
              <a:ext uri="{FF2B5EF4-FFF2-40B4-BE49-F238E27FC236}">
                <a16:creationId xmlns:a16="http://schemas.microsoft.com/office/drawing/2014/main" id="{7969B4D2-DFDA-4EF0-ACC7-B55EC956D001}"/>
              </a:ext>
            </a:extLst>
          </p:cNvPr>
          <p:cNvSpPr/>
          <p:nvPr/>
        </p:nvSpPr>
        <p:spPr>
          <a:xfrm>
            <a:off x="4214061" y="3690687"/>
            <a:ext cx="1019677" cy="6535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DDA6AF9-CEEC-45F8-B98A-B66F266AABA9}"/>
              </a:ext>
            </a:extLst>
          </p:cNvPr>
          <p:cNvSpPr txBox="1"/>
          <p:nvPr/>
        </p:nvSpPr>
        <p:spPr>
          <a:xfrm>
            <a:off x="6178013" y="4938949"/>
            <a:ext cx="316796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cap="small" dirty="0">
                <a:solidFill>
                  <a:schemeClr val="bg1"/>
                </a:solidFill>
                <a:latin typeface="Arial"/>
              </a:rPr>
              <a:t>© 2020 SYNECTIKS. All Rights Reserved. Proprietary and Confidential.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57B0A0-5621-4BF7-A5AB-F5232AFED085}"/>
              </a:ext>
            </a:extLst>
          </p:cNvPr>
          <p:cNvSpPr txBox="1"/>
          <p:nvPr/>
        </p:nvSpPr>
        <p:spPr>
          <a:xfrm>
            <a:off x="1701622" y="11553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Raleway" panose="020B0003030101060003" pitchFamily="34" charset="0"/>
                <a:cs typeface="Segoe UI" panose="020B0502040204020203" pitchFamily="34" charset="0"/>
              </a:rPr>
              <a:t>Delivering TAAS (Transformation As A Service)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:wipe/>
      </p:transition>
    </mc:Choice>
    <mc:Fallback xmlns=""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6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1" presetClass="entr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 tmFilter="0,0; .5, 1; 1, 1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 tmFilter="0,0; .5, 1; 1, 1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100"/>
                            </p:stCondLst>
                            <p:childTnLst>
                              <p:par>
                                <p:cTn id="32" presetID="1" presetClass="entr" presetSubtype="0" fill="hold" grpId="0" nodeType="after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6873" grpId="0"/>
      <p:bldP spid="3687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1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pPr algn="ctr"/>
            <a:r>
              <a:rPr lang="en-US"/>
              <a:t>Capabilities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FD3C48-BA0F-4B60-A233-D7410E809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76372" y="513728"/>
            <a:ext cx="8454366" cy="4491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26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09A1D1F-2955-4E4F-82B1-0D5D16C5558F}"/>
              </a:ext>
            </a:extLst>
          </p:cNvPr>
          <p:cNvGrpSpPr/>
          <p:nvPr/>
        </p:nvGrpSpPr>
        <p:grpSpPr>
          <a:xfrm>
            <a:off x="6346105" y="656420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477708" y="1621026"/>
              <a:ext cx="2084224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Experience Team with a proven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track record of CloudOps delivery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enabled with DevSecOps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Capabilities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4134941" y="1400893"/>
              <a:ext cx="76976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Expertise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FAFA6C39-B349-42A8-BD9B-B643DAE3DC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36998" y="823581"/>
              <a:ext cx="559168" cy="559168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2DB8FA62-00E4-4787-B505-87E0680796F3}"/>
              </a:ext>
            </a:extLst>
          </p:cNvPr>
          <p:cNvGrpSpPr/>
          <p:nvPr/>
        </p:nvGrpSpPr>
        <p:grpSpPr>
          <a:xfrm>
            <a:off x="3487705" y="65642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71948" y="1621026"/>
              <a:ext cx="1981632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10+ Large Scale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Migration And Modernization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experience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323377" y="1400893"/>
              <a:ext cx="87876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Experience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A4C9E413-DB2D-4EBF-8396-DCC17636FFA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556793" y="886588"/>
              <a:ext cx="474725" cy="474725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60E1E57-D637-47A0-AD98-FDFE44F0B7B7}"/>
              </a:ext>
            </a:extLst>
          </p:cNvPr>
          <p:cNvGrpSpPr/>
          <p:nvPr/>
        </p:nvGrpSpPr>
        <p:grpSpPr>
          <a:xfrm>
            <a:off x="629306" y="656420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22746" y="1621026"/>
              <a:ext cx="2108269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open Product Driven Delivery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Model allows customers to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quickly build, deliver and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orchestrate cross cloud services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 @50% time &amp; cost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736510" y="1400893"/>
              <a:ext cx="108074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Time &amp; Money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FE3E376-43E4-4A68-83F2-04F49C1E7B1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10932" y="871190"/>
              <a:ext cx="450109" cy="450109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7FE2753-F811-4D49-8120-8FFDDB647595}"/>
              </a:ext>
            </a:extLst>
          </p:cNvPr>
          <p:cNvGrpSpPr/>
          <p:nvPr/>
        </p:nvGrpSpPr>
        <p:grpSpPr>
          <a:xfrm>
            <a:off x="3506241" y="2937350"/>
            <a:ext cx="2156360" cy="2041482"/>
            <a:chOff x="3463806" y="2937350"/>
            <a:chExt cx="2156360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463806" y="3927810"/>
              <a:ext cx="2156360" cy="90024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Xformation Product is a single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platform to manage all your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workloads distributed across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multiple clouds and boundaries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within a single control plane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812462" y="3720751"/>
              <a:ext cx="145905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Single Control Panel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2" name="Graphic 41">
              <a:extLst>
                <a:ext uri="{FF2B5EF4-FFF2-40B4-BE49-F238E27FC236}">
                  <a16:creationId xmlns:a16="http://schemas.microsoft.com/office/drawing/2014/main" id="{C7159AAD-AF33-4A59-A68F-EDDFA8B89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67405" y="3170719"/>
              <a:ext cx="409190" cy="409190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7432C30-421E-46CC-8FC3-AE0FFC42E14D}"/>
              </a:ext>
            </a:extLst>
          </p:cNvPr>
          <p:cNvGrpSpPr/>
          <p:nvPr/>
        </p:nvGrpSpPr>
        <p:grpSpPr>
          <a:xfrm>
            <a:off x="6346105" y="2937350"/>
            <a:ext cx="2147146" cy="2041482"/>
            <a:chOff x="6203307" y="2937350"/>
            <a:chExt cx="2147146" cy="204148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D3F2A7D-7C3A-4DF4-9C29-E27614BDEE65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8126DD3-0726-411A-8106-C3DC1C3E1BE2}"/>
                </a:ext>
              </a:extLst>
            </p:cNvPr>
            <p:cNvSpPr txBox="1"/>
            <p:nvPr/>
          </p:nvSpPr>
          <p:spPr>
            <a:xfrm>
              <a:off x="6271637" y="3927810"/>
              <a:ext cx="2010486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compliance and security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assessment tools make sure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your hybrid cloud journey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meets your business compliance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21DD8A5-47A8-4FA7-99AD-9BC26EA031E0}"/>
                </a:ext>
              </a:extLst>
            </p:cNvPr>
            <p:cNvSpPr txBox="1"/>
            <p:nvPr/>
          </p:nvSpPr>
          <p:spPr>
            <a:xfrm>
              <a:off x="6479229" y="3720751"/>
              <a:ext cx="159530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Compliance &amp; Security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1B8E0D0D-BF9F-4C38-86FD-B8AA862D46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7076298" y="3150260"/>
              <a:ext cx="450109" cy="45010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2D8AE21-E826-4C08-9E20-C911EC502090}"/>
              </a:ext>
            </a:extLst>
          </p:cNvPr>
          <p:cNvGrpSpPr/>
          <p:nvPr/>
        </p:nvGrpSpPr>
        <p:grpSpPr>
          <a:xfrm>
            <a:off x="583020" y="2937350"/>
            <a:ext cx="2239717" cy="2041482"/>
            <a:chOff x="6157022" y="2937350"/>
            <a:chExt cx="2239717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F2EEE2A-6D98-4EE5-A072-915D1EAAB76F}"/>
                </a:ext>
              </a:extLst>
            </p:cNvPr>
            <p:cNvSpPr/>
            <p:nvPr/>
          </p:nvSpPr>
          <p:spPr>
            <a:xfrm>
              <a:off x="620330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395942E-F129-415C-BB6A-A62D55CD334B}"/>
                </a:ext>
              </a:extLst>
            </p:cNvPr>
            <p:cNvSpPr txBox="1"/>
            <p:nvPr/>
          </p:nvSpPr>
          <p:spPr>
            <a:xfrm>
              <a:off x="6157022" y="3927810"/>
              <a:ext cx="2239717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100% Customer Retention Rate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s</a:t>
              </a:r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ubstantiated by excellent services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0CFDD9C-5C2D-4034-836B-76C52C90D5F5}"/>
                </a:ext>
              </a:extLst>
            </p:cNvPr>
            <p:cNvSpPr txBox="1"/>
            <p:nvPr/>
          </p:nvSpPr>
          <p:spPr>
            <a:xfrm>
              <a:off x="6523312" y="3720751"/>
              <a:ext cx="1507144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Long Term Retention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F873C04-7716-4CD0-BCBD-0F3BDF94D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054111" y="3114212"/>
              <a:ext cx="522197" cy="522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2833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478352A-25F3-43AF-A4E4-C568CC1A7FD5}"/>
              </a:ext>
            </a:extLst>
          </p:cNvPr>
          <p:cNvGrpSpPr/>
          <p:nvPr/>
        </p:nvGrpSpPr>
        <p:grpSpPr>
          <a:xfrm>
            <a:off x="6345936" y="2937350"/>
            <a:ext cx="2147146" cy="2041482"/>
            <a:chOff x="689187" y="706767"/>
            <a:chExt cx="2147146" cy="20414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53709F2-385A-4A43-A223-78E6DF562B06}"/>
                </a:ext>
              </a:extLst>
            </p:cNvPr>
            <p:cNvSpPr/>
            <p:nvPr/>
          </p:nvSpPr>
          <p:spPr>
            <a:xfrm>
              <a:off x="68918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F9B1BA7-02FB-4C2B-BFEB-CD9AF398550A}"/>
                </a:ext>
              </a:extLst>
            </p:cNvPr>
            <p:cNvSpPr txBox="1"/>
            <p:nvPr/>
          </p:nvSpPr>
          <p:spPr>
            <a:xfrm>
              <a:off x="726259" y="1621026"/>
              <a:ext cx="207300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Use our existing automation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capabilities to automate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infrastructure, operations,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security in hybrid IT environment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840CAF-018E-48B0-BA68-083E25C80582}"/>
                </a:ext>
              </a:extLst>
            </p:cNvPr>
            <p:cNvSpPr txBox="1"/>
            <p:nvPr/>
          </p:nvSpPr>
          <p:spPr>
            <a:xfrm>
              <a:off x="1015603" y="1400893"/>
              <a:ext cx="149432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Extreme Automation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70363C06-E528-4201-8A1D-D8BFC4849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518888" y="841755"/>
              <a:ext cx="495120" cy="495120"/>
            </a:xfrm>
            <a:prstGeom prst="rect">
              <a:avLst/>
            </a:prstGeom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8292871-787C-468F-ABB3-5FBE2DEB4CC5}"/>
              </a:ext>
            </a:extLst>
          </p:cNvPr>
          <p:cNvGrpSpPr/>
          <p:nvPr/>
        </p:nvGrpSpPr>
        <p:grpSpPr>
          <a:xfrm>
            <a:off x="3488436" y="706767"/>
            <a:ext cx="2147146" cy="2041482"/>
            <a:chOff x="3446247" y="706767"/>
            <a:chExt cx="2147146" cy="2041482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7D55C3-5CCB-4769-BDA1-2AF3082B0F60}"/>
                </a:ext>
              </a:extLst>
            </p:cNvPr>
            <p:cNvSpPr/>
            <p:nvPr/>
          </p:nvSpPr>
          <p:spPr>
            <a:xfrm>
              <a:off x="344624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A4D4D41-B53F-4656-A02E-339B4565C531}"/>
                </a:ext>
              </a:extLst>
            </p:cNvPr>
            <p:cNvSpPr txBox="1"/>
            <p:nvPr/>
          </p:nvSpPr>
          <p:spPr>
            <a:xfrm>
              <a:off x="3679686" y="1621026"/>
              <a:ext cx="1680267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advanced partnership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with major public cloud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providers help you to get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support at every stage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A65F285-400D-4C11-B715-CDAB18E3977A}"/>
                </a:ext>
              </a:extLst>
            </p:cNvPr>
            <p:cNvSpPr txBox="1"/>
            <p:nvPr/>
          </p:nvSpPr>
          <p:spPr>
            <a:xfrm>
              <a:off x="3650836" y="1400893"/>
              <a:ext cx="17379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Public Cloud Partnership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0" name="Graphic 29">
              <a:extLst>
                <a:ext uri="{FF2B5EF4-FFF2-40B4-BE49-F238E27FC236}">
                  <a16:creationId xmlns:a16="http://schemas.microsoft.com/office/drawing/2014/main" id="{B16FA376-851B-4E67-9719-E5FD710BA39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237818" y="803622"/>
              <a:ext cx="599095" cy="599095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94369B7-46B3-43A7-9416-D2F492692E93}"/>
              </a:ext>
            </a:extLst>
          </p:cNvPr>
          <p:cNvGrpSpPr/>
          <p:nvPr/>
        </p:nvGrpSpPr>
        <p:grpSpPr>
          <a:xfrm>
            <a:off x="6345936" y="706767"/>
            <a:ext cx="2147146" cy="2041482"/>
            <a:chOff x="6203307" y="706767"/>
            <a:chExt cx="2147146" cy="2041482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EA1A75E-C6BE-4B3C-9F0E-79B3387B1CC7}"/>
                </a:ext>
              </a:extLst>
            </p:cNvPr>
            <p:cNvSpPr/>
            <p:nvPr/>
          </p:nvSpPr>
          <p:spPr>
            <a:xfrm>
              <a:off x="6203307" y="706767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78FA91E-B4BF-43B6-BBDA-AA09F2462F7B}"/>
                </a:ext>
              </a:extLst>
            </p:cNvPr>
            <p:cNvSpPr txBox="1"/>
            <p:nvPr/>
          </p:nvSpPr>
          <p:spPr>
            <a:xfrm>
              <a:off x="6280462" y="1621026"/>
              <a:ext cx="199285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Committed to codifying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our know-how, we write open </a:t>
              </a:r>
            </a:p>
            <a:p>
              <a:pPr algn="ctr"/>
              <a:r>
                <a:rPr lang="en-US" sz="1050" dirty="0">
                  <a:latin typeface="Myriad Pro" panose="020B0503030403020204" pitchFamily="34" charset="0"/>
                </a:rPr>
                <a:t>Products and Distribute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4577B70-8676-4F68-98C7-1A9A87BDBB3E}"/>
                </a:ext>
              </a:extLst>
            </p:cNvPr>
            <p:cNvSpPr txBox="1"/>
            <p:nvPr/>
          </p:nvSpPr>
          <p:spPr>
            <a:xfrm>
              <a:off x="6307709" y="1400893"/>
              <a:ext cx="1938351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dirty="0">
                  <a:latin typeface="Myriad Pro" panose="020B0503030403020204" pitchFamily="34" charset="0"/>
                </a:rPr>
                <a:t>Open-Source Contribution</a:t>
              </a: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33D78A1B-7420-454B-994A-5F3576EB0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048587" y="843477"/>
              <a:ext cx="450109" cy="450109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ECE6BCCA-E098-42FA-AEA0-89CF07D38CFC}"/>
              </a:ext>
            </a:extLst>
          </p:cNvPr>
          <p:cNvGrpSpPr/>
          <p:nvPr/>
        </p:nvGrpSpPr>
        <p:grpSpPr>
          <a:xfrm>
            <a:off x="630936" y="2937350"/>
            <a:ext cx="2147146" cy="2041482"/>
            <a:chOff x="689187" y="2937350"/>
            <a:chExt cx="2147146" cy="204148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D4372AF-A4BA-4693-A78E-2FCEF169017F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A18D696-0450-4347-87C4-AE07256728AE}"/>
                </a:ext>
              </a:extLst>
            </p:cNvPr>
            <p:cNvSpPr txBox="1"/>
            <p:nvPr/>
          </p:nvSpPr>
          <p:spPr>
            <a:xfrm>
              <a:off x="754311" y="3927810"/>
              <a:ext cx="2016898" cy="4154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We do optimal resource pooling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from multiple clouds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ADFCC1B-F0DA-4084-9A9A-6FAC1C746F1D}"/>
                </a:ext>
              </a:extLst>
            </p:cNvPr>
            <p:cNvSpPr txBox="1"/>
            <p:nvPr/>
          </p:nvSpPr>
          <p:spPr>
            <a:xfrm>
              <a:off x="1013202" y="3720751"/>
              <a:ext cx="149912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Optimization Service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4" name="Graphic 33">
              <a:extLst>
                <a:ext uri="{FF2B5EF4-FFF2-40B4-BE49-F238E27FC236}">
                  <a16:creationId xmlns:a16="http://schemas.microsoft.com/office/drawing/2014/main" id="{EAC1EDEA-F65B-49F3-994A-8FB31510A03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473670" y="3158737"/>
              <a:ext cx="474725" cy="474725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B15903E-72D3-4F96-A3BD-1DE46B6FDC3F}"/>
              </a:ext>
            </a:extLst>
          </p:cNvPr>
          <p:cNvGrpSpPr/>
          <p:nvPr/>
        </p:nvGrpSpPr>
        <p:grpSpPr>
          <a:xfrm>
            <a:off x="3488436" y="2937350"/>
            <a:ext cx="2147146" cy="2041482"/>
            <a:chOff x="3468412" y="2937350"/>
            <a:chExt cx="2147146" cy="204148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F6D91D-B73C-48F6-9B33-AA0A98BD4CC5}"/>
                </a:ext>
              </a:extLst>
            </p:cNvPr>
            <p:cNvSpPr/>
            <p:nvPr/>
          </p:nvSpPr>
          <p:spPr>
            <a:xfrm>
              <a:off x="3468412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A68159C-08AE-4285-8858-ABBB346332E1}"/>
                </a:ext>
              </a:extLst>
            </p:cNvPr>
            <p:cNvSpPr txBox="1"/>
            <p:nvPr/>
          </p:nvSpPr>
          <p:spPr>
            <a:xfrm>
              <a:off x="3689828" y="3927810"/>
              <a:ext cx="1704313" cy="57708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Our every engagement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focused on empowerment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– not dependency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BE6A388-4A47-46EC-9919-B64ADA6BE61D}"/>
                </a:ext>
              </a:extLst>
            </p:cNvPr>
            <p:cNvSpPr txBox="1"/>
            <p:nvPr/>
          </p:nvSpPr>
          <p:spPr>
            <a:xfrm>
              <a:off x="3837309" y="3720751"/>
              <a:ext cx="14093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Engagement Model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D4091BA8-1794-473A-88FA-A5EE5C1FA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289805" y="3134681"/>
              <a:ext cx="495120" cy="49512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E5CEC4F-56C3-43E8-8770-AB3D4F134FF0}"/>
              </a:ext>
            </a:extLst>
          </p:cNvPr>
          <p:cNvGrpSpPr/>
          <p:nvPr/>
        </p:nvGrpSpPr>
        <p:grpSpPr>
          <a:xfrm>
            <a:off x="630936" y="662395"/>
            <a:ext cx="2147146" cy="2041482"/>
            <a:chOff x="689187" y="2937350"/>
            <a:chExt cx="2147146" cy="2041482"/>
          </a:xfrm>
        </p:grpSpPr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DF0AA6E9-4ADC-4229-BBA7-11AB8625A6BD}"/>
                </a:ext>
              </a:extLst>
            </p:cNvPr>
            <p:cNvSpPr/>
            <p:nvPr/>
          </p:nvSpPr>
          <p:spPr>
            <a:xfrm>
              <a:off x="689187" y="2937350"/>
              <a:ext cx="2147146" cy="2041482"/>
            </a:xfrm>
            <a:prstGeom prst="rect">
              <a:avLst/>
            </a:prstGeom>
            <a:noFill/>
            <a:ln>
              <a:solidFill>
                <a:srgbClr val="DA291C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4B44323-DC03-4634-B9D5-236FED081938}"/>
                </a:ext>
              </a:extLst>
            </p:cNvPr>
            <p:cNvSpPr txBox="1"/>
            <p:nvPr/>
          </p:nvSpPr>
          <p:spPr>
            <a:xfrm>
              <a:off x="774349" y="3927810"/>
              <a:ext cx="1976823" cy="7386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Single point of contact for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Application Migration,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Transformation and Integration </a:t>
              </a:r>
            </a:p>
            <a:p>
              <a:pPr algn="ctr"/>
              <a:r>
                <a:rPr lang="en-US" sz="1050" b="0" i="0" dirty="0">
                  <a:effectLst/>
                  <a:latin typeface="Myriad Pro" panose="020B0503030403020204" pitchFamily="34" charset="0"/>
                </a:rPr>
                <a:t>to cloud-native Apps services</a:t>
              </a:r>
              <a:endParaRPr lang="en-US" sz="1050" dirty="0">
                <a:latin typeface="Myriad Pro" panose="020B0503030403020204" pitchFamily="34" charset="0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FCEA2D88-10BE-423F-A6AC-744B49424C10}"/>
                </a:ext>
              </a:extLst>
            </p:cNvPr>
            <p:cNvSpPr txBox="1"/>
            <p:nvPr/>
          </p:nvSpPr>
          <p:spPr>
            <a:xfrm>
              <a:off x="1274488" y="3720751"/>
              <a:ext cx="97655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100" b="1" i="0" dirty="0">
                  <a:effectLst/>
                  <a:latin typeface="Myriad Pro" panose="020B0503030403020204" pitchFamily="34" charset="0"/>
                </a:rPr>
                <a:t>E2E Solution</a:t>
              </a:r>
              <a:endParaRPr lang="en-US" sz="1100" b="1" dirty="0">
                <a:latin typeface="Myriad Pro" panose="020B0503030403020204" pitchFamily="34" charset="0"/>
              </a:endParaRPr>
            </a:p>
          </p:txBody>
        </p:sp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29ED8C96-ADBD-4440-AD05-268861F9A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513686" y="3143338"/>
              <a:ext cx="450109" cy="450109"/>
            </a:xfrm>
            <a:prstGeom prst="rect">
              <a:avLst/>
            </a:prstGeom>
          </p:spPr>
        </p:pic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F23F76E-C6B7-4AB1-94B6-BEF690821E40}"/>
              </a:ext>
            </a:extLst>
          </p:cNvPr>
          <p:cNvSpPr txBox="1"/>
          <p:nvPr/>
        </p:nvSpPr>
        <p:spPr>
          <a:xfrm>
            <a:off x="1119641" y="41559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Differentiator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8850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2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b="1" cap="small">
                <a:solidFill>
                  <a:srgbClr val="DA291C"/>
                </a:solidFill>
                <a:latin typeface="Helvetica" panose="020B0604020202020204" pitchFamily="2" charset="0"/>
              </a:defRPr>
            </a:lvl1pPr>
          </a:lstStyle>
          <a:p>
            <a:r>
              <a:rPr lang="en-US" dirty="0"/>
              <a:t>Engagement Model</a:t>
            </a:r>
          </a:p>
        </p:txBody>
      </p:sp>
      <p:pic>
        <p:nvPicPr>
          <p:cNvPr id="3" name="Picture 2" descr="Graphical user interface&#10;&#10;Description automatically generated">
            <a:extLst>
              <a:ext uri="{FF2B5EF4-FFF2-40B4-BE49-F238E27FC236}">
                <a16:creationId xmlns:a16="http://schemas.microsoft.com/office/drawing/2014/main" id="{61C19F2C-50D3-4A2A-A1B7-A04E8DC25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650" y="585913"/>
            <a:ext cx="8131359" cy="4415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7117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2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Pricing Model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3BC18D5C-5699-4FB4-98AB-36FC56F4F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1065110"/>
              </p:ext>
            </p:extLst>
          </p:nvPr>
        </p:nvGraphicFramePr>
        <p:xfrm>
          <a:off x="696492" y="596118"/>
          <a:ext cx="7865048" cy="404477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1282620">
                  <a:extLst>
                    <a:ext uri="{9D8B030D-6E8A-4147-A177-3AD203B41FA5}">
                      <a16:colId xmlns:a16="http://schemas.microsoft.com/office/drawing/2014/main" val="2373957596"/>
                    </a:ext>
                  </a:extLst>
                </a:gridCol>
                <a:gridCol w="6582428">
                  <a:extLst>
                    <a:ext uri="{9D8B030D-6E8A-4147-A177-3AD203B41FA5}">
                      <a16:colId xmlns:a16="http://schemas.microsoft.com/office/drawing/2014/main" val="3872354840"/>
                    </a:ext>
                  </a:extLst>
                </a:gridCol>
              </a:tblGrid>
              <a:tr h="505597">
                <a:tc>
                  <a:txBody>
                    <a:bodyPr/>
                    <a:lstStyle/>
                    <a:p>
                      <a:r>
                        <a:rPr lang="en-IN" b="0" dirty="0"/>
                        <a:t>Outcome </a:t>
                      </a:r>
                    </a:p>
                    <a:p>
                      <a:r>
                        <a:rPr lang="en-IN" b="0" dirty="0"/>
                        <a:t>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Budget for estimated outcome volume. </a:t>
                      </a:r>
                    </a:p>
                    <a:p>
                      <a:r>
                        <a:rPr lang="en-US" b="0" dirty="0"/>
                        <a:t>Payment based on result / SLAs.</a:t>
                      </a:r>
                      <a:endParaRPr lang="en-IN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822417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Managed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Budget for monthly fixed cost and x% of variance cost.</a:t>
                      </a:r>
                    </a:p>
                    <a:p>
                      <a:r>
                        <a:rPr lang="en-US" dirty="0"/>
                        <a:t>Payment</a:t>
                      </a:r>
                      <a:r>
                        <a:rPr lang="en-IN" dirty="0"/>
                        <a:t> based on delivered units.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2494072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Transaction based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Budget for a specific transaction volume band per agreed duration.</a:t>
                      </a:r>
                    </a:p>
                    <a:p>
                      <a:r>
                        <a:rPr lang="en-US" dirty="0"/>
                        <a:t>Payment based on transaction volume executed in agreed duration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3772868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Fixed Price (FP)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Specific / limited budget with predicted needs for few years.</a:t>
                      </a:r>
                    </a:p>
                    <a:p>
                      <a:r>
                        <a:rPr lang="en-US" dirty="0"/>
                        <a:t>Payment based on Milestone/ project Completion.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4927002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Time &amp; Material(T&amp;M)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Floating budget.</a:t>
                      </a:r>
                    </a:p>
                    <a:p>
                      <a:r>
                        <a:rPr lang="en-IN" dirty="0"/>
                        <a:t>Payment based on Effort Put.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2711909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Hybrid (T&amp;M for FP)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Phase wise budget, Phase1: Floating budget Phase2 : Specific / limited budget.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/>
                        <a:t>Payment – Phase1 –Effort Based, Phase2 – Milestone / Project Completion.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2754457"/>
                  </a:ext>
                </a:extLst>
              </a:tr>
              <a:tr h="505597">
                <a:tc>
                  <a:txBody>
                    <a:bodyPr/>
                    <a:lstStyle/>
                    <a:p>
                      <a:r>
                        <a:rPr lang="en-IN" dirty="0"/>
                        <a:t>Dedicated team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Fixed monthly budget.</a:t>
                      </a:r>
                    </a:p>
                    <a:p>
                      <a:r>
                        <a:rPr lang="en-IN" dirty="0"/>
                        <a:t>Payment based on resource.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418644"/>
                  </a:ext>
                </a:extLst>
              </a:tr>
              <a:tr h="505597">
                <a:tc gridSpan="2">
                  <a:txBody>
                    <a:bodyPr/>
                    <a:lstStyle/>
                    <a:p>
                      <a:r>
                        <a:rPr lang="en-IN" b="1" dirty="0"/>
                        <a:t>While we are open to any flexible model, we strongly prefer, outcome based pricing model substantiated by our open product driven solutioning that protect customer investments.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989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403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9976E392-A6B4-46AC-A582-54676F135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0" y="59592"/>
            <a:ext cx="342900" cy="369331"/>
            <a:chOff x="0" y="148425"/>
            <a:chExt cx="342900" cy="590715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DEACC07-A747-449D-9AE5-15E224A3F48F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E9C098C-A07D-4726-A948-6E7465FC619C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2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612C78-AD89-4DB1-8AEB-6F712582C6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0800000">
            <a:off x="8798844" y="59592"/>
            <a:ext cx="342900" cy="369331"/>
            <a:chOff x="0" y="148425"/>
            <a:chExt cx="342900" cy="5907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1DA1F43-17B4-4131-822A-A28AFBB54D08}"/>
                </a:ext>
              </a:extLst>
            </p:cNvPr>
            <p:cNvSpPr/>
            <p:nvPr/>
          </p:nvSpPr>
          <p:spPr>
            <a:xfrm>
              <a:off x="0" y="148425"/>
              <a:ext cx="213360" cy="590715"/>
            </a:xfrm>
            <a:prstGeom prst="rect">
              <a:avLst/>
            </a:prstGeom>
            <a:solidFill>
              <a:srgbClr val="919D9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FAFED3-F078-4D95-B845-507864F23F90}"/>
                </a:ext>
              </a:extLst>
            </p:cNvPr>
            <p:cNvSpPr/>
            <p:nvPr/>
          </p:nvSpPr>
          <p:spPr>
            <a:xfrm>
              <a:off x="251460" y="148425"/>
              <a:ext cx="91440" cy="590715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E3FFDBD3-E282-4B08-8CBD-7775F0616206}"/>
              </a:ext>
            </a:extLst>
          </p:cNvPr>
          <p:cNvSpPr txBox="1"/>
          <p:nvPr/>
        </p:nvSpPr>
        <p:spPr>
          <a:xfrm>
            <a:off x="1119641" y="59592"/>
            <a:ext cx="6904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cap="small" dirty="0">
                <a:solidFill>
                  <a:srgbClr val="DA291C"/>
                </a:solidFill>
                <a:latin typeface="Helvetica" panose="020B0604020202020204" pitchFamily="2" charset="0"/>
              </a:rPr>
              <a:t>Rate Card for Key Skill Sets</a:t>
            </a:r>
            <a:endParaRPr lang="en-US" b="1" dirty="0">
              <a:solidFill>
                <a:srgbClr val="DA291C"/>
              </a:solidFill>
              <a:latin typeface="Raleway" panose="020B0003030101060003" pitchFamily="34" charset="0"/>
              <a:cs typeface="Segoe UI" panose="020B050204020402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5D4DC0-332D-460B-8B99-17C91874B524}"/>
              </a:ext>
            </a:extLst>
          </p:cNvPr>
          <p:cNvGrpSpPr/>
          <p:nvPr/>
        </p:nvGrpSpPr>
        <p:grpSpPr>
          <a:xfrm>
            <a:off x="568553" y="948268"/>
            <a:ext cx="1777510" cy="3616960"/>
            <a:chOff x="1053743" y="975360"/>
            <a:chExt cx="1777510" cy="361696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0F33615-4FC6-4E42-B297-96DDB07B8591}"/>
                </a:ext>
              </a:extLst>
            </p:cNvPr>
            <p:cNvSpPr/>
            <p:nvPr/>
          </p:nvSpPr>
          <p:spPr>
            <a:xfrm>
              <a:off x="1053743" y="975360"/>
              <a:ext cx="1777510" cy="3616960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EB74F0-75B5-4DD1-BDD1-BABC624814DF}"/>
                </a:ext>
              </a:extLst>
            </p:cNvPr>
            <p:cNvSpPr/>
            <p:nvPr/>
          </p:nvSpPr>
          <p:spPr>
            <a:xfrm>
              <a:off x="1053743" y="4168140"/>
              <a:ext cx="1763964" cy="41740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5C94EFB-9DE1-4F93-A216-0F544B2E386C}"/>
                </a:ext>
              </a:extLst>
            </p:cNvPr>
            <p:cNvSpPr txBox="1"/>
            <p:nvPr/>
          </p:nvSpPr>
          <p:spPr>
            <a:xfrm>
              <a:off x="1261079" y="1185335"/>
              <a:ext cx="1379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System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Architect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43C8573-BA8C-445D-879D-5E58762FD615}"/>
                </a:ext>
              </a:extLst>
            </p:cNvPr>
            <p:cNvSpPr txBox="1"/>
            <p:nvPr/>
          </p:nvSpPr>
          <p:spPr>
            <a:xfrm>
              <a:off x="1477446" y="2686895"/>
              <a:ext cx="9668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Architecture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POC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Planning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Consulting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7C51FA-B331-4AA6-98E2-FAE9F42C5A71}"/>
                </a:ext>
              </a:extLst>
            </p:cNvPr>
            <p:cNvSpPr/>
            <p:nvPr/>
          </p:nvSpPr>
          <p:spPr>
            <a:xfrm>
              <a:off x="158326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75AB51C-9866-4AAA-B99F-887BE0FCE300}"/>
                </a:ext>
              </a:extLst>
            </p:cNvPr>
            <p:cNvSpPr/>
            <p:nvPr/>
          </p:nvSpPr>
          <p:spPr>
            <a:xfrm>
              <a:off x="176614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6FBE82B-6E6B-4EAA-9444-D2EBD6B1AD01}"/>
                </a:ext>
              </a:extLst>
            </p:cNvPr>
            <p:cNvSpPr/>
            <p:nvPr/>
          </p:nvSpPr>
          <p:spPr>
            <a:xfrm>
              <a:off x="194394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EC1034F-5598-4809-BFAC-0D2CFE50360E}"/>
                </a:ext>
              </a:extLst>
            </p:cNvPr>
            <p:cNvSpPr/>
            <p:nvPr/>
          </p:nvSpPr>
          <p:spPr>
            <a:xfrm>
              <a:off x="212174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629BD4C-710D-4614-9B78-4F5D2B20DA11}"/>
              </a:ext>
            </a:extLst>
          </p:cNvPr>
          <p:cNvGrpSpPr/>
          <p:nvPr/>
        </p:nvGrpSpPr>
        <p:grpSpPr>
          <a:xfrm>
            <a:off x="2851717" y="941495"/>
            <a:ext cx="1777510" cy="3616960"/>
            <a:chOff x="1053743" y="975360"/>
            <a:chExt cx="1777510" cy="36169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A0F146-EE96-4753-BC75-0DD031D22CFC}"/>
                </a:ext>
              </a:extLst>
            </p:cNvPr>
            <p:cNvSpPr/>
            <p:nvPr/>
          </p:nvSpPr>
          <p:spPr>
            <a:xfrm>
              <a:off x="1053743" y="975360"/>
              <a:ext cx="1777510" cy="3616960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4A5A5A6-B664-49D6-B0DC-BCA0BD6DE406}"/>
                </a:ext>
              </a:extLst>
            </p:cNvPr>
            <p:cNvSpPr/>
            <p:nvPr/>
          </p:nvSpPr>
          <p:spPr>
            <a:xfrm>
              <a:off x="1053743" y="4168140"/>
              <a:ext cx="1763964" cy="41740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BFCF76E-48C1-4959-89CB-521D554EB9AB}"/>
                </a:ext>
              </a:extLst>
            </p:cNvPr>
            <p:cNvSpPr txBox="1"/>
            <p:nvPr/>
          </p:nvSpPr>
          <p:spPr>
            <a:xfrm>
              <a:off x="1116252" y="1185335"/>
              <a:ext cx="166895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DevSecOps Engineer</a:t>
              </a:r>
            </a:p>
            <a:p>
              <a:pPr algn="ctr"/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2974E4-CA9D-42CB-B2A2-720205063255}"/>
                </a:ext>
              </a:extLst>
            </p:cNvPr>
            <p:cNvSpPr txBox="1"/>
            <p:nvPr/>
          </p:nvSpPr>
          <p:spPr>
            <a:xfrm>
              <a:off x="1429102" y="2686895"/>
              <a:ext cx="1063581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SME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Release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Coordination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Execution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ATP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CA7037E-4A45-4FF6-8B23-06654775FA58}"/>
                </a:ext>
              </a:extLst>
            </p:cNvPr>
            <p:cNvSpPr/>
            <p:nvPr/>
          </p:nvSpPr>
          <p:spPr>
            <a:xfrm>
              <a:off x="158326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EC172FF-0500-40B4-A6AA-C7D082572074}"/>
                </a:ext>
              </a:extLst>
            </p:cNvPr>
            <p:cNvSpPr/>
            <p:nvPr/>
          </p:nvSpPr>
          <p:spPr>
            <a:xfrm>
              <a:off x="176614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743C3EC-1B14-410B-AC29-A57D33A8C5AE}"/>
                </a:ext>
              </a:extLst>
            </p:cNvPr>
            <p:cNvSpPr/>
            <p:nvPr/>
          </p:nvSpPr>
          <p:spPr>
            <a:xfrm>
              <a:off x="1943947" y="1964267"/>
              <a:ext cx="142240" cy="1540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0CDB02F-0DFD-4204-B7D7-676624CCA2C7}"/>
                </a:ext>
              </a:extLst>
            </p:cNvPr>
            <p:cNvSpPr/>
            <p:nvPr/>
          </p:nvSpPr>
          <p:spPr>
            <a:xfrm>
              <a:off x="2121747" y="1964267"/>
              <a:ext cx="142240" cy="1540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C0C3B8F-681A-4B9F-BE55-E50470C941D9}"/>
              </a:ext>
            </a:extLst>
          </p:cNvPr>
          <p:cNvGrpSpPr/>
          <p:nvPr/>
        </p:nvGrpSpPr>
        <p:grpSpPr>
          <a:xfrm>
            <a:off x="5057713" y="934722"/>
            <a:ext cx="1777510" cy="3616960"/>
            <a:chOff x="1053743" y="975360"/>
            <a:chExt cx="1777510" cy="361696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900F888-2C0D-4727-AE78-F96ABC0D2E03}"/>
                </a:ext>
              </a:extLst>
            </p:cNvPr>
            <p:cNvSpPr/>
            <p:nvPr/>
          </p:nvSpPr>
          <p:spPr>
            <a:xfrm>
              <a:off x="1053743" y="975360"/>
              <a:ext cx="1777510" cy="3616960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A7F49145-88E6-43D4-B372-3BDF9A2D732E}"/>
                </a:ext>
              </a:extLst>
            </p:cNvPr>
            <p:cNvSpPr/>
            <p:nvPr/>
          </p:nvSpPr>
          <p:spPr>
            <a:xfrm>
              <a:off x="1053743" y="4168140"/>
              <a:ext cx="1763964" cy="41740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4FA773F-E0F9-42DA-A21B-95749F351795}"/>
                </a:ext>
              </a:extLst>
            </p:cNvPr>
            <p:cNvSpPr txBox="1"/>
            <p:nvPr/>
          </p:nvSpPr>
          <p:spPr>
            <a:xfrm>
              <a:off x="1261079" y="1185335"/>
              <a:ext cx="13792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Full Scale Developer</a:t>
              </a:r>
            </a:p>
            <a:p>
              <a:pPr algn="ctr"/>
              <a:endParaRPr 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2A499D1-3F4F-4EF8-A32D-8CA477C90EBC}"/>
                </a:ext>
              </a:extLst>
            </p:cNvPr>
            <p:cNvSpPr txBox="1"/>
            <p:nvPr/>
          </p:nvSpPr>
          <p:spPr>
            <a:xfrm>
              <a:off x="1429102" y="2686895"/>
              <a:ext cx="106358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Design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Development</a:t>
              </a:r>
            </a:p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Testing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47F0761-89EE-41ED-9200-67EE831169F0}"/>
                </a:ext>
              </a:extLst>
            </p:cNvPr>
            <p:cNvSpPr/>
            <p:nvPr/>
          </p:nvSpPr>
          <p:spPr>
            <a:xfrm>
              <a:off x="158326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65AA5EA-0A03-4C81-B68B-8D5E811AEB7B}"/>
                </a:ext>
              </a:extLst>
            </p:cNvPr>
            <p:cNvSpPr/>
            <p:nvPr/>
          </p:nvSpPr>
          <p:spPr>
            <a:xfrm>
              <a:off x="1766147" y="1964267"/>
              <a:ext cx="142240" cy="1540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45B520A-C893-429E-B1B9-DA24543C1520}"/>
                </a:ext>
              </a:extLst>
            </p:cNvPr>
            <p:cNvSpPr/>
            <p:nvPr/>
          </p:nvSpPr>
          <p:spPr>
            <a:xfrm>
              <a:off x="1943947" y="1964267"/>
              <a:ext cx="142240" cy="1540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735AC83-24E1-44CB-858C-BD83D60C5D86}"/>
                </a:ext>
              </a:extLst>
            </p:cNvPr>
            <p:cNvSpPr/>
            <p:nvPr/>
          </p:nvSpPr>
          <p:spPr>
            <a:xfrm>
              <a:off x="2121747" y="1964267"/>
              <a:ext cx="142240" cy="154093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AE28F8B0-B80F-448F-ABD2-E993DE9494DD}"/>
              </a:ext>
            </a:extLst>
          </p:cNvPr>
          <p:cNvSpPr/>
          <p:nvPr/>
        </p:nvSpPr>
        <p:spPr>
          <a:xfrm>
            <a:off x="5768135" y="1920054"/>
            <a:ext cx="142240" cy="154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8C4D613-1300-419F-AC08-27F18054BADA}"/>
              </a:ext>
            </a:extLst>
          </p:cNvPr>
          <p:cNvSpPr/>
          <p:nvPr/>
        </p:nvSpPr>
        <p:spPr>
          <a:xfrm>
            <a:off x="3733448" y="1930402"/>
            <a:ext cx="142240" cy="154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1C85F12-25F2-4D16-A501-6855D8C28B8C}"/>
              </a:ext>
            </a:extLst>
          </p:cNvPr>
          <p:cNvGrpSpPr/>
          <p:nvPr/>
        </p:nvGrpSpPr>
        <p:grpSpPr>
          <a:xfrm>
            <a:off x="7197036" y="930469"/>
            <a:ext cx="1777510" cy="3616960"/>
            <a:chOff x="1053743" y="975360"/>
            <a:chExt cx="1777510" cy="361696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A77C0D5-60CA-4BC3-94D7-97DAFFED3FD9}"/>
                </a:ext>
              </a:extLst>
            </p:cNvPr>
            <p:cNvSpPr/>
            <p:nvPr/>
          </p:nvSpPr>
          <p:spPr>
            <a:xfrm>
              <a:off x="1053743" y="975360"/>
              <a:ext cx="1777510" cy="3616960"/>
            </a:xfrm>
            <a:prstGeom prst="rect">
              <a:avLst/>
            </a:prstGeom>
            <a:solidFill>
              <a:srgbClr val="DA29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F163F2D-EA3E-4A13-845B-0D1035104619}"/>
                </a:ext>
              </a:extLst>
            </p:cNvPr>
            <p:cNvSpPr/>
            <p:nvPr/>
          </p:nvSpPr>
          <p:spPr>
            <a:xfrm>
              <a:off x="1053743" y="4168140"/>
              <a:ext cx="1763964" cy="417407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AF091A5-CDEF-4884-B96B-75D69C7C46F1}"/>
                </a:ext>
              </a:extLst>
            </p:cNvPr>
            <p:cNvSpPr txBox="1"/>
            <p:nvPr/>
          </p:nvSpPr>
          <p:spPr>
            <a:xfrm>
              <a:off x="1261079" y="1185335"/>
              <a:ext cx="1379297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UX </a:t>
              </a:r>
            </a:p>
            <a:p>
              <a:pPr algn="ctr"/>
              <a:r>
                <a:rPr lang="en-US" sz="1600" b="1" dirty="0">
                  <a:solidFill>
                    <a:schemeClr val="bg1"/>
                  </a:solidFill>
                </a:rPr>
                <a:t>Designer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BE879C6-5D08-40B7-B239-49D743F8AB5B}"/>
                </a:ext>
              </a:extLst>
            </p:cNvPr>
            <p:cNvSpPr txBox="1"/>
            <p:nvPr/>
          </p:nvSpPr>
          <p:spPr>
            <a:xfrm>
              <a:off x="1477446" y="2686895"/>
              <a:ext cx="9668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</a:rPr>
                <a:t>End User Experience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BA59D8B-55D2-44FA-8567-91A58B365B5D}"/>
                </a:ext>
              </a:extLst>
            </p:cNvPr>
            <p:cNvSpPr/>
            <p:nvPr/>
          </p:nvSpPr>
          <p:spPr>
            <a:xfrm>
              <a:off x="158326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CEF71B08-36FC-4517-AB5F-E3EA48E431E4}"/>
                </a:ext>
              </a:extLst>
            </p:cNvPr>
            <p:cNvSpPr/>
            <p:nvPr/>
          </p:nvSpPr>
          <p:spPr>
            <a:xfrm>
              <a:off x="1766147" y="1964267"/>
              <a:ext cx="142240" cy="15409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aseline="-25000" dirty="0"/>
            </a:p>
          </p:txBody>
        </p:sp>
      </p:grpSp>
      <p:sp>
        <p:nvSpPr>
          <p:cNvPr id="52" name="Rectangle 51">
            <a:extLst>
              <a:ext uri="{FF2B5EF4-FFF2-40B4-BE49-F238E27FC236}">
                <a16:creationId xmlns:a16="http://schemas.microsoft.com/office/drawing/2014/main" id="{25AC8838-C438-4ACB-9597-1AE29F427A2E}"/>
              </a:ext>
            </a:extLst>
          </p:cNvPr>
          <p:cNvSpPr/>
          <p:nvPr/>
        </p:nvSpPr>
        <p:spPr>
          <a:xfrm>
            <a:off x="8104064" y="1923240"/>
            <a:ext cx="142240" cy="1540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FD29CE-516F-4ACB-8CE9-DEFDA3761751}"/>
              </a:ext>
            </a:extLst>
          </p:cNvPr>
          <p:cNvSpPr txBox="1"/>
          <p:nvPr/>
        </p:nvSpPr>
        <p:spPr>
          <a:xfrm>
            <a:off x="713252" y="4134275"/>
            <a:ext cx="141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$ 120 / Hour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EE277F-C976-4EC4-B1A8-94A6AE7A1905}"/>
              </a:ext>
            </a:extLst>
          </p:cNvPr>
          <p:cNvSpPr txBox="1"/>
          <p:nvPr/>
        </p:nvSpPr>
        <p:spPr>
          <a:xfrm>
            <a:off x="3023503" y="4141048"/>
            <a:ext cx="141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$ 95 / Hour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F074CA5-C1C3-4F1A-8D8A-2CE59B5F6543}"/>
              </a:ext>
            </a:extLst>
          </p:cNvPr>
          <p:cNvSpPr txBox="1"/>
          <p:nvPr/>
        </p:nvSpPr>
        <p:spPr>
          <a:xfrm>
            <a:off x="5224456" y="4120729"/>
            <a:ext cx="141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$ 90 / Hour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340D95-A6C6-43F5-89A5-94EAF91AF1E4}"/>
              </a:ext>
            </a:extLst>
          </p:cNvPr>
          <p:cNvSpPr txBox="1"/>
          <p:nvPr/>
        </p:nvSpPr>
        <p:spPr>
          <a:xfrm>
            <a:off x="7369073" y="4090510"/>
            <a:ext cx="1419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$ 70 / Hour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5F3EF73-65AC-4CB7-843E-B78A09D1B1DA}"/>
              </a:ext>
            </a:extLst>
          </p:cNvPr>
          <p:cNvSpPr/>
          <p:nvPr/>
        </p:nvSpPr>
        <p:spPr>
          <a:xfrm>
            <a:off x="8323971" y="1922215"/>
            <a:ext cx="142240" cy="154093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4017574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C317F0AD02050489CEA68A8CF25C850" ma:contentTypeVersion="11" ma:contentTypeDescription="Create a new document." ma:contentTypeScope="" ma:versionID="2827eb6fcaaf4b88c7eb97ba38a93524">
  <xsd:schema xmlns:xsd="http://www.w3.org/2001/XMLSchema" xmlns:xs="http://www.w3.org/2001/XMLSchema" xmlns:p="http://schemas.microsoft.com/office/2006/metadata/properties" xmlns:ns2="dcca88f8-a7ae-4cfc-9184-d6b131f630bb" xmlns:ns3="c5a4b99e-4ccc-4a5c-98e4-7ab8633fd4df" targetNamespace="http://schemas.microsoft.com/office/2006/metadata/properties" ma:root="true" ma:fieldsID="8696a21874c65674d225a4f02c8f2095" ns2:_="" ns3:_="">
    <xsd:import namespace="dcca88f8-a7ae-4cfc-9184-d6b131f630bb"/>
    <xsd:import namespace="c5a4b99e-4ccc-4a5c-98e4-7ab8633fd4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ca88f8-a7ae-4cfc-9184-d6b131f630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a4b99e-4ccc-4a5c-98e4-7ab8633fd4d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3044F30-6B1E-4C15-80A9-7FE40FEE09C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ca88f8-a7ae-4cfc-9184-d6b131f630bb"/>
    <ds:schemaRef ds:uri="c5a4b99e-4ccc-4a5c-98e4-7ab8633fd4d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51BF9A0-A380-42E8-B81F-03D2471160C1}">
  <ds:schemaRefs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21F4AC2-0AEA-4354-802A-609AA4E08D7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980</TotalTime>
  <Words>456</Words>
  <Application>Microsoft Office PowerPoint</Application>
  <PresentationFormat>On-screen Show (16:9)</PresentationFormat>
  <Paragraphs>113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Arial</vt:lpstr>
      <vt:lpstr>Calibri</vt:lpstr>
      <vt:lpstr>Calibri Light</vt:lpstr>
      <vt:lpstr>Helvetica</vt:lpstr>
      <vt:lpstr>Myriad Pro</vt:lpstr>
      <vt:lpstr>Raleway</vt:lpstr>
      <vt:lpstr>Raleway ExtraBold</vt:lpstr>
      <vt:lpstr>Raleway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Akbar Khan</dc:creator>
  <cp:lastModifiedBy>Papu Bhattacharya</cp:lastModifiedBy>
  <cp:revision>119</cp:revision>
  <dcterms:created xsi:type="dcterms:W3CDTF">2020-09-08T11:22:38Z</dcterms:created>
  <dcterms:modified xsi:type="dcterms:W3CDTF">2023-03-31T08:48:43Z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0x0101002C317F0AD02050489CEA68A8CF25C850</vt:lpwstr>
  </property>
</Properties>
</file>