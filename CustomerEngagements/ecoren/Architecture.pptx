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343" r:id="rId6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94291" autoAdjust="0"/>
  </p:normalViewPr>
  <p:slideViewPr>
    <p:cSldViewPr snapToGrid="0">
      <p:cViewPr varScale="1">
        <p:scale>
          <a:sx n="86" d="100"/>
          <a:sy n="86" d="100"/>
        </p:scale>
        <p:origin x="64" y="38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6/6/2019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6/6/2019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720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2018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0B67D0-2E5A-4867-9463-40974D4487F0}"/>
              </a:ext>
            </a:extLst>
          </p:cNvPr>
          <p:cNvSpPr txBox="1"/>
          <p:nvPr/>
        </p:nvSpPr>
        <p:spPr>
          <a:xfrm>
            <a:off x="174171" y="4792570"/>
            <a:ext cx="8719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500" cap="small" dirty="0">
                <a:latin typeface="Arial" panose="020B0604020202020204" pitchFamily="34" charset="0"/>
                <a:cs typeface="Arial" panose="020B0604020202020204" pitchFamily="34" charset="0"/>
              </a:rPr>
              <a:t>All information contained in this document and communicated to you by synectiks is confidential and proprietary to synectiks (“confidential information”). The information and any pricing data submitted here is non-binding and for evaluation purposes only and is subject to adjustment or modification by synectiks after its review, consideration, and negotiation of the terms and conditions of a definitive final contract. The data and information contained herein may not be reproduced, published or distributed to, or for, any third parties without the express prior written consent of synectiks.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C4959-E598-4FD7-8281-789FFD1B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085"/>
            <a:ext cx="9144000" cy="432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7EED0-9380-4BC8-B1CB-4A610AB6D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064" y="-60068"/>
            <a:ext cx="30319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2000" cap="small" dirty="0">
                <a:solidFill>
                  <a:schemeClr val="bg2"/>
                </a:solidFill>
                <a:latin typeface="Raleway ExtraBold" panose="020B0903030101060003" pitchFamily="34" charset="0"/>
              </a:rPr>
              <a:t>Automation 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226FFA-1D4F-41F6-B684-17D7F7AE1F8A}"/>
              </a:ext>
            </a:extLst>
          </p:cNvPr>
          <p:cNvSpPr/>
          <p:nvPr/>
        </p:nvSpPr>
        <p:spPr>
          <a:xfrm>
            <a:off x="69131" y="1158519"/>
            <a:ext cx="817510" cy="6237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Excel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0D426D-DB0B-4BB2-9CF7-04C0D2C58EA7}"/>
              </a:ext>
            </a:extLst>
          </p:cNvPr>
          <p:cNvSpPr/>
          <p:nvPr/>
        </p:nvSpPr>
        <p:spPr>
          <a:xfrm>
            <a:off x="1291144" y="720620"/>
            <a:ext cx="1766949" cy="35788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NIFI</a:t>
            </a:r>
          </a:p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Dataflow Processing and Reporting Metrics Ingestion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D64E67-05A1-4074-93EE-0B394FE5A3C2}"/>
              </a:ext>
            </a:extLst>
          </p:cNvPr>
          <p:cNvSpPr/>
          <p:nvPr/>
        </p:nvSpPr>
        <p:spPr>
          <a:xfrm>
            <a:off x="3342635" y="1809877"/>
            <a:ext cx="1834855" cy="823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Influxdb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Time Series Database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B34400-8ABA-48E9-936C-9E48A85C0B29}"/>
              </a:ext>
            </a:extLst>
          </p:cNvPr>
          <p:cNvSpPr/>
          <p:nvPr/>
        </p:nvSpPr>
        <p:spPr>
          <a:xfrm>
            <a:off x="5566275" y="2060049"/>
            <a:ext cx="1834855" cy="823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Postgres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RDBMS OLAP 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179E11-B683-4570-9165-8031CFEC0A83}"/>
              </a:ext>
            </a:extLst>
          </p:cNvPr>
          <p:cNvSpPr/>
          <p:nvPr/>
        </p:nvSpPr>
        <p:spPr>
          <a:xfrm>
            <a:off x="3317189" y="720620"/>
            <a:ext cx="2043339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Realtime Analytics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Synectiks Realtime Graphs &amp; Charts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7214182-3BB2-40FB-97C5-9E94B4506331}"/>
              </a:ext>
            </a:extLst>
          </p:cNvPr>
          <p:cNvSpPr/>
          <p:nvPr/>
        </p:nvSpPr>
        <p:spPr>
          <a:xfrm>
            <a:off x="5707575" y="720619"/>
            <a:ext cx="2043339" cy="5752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OLAP Analytics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Superset -Detail Pivot Views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7C85A4A-A403-4F60-9283-E45461FEE856}"/>
              </a:ext>
            </a:extLst>
          </p:cNvPr>
          <p:cNvSpPr/>
          <p:nvPr/>
        </p:nvSpPr>
        <p:spPr>
          <a:xfrm>
            <a:off x="54137" y="2571750"/>
            <a:ext cx="817510" cy="6237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Scada Client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373AFE-CB66-4DD7-A31F-A0FB74F25CC7}"/>
              </a:ext>
            </a:extLst>
          </p:cNvPr>
          <p:cNvCxnSpPr>
            <a:cxnSpLocks/>
          </p:cNvCxnSpPr>
          <p:nvPr/>
        </p:nvCxnSpPr>
        <p:spPr>
          <a:xfrm flipV="1">
            <a:off x="848832" y="1485229"/>
            <a:ext cx="466931" cy="1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EAE0A9-318E-45CC-B032-B020FD0723BD}"/>
              </a:ext>
            </a:extLst>
          </p:cNvPr>
          <p:cNvCxnSpPr>
            <a:cxnSpLocks/>
          </p:cNvCxnSpPr>
          <p:nvPr/>
        </p:nvCxnSpPr>
        <p:spPr>
          <a:xfrm flipV="1">
            <a:off x="802806" y="2883614"/>
            <a:ext cx="473707" cy="1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ECE80AC-5626-4258-9BF0-D01C4648ACE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083539" y="2221658"/>
            <a:ext cx="259096" cy="2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0E34A77-8628-46EB-B17A-695995B3B7D4}"/>
              </a:ext>
            </a:extLst>
          </p:cNvPr>
          <p:cNvCxnSpPr>
            <a:cxnSpLocks/>
          </p:cNvCxnSpPr>
          <p:nvPr/>
        </p:nvCxnSpPr>
        <p:spPr>
          <a:xfrm flipV="1">
            <a:off x="3058093" y="2773477"/>
            <a:ext cx="2508182" cy="248658"/>
          </a:xfrm>
          <a:prstGeom prst="bentConnector3">
            <a:avLst>
              <a:gd name="adj1" fmla="val 50000"/>
            </a:avLst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AC20809-A751-4645-9332-4FB8A5863B6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338859" y="1295905"/>
            <a:ext cx="0" cy="551817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A4BC093-4529-4BB0-BF9C-61AA7A82A558}"/>
              </a:ext>
            </a:extLst>
          </p:cNvPr>
          <p:cNvCxnSpPr>
            <a:cxnSpLocks/>
          </p:cNvCxnSpPr>
          <p:nvPr/>
        </p:nvCxnSpPr>
        <p:spPr>
          <a:xfrm flipV="1">
            <a:off x="4886893" y="1295906"/>
            <a:ext cx="0" cy="513971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CF057F76-197B-45CB-8F1F-5F8737E5C660}"/>
              </a:ext>
            </a:extLst>
          </p:cNvPr>
          <p:cNvSpPr/>
          <p:nvPr/>
        </p:nvSpPr>
        <p:spPr>
          <a:xfrm>
            <a:off x="3798104" y="1414924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C8797B2-4D12-44AE-8C7A-16089FB2AE2A}"/>
              </a:ext>
            </a:extLst>
          </p:cNvPr>
          <p:cNvSpPr/>
          <p:nvPr/>
        </p:nvSpPr>
        <p:spPr>
          <a:xfrm>
            <a:off x="4539846" y="1510502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9D8F924-4175-47CB-B304-4D72C4EA50FF}"/>
              </a:ext>
            </a:extLst>
          </p:cNvPr>
          <p:cNvCxnSpPr>
            <a:cxnSpLocks/>
          </p:cNvCxnSpPr>
          <p:nvPr/>
        </p:nvCxnSpPr>
        <p:spPr>
          <a:xfrm>
            <a:off x="5938554" y="1305747"/>
            <a:ext cx="0" cy="754302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80837D0-4F43-4ADB-AE12-AFDC19BAD15B}"/>
              </a:ext>
            </a:extLst>
          </p:cNvPr>
          <p:cNvCxnSpPr>
            <a:cxnSpLocks/>
          </p:cNvCxnSpPr>
          <p:nvPr/>
        </p:nvCxnSpPr>
        <p:spPr>
          <a:xfrm flipV="1">
            <a:off x="7052932" y="1305747"/>
            <a:ext cx="0" cy="754302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6368F1C6-30E9-49E9-BB2E-E4075429BB22}"/>
              </a:ext>
            </a:extLst>
          </p:cNvPr>
          <p:cNvSpPr/>
          <p:nvPr/>
        </p:nvSpPr>
        <p:spPr>
          <a:xfrm>
            <a:off x="5564544" y="1485229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Query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9CF43FF-D13E-4DEE-A328-E099FCAEA279}"/>
              </a:ext>
            </a:extLst>
          </p:cNvPr>
          <p:cNvSpPr/>
          <p:nvPr/>
        </p:nvSpPr>
        <p:spPr>
          <a:xfrm>
            <a:off x="6990215" y="1639939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F035255-1029-4D0D-A0C1-C567D0F3A8A5}"/>
              </a:ext>
            </a:extLst>
          </p:cNvPr>
          <p:cNvSpPr/>
          <p:nvPr/>
        </p:nvSpPr>
        <p:spPr>
          <a:xfrm>
            <a:off x="4514398" y="3647759"/>
            <a:ext cx="1072493" cy="6731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Alerting Framework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2A1A486-E3E7-4116-85B4-41C58511A3ED}"/>
              </a:ext>
            </a:extLst>
          </p:cNvPr>
          <p:cNvSpPr/>
          <p:nvPr/>
        </p:nvSpPr>
        <p:spPr>
          <a:xfrm>
            <a:off x="5906687" y="3652301"/>
            <a:ext cx="1072493" cy="6731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718FE02-0A1E-4942-B57D-2A22B2E22E5F}"/>
              </a:ext>
            </a:extLst>
          </p:cNvPr>
          <p:cNvSpPr/>
          <p:nvPr/>
        </p:nvSpPr>
        <p:spPr>
          <a:xfrm>
            <a:off x="7138254" y="3626360"/>
            <a:ext cx="1072493" cy="67313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Defined Functions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992879A-ADB4-4655-B9D8-A36DA72984D9}"/>
              </a:ext>
            </a:extLst>
          </p:cNvPr>
          <p:cNvCxnSpPr/>
          <p:nvPr/>
        </p:nvCxnSpPr>
        <p:spPr>
          <a:xfrm flipV="1">
            <a:off x="5360528" y="1295904"/>
            <a:ext cx="0" cy="2330456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A0687F2-204F-434C-86D6-F60CE88AC83C}"/>
              </a:ext>
            </a:extLst>
          </p:cNvPr>
          <p:cNvSpPr/>
          <p:nvPr/>
        </p:nvSpPr>
        <p:spPr>
          <a:xfrm>
            <a:off x="5095740" y="1684977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6534B3F-4CCF-424C-A113-28C66A796507}"/>
              </a:ext>
            </a:extLst>
          </p:cNvPr>
          <p:cNvSpPr/>
          <p:nvPr/>
        </p:nvSpPr>
        <p:spPr>
          <a:xfrm>
            <a:off x="1332341" y="1577030"/>
            <a:ext cx="712943" cy="311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75A011C-2480-4D24-AF2E-B389CB312E2A}"/>
              </a:ext>
            </a:extLst>
          </p:cNvPr>
          <p:cNvSpPr/>
          <p:nvPr/>
        </p:nvSpPr>
        <p:spPr>
          <a:xfrm>
            <a:off x="1315430" y="2342397"/>
            <a:ext cx="853205" cy="311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Transformation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556DE4E-5AB6-4460-B5BD-CFB262AC9FB3}"/>
              </a:ext>
            </a:extLst>
          </p:cNvPr>
          <p:cNvSpPr/>
          <p:nvPr/>
        </p:nvSpPr>
        <p:spPr>
          <a:xfrm>
            <a:off x="2427731" y="2089944"/>
            <a:ext cx="630362" cy="1245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Ingestion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E81CD64-9FB6-44AF-B915-B28125B07BDD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>
            <a:off x="1688813" y="1888894"/>
            <a:ext cx="53220" cy="453503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E286D9AC-D038-4F29-8382-C85EBD17FF8E}"/>
              </a:ext>
            </a:extLst>
          </p:cNvPr>
          <p:cNvCxnSpPr>
            <a:cxnSpLocks/>
            <a:stCxn id="106" idx="3"/>
            <a:endCxn id="107" idx="1"/>
          </p:cNvCxnSpPr>
          <p:nvPr/>
        </p:nvCxnSpPr>
        <p:spPr>
          <a:xfrm>
            <a:off x="2168635" y="2498329"/>
            <a:ext cx="259096" cy="214586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02672D2-EFDC-490F-A9C7-E57119F20F3D}"/>
              </a:ext>
            </a:extLst>
          </p:cNvPr>
          <p:cNvSpPr/>
          <p:nvPr/>
        </p:nvSpPr>
        <p:spPr>
          <a:xfrm>
            <a:off x="1436161" y="3335897"/>
            <a:ext cx="816062" cy="311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Notification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F207FD4-8DF6-4BA1-9935-9B83B4F36425}"/>
              </a:ext>
            </a:extLst>
          </p:cNvPr>
          <p:cNvSpPr/>
          <p:nvPr/>
        </p:nvSpPr>
        <p:spPr>
          <a:xfrm>
            <a:off x="2118903" y="3721193"/>
            <a:ext cx="816062" cy="3118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0A7CD4C-9CC9-4F6B-AE75-95970B856F73}"/>
              </a:ext>
            </a:extLst>
          </p:cNvPr>
          <p:cNvCxnSpPr>
            <a:stCxn id="18" idx="3"/>
            <a:endCxn id="69" idx="1"/>
          </p:cNvCxnSpPr>
          <p:nvPr/>
        </p:nvCxnSpPr>
        <p:spPr>
          <a:xfrm flipV="1">
            <a:off x="5360528" y="1008262"/>
            <a:ext cx="347047" cy="1"/>
          </a:xfrm>
          <a:prstGeom prst="straightConnector1">
            <a:avLst/>
          </a:prstGeom>
          <a:ln w="6350">
            <a:solidFill>
              <a:srgbClr val="919D9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32DC242-7DAC-42EB-AAAE-4063C404280B}"/>
              </a:ext>
            </a:extLst>
          </p:cNvPr>
          <p:cNvSpPr/>
          <p:nvPr/>
        </p:nvSpPr>
        <p:spPr>
          <a:xfrm>
            <a:off x="5244748" y="767756"/>
            <a:ext cx="684286" cy="142309"/>
          </a:xfrm>
          <a:prstGeom prst="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Navigate</a:t>
            </a:r>
          </a:p>
        </p:txBody>
      </p:sp>
    </p:spTree>
    <p:extLst>
      <p:ext uri="{BB962C8B-B14F-4D97-AF65-F5344CB8AC3E}">
        <p14:creationId xmlns:p14="http://schemas.microsoft.com/office/powerpoint/2010/main" val="205970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BFD6C8-7667-45CF-8447-45219F9AA5A8}"/>
</file>

<file path=customXml/itemProps2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BF9A0-A380-42E8-B81F-03D2471160C1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42397</TotalTime>
  <Words>153</Words>
  <Application>Microsoft Office PowerPoint</Application>
  <PresentationFormat>On-screen Show (16:9)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Raleway ExtraBold</vt:lpstr>
      <vt:lpstr>Wingdings</vt:lpstr>
      <vt:lpstr>Office Theme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69</cp:revision>
  <cp:lastPrinted>2016-12-06T22:14:27Z</cp:lastPrinted>
  <dcterms:created xsi:type="dcterms:W3CDTF">2014-11-12T22:29:05Z</dcterms:created>
  <dcterms:modified xsi:type="dcterms:W3CDTF">2019-06-06T05:28:13Z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