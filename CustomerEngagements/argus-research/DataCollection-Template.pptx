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404" r:id="rId5"/>
    <p:sldId id="402" r:id="rId6"/>
    <p:sldId id="405" r:id="rId7"/>
    <p:sldId id="412" r:id="rId8"/>
    <p:sldId id="414" r:id="rId9"/>
    <p:sldId id="415" r:id="rId10"/>
    <p:sldId id="413" r:id="rId11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59" autoAdjust="0"/>
  </p:normalViewPr>
  <p:slideViewPr>
    <p:cSldViewPr snapToGrid="0">
      <p:cViewPr varScale="1">
        <p:scale>
          <a:sx n="97" d="100"/>
          <a:sy n="97" d="100"/>
        </p:scale>
        <p:origin x="183" y="120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4/1/2020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4/1/2020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69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85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2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86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70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63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umentation.wazuh.com/3.11/user-manual/capabilities/file-integrity/index.html#manual-file-integrity" TargetMode="External"/><Relationship Id="rId7" Type="http://schemas.openxmlformats.org/officeDocument/2006/relationships/hyperlink" Target="https://documentation.wazuh.com/3.11/user-manual/capabilities/vulnerability-detection/index.html#vulnerability-detection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umentation.wazuh.com/3.11/user-manual/capabilities/syscollector.html#syscollector" TargetMode="External"/><Relationship Id="rId5" Type="http://schemas.openxmlformats.org/officeDocument/2006/relationships/hyperlink" Target="https://documentation.wazuh.com/3.11/user-manual/capabilities/policy-monitoring/index.html#manual-policy-monitoring" TargetMode="External"/><Relationship Id="rId4" Type="http://schemas.openxmlformats.org/officeDocument/2006/relationships/hyperlink" Target="https://documentation.wazuh.com/3.11/user-manual/capabilities/anomalies-detection/index.html#manual-anomaly-det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Platform Architecture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6D299C-BCAB-4437-B9BA-8F240C71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0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Log Manager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E78722-7090-4D4A-9869-9F1F401C0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14" y="370015"/>
            <a:ext cx="8274995" cy="455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9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62956D0-0D0C-4876-A396-9F3039C588CB}"/>
              </a:ext>
            </a:extLst>
          </p:cNvPr>
          <p:cNvSpPr txBox="1">
            <a:spLocks/>
          </p:cNvSpPr>
          <p:nvPr/>
        </p:nvSpPr>
        <p:spPr>
          <a:xfrm>
            <a:off x="6789906" y="428016"/>
            <a:ext cx="2354094" cy="3584058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80988" indent="-28098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accent2"/>
              </a:buClr>
              <a:buFont typeface="Wingdings" charset="2"/>
              <a:buChar char="§"/>
              <a:defRPr lang="en-US" sz="2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293688" algn="l" defTabSz="914400" rtl="0" eaLnBrk="1" latinLnBrk="0" hangingPunct="1">
              <a:lnSpc>
                <a:spcPct val="95000"/>
              </a:lnSpc>
              <a:spcBef>
                <a:spcPct val="20000"/>
              </a:spcBef>
              <a:spcAft>
                <a:spcPts val="800"/>
              </a:spcAft>
              <a:buFontTx/>
              <a:buChar char="‒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5663" indent="-280988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0613" indent="-2349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12863" indent="-22225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  <a:buFontTx/>
              <a:buChar char="‒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Need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Every business monitoring requirement is unique, customers need a highly flexible platform so that they can build highly customizable purpose-built solutions at speed and lower economies.</a:t>
            </a: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endParaRPr lang="en-US" sz="1400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0987" lvl="1" indent="0" fontAlgn="auto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4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Why Us?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Delivered purpose-built monitoring for large business.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Build any custom solutions using proven framework.</a:t>
            </a:r>
          </a:p>
          <a:p>
            <a:pPr lvl="1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Buy capabilities  , not any propitiatory closed product.</a:t>
            </a:r>
          </a:p>
          <a:p>
            <a:pPr lvl="1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sz="10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team able to collect and deliver business monitoring requirement at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387" y="-91650"/>
            <a:ext cx="5236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Alert Manager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168417-E4E0-4035-A87D-9EE83825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014"/>
            <a:ext cx="9144000" cy="477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38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UC Collection Template Ex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067938"/>
              </p:ext>
            </p:extLst>
          </p:nvPr>
        </p:nvGraphicFramePr>
        <p:xfrm>
          <a:off x="23982" y="342145"/>
          <a:ext cx="9096036" cy="51152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583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7190199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667786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 out the root cause of latency and slow loading of Top 5 worst hit features of &lt;</a:t>
                      </a:r>
                      <a:r>
                        <a:rPr lang="en-US" sz="2000" b="1" i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siteXX</a:t>
                      </a: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43551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 Based - Deliver logs pertaining to the response time Monitoring of Public facing Website &lt;XXXXXXXX&gt;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LB Logs ,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Gateway Logs, Webserver Logs, DB instances Logs</a:t>
                      </a:r>
                    </a:p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 All the above logs will be available in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569704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&lt;resource&gt;&lt;user&gt;,&lt;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/id&gt;, &lt;time&gt;&lt;operation&gt;&lt;message&gt;&lt;status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Ex.  Application , Service Health, System , Activity Log, Config Change</a:t>
                      </a:r>
                    </a:p>
                    <a:p>
                      <a:r>
                        <a:rPr lang="en-US" sz="1000" dirty="0"/>
                        <a:t>Operation – Ex. Get a page / add item to cart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287748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493581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(RCA Dashboard)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(Error Code)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(Tracing)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34540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 /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Anything return code 500, Response Time &gt; 2 Sec.</a:t>
                      </a:r>
                    </a:p>
                    <a:p>
                      <a:r>
                        <a:rPr lang="en-US" sz="1000" dirty="0"/>
                        <a:t>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812957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RCA Dashboard for any latency / Error code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any latency from trace (app / database )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logs corresponding to error codes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rea-</a:t>
                      </a:r>
                      <a:r>
                        <a:rPr lang="en-US" sz="1000" dirty="0" err="1"/>
                        <a:t>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6970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755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48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UC Collection Template Ex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899715"/>
              </p:ext>
            </p:extLst>
          </p:nvPr>
        </p:nvGraphicFramePr>
        <p:xfrm>
          <a:off x="207524" y="391240"/>
          <a:ext cx="8480975" cy="4621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 out the root cause of failure or slow processing jobs  XXX.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 Based – deliver logs pertaining to job execution time.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 details logs that is forwarded to cloud watch  | Jobs logs are available in individual instances that is running the jobs and populating the logs in /var/log/job/job.log ( rotating ) , u need to tail them and forward them to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&lt;time&gt; &lt;</a:t>
                      </a:r>
                      <a:r>
                        <a:rPr lang="en-US" sz="1000" dirty="0" err="1"/>
                        <a:t>JobId</a:t>
                      </a:r>
                      <a:r>
                        <a:rPr lang="en-US" sz="1000" dirty="0"/>
                        <a:t>&gt;, &lt;Step Name&gt; &lt; Task Name&gt; &lt;message&gt;&lt;status code&gt; &lt;severity&gt; &lt;Type&gt; &lt;</a:t>
                      </a:r>
                      <a:r>
                        <a:rPr lang="en-US" sz="1000" dirty="0" err="1"/>
                        <a:t>ReasonCode</a:t>
                      </a:r>
                      <a:r>
                        <a:rPr lang="en-US" sz="1000" dirty="0"/>
                        <a:t>&gt; &lt;</a:t>
                      </a:r>
                      <a:r>
                        <a:rPr lang="en-US" sz="1000" dirty="0" err="1"/>
                        <a:t>CompletionTime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Job , </a:t>
                      </a:r>
                      <a:r>
                        <a:rPr lang="en-US" sz="1000" dirty="0" err="1"/>
                        <a:t>Status_Code</a:t>
                      </a:r>
                      <a:r>
                        <a:rPr lang="en-US" sz="1000" dirty="0"/>
                        <a:t> =0 success , …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 ( Failed Jobs Today)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 Top 10 Time consuming jobs)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( Mostly failed jobs by category 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 ( Job Status Today)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(Weekly Performance Trend by job)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 Job Failure ,Completion Time &gt; 30 mins</a:t>
                      </a:r>
                    </a:p>
                    <a:p>
                      <a:r>
                        <a:rPr lang="en-US" sz="1000" dirty="0"/>
                        <a:t>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logs dashboard of Failed Jobs Today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failure by looking at the logs of that </a:t>
                      </a:r>
                      <a:r>
                        <a:rPr lang="en-US" sz="1000" dirty="0" err="1"/>
                        <a:t>job_id</a:t>
                      </a:r>
                      <a:r>
                        <a:rPr lang="en-US" sz="1000" dirty="0"/>
                        <a:t> and that days logs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</a:t>
                      </a:r>
                      <a:r>
                        <a:rPr lang="en-US" sz="1000" dirty="0" err="1"/>
                        <a:t>realtime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27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UC Collection Template Ex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5259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 out if any disk in any node is filled up more than 80% of its capacity.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filesystem and disk usage of  critical nodes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Nodes – Disk &amp; filesystem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(Filesystem monitoring of Nodes)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Disk / Filesystem usage &gt; 80% </a:t>
                      </a:r>
                    </a:p>
                    <a:p>
                      <a:r>
                        <a:rPr lang="en-US" sz="1000" dirty="0"/>
                        <a:t>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filesystem getting filled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8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Example Use Cases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8B397-C393-4C41-B8D5-573F94397019}"/>
              </a:ext>
            </a:extLst>
          </p:cNvPr>
          <p:cNvSpPr txBox="1"/>
          <p:nvPr/>
        </p:nvSpPr>
        <p:spPr>
          <a:xfrm>
            <a:off x="226940" y="386536"/>
            <a:ext cx="869012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Key Categories:</a:t>
            </a:r>
          </a:p>
          <a:p>
            <a:endParaRPr lang="en-US" sz="1000" dirty="0"/>
          </a:p>
          <a:p>
            <a:r>
              <a:rPr lang="en-US" sz="1000" b="1" dirty="0"/>
              <a:t>Nodes</a:t>
            </a:r>
            <a:r>
              <a:rPr lang="en-US" sz="1000" dirty="0"/>
              <a:t>—</a:t>
            </a:r>
          </a:p>
          <a:p>
            <a:r>
              <a:rPr lang="en-US" sz="1000" dirty="0"/>
              <a:t>	Resource Usage – CPU / Memory / Disks ,</a:t>
            </a:r>
            <a:r>
              <a:rPr lang="en-US" sz="1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File integrity monitoring</a:t>
            </a:r>
            <a:r>
              <a:rPr lang="en-US" sz="1000" dirty="0"/>
              <a:t>, </a:t>
            </a:r>
            <a:r>
              <a:rPr lang="en-US" sz="1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Anomaly and malware detection</a:t>
            </a:r>
            <a:r>
              <a:rPr lang="en-US" sz="1000" dirty="0"/>
              <a:t> , </a:t>
            </a:r>
            <a:r>
              <a:rPr 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 policy monitoring</a:t>
            </a:r>
            <a:r>
              <a:rPr lang="en-US" sz="1000" dirty="0"/>
              <a:t>, </a:t>
            </a:r>
          </a:p>
          <a:p>
            <a:r>
              <a:rPr lang="en-US" sz="1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	System </a:t>
            </a:r>
            <a:r>
              <a:rPr lang="en-US" sz="1000" dirty="0" err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inventory</a:t>
            </a:r>
            <a:r>
              <a:rPr lang="en-US" sz="1000" dirty="0" err="1"/>
              <a:t>,</a:t>
            </a:r>
            <a:r>
              <a:rPr lang="en-US" sz="1000" dirty="0" err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Vulnerability</a:t>
            </a:r>
            <a:r>
              <a:rPr lang="en-US" sz="1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detection</a:t>
            </a:r>
            <a:r>
              <a:rPr lang="en-US" sz="1000" dirty="0"/>
              <a:t>, Auditing who-data</a:t>
            </a:r>
          </a:p>
          <a:p>
            <a:endParaRPr lang="en-US" sz="1000" dirty="0"/>
          </a:p>
          <a:p>
            <a:r>
              <a:rPr lang="en-US" sz="1000" b="1" dirty="0"/>
              <a:t>Nodes Provisioning ---</a:t>
            </a:r>
          </a:p>
          <a:p>
            <a:r>
              <a:rPr lang="en-US" sz="1000" dirty="0"/>
              <a:t>	Run/ Start / Stop / Update SG / Allocate &amp; Associate EIP</a:t>
            </a:r>
          </a:p>
          <a:p>
            <a:endParaRPr lang="en-US" sz="1000" dirty="0"/>
          </a:p>
          <a:p>
            <a:r>
              <a:rPr lang="en-US" sz="1000" b="1" dirty="0"/>
              <a:t>IAM </a:t>
            </a:r>
          </a:p>
          <a:p>
            <a:r>
              <a:rPr lang="en-US" sz="1000" dirty="0"/>
              <a:t> 	User account provisioning / Login Failures / Possible break in attempt / many login success</a:t>
            </a:r>
          </a:p>
          <a:p>
            <a:endParaRPr lang="en-US" sz="1000" dirty="0"/>
          </a:p>
          <a:p>
            <a:r>
              <a:rPr lang="en-US" sz="1000" b="1" dirty="0"/>
              <a:t>Network / VPC </a:t>
            </a:r>
          </a:p>
          <a:p>
            <a:endParaRPr lang="en-US" sz="1000" dirty="0"/>
          </a:p>
          <a:p>
            <a:r>
              <a:rPr lang="en-US" sz="1000" dirty="0"/>
              <a:t>	Create attempt without permission / Spike in Traffic from specific IP </a:t>
            </a:r>
          </a:p>
          <a:p>
            <a:endParaRPr lang="en-US" sz="1000" dirty="0"/>
          </a:p>
          <a:p>
            <a:r>
              <a:rPr lang="en-US" sz="1000" b="1" dirty="0"/>
              <a:t>Applications &amp; Jobs </a:t>
            </a:r>
            <a:r>
              <a:rPr lang="en-US" sz="1000" dirty="0"/>
              <a:t>– </a:t>
            </a:r>
          </a:p>
          <a:p>
            <a:r>
              <a:rPr lang="en-US" sz="1000" dirty="0"/>
              <a:t>	Errors &amp; Latencies, Site Reliability ,  Unauthorized Access / Possible break in Attempts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b="1" dirty="0"/>
              <a:t>Data Protection &amp; DR –</a:t>
            </a:r>
          </a:p>
          <a:p>
            <a:r>
              <a:rPr lang="en-US" sz="1000" dirty="0"/>
              <a:t>	Snapshots failures / Backup Jobs Failure / DR Jobs failure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/>
          </a:p>
          <a:p>
            <a:endParaRPr lang="en-US" sz="1200" dirty="0"/>
          </a:p>
          <a:p>
            <a:r>
              <a:rPr lang="en-US" sz="1200" b="1" dirty="0"/>
              <a:t>Databases –</a:t>
            </a:r>
          </a:p>
          <a:p>
            <a:r>
              <a:rPr lang="en-US" sz="1200" dirty="0"/>
              <a:t>	Latencies / Performance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dirty="0"/>
          </a:p>
          <a:p>
            <a:endParaRPr lang="en-US" sz="1000" dirty="0"/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162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C478D541D6174AA77107583A259864" ma:contentTypeVersion="5" ma:contentTypeDescription="Create a new document." ma:contentTypeScope="" ma:versionID="04c426c126f1d652a80451d6c7a39631">
  <xsd:schema xmlns:xsd="http://www.w3.org/2001/XMLSchema" xmlns:xs="http://www.w3.org/2001/XMLSchema" xmlns:p="http://schemas.microsoft.com/office/2006/metadata/properties" xmlns:ns2="ff405f1e-6196-4298-8e35-fbecc950cb7b" targetNamespace="http://schemas.microsoft.com/office/2006/metadata/properties" ma:root="true" ma:fieldsID="5d5f1a118d86fb3adc1212189289db06" ns2:_="">
    <xsd:import namespace="ff405f1e-6196-4298-8e35-fbecc950c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05f1e-6196-4298-8e35-fbecc950c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95E724-A399-49FB-B49D-4F8382C5F2C1}"/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26513</TotalTime>
  <Words>1117</Words>
  <Application>Microsoft Office PowerPoint</Application>
  <PresentationFormat>On-screen Show (16:9)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321</cp:revision>
  <cp:lastPrinted>2016-12-06T22:14:27Z</cp:lastPrinted>
  <dcterms:created xsi:type="dcterms:W3CDTF">2014-11-12T22:29:05Z</dcterms:created>
  <dcterms:modified xsi:type="dcterms:W3CDTF">2020-04-09T12:42:17Z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0x01010057C478D541D6174AA77107583A259864</vt:lpwstr>
  </property>
  <property fmtid="{D5CDD505-2E9C-101B-9397-08002B2CF9AE}" pid="3" name="IsMyDocuments">
    <vt:bool>true</vt:bool>
  </property>
</Properties>
</file>