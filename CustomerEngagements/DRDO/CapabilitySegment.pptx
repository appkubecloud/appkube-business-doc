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38" r:id="rId6"/>
    <p:sldId id="339" r:id="rId7"/>
    <p:sldId id="336" r:id="rId8"/>
    <p:sldId id="398" r:id="rId9"/>
    <p:sldId id="399" r:id="rId10"/>
    <p:sldId id="400" r:id="rId11"/>
    <p:sldId id="401" r:id="rId12"/>
    <p:sldId id="402" r:id="rId13"/>
    <p:sldId id="403" r:id="rId14"/>
    <p:sldId id="404" r:id="rId15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33" y="64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12/1/2019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12/1/2019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253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Образ слайда 1">
            <a:extLst>
              <a:ext uri="{FF2B5EF4-FFF2-40B4-BE49-F238E27FC236}">
                <a16:creationId xmlns:a16="http://schemas.microsoft.com/office/drawing/2014/main" id="{8C103B6F-4FDD-4F1B-B1BD-880759F509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Заметки 2">
            <a:extLst>
              <a:ext uri="{FF2B5EF4-FFF2-40B4-BE49-F238E27FC236}">
                <a16:creationId xmlns:a16="http://schemas.microsoft.com/office/drawing/2014/main" id="{DEE7CA47-E531-4949-B74A-0328511D37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81924" name="Номер слайда 3">
            <a:extLst>
              <a:ext uri="{FF2B5EF4-FFF2-40B4-BE49-F238E27FC236}">
                <a16:creationId xmlns:a16="http://schemas.microsoft.com/office/drawing/2014/main" id="{A430C0BF-C2E9-4998-8C00-BC2628EA0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D09A60-5FC8-41BA-A389-1C7229118C41}" type="slidenum">
              <a:rPr lang="ru-RU" altLang="ru-RU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597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93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00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2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29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2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2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2942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88309" y="4829175"/>
            <a:ext cx="306495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675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9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  <p:sldLayoutId id="2147483702" r:id="rId3"/>
    <p:sldLayoutId id="2147483703" r:id="rId4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0B67D0-2E5A-4867-9463-40974D4487F0}"/>
              </a:ext>
            </a:extLst>
          </p:cNvPr>
          <p:cNvSpPr txBox="1"/>
          <p:nvPr/>
        </p:nvSpPr>
        <p:spPr>
          <a:xfrm>
            <a:off x="174171" y="4792570"/>
            <a:ext cx="871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information contained in this document and communicated to you by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confidential and proprietary to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(“confidential information”). The information and any pricing data submitted here is non-binding and for evaluation purposes only and is subject to adjustment or modification by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after its review, consideration, and negotiation of the terms and conditions of a definitive final contract. The data and information contained herein may not be reproduced, published or distributed to, or for, any third parties without the express prior written consent of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937ADE-C2B2-48A7-A183-902EA1975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860"/>
            <a:ext cx="9144000" cy="48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 flipH="1">
            <a:off x="0" y="288608"/>
            <a:ext cx="9151680" cy="4941896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5DC0647-5AE0-42D7-A690-91138BBF4419}"/>
              </a:ext>
            </a:extLst>
          </p:cNvPr>
          <p:cNvSpPr/>
          <p:nvPr/>
        </p:nvSpPr>
        <p:spPr>
          <a:xfrm>
            <a:off x="5735784" y="1199638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97AA4F-004B-43E7-9EC9-4B3D7CC58064}"/>
              </a:ext>
            </a:extLst>
          </p:cNvPr>
          <p:cNvSpPr/>
          <p:nvPr/>
        </p:nvSpPr>
        <p:spPr>
          <a:xfrm>
            <a:off x="3890184" y="1199638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8A833E-CC7E-4D11-A6C0-77F1D5F6E316}"/>
              </a:ext>
            </a:extLst>
          </p:cNvPr>
          <p:cNvSpPr/>
          <p:nvPr/>
        </p:nvSpPr>
        <p:spPr>
          <a:xfrm>
            <a:off x="2109095" y="1199639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78082D-06AE-4F9D-9575-2479D1F930C8}"/>
              </a:ext>
            </a:extLst>
          </p:cNvPr>
          <p:cNvSpPr/>
          <p:nvPr/>
        </p:nvSpPr>
        <p:spPr>
          <a:xfrm>
            <a:off x="327596" y="1199640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3388707" y="-77422"/>
            <a:ext cx="3999514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/>
            </a:pPr>
            <a:r>
              <a:rPr lang="en-US" sz="2000" dirty="0">
                <a:solidFill>
                  <a:schemeClr val="bg2"/>
                </a:solidFill>
                <a:latin typeface="Raleway ExtraBold" panose="020B0903030101060003" pitchFamily="34" charset="-52"/>
              </a:rPr>
              <a:t>Technology &amp; Culture Shift</a:t>
            </a:r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3FD941E4-D155-4FE7-9DEE-532DDEB6DDF7}"/>
              </a:ext>
            </a:extLst>
          </p:cNvPr>
          <p:cNvSpPr txBox="1">
            <a:spLocks/>
          </p:cNvSpPr>
          <p:nvPr/>
        </p:nvSpPr>
        <p:spPr>
          <a:xfrm>
            <a:off x="-38873" y="4398404"/>
            <a:ext cx="8336679" cy="5817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900"/>
              </a:spcBef>
              <a:buNone/>
              <a:defRPr/>
            </a:pPr>
            <a:r>
              <a:rPr lang="en-US" sz="1200" b="1" dirty="0">
                <a:latin typeface="Raleway" panose="020B0003030101060003" pitchFamily="34" charset="0"/>
              </a:rPr>
              <a:t> </a:t>
            </a:r>
            <a:r>
              <a:rPr lang="en-US" sz="1200" b="1" dirty="0">
                <a:solidFill>
                  <a:srgbClr val="E23936"/>
                </a:solidFill>
                <a:latin typeface="Montserrat" panose="02000505000000020004" pitchFamily="2" charset="0"/>
              </a:rPr>
              <a:t>85</a:t>
            </a:r>
            <a:r>
              <a:rPr lang="en-US" sz="1200" dirty="0">
                <a:solidFill>
                  <a:srgbClr val="E23936"/>
                </a:solidFill>
                <a:latin typeface="Montserrat" panose="02000505000000020004" pitchFamily="2" charset="0"/>
              </a:rPr>
              <a:t>%  </a:t>
            </a:r>
            <a:r>
              <a:rPr lang="en-US" sz="1050" dirty="0">
                <a:solidFill>
                  <a:schemeClr val="bg1"/>
                </a:solidFill>
                <a:latin typeface="Raleway Heavy" panose="020B0003030101060003" pitchFamily="34" charset="0"/>
              </a:rPr>
              <a:t>Multi Cloud (Hybrid) Adoption</a:t>
            </a:r>
            <a:endParaRPr lang="en-US" sz="1350" dirty="0">
              <a:solidFill>
                <a:schemeClr val="bg1"/>
              </a:solidFill>
              <a:latin typeface="Raleway Heavy" panose="020B0003030101060003" pitchFamily="34" charset="0"/>
            </a:endParaRPr>
          </a:p>
        </p:txBody>
      </p:sp>
      <p:sp>
        <p:nvSpPr>
          <p:cNvPr id="40" name="Подзаголовок 2">
            <a:extLst>
              <a:ext uri="{FF2B5EF4-FFF2-40B4-BE49-F238E27FC236}">
                <a16:creationId xmlns:a16="http://schemas.microsoft.com/office/drawing/2014/main" id="{E75A920C-7B0C-451D-BA8A-D76794D0F63B}"/>
              </a:ext>
            </a:extLst>
          </p:cNvPr>
          <p:cNvSpPr txBox="1">
            <a:spLocks/>
          </p:cNvSpPr>
          <p:nvPr/>
        </p:nvSpPr>
        <p:spPr>
          <a:xfrm>
            <a:off x="5315555" y="4347708"/>
            <a:ext cx="1751274" cy="3097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1200" b="1" dirty="0">
                <a:latin typeface="Raleway" panose="020B0003030101060003" pitchFamily="34" charset="0"/>
              </a:rPr>
              <a:t> </a:t>
            </a:r>
            <a:r>
              <a:rPr lang="en-US" sz="1200" b="1" dirty="0">
                <a:solidFill>
                  <a:srgbClr val="E23936"/>
                </a:solidFill>
                <a:latin typeface="Montserrat" panose="02000505000000020004" pitchFamily="2" charset="0"/>
              </a:rPr>
              <a:t>Most Important</a:t>
            </a:r>
            <a:r>
              <a:rPr lang="en-US" sz="1200" dirty="0">
                <a:solidFill>
                  <a:srgbClr val="E23936"/>
                </a:solidFill>
                <a:latin typeface="Montserrat" panose="02000505000000020004" pitchFamily="2" charset="0"/>
              </a:rPr>
              <a:t> </a:t>
            </a:r>
          </a:p>
        </p:txBody>
      </p:sp>
      <p:sp>
        <p:nvSpPr>
          <p:cNvPr id="44" name="Прямоугольник 6">
            <a:extLst>
              <a:ext uri="{FF2B5EF4-FFF2-40B4-BE49-F238E27FC236}">
                <a16:creationId xmlns:a16="http://schemas.microsoft.com/office/drawing/2014/main" id="{17405A8D-4C02-40E4-8130-7E1C45D6CE3E}"/>
              </a:ext>
            </a:extLst>
          </p:cNvPr>
          <p:cNvSpPr/>
          <p:nvPr/>
        </p:nvSpPr>
        <p:spPr>
          <a:xfrm>
            <a:off x="7553325" y="288605"/>
            <a:ext cx="1598355" cy="4941897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45" name="Овал 9">
            <a:extLst>
              <a:ext uri="{FF2B5EF4-FFF2-40B4-BE49-F238E27FC236}">
                <a16:creationId xmlns:a16="http://schemas.microsoft.com/office/drawing/2014/main" id="{7E82A426-3500-4B6A-9F0C-07D929C1508C}"/>
              </a:ext>
            </a:extLst>
          </p:cNvPr>
          <p:cNvSpPr/>
          <p:nvPr/>
        </p:nvSpPr>
        <p:spPr>
          <a:xfrm>
            <a:off x="7962320" y="299961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47" name="Овал 12">
            <a:extLst>
              <a:ext uri="{FF2B5EF4-FFF2-40B4-BE49-F238E27FC236}">
                <a16:creationId xmlns:a16="http://schemas.microsoft.com/office/drawing/2014/main" id="{A098D84F-DB02-4BE9-B0A9-833D20CA9192}"/>
              </a:ext>
            </a:extLst>
          </p:cNvPr>
          <p:cNvSpPr/>
          <p:nvPr/>
        </p:nvSpPr>
        <p:spPr>
          <a:xfrm>
            <a:off x="7968615" y="1387983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cxnSp>
        <p:nvCxnSpPr>
          <p:cNvPr id="49" name="Прямая соединительная линия 14">
            <a:extLst>
              <a:ext uri="{FF2B5EF4-FFF2-40B4-BE49-F238E27FC236}">
                <a16:creationId xmlns:a16="http://schemas.microsoft.com/office/drawing/2014/main" id="{FDE6574E-2A44-4D36-AED9-35E8DB66C59D}"/>
              </a:ext>
            </a:extLst>
          </p:cNvPr>
          <p:cNvCxnSpPr>
            <a:stCxn id="45" idx="4"/>
            <a:endCxn id="47" idx="0"/>
          </p:cNvCxnSpPr>
          <p:nvPr/>
        </p:nvCxnSpPr>
        <p:spPr>
          <a:xfrm>
            <a:off x="8355227" y="1086965"/>
            <a:ext cx="6295" cy="3010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19">
            <a:extLst>
              <a:ext uri="{FF2B5EF4-FFF2-40B4-BE49-F238E27FC236}">
                <a16:creationId xmlns:a16="http://schemas.microsoft.com/office/drawing/2014/main" id="{A904E8C3-E031-49D4-BBD8-404E12FE68C2}"/>
              </a:ext>
            </a:extLst>
          </p:cNvPr>
          <p:cNvCxnSpPr/>
          <p:nvPr/>
        </p:nvCxnSpPr>
        <p:spPr>
          <a:xfrm>
            <a:off x="8361521" y="2174987"/>
            <a:ext cx="0" cy="5798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13">
            <a:extLst>
              <a:ext uri="{FF2B5EF4-FFF2-40B4-BE49-F238E27FC236}">
                <a16:creationId xmlns:a16="http://schemas.microsoft.com/office/drawing/2014/main" id="{ADAC5496-954B-48E8-A219-D0B5CFDA074A}"/>
              </a:ext>
            </a:extLst>
          </p:cNvPr>
          <p:cNvSpPr/>
          <p:nvPr/>
        </p:nvSpPr>
        <p:spPr>
          <a:xfrm>
            <a:off x="7973187" y="4149280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cxnSp>
        <p:nvCxnSpPr>
          <p:cNvPr id="55" name="Прямая соединительная линия 19">
            <a:extLst>
              <a:ext uri="{FF2B5EF4-FFF2-40B4-BE49-F238E27FC236}">
                <a16:creationId xmlns:a16="http://schemas.microsoft.com/office/drawing/2014/main" id="{DD40DE5F-E395-42FA-B410-5532740C024D}"/>
              </a:ext>
            </a:extLst>
          </p:cNvPr>
          <p:cNvCxnSpPr/>
          <p:nvPr/>
        </p:nvCxnSpPr>
        <p:spPr>
          <a:xfrm>
            <a:off x="8356949" y="3569447"/>
            <a:ext cx="0" cy="5798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9">
            <a:extLst>
              <a:ext uri="{FF2B5EF4-FFF2-40B4-BE49-F238E27FC236}">
                <a16:creationId xmlns:a16="http://schemas.microsoft.com/office/drawing/2014/main" id="{F39334C9-6CF3-4D56-879A-9E084CA61D19}"/>
              </a:ext>
            </a:extLst>
          </p:cNvPr>
          <p:cNvSpPr/>
          <p:nvPr/>
        </p:nvSpPr>
        <p:spPr>
          <a:xfrm>
            <a:off x="7973187" y="2768917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pic>
        <p:nvPicPr>
          <p:cNvPr id="65" name="Picture Placeholder 61" descr="Eye">
            <a:extLst>
              <a:ext uri="{FF2B5EF4-FFF2-40B4-BE49-F238E27FC236}">
                <a16:creationId xmlns:a16="http://schemas.microsoft.com/office/drawing/2014/main" id="{2239B7E9-8F72-4F1E-861F-CA3563FD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8318" y="1352980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" name="Picture Placeholder 61" descr="Magnifying glass">
            <a:extLst>
              <a:ext uri="{FF2B5EF4-FFF2-40B4-BE49-F238E27FC236}">
                <a16:creationId xmlns:a16="http://schemas.microsoft.com/office/drawing/2014/main" id="{C3729F89-30E2-484B-854F-40C027B293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088" b="4088"/>
          <a:stretch>
            <a:fillRect/>
          </a:stretch>
        </p:blipFill>
        <p:spPr>
          <a:xfrm>
            <a:off x="8161306" y="312758"/>
            <a:ext cx="378619" cy="347663"/>
          </a:xfrm>
        </p:spPr>
      </p:pic>
      <p:sp>
        <p:nvSpPr>
          <p:cNvPr id="66" name="Подзаголовок 2">
            <a:extLst>
              <a:ext uri="{FF2B5EF4-FFF2-40B4-BE49-F238E27FC236}">
                <a16:creationId xmlns:a16="http://schemas.microsoft.com/office/drawing/2014/main" id="{D3F1A6F1-253A-45D7-AC4D-15EF0026621E}"/>
              </a:ext>
            </a:extLst>
          </p:cNvPr>
          <p:cNvSpPr txBox="1">
            <a:spLocks/>
          </p:cNvSpPr>
          <p:nvPr/>
        </p:nvSpPr>
        <p:spPr>
          <a:xfrm>
            <a:off x="7989134" y="555697"/>
            <a:ext cx="785813" cy="4615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Raleway Heavy" panose="020B0003030101060003" pitchFamily="34" charset="0"/>
              </a:rPr>
              <a:t>End Users Experience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67" name="Подзаголовок 2">
            <a:extLst>
              <a:ext uri="{FF2B5EF4-FFF2-40B4-BE49-F238E27FC236}">
                <a16:creationId xmlns:a16="http://schemas.microsoft.com/office/drawing/2014/main" id="{A24E0E0F-7E1C-47B0-B550-44137376CCAC}"/>
              </a:ext>
            </a:extLst>
          </p:cNvPr>
          <p:cNvSpPr txBox="1">
            <a:spLocks/>
          </p:cNvSpPr>
          <p:nvPr/>
        </p:nvSpPr>
        <p:spPr>
          <a:xfrm>
            <a:off x="7960057" y="1592391"/>
            <a:ext cx="799895" cy="45667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</a:rPr>
              <a:t>Security </a:t>
            </a: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  <a:cs typeface="Poppins" panose="02000000000000000000" pitchFamily="2" charset="0"/>
              </a:rPr>
              <a:t>Governance</a:t>
            </a:r>
            <a:endParaRPr lang="en-US" sz="675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pic>
        <p:nvPicPr>
          <p:cNvPr id="69" name="Picture Placeholder 61" descr="Download from cloud">
            <a:extLst>
              <a:ext uri="{FF2B5EF4-FFF2-40B4-BE49-F238E27FC236}">
                <a16:creationId xmlns:a16="http://schemas.microsoft.com/office/drawing/2014/main" id="{FA099C91-2459-48E0-B571-1C66B7AA9C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8192262" y="4161520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Placeholder 61" descr="Upward trend">
            <a:extLst>
              <a:ext uri="{FF2B5EF4-FFF2-40B4-BE49-F238E27FC236}">
                <a16:creationId xmlns:a16="http://schemas.microsoft.com/office/drawing/2014/main" id="{FC4AAC42-B2B7-42EC-8850-284B367B83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auto">
          <a:xfrm>
            <a:off x="8195816" y="2802326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Подзаголовок 2">
            <a:extLst>
              <a:ext uri="{FF2B5EF4-FFF2-40B4-BE49-F238E27FC236}">
                <a16:creationId xmlns:a16="http://schemas.microsoft.com/office/drawing/2014/main" id="{67F67335-DB9B-4517-BB30-F9996D23C68C}"/>
              </a:ext>
            </a:extLst>
          </p:cNvPr>
          <p:cNvSpPr txBox="1">
            <a:spLocks/>
          </p:cNvSpPr>
          <p:nvPr/>
        </p:nvSpPr>
        <p:spPr>
          <a:xfrm>
            <a:off x="7929778" y="3024617"/>
            <a:ext cx="901493" cy="4615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Raleway Heavy" panose="020B0003030101060003" pitchFamily="34" charset="0"/>
              </a:rPr>
              <a:t>Consumption Based Price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73" name="Подзаголовок 2">
            <a:extLst>
              <a:ext uri="{FF2B5EF4-FFF2-40B4-BE49-F238E27FC236}">
                <a16:creationId xmlns:a16="http://schemas.microsoft.com/office/drawing/2014/main" id="{C5D7F7F7-44A9-44A7-8267-79CDD5457980}"/>
              </a:ext>
            </a:extLst>
          </p:cNvPr>
          <p:cNvSpPr txBox="1">
            <a:spLocks/>
          </p:cNvSpPr>
          <p:nvPr/>
        </p:nvSpPr>
        <p:spPr>
          <a:xfrm>
            <a:off x="7976281" y="4451166"/>
            <a:ext cx="799895" cy="4615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</a:rPr>
              <a:t>Agility</a:t>
            </a:r>
            <a:r>
              <a:rPr lang="en-US" sz="675" b="1" dirty="0">
                <a:solidFill>
                  <a:schemeClr val="bg1"/>
                </a:solidFill>
                <a:latin typeface="Poppins" panose="02000000000000000000" pitchFamily="2" charset="0"/>
              </a:rPr>
              <a:t>  </a:t>
            </a:r>
            <a:r>
              <a:rPr lang="en-US" sz="900" b="1" dirty="0">
                <a:solidFill>
                  <a:schemeClr val="bg1"/>
                </a:solidFill>
                <a:latin typeface="Poppins" panose="02000000000000000000" pitchFamily="2" charset="0"/>
              </a:rPr>
              <a:t>Flexibility</a:t>
            </a:r>
            <a:endParaRPr lang="en-US" sz="900" b="1" dirty="0">
              <a:solidFill>
                <a:schemeClr val="bg1"/>
              </a:solidFill>
              <a:latin typeface="Raleway Heavy" panose="020B00030301010600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D17CC1-EDD2-4F97-978D-57451E948EDD}"/>
              </a:ext>
            </a:extLst>
          </p:cNvPr>
          <p:cNvGrpSpPr/>
          <p:nvPr/>
        </p:nvGrpSpPr>
        <p:grpSpPr>
          <a:xfrm>
            <a:off x="262844" y="1199641"/>
            <a:ext cx="1505602" cy="3035846"/>
            <a:chOff x="463002" y="1472908"/>
            <a:chExt cx="2061984" cy="4157715"/>
          </a:xfrm>
        </p:grpSpPr>
        <p:pic>
          <p:nvPicPr>
            <p:cNvPr id="3" name="Picture 2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A5646295-BA8B-418F-B0CB-792814817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297" y="2097248"/>
              <a:ext cx="1023351" cy="717390"/>
            </a:xfrm>
            <a:prstGeom prst="rect">
              <a:avLst/>
            </a:prstGeom>
          </p:spPr>
        </p:pic>
        <p:sp>
          <p:nvSpPr>
            <p:cNvPr id="36" name="Подзаголовок 2">
              <a:extLst>
                <a:ext uri="{FF2B5EF4-FFF2-40B4-BE49-F238E27FC236}">
                  <a16:creationId xmlns:a16="http://schemas.microsoft.com/office/drawing/2014/main" id="{CF1113EA-EC2A-43CB-A594-9324364999D8}"/>
                </a:ext>
              </a:extLst>
            </p:cNvPr>
            <p:cNvSpPr txBox="1">
              <a:spLocks/>
            </p:cNvSpPr>
            <p:nvPr/>
          </p:nvSpPr>
          <p:spPr>
            <a:xfrm>
              <a:off x="504098" y="147290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Development Process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52" name="Подзаголовок 2">
              <a:extLst>
                <a:ext uri="{FF2B5EF4-FFF2-40B4-BE49-F238E27FC236}">
                  <a16:creationId xmlns:a16="http://schemas.microsoft.com/office/drawing/2014/main" id="{805E1675-6236-46F0-85AC-A03753A3FBCC}"/>
                </a:ext>
              </a:extLst>
            </p:cNvPr>
            <p:cNvSpPr txBox="1">
              <a:spLocks/>
            </p:cNvSpPr>
            <p:nvPr/>
          </p:nvSpPr>
          <p:spPr>
            <a:xfrm>
              <a:off x="504098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Waterfall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3D5533A-D3C6-44A1-841D-4CA7A5D6A9F4}"/>
                </a:ext>
              </a:extLst>
            </p:cNvPr>
            <p:cNvGrpSpPr/>
            <p:nvPr/>
          </p:nvGrpSpPr>
          <p:grpSpPr>
            <a:xfrm>
              <a:off x="1009080" y="2340330"/>
              <a:ext cx="947784" cy="829001"/>
              <a:chOff x="497302" y="2148618"/>
              <a:chExt cx="1200884" cy="1050381"/>
            </a:xfrm>
          </p:grpSpPr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6EB2DEA4-CDF7-432D-B047-E776906EA8A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E2D1562B-DD6D-4E20-9FFE-3DE76AFA540F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pic>
          <p:nvPicPr>
            <p:cNvPr id="18" name="Picture 17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B0DAC4FA-91A4-4713-89E9-74637AB14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193" y="3342585"/>
              <a:ext cx="1215557" cy="432198"/>
            </a:xfrm>
            <a:prstGeom prst="rect">
              <a:avLst/>
            </a:prstGeom>
          </p:spPr>
        </p:pic>
        <p:sp>
          <p:nvSpPr>
            <p:cNvPr id="58" name="Подзаголовок 2">
              <a:extLst>
                <a:ext uri="{FF2B5EF4-FFF2-40B4-BE49-F238E27FC236}">
                  <a16:creationId xmlns:a16="http://schemas.microsoft.com/office/drawing/2014/main" id="{058EE3DF-DBEA-430A-A1F4-D29E8388EE10}"/>
                </a:ext>
              </a:extLst>
            </p:cNvPr>
            <p:cNvSpPr txBox="1">
              <a:spLocks/>
            </p:cNvSpPr>
            <p:nvPr/>
          </p:nvSpPr>
          <p:spPr>
            <a:xfrm>
              <a:off x="472527" y="3853840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Agile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985EA21-7DC3-43BE-8879-E291B228829D}"/>
                </a:ext>
              </a:extLst>
            </p:cNvPr>
            <p:cNvGrpSpPr/>
            <p:nvPr/>
          </p:nvGrpSpPr>
          <p:grpSpPr>
            <a:xfrm>
              <a:off x="1009080" y="3731479"/>
              <a:ext cx="947784" cy="829001"/>
              <a:chOff x="497302" y="2148618"/>
              <a:chExt cx="1200884" cy="1050381"/>
            </a:xfrm>
          </p:grpSpPr>
          <p:sp>
            <p:nvSpPr>
              <p:cNvPr id="60" name="Arc 59">
                <a:extLst>
                  <a:ext uri="{FF2B5EF4-FFF2-40B4-BE49-F238E27FC236}">
                    <a16:creationId xmlns:a16="http://schemas.microsoft.com/office/drawing/2014/main" id="{C8BF18EF-A5B6-47FF-B253-F80586482B28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40F9B4BD-1B45-47A9-9546-7D35C61DF7C0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63" name="Подзаголовок 2">
              <a:extLst>
                <a:ext uri="{FF2B5EF4-FFF2-40B4-BE49-F238E27FC236}">
                  <a16:creationId xmlns:a16="http://schemas.microsoft.com/office/drawing/2014/main" id="{C7AE8D7B-312B-43E2-99F4-AA19AB48EC86}"/>
                </a:ext>
              </a:extLst>
            </p:cNvPr>
            <p:cNvSpPr txBox="1">
              <a:spLocks/>
            </p:cNvSpPr>
            <p:nvPr/>
          </p:nvSpPr>
          <p:spPr>
            <a:xfrm>
              <a:off x="463002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DevOps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60C854B-D91C-47D8-8846-80FC237D3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500" y="4870903"/>
              <a:ext cx="1620942" cy="7597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F59456-C41B-47CF-9095-EA4057899B68}"/>
              </a:ext>
            </a:extLst>
          </p:cNvPr>
          <p:cNvGrpSpPr/>
          <p:nvPr/>
        </p:nvGrpSpPr>
        <p:grpSpPr>
          <a:xfrm>
            <a:off x="1978942" y="1199641"/>
            <a:ext cx="1600094" cy="3118724"/>
            <a:chOff x="2469773" y="1472908"/>
            <a:chExt cx="2191395" cy="4271219"/>
          </a:xfrm>
        </p:grpSpPr>
        <p:sp>
          <p:nvSpPr>
            <p:cNvPr id="68" name="Подзаголовок 2">
              <a:extLst>
                <a:ext uri="{FF2B5EF4-FFF2-40B4-BE49-F238E27FC236}">
                  <a16:creationId xmlns:a16="http://schemas.microsoft.com/office/drawing/2014/main" id="{D845DD46-1BC9-4C15-8C76-FDC8580123E8}"/>
                </a:ext>
              </a:extLst>
            </p:cNvPr>
            <p:cNvSpPr txBox="1">
              <a:spLocks/>
            </p:cNvSpPr>
            <p:nvPr/>
          </p:nvSpPr>
          <p:spPr>
            <a:xfrm>
              <a:off x="2640280" y="147290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Application Architecture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72" name="Подзаголовок 2">
              <a:extLst>
                <a:ext uri="{FF2B5EF4-FFF2-40B4-BE49-F238E27FC236}">
                  <a16:creationId xmlns:a16="http://schemas.microsoft.com/office/drawing/2014/main" id="{5479AEE5-C88B-4729-A184-924692F00CC3}"/>
                </a:ext>
              </a:extLst>
            </p:cNvPr>
            <p:cNvSpPr txBox="1">
              <a:spLocks/>
            </p:cNvSpPr>
            <p:nvPr/>
          </p:nvSpPr>
          <p:spPr>
            <a:xfrm>
              <a:off x="2640280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Monolithic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179E232-2D87-4B4A-8262-1BD7E63E5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491" y="2067383"/>
              <a:ext cx="1418159" cy="831335"/>
            </a:xfrm>
            <a:prstGeom prst="rect">
              <a:avLst/>
            </a:prstGeom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9D3D568-86E2-4FAC-B49C-B794FD34E198}"/>
                </a:ext>
              </a:extLst>
            </p:cNvPr>
            <p:cNvGrpSpPr/>
            <p:nvPr/>
          </p:nvGrpSpPr>
          <p:grpSpPr>
            <a:xfrm>
              <a:off x="3069558" y="2335969"/>
              <a:ext cx="947784" cy="829001"/>
              <a:chOff x="497302" y="2148618"/>
              <a:chExt cx="1200884" cy="1050381"/>
            </a:xfrm>
          </p:grpSpPr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19E971E2-50DE-41EE-958B-DA0D3AC3BABF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8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2458A68A-E6C6-4D89-A6D1-F59A0C9F4A09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108DD4C-4433-4F17-931E-FC72D8F2D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007" y="3162012"/>
              <a:ext cx="1857378" cy="789386"/>
            </a:xfrm>
            <a:prstGeom prst="rect">
              <a:avLst/>
            </a:prstGeom>
          </p:spPr>
        </p:pic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8B887BD-3466-4C43-BF66-30B02BAD00DE}"/>
                </a:ext>
              </a:extLst>
            </p:cNvPr>
            <p:cNvGrpSpPr/>
            <p:nvPr/>
          </p:nvGrpSpPr>
          <p:grpSpPr>
            <a:xfrm>
              <a:off x="3086678" y="3645865"/>
              <a:ext cx="947784" cy="829001"/>
              <a:chOff x="497302" y="2148618"/>
              <a:chExt cx="1200884" cy="1050381"/>
            </a:xfrm>
          </p:grpSpPr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1FBB62C1-5F43-4020-814B-25C2B1D351B6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8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FBB7F0ED-D1AA-47E4-A15B-5FA4C76C421D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80" name="Подзаголовок 2">
              <a:extLst>
                <a:ext uri="{FF2B5EF4-FFF2-40B4-BE49-F238E27FC236}">
                  <a16:creationId xmlns:a16="http://schemas.microsoft.com/office/drawing/2014/main" id="{61BE811C-E1BE-469E-B026-16D8536F83BB}"/>
                </a:ext>
              </a:extLst>
            </p:cNvPr>
            <p:cNvSpPr txBox="1">
              <a:spLocks/>
            </p:cNvSpPr>
            <p:nvPr/>
          </p:nvSpPr>
          <p:spPr>
            <a:xfrm>
              <a:off x="2481872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Microservices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E130041-9530-4F7C-8C72-C112BC1E7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2739" y="4826256"/>
              <a:ext cx="796486" cy="917871"/>
            </a:xfrm>
            <a:prstGeom prst="rect">
              <a:avLst/>
            </a:prstGeom>
          </p:spPr>
        </p:pic>
        <p:sp>
          <p:nvSpPr>
            <p:cNvPr id="81" name="Подзаголовок 2">
              <a:extLst>
                <a:ext uri="{FF2B5EF4-FFF2-40B4-BE49-F238E27FC236}">
                  <a16:creationId xmlns:a16="http://schemas.microsoft.com/office/drawing/2014/main" id="{8FA95E6A-CC79-4AA4-9F99-9DCDA402B954}"/>
                </a:ext>
              </a:extLst>
            </p:cNvPr>
            <p:cNvSpPr txBox="1">
              <a:spLocks/>
            </p:cNvSpPr>
            <p:nvPr/>
          </p:nvSpPr>
          <p:spPr>
            <a:xfrm>
              <a:off x="2469773" y="3845820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N-Tier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84F0B3-95A7-44B3-A310-BCF564A03D13}"/>
              </a:ext>
            </a:extLst>
          </p:cNvPr>
          <p:cNvGrpSpPr/>
          <p:nvPr/>
        </p:nvGrpSpPr>
        <p:grpSpPr>
          <a:xfrm>
            <a:off x="3830421" y="1199640"/>
            <a:ext cx="1518096" cy="3088071"/>
            <a:chOff x="4868071" y="1472908"/>
            <a:chExt cx="2079095" cy="4229239"/>
          </a:xfrm>
        </p:grpSpPr>
        <p:sp>
          <p:nvSpPr>
            <p:cNvPr id="82" name="Подзаголовок 2">
              <a:extLst>
                <a:ext uri="{FF2B5EF4-FFF2-40B4-BE49-F238E27FC236}">
                  <a16:creationId xmlns:a16="http://schemas.microsoft.com/office/drawing/2014/main" id="{6F91774F-641F-4B5D-B0DA-01D763987128}"/>
                </a:ext>
              </a:extLst>
            </p:cNvPr>
            <p:cNvSpPr txBox="1">
              <a:spLocks/>
            </p:cNvSpPr>
            <p:nvPr/>
          </p:nvSpPr>
          <p:spPr>
            <a:xfrm>
              <a:off x="4894197" y="1472908"/>
              <a:ext cx="2020888" cy="374474"/>
            </a:xfrm>
            <a:prstGeom prst="rect">
              <a:avLst/>
            </a:prstGeom>
          </p:spPr>
          <p:txBody>
            <a:bodyPr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Deployment and Packaging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4C402D9-4AF8-412F-9CD7-1447DC6AC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4679" y="2107482"/>
              <a:ext cx="1752672" cy="599734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E16E132-7C7B-406E-B9A2-9F63B292E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403" y="3209916"/>
              <a:ext cx="1752672" cy="770970"/>
            </a:xfrm>
            <a:prstGeom prst="rect">
              <a:avLst/>
            </a:prstGeom>
          </p:spPr>
        </p:pic>
        <p:sp>
          <p:nvSpPr>
            <p:cNvPr id="86" name="Подзаголовок 2">
              <a:extLst>
                <a:ext uri="{FF2B5EF4-FFF2-40B4-BE49-F238E27FC236}">
                  <a16:creationId xmlns:a16="http://schemas.microsoft.com/office/drawing/2014/main" id="{0622A496-1E2D-4318-AEAF-A706AF58CD79}"/>
                </a:ext>
              </a:extLst>
            </p:cNvPr>
            <p:cNvSpPr txBox="1">
              <a:spLocks/>
            </p:cNvSpPr>
            <p:nvPr/>
          </p:nvSpPr>
          <p:spPr>
            <a:xfrm>
              <a:off x="4926278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Physical Servers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2BED136-30DD-4E02-9211-4768CDCE8B04}"/>
                </a:ext>
              </a:extLst>
            </p:cNvPr>
            <p:cNvGrpSpPr/>
            <p:nvPr/>
          </p:nvGrpSpPr>
          <p:grpSpPr>
            <a:xfrm>
              <a:off x="5403685" y="2335969"/>
              <a:ext cx="947784" cy="829001"/>
              <a:chOff x="497302" y="2148618"/>
              <a:chExt cx="1200884" cy="1050381"/>
            </a:xfrm>
          </p:grpSpPr>
          <p:sp>
            <p:nvSpPr>
              <p:cNvPr id="88" name="Arc 87">
                <a:extLst>
                  <a:ext uri="{FF2B5EF4-FFF2-40B4-BE49-F238E27FC236}">
                    <a16:creationId xmlns:a16="http://schemas.microsoft.com/office/drawing/2014/main" id="{A3FAC137-1926-41C2-B473-A50778D5A575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616FBE4C-FC8E-419B-821E-2D39DED929AC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EEA7EC7-187E-47CC-BE6A-2C05E62A6760}"/>
                </a:ext>
              </a:extLst>
            </p:cNvPr>
            <p:cNvGrpSpPr/>
            <p:nvPr/>
          </p:nvGrpSpPr>
          <p:grpSpPr>
            <a:xfrm>
              <a:off x="5430749" y="3677949"/>
              <a:ext cx="947784" cy="829001"/>
              <a:chOff x="497302" y="2148618"/>
              <a:chExt cx="1200884" cy="1050381"/>
            </a:xfrm>
          </p:grpSpPr>
          <p:sp>
            <p:nvSpPr>
              <p:cNvPr id="91" name="Arc 90">
                <a:extLst>
                  <a:ext uri="{FF2B5EF4-FFF2-40B4-BE49-F238E27FC236}">
                    <a16:creationId xmlns:a16="http://schemas.microsoft.com/office/drawing/2014/main" id="{AD558199-1790-4E44-9631-2956BFB5F8F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E08346F1-7E18-4809-B431-4B12A290643F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sp>
          <p:nvSpPr>
            <p:cNvPr id="93" name="Подзаголовок 2">
              <a:extLst>
                <a:ext uri="{FF2B5EF4-FFF2-40B4-BE49-F238E27FC236}">
                  <a16:creationId xmlns:a16="http://schemas.microsoft.com/office/drawing/2014/main" id="{6AE5CEF7-75AA-4C9C-93A8-FC8A84F847A3}"/>
                </a:ext>
              </a:extLst>
            </p:cNvPr>
            <p:cNvSpPr txBox="1">
              <a:spLocks/>
            </p:cNvSpPr>
            <p:nvPr/>
          </p:nvSpPr>
          <p:spPr>
            <a:xfrm>
              <a:off x="4868071" y="390196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Virtual Servers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94" name="Подзаголовок 2">
              <a:extLst>
                <a:ext uri="{FF2B5EF4-FFF2-40B4-BE49-F238E27FC236}">
                  <a16:creationId xmlns:a16="http://schemas.microsoft.com/office/drawing/2014/main" id="{351B03DD-FDCA-4679-B83B-ED0EC1154368}"/>
                </a:ext>
              </a:extLst>
            </p:cNvPr>
            <p:cNvSpPr txBox="1">
              <a:spLocks/>
            </p:cNvSpPr>
            <p:nvPr/>
          </p:nvSpPr>
          <p:spPr>
            <a:xfrm>
              <a:off x="4896209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Containers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95" name="Picture 94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10DF9367-65D0-40F3-B290-CED4844D8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7621" y="4872069"/>
              <a:ext cx="903517" cy="83007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C18166-E2C5-4B2A-A8E1-08BF544229DE}"/>
              </a:ext>
            </a:extLst>
          </p:cNvPr>
          <p:cNvGrpSpPr/>
          <p:nvPr/>
        </p:nvGrpSpPr>
        <p:grpSpPr>
          <a:xfrm>
            <a:off x="5658202" y="1199640"/>
            <a:ext cx="1532693" cy="3014636"/>
            <a:chOff x="7037830" y="1472908"/>
            <a:chExt cx="2099084" cy="4128666"/>
          </a:xfrm>
        </p:grpSpPr>
        <p:sp>
          <p:nvSpPr>
            <p:cNvPr id="97" name="Подзаголовок 2">
              <a:extLst>
                <a:ext uri="{FF2B5EF4-FFF2-40B4-BE49-F238E27FC236}">
                  <a16:creationId xmlns:a16="http://schemas.microsoft.com/office/drawing/2014/main" id="{395D2D3F-DB7C-4041-A796-CF896E5D5AC7}"/>
                </a:ext>
              </a:extLst>
            </p:cNvPr>
            <p:cNvSpPr txBox="1">
              <a:spLocks/>
            </p:cNvSpPr>
            <p:nvPr/>
          </p:nvSpPr>
          <p:spPr>
            <a:xfrm>
              <a:off x="7116026" y="1472908"/>
              <a:ext cx="2020888" cy="374474"/>
            </a:xfrm>
            <a:prstGeom prst="rect">
              <a:avLst/>
            </a:prstGeom>
          </p:spPr>
          <p:txBody>
            <a:bodyPr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Application Infrastructure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98" name="Подзаголовок 2">
              <a:extLst>
                <a:ext uri="{FF2B5EF4-FFF2-40B4-BE49-F238E27FC236}">
                  <a16:creationId xmlns:a16="http://schemas.microsoft.com/office/drawing/2014/main" id="{3AB91F43-B680-42BC-8747-D68E963F4526}"/>
                </a:ext>
              </a:extLst>
            </p:cNvPr>
            <p:cNvSpPr txBox="1">
              <a:spLocks/>
            </p:cNvSpPr>
            <p:nvPr/>
          </p:nvSpPr>
          <p:spPr>
            <a:xfrm>
              <a:off x="7067896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Datacenter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92AB6FE5-88D9-4A18-ABE1-F2C3CDB9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7282" y="2131499"/>
              <a:ext cx="1082116" cy="790528"/>
            </a:xfrm>
            <a:prstGeom prst="rect">
              <a:avLst/>
            </a:prstGeom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114443D-1769-45ED-856E-23BA60F41108}"/>
                </a:ext>
              </a:extLst>
            </p:cNvPr>
            <p:cNvGrpSpPr/>
            <p:nvPr/>
          </p:nvGrpSpPr>
          <p:grpSpPr>
            <a:xfrm>
              <a:off x="7609475" y="2335969"/>
              <a:ext cx="947784" cy="829001"/>
              <a:chOff x="497302" y="2148618"/>
              <a:chExt cx="1200884" cy="1050381"/>
            </a:xfrm>
          </p:grpSpPr>
          <p:sp>
            <p:nvSpPr>
              <p:cNvPr id="102" name="Arc 101">
                <a:extLst>
                  <a:ext uri="{FF2B5EF4-FFF2-40B4-BE49-F238E27FC236}">
                    <a16:creationId xmlns:a16="http://schemas.microsoft.com/office/drawing/2014/main" id="{EE7D7FCF-AA1D-429F-9E03-F5CF38160D2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2AC2B80D-7DAB-402E-842F-F2C6717B1938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CD81523A-2BF2-446F-9052-63DEFBBCA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311" y="3211803"/>
              <a:ext cx="1102831" cy="764798"/>
            </a:xfrm>
            <a:prstGeom prst="rect">
              <a:avLst/>
            </a:prstGeom>
          </p:spPr>
        </p:pic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96CA128-7905-4452-BC6A-B89990863BDF}"/>
                </a:ext>
              </a:extLst>
            </p:cNvPr>
            <p:cNvGrpSpPr/>
            <p:nvPr/>
          </p:nvGrpSpPr>
          <p:grpSpPr>
            <a:xfrm>
              <a:off x="7633539" y="3677949"/>
              <a:ext cx="947784" cy="829001"/>
              <a:chOff x="497302" y="2148618"/>
              <a:chExt cx="1200884" cy="1050381"/>
            </a:xfrm>
          </p:grpSpPr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E61A2026-7B15-4BE3-ADF0-A3503E4A63F6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83F2250C-9823-420C-BE43-2A590E3D53A3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sp>
          <p:nvSpPr>
            <p:cNvPr id="109" name="Подзаголовок 2">
              <a:extLst>
                <a:ext uri="{FF2B5EF4-FFF2-40B4-BE49-F238E27FC236}">
                  <a16:creationId xmlns:a16="http://schemas.microsoft.com/office/drawing/2014/main" id="{75FA4661-8DD8-40AA-A6B8-E05927E8C40C}"/>
                </a:ext>
              </a:extLst>
            </p:cNvPr>
            <p:cNvSpPr txBox="1">
              <a:spLocks/>
            </p:cNvSpPr>
            <p:nvPr/>
          </p:nvSpPr>
          <p:spPr>
            <a:xfrm>
              <a:off x="7057819" y="390196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Hosted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10" name="Подзаголовок 2">
              <a:extLst>
                <a:ext uri="{FF2B5EF4-FFF2-40B4-BE49-F238E27FC236}">
                  <a16:creationId xmlns:a16="http://schemas.microsoft.com/office/drawing/2014/main" id="{3E78F33D-D4CD-4D77-8CF6-3E93A37CDC8A}"/>
                </a:ext>
              </a:extLst>
            </p:cNvPr>
            <p:cNvSpPr txBox="1">
              <a:spLocks/>
            </p:cNvSpPr>
            <p:nvPr/>
          </p:nvSpPr>
          <p:spPr>
            <a:xfrm>
              <a:off x="7037830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Cloud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EF1A24DE-B984-49EB-8E8F-D6B96B25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0750" y="5018361"/>
              <a:ext cx="1422839" cy="583213"/>
            </a:xfrm>
            <a:prstGeom prst="rect">
              <a:avLst/>
            </a:prstGeom>
          </p:spPr>
        </p:pic>
      </p:grp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C1A91CE7-1217-406D-A307-BD501274BEA3}"/>
              </a:ext>
            </a:extLst>
          </p:cNvPr>
          <p:cNvSpPr/>
          <p:nvPr/>
        </p:nvSpPr>
        <p:spPr>
          <a:xfrm>
            <a:off x="6888606" y="4401171"/>
            <a:ext cx="598085" cy="141611"/>
          </a:xfrm>
          <a:prstGeom prst="rightArrow">
            <a:avLst/>
          </a:prstGeom>
          <a:solidFill>
            <a:srgbClr val="E23936"/>
          </a:solidFill>
          <a:ln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7CECFD-97E1-490C-A42D-7C1651979F26}"/>
              </a:ext>
            </a:extLst>
          </p:cNvPr>
          <p:cNvSpPr/>
          <p:nvPr/>
        </p:nvSpPr>
        <p:spPr>
          <a:xfrm>
            <a:off x="607830" y="812406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431D3C-E582-4487-B3D1-8A04B1C2F170}"/>
              </a:ext>
            </a:extLst>
          </p:cNvPr>
          <p:cNvCxnSpPr>
            <a:cxnSpLocks/>
          </p:cNvCxnSpPr>
          <p:nvPr/>
        </p:nvCxnSpPr>
        <p:spPr>
          <a:xfrm>
            <a:off x="1025723" y="947936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C75F93F-FCBF-400A-99E6-769FCE5880F4}"/>
              </a:ext>
            </a:extLst>
          </p:cNvPr>
          <p:cNvSpPr/>
          <p:nvPr/>
        </p:nvSpPr>
        <p:spPr>
          <a:xfrm>
            <a:off x="2399638" y="810862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77B87A2-2E1D-4FB9-985C-F25C9C1F9341}"/>
              </a:ext>
            </a:extLst>
          </p:cNvPr>
          <p:cNvCxnSpPr>
            <a:cxnSpLocks/>
          </p:cNvCxnSpPr>
          <p:nvPr/>
        </p:nvCxnSpPr>
        <p:spPr>
          <a:xfrm>
            <a:off x="2817531" y="946393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E84E739-7999-4E07-92B6-BBF1AACD7FF7}"/>
              </a:ext>
            </a:extLst>
          </p:cNvPr>
          <p:cNvSpPr/>
          <p:nvPr/>
        </p:nvSpPr>
        <p:spPr>
          <a:xfrm>
            <a:off x="4170344" y="809319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2036F89-87E6-4F4A-A871-5E4ED839B05B}"/>
              </a:ext>
            </a:extLst>
          </p:cNvPr>
          <p:cNvCxnSpPr>
            <a:cxnSpLocks/>
          </p:cNvCxnSpPr>
          <p:nvPr/>
        </p:nvCxnSpPr>
        <p:spPr>
          <a:xfrm>
            <a:off x="4588237" y="944849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9D10143-37C3-4422-9C09-9694CFD637D3}"/>
              </a:ext>
            </a:extLst>
          </p:cNvPr>
          <p:cNvSpPr/>
          <p:nvPr/>
        </p:nvSpPr>
        <p:spPr>
          <a:xfrm>
            <a:off x="6025457" y="807775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BA777D8-2BEA-4D27-9800-5D31A6D29424}"/>
              </a:ext>
            </a:extLst>
          </p:cNvPr>
          <p:cNvCxnSpPr>
            <a:cxnSpLocks/>
          </p:cNvCxnSpPr>
          <p:nvPr/>
        </p:nvCxnSpPr>
        <p:spPr>
          <a:xfrm>
            <a:off x="6443351" y="943306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2101B0-12D3-4279-8404-1E2B247D751E}"/>
              </a:ext>
            </a:extLst>
          </p:cNvPr>
          <p:cNvCxnSpPr>
            <a:cxnSpLocks/>
          </p:cNvCxnSpPr>
          <p:nvPr/>
        </p:nvCxnSpPr>
        <p:spPr>
          <a:xfrm flipV="1">
            <a:off x="1433064" y="880657"/>
            <a:ext cx="956023" cy="1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D13237C-C93C-4E7F-8019-687CAD1DBA41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3235423" y="880658"/>
            <a:ext cx="924473" cy="91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448C895-B831-4DD5-B040-64A5D14507AA}"/>
              </a:ext>
            </a:extLst>
          </p:cNvPr>
          <p:cNvCxnSpPr>
            <a:cxnSpLocks/>
            <a:endCxn id="119" idx="1"/>
          </p:cNvCxnSpPr>
          <p:nvPr/>
        </p:nvCxnSpPr>
        <p:spPr>
          <a:xfrm flipV="1">
            <a:off x="5016577" y="877571"/>
            <a:ext cx="1008881" cy="12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8FD7-0157-4EA6-9020-7FF298451CCB}"/>
              </a:ext>
            </a:extLst>
          </p:cNvPr>
          <p:cNvSpPr txBox="1"/>
          <p:nvPr/>
        </p:nvSpPr>
        <p:spPr>
          <a:xfrm>
            <a:off x="22074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777794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9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9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4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9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4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9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4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9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9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4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8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2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45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95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35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35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275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1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39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425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465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465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5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4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8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8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96" grpId="0" animBg="1"/>
      <p:bldP spid="85" grpId="0" animBg="1"/>
      <p:bldP spid="14" grpId="0" animBg="1"/>
      <p:bldP spid="6" grpId="0"/>
      <p:bldP spid="31" grpId="0"/>
      <p:bldP spid="40" grpId="0"/>
      <p:bldP spid="44" grpId="0" animBg="1"/>
      <p:bldP spid="45" grpId="0" animBg="1"/>
      <p:bldP spid="47" grpId="0" animBg="1"/>
      <p:bldP spid="54" grpId="0" animBg="1"/>
      <p:bldP spid="56" grpId="0" animBg="1"/>
      <p:bldP spid="66" grpId="0"/>
      <p:bldP spid="67" grpId="0"/>
      <p:bldP spid="71" grpId="0"/>
      <p:bldP spid="73" grpId="0"/>
      <p:bldP spid="115" grpId="0" animBg="1"/>
      <p:bldP spid="15" grpId="0" animBg="1"/>
      <p:bldP spid="105" grpId="0" animBg="1"/>
      <p:bldP spid="114" grpId="0" animBg="1"/>
      <p:bldP spid="1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C3165-26EE-4549-AB9D-D0789862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838" y="-118165"/>
            <a:ext cx="33074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Expertise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5594A-D9AC-44BF-8812-3D69BDFD9ADB}"/>
              </a:ext>
            </a:extLst>
          </p:cNvPr>
          <p:cNvSpPr txBox="1"/>
          <p:nvPr/>
        </p:nvSpPr>
        <p:spPr>
          <a:xfrm>
            <a:off x="2458365" y="268959"/>
            <a:ext cx="52092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Raleway ExtraBold" panose="020B0903030101060003" pitchFamily="34" charset="-52"/>
                <a:ea typeface="Cardo" panose="02020600000000000000" pitchFamily="18" charset="-79"/>
                <a:cs typeface="Cardo" panose="02020600000000000000" pitchFamily="18" charset="-79"/>
              </a:rPr>
              <a:t>DELIVERING PURPOSE-BUILT SOLUTIONS BASED ON OPEN PRODUCTS  AND FRAMEWORK</a:t>
            </a:r>
            <a:endParaRPr lang="ru-RU" sz="900" dirty="0">
              <a:solidFill>
                <a:schemeClr val="bg1">
                  <a:lumMod val="65000"/>
                </a:schemeClr>
              </a:solidFill>
              <a:latin typeface="Raleway ExtraBold" panose="020B0903030101060003" pitchFamily="34" charset="-52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887D0B2E-3B64-4E16-B85A-514F9014105B}"/>
              </a:ext>
            </a:extLst>
          </p:cNvPr>
          <p:cNvSpPr/>
          <p:nvPr/>
        </p:nvSpPr>
        <p:spPr>
          <a:xfrm>
            <a:off x="3673957" y="823738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3B99AAC2-EB1E-4F21-83E0-3FF985D1BE61}"/>
              </a:ext>
            </a:extLst>
          </p:cNvPr>
          <p:cNvSpPr/>
          <p:nvPr/>
        </p:nvSpPr>
        <p:spPr>
          <a:xfrm>
            <a:off x="4877054" y="2867593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9B0455CC-5FF6-4B9E-B4B4-B35C18228031}"/>
              </a:ext>
            </a:extLst>
          </p:cNvPr>
          <p:cNvSpPr/>
          <p:nvPr/>
        </p:nvSpPr>
        <p:spPr>
          <a:xfrm>
            <a:off x="2426182" y="1495730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3373C805-2D83-47E7-ADFC-C3A1F8532794}"/>
              </a:ext>
            </a:extLst>
          </p:cNvPr>
          <p:cNvSpPr/>
          <p:nvPr/>
        </p:nvSpPr>
        <p:spPr>
          <a:xfrm>
            <a:off x="4920541" y="1495730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2E2C555-3B67-4DC3-B2A5-751120C1A284}"/>
              </a:ext>
            </a:extLst>
          </p:cNvPr>
          <p:cNvSpPr txBox="1">
            <a:spLocks/>
          </p:cNvSpPr>
          <p:nvPr/>
        </p:nvSpPr>
        <p:spPr>
          <a:xfrm>
            <a:off x="203596" y="2235312"/>
            <a:ext cx="2254769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06/ RAD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Rapidly build App Blocks based business application in predictable and deterministic way.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ACBF5E28-B13E-4485-8403-905C9E02ACCB}"/>
              </a:ext>
            </a:extLst>
          </p:cNvPr>
          <p:cNvSpPr txBox="1">
            <a:spLocks/>
          </p:cNvSpPr>
          <p:nvPr/>
        </p:nvSpPr>
        <p:spPr>
          <a:xfrm>
            <a:off x="6086121" y="787266"/>
            <a:ext cx="2437502" cy="98515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12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02/ DevOps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Empowering Organization to adopt DevOps culture with through specialized  people, tools and training.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0DBCAC98-B977-4BCD-B767-43CCA0D94AA9}"/>
              </a:ext>
            </a:extLst>
          </p:cNvPr>
          <p:cNvSpPr txBox="1">
            <a:spLocks/>
          </p:cNvSpPr>
          <p:nvPr/>
        </p:nvSpPr>
        <p:spPr>
          <a:xfrm>
            <a:off x="1587833" y="589188"/>
            <a:ext cx="1998253" cy="8358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01/ Microservices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Modernizing traditional application and legacy infrastructure. 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3831FCED-B4AB-4606-95E9-0741D9065DBF}"/>
              </a:ext>
            </a:extLst>
          </p:cNvPr>
          <p:cNvSpPr txBox="1">
            <a:spLocks/>
          </p:cNvSpPr>
          <p:nvPr/>
        </p:nvSpPr>
        <p:spPr>
          <a:xfrm>
            <a:off x="6316164" y="2260290"/>
            <a:ext cx="2254769" cy="106882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03/ Cloud 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Accelerating cloud adoption and software defined transformation through open tools and frameworks.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773BA7-B50F-482E-B753-ACB2E05E40C0}"/>
              </a:ext>
            </a:extLst>
          </p:cNvPr>
          <p:cNvSpPr/>
          <p:nvPr/>
        </p:nvSpPr>
        <p:spPr>
          <a:xfrm>
            <a:off x="4507394" y="2235312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3FA4C9-59C2-4536-AB36-6440FD82F1E2}"/>
              </a:ext>
            </a:extLst>
          </p:cNvPr>
          <p:cNvSpPr/>
          <p:nvPr/>
        </p:nvSpPr>
        <p:spPr>
          <a:xfrm>
            <a:off x="5742072" y="2938971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42A6BDF-0D8F-430F-81C2-5D5C947586CD}"/>
              </a:ext>
            </a:extLst>
          </p:cNvPr>
          <p:cNvSpPr/>
          <p:nvPr/>
        </p:nvSpPr>
        <p:spPr>
          <a:xfrm>
            <a:off x="4507394" y="3643821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A6D81CB-FCE6-42C4-89F7-C097A10692C5}"/>
              </a:ext>
            </a:extLst>
          </p:cNvPr>
          <p:cNvSpPr/>
          <p:nvPr/>
        </p:nvSpPr>
        <p:spPr>
          <a:xfrm>
            <a:off x="3225091" y="2934208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sz="1350" dirty="0">
              <a:solidFill>
                <a:schemeClr val="bg1"/>
              </a:solidFill>
            </a:endParaRPr>
          </a:p>
        </p:txBody>
      </p:sp>
      <p:pic>
        <p:nvPicPr>
          <p:cNvPr id="22" name="Graphic 21" descr="Pencil">
            <a:extLst>
              <a:ext uri="{FF2B5EF4-FFF2-40B4-BE49-F238E27FC236}">
                <a16:creationId xmlns:a16="http://schemas.microsoft.com/office/drawing/2014/main" id="{89637E59-A175-4967-B189-68C0BCC07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5259" y="1137852"/>
            <a:ext cx="560488" cy="560488"/>
          </a:xfrm>
          <a:prstGeom prst="rect">
            <a:avLst/>
          </a:prstGeom>
        </p:spPr>
      </p:pic>
      <p:pic>
        <p:nvPicPr>
          <p:cNvPr id="24" name="Graphic 23" descr="Flask">
            <a:extLst>
              <a:ext uri="{FF2B5EF4-FFF2-40B4-BE49-F238E27FC236}">
                <a16:creationId xmlns:a16="http://schemas.microsoft.com/office/drawing/2014/main" id="{81BB8F24-703E-4109-A222-9F72F739CB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1779" y="1762703"/>
            <a:ext cx="685800" cy="6858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2A5F9F8-7A77-4C09-9AD7-8292EE5F2743}"/>
              </a:ext>
            </a:extLst>
          </p:cNvPr>
          <p:cNvGrpSpPr/>
          <p:nvPr/>
        </p:nvGrpSpPr>
        <p:grpSpPr>
          <a:xfrm>
            <a:off x="5153236" y="3154861"/>
            <a:ext cx="807206" cy="721910"/>
            <a:chOff x="5209337" y="4321955"/>
            <a:chExt cx="1076274" cy="962547"/>
          </a:xfrm>
        </p:grpSpPr>
        <p:pic>
          <p:nvPicPr>
            <p:cNvPr id="28" name="Graphic 27" descr="Single gear">
              <a:extLst>
                <a:ext uri="{FF2B5EF4-FFF2-40B4-BE49-F238E27FC236}">
                  <a16:creationId xmlns:a16="http://schemas.microsoft.com/office/drawing/2014/main" id="{5321CE9A-8026-4542-8FD7-27E16BB1F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09337" y="4604012"/>
              <a:ext cx="666840" cy="666840"/>
            </a:xfrm>
            <a:prstGeom prst="rect">
              <a:avLst/>
            </a:prstGeom>
          </p:spPr>
        </p:pic>
        <p:pic>
          <p:nvPicPr>
            <p:cNvPr id="29" name="Graphic 28" descr="Single gear">
              <a:extLst>
                <a:ext uri="{FF2B5EF4-FFF2-40B4-BE49-F238E27FC236}">
                  <a16:creationId xmlns:a16="http://schemas.microsoft.com/office/drawing/2014/main" id="{2414E50B-A15D-4CA0-99D6-D9407EE81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16579" y="4715470"/>
              <a:ext cx="569032" cy="569032"/>
            </a:xfrm>
            <a:prstGeom prst="rect">
              <a:avLst/>
            </a:prstGeom>
          </p:spPr>
        </p:pic>
        <p:pic>
          <p:nvPicPr>
            <p:cNvPr id="30" name="Graphic 29" descr="Single gear">
              <a:extLst>
                <a:ext uri="{FF2B5EF4-FFF2-40B4-BE49-F238E27FC236}">
                  <a16:creationId xmlns:a16="http://schemas.microsoft.com/office/drawing/2014/main" id="{90AB137F-5B9B-4086-A5B2-4254207E8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82372" y="4321955"/>
              <a:ext cx="569032" cy="569032"/>
            </a:xfrm>
            <a:prstGeom prst="rect">
              <a:avLst/>
            </a:prstGeom>
          </p:spPr>
        </p:pic>
      </p:grpSp>
      <p:pic>
        <p:nvPicPr>
          <p:cNvPr id="35" name="Graphic 34" descr="Dump truck">
            <a:extLst>
              <a:ext uri="{FF2B5EF4-FFF2-40B4-BE49-F238E27FC236}">
                <a16:creationId xmlns:a16="http://schemas.microsoft.com/office/drawing/2014/main" id="{756A0C28-5E64-4039-9279-3C0452122B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2810310" y="1802316"/>
            <a:ext cx="685800" cy="685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456F12B-3698-4C3A-B84F-1B10713F6709}"/>
              </a:ext>
            </a:extLst>
          </p:cNvPr>
          <p:cNvSpPr txBox="1"/>
          <p:nvPr/>
        </p:nvSpPr>
        <p:spPr>
          <a:xfrm>
            <a:off x="12483" y="4958834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26" name="Шестиугольник 3">
            <a:extLst>
              <a:ext uri="{FF2B5EF4-FFF2-40B4-BE49-F238E27FC236}">
                <a16:creationId xmlns:a16="http://schemas.microsoft.com/office/drawing/2014/main" id="{B8A28354-0ECA-409C-A7E2-7664341C1924}"/>
              </a:ext>
            </a:extLst>
          </p:cNvPr>
          <p:cNvSpPr/>
          <p:nvPr/>
        </p:nvSpPr>
        <p:spPr>
          <a:xfrm>
            <a:off x="2458365" y="2804150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27" name="Шестиугольник 6">
            <a:extLst>
              <a:ext uri="{FF2B5EF4-FFF2-40B4-BE49-F238E27FC236}">
                <a16:creationId xmlns:a16="http://schemas.microsoft.com/office/drawing/2014/main" id="{479191D0-CF4D-4196-8A8F-75415A42C5AB}"/>
              </a:ext>
            </a:extLst>
          </p:cNvPr>
          <p:cNvSpPr/>
          <p:nvPr/>
        </p:nvSpPr>
        <p:spPr>
          <a:xfrm>
            <a:off x="3645905" y="3476974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ECB11675-D7D8-43D0-8B28-A303B6DDC51C}"/>
              </a:ext>
            </a:extLst>
          </p:cNvPr>
          <p:cNvSpPr txBox="1">
            <a:spLocks/>
          </p:cNvSpPr>
          <p:nvPr/>
        </p:nvSpPr>
        <p:spPr>
          <a:xfrm>
            <a:off x="6266043" y="3808852"/>
            <a:ext cx="2355010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04/ Monitoring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Develop purpose-built monitoring solutions based on proven open frameworks.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33" name="Подзаголовок 2">
            <a:extLst>
              <a:ext uri="{FF2B5EF4-FFF2-40B4-BE49-F238E27FC236}">
                <a16:creationId xmlns:a16="http://schemas.microsoft.com/office/drawing/2014/main" id="{07E58E05-02C4-46DA-8BEB-26B2F7B17434}"/>
              </a:ext>
            </a:extLst>
          </p:cNvPr>
          <p:cNvSpPr txBox="1">
            <a:spLocks/>
          </p:cNvSpPr>
          <p:nvPr/>
        </p:nvSpPr>
        <p:spPr>
          <a:xfrm>
            <a:off x="135572" y="3953422"/>
            <a:ext cx="2647570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05/ Analytics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Develop purpose-built Fast Data and Big Data solutions based on proven open frameworks.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595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4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8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2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6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6" grpId="0" animBg="1"/>
      <p:bldP spid="27" grpId="0" animBg="1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46B49F-B85F-4533-B237-B45D869CA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8017"/>
            <a:ext cx="6789906" cy="4402674"/>
          </a:xfrm>
          <a:prstGeom prst="rect">
            <a:avLst/>
          </a:prstGeom>
        </p:spPr>
      </p:pic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27963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Activities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Refactor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DevOps Workflow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Delivery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Monitoring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Security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 Compliance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Operation Automation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Large Transformation Experience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Existing Codebase reduce  50% time &amp; Effort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Minimal Code change Approach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E2E complete cycle delivery (refactor , DevOps Workflow, Automation)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Availability of Specialized resource Pool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974" y="-8516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Microservices Xformation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1796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All Apps have common services , why not build and maintain those fundamental blocks in Rock Solid way and develop different business Apps based on those services' API.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Develop strong Business specific blocks in unified way.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Increase developer productivity by having a unified dev process that is predictive &amp; deterministic.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Answer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Reusable cloud agnostic App Blocks reducing refactoring effort @50%.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complete microservice driven standard example  App to empower customer  engineering team build microservices delivery practices rapidly.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App Blocks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85E3A4-ADAC-4C6A-8811-275CBC21B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741"/>
            <a:ext cx="6789905" cy="481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3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4455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culture with less Roles , much E2E responsibilities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Innovate / Deliver  Fast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High Speed Feedback and Superfast Delivery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Lower Capex, Opex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Experience in addressing Technology &amp; Cultural Changes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Accelerate DevOps adoption with Open Platform &amp; Skilled resources.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Assess DevOps maturity  and address Gaps.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DevOps Xformation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43911-7E97-41EA-A387-19E37B615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14"/>
            <a:ext cx="6789905" cy="44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39504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Reduce provisioning effort required to establish organization wise secure cloud adoption journey , like provisioning management and security backplane for multiple apps, create sperate application enclaves to deploy application services , developing DevOps workflows and having compliance and monitoring platform to manage through single pane.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Answer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Automated  software defined provisioning to accelerate cloud adoption in secure way.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Tools to manage multiple products and associated service through single control plane.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Standardized continuous delivery, continuous compliance, continuous automation artifacts.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562" y="-41277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DevOps Tooling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AD464F-AFD7-41D3-AFA8-4D7DEFC3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28015"/>
            <a:ext cx="6789905" cy="44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8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73025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instead of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Monitoring Platform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4A1BE-1A38-46DC-BA36-11C52B581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16"/>
            <a:ext cx="6789905" cy="443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2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F29CD-9B9C-4288-BD3F-A8AFFC02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770"/>
            <a:ext cx="9144000" cy="451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Analytic Platform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F6732-B666-488B-9BAE-C87AD3795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" y="428016"/>
            <a:ext cx="6675605" cy="442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312808"/>
            <a:ext cx="2354094" cy="474570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2" y="258842"/>
            <a:ext cx="2470830" cy="474283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Right Technology / People / Process to implement Hybrid IT strategy that scale across clouds and offers maximum security ,innovation speed at optimal economies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Experience Team with proven track record of CloudOps delivery enabled with DevSecOps Capabilities.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Our open Product Driven Delivery Model allows customers to quickly build, deliver and orchestrate cross cloud services @50% time &amp; cost.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 our existing automation capabilities to automate infrastructure , operations, security in hybrid IT environment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Our every engagement focused on empowerment – not dependency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Cloud Automation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30DFC3-89A1-42B0-8E4F-CA4B56D54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12029"/>
            <a:ext cx="6789906" cy="44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8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06C5BC0-2CF3-45CD-B097-C8BA84AE05B5}"/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10126</TotalTime>
  <Words>898</Words>
  <Application>Microsoft Office PowerPoint</Application>
  <PresentationFormat>On-screen Show (16:9)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Calibri Light</vt:lpstr>
      <vt:lpstr>Helvetica</vt:lpstr>
      <vt:lpstr>Montserrat</vt:lpstr>
      <vt:lpstr>Montserrat SemiBold</vt:lpstr>
      <vt:lpstr>Poppins</vt:lpstr>
      <vt:lpstr>Raleway</vt:lpstr>
      <vt:lpstr>Raleway ExtraBold</vt:lpstr>
      <vt:lpstr>Raleway Heavy</vt:lpstr>
      <vt:lpstr>Raleway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258</cp:revision>
  <cp:lastPrinted>2016-12-06T22:14:27Z</cp:lastPrinted>
  <dcterms:created xsi:type="dcterms:W3CDTF">2014-11-12T22:29:05Z</dcterms:created>
  <dcterms:modified xsi:type="dcterms:W3CDTF">2019-11-30T19:04:04Z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