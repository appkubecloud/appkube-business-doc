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402" r:id="rId5"/>
    <p:sldId id="403" r:id="rId6"/>
    <p:sldId id="404" r:id="rId7"/>
    <p:sldId id="405" r:id="rId8"/>
    <p:sldId id="406" r:id="rId9"/>
    <p:sldId id="407" r:id="rId10"/>
    <p:sldId id="408" r:id="rId11"/>
    <p:sldId id="409" r:id="rId12"/>
    <p:sldId id="410" r:id="rId13"/>
    <p:sldId id="411" r:id="rId14"/>
    <p:sldId id="412" r:id="rId15"/>
  </p:sldIdLst>
  <p:sldSz cx="9144000" cy="5143500" type="screen16x9"/>
  <p:notesSz cx="9601200" cy="7315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355">
          <p15:clr>
            <a:srgbClr val="A4A3A4"/>
          </p15:clr>
        </p15:guide>
        <p15:guide id="3" orient="horz" pos="1212" userDrawn="1">
          <p15:clr>
            <a:srgbClr val="A4A3A4"/>
          </p15:clr>
        </p15:guide>
        <p15:guide id="4" orient="horz" pos="948" userDrawn="1">
          <p15:clr>
            <a:srgbClr val="A4A3A4"/>
          </p15:clr>
        </p15:guide>
        <p15:guide id="5" orient="horz" pos="2964" userDrawn="1">
          <p15:clr>
            <a:srgbClr val="A4A3A4"/>
          </p15:clr>
        </p15:guide>
        <p15:guide id="6" orient="horz" pos="516" userDrawn="1">
          <p15:clr>
            <a:srgbClr val="A4A3A4"/>
          </p15:clr>
        </p15:guide>
        <p15:guide id="7" orient="horz" pos="1190">
          <p15:clr>
            <a:srgbClr val="A4A3A4"/>
          </p15:clr>
        </p15:guide>
        <p15:guide id="8" orient="horz" pos="750">
          <p15:clr>
            <a:srgbClr val="A4A3A4"/>
          </p15:clr>
        </p15:guide>
        <p15:guide id="9" orient="horz" pos="2916">
          <p15:clr>
            <a:srgbClr val="A4A3A4"/>
          </p15:clr>
        </p15:guide>
        <p15:guide id="10" pos="145">
          <p15:clr>
            <a:srgbClr val="A4A3A4"/>
          </p15:clr>
        </p15:guide>
        <p15:guide id="11" pos="5617">
          <p15:clr>
            <a:srgbClr val="A4A3A4"/>
          </p15:clr>
        </p15:guide>
        <p15:guide id="12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2304">
          <p15:clr>
            <a:srgbClr val="A4A3A4"/>
          </p15:clr>
        </p15:guide>
        <p15:guide id="4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rban Banerjee" initials="AB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D0DA"/>
    <a:srgbClr val="34B2E4"/>
    <a:srgbClr val="E23936"/>
    <a:srgbClr val="FE912A"/>
    <a:srgbClr val="E34856"/>
    <a:srgbClr val="8B103E"/>
    <a:srgbClr val="065381"/>
    <a:srgbClr val="FCC601"/>
    <a:srgbClr val="DD382B"/>
    <a:srgbClr val="DA2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33" y="64"/>
      </p:cViewPr>
      <p:guideLst>
        <p:guide orient="horz" pos="708"/>
        <p:guide pos="355"/>
        <p:guide orient="horz" pos="1212"/>
        <p:guide orient="horz" pos="948"/>
        <p:guide orient="horz" pos="2964"/>
        <p:guide orient="horz" pos="516"/>
        <p:guide orient="horz" pos="1190"/>
        <p:guide orient="horz" pos="750"/>
        <p:guide orient="horz" pos="2916"/>
        <p:guide pos="145"/>
        <p:guide pos="5617"/>
        <p:guide pos="288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1B9E88C5-C104-1D4D-887E-00A617007132}" type="datetimeFigureOut">
              <a:rPr lang="en-US" smtClean="0"/>
              <a:pPr/>
              <a:t>5/8/2020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AE1561C0-4582-414D-9482-B90AA17E59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67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0F237061-72E3-FC45-B1DA-EE364FA20673}" type="datetimeFigureOut">
              <a:rPr lang="en-US" smtClean="0"/>
              <a:pPr/>
              <a:t>5/8/2020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8" tIns="48325" rIns="96648" bIns="4832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1" y="3474720"/>
            <a:ext cx="7680960" cy="3291840"/>
          </a:xfrm>
          <a:prstGeom prst="rect">
            <a:avLst/>
          </a:prstGeom>
        </p:spPr>
        <p:txBody>
          <a:bodyPr vert="horz" lIns="96648" tIns="48325" rIns="96648" bIns="483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11D4D097-0016-D44A-A908-ADB1EED4D5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5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69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12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441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67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437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8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674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8025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1280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607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528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4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aseline="0"/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4D82F6D6-BD64-564F-BDB4-3E98167DF08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Date Placeholder 3"/>
          <p:cNvSpPr txBox="1">
            <a:spLocks/>
          </p:cNvSpPr>
          <p:nvPr userDrawn="1"/>
        </p:nvSpPr>
        <p:spPr>
          <a:xfrm>
            <a:off x="230188" y="4860192"/>
            <a:ext cx="43434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00" kern="1200" cap="small" baseline="0">
                <a:solidFill>
                  <a:schemeClr val="tx1">
                    <a:tint val="75000"/>
                  </a:schemeClr>
                </a:solidFill>
                <a:effectLst/>
                <a:latin typeface="Arial"/>
                <a:ea typeface="+mn-ea"/>
                <a:cs typeface="+mn-cs"/>
              </a:rPr>
              <a:t>© 2019 SYNECTIKS. all rights reserved. proprietary and confidential.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C45070-596F-4EA7-B9EA-0907061F19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6028" y="55630"/>
            <a:ext cx="1176798" cy="1400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885949"/>
            <a:ext cx="9144000" cy="2743201"/>
          </a:xfr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baseline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704716" y="4879337"/>
            <a:ext cx="218782" cy="15903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8A01B8-B8FC-4B6F-80F1-7D9899A5F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6028" y="55630"/>
            <a:ext cx="1176798" cy="14003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188" y="1200150"/>
            <a:ext cx="8686800" cy="3429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0"/>
            <a:ext cx="3429000" cy="228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701" r:id="rId2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2400" kern="1200" baseline="0">
          <a:solidFill>
            <a:srgbClr val="DA291C"/>
          </a:solidFill>
          <a:latin typeface="Arial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75000"/>
        <a:buFontTx/>
        <a:buNone/>
        <a:defRPr sz="1200" kern="1200">
          <a:solidFill>
            <a:schemeClr val="tx1"/>
          </a:solidFill>
          <a:latin typeface="Arial"/>
          <a:ea typeface="+mn-ea"/>
          <a:cs typeface="+mn-cs"/>
        </a:defRPr>
      </a:lvl1pPr>
      <a:lvl2pPr marL="233363" indent="-233363" algn="l" defTabSz="457200" rtl="0" eaLnBrk="1" latinLnBrk="0" hangingPunct="1">
        <a:spcBef>
          <a:spcPct val="20000"/>
        </a:spcBef>
        <a:buClr>
          <a:srgbClr val="DA291C"/>
        </a:buClr>
        <a:buSzPct val="80000"/>
        <a:buFont typeface="Wingdings" panose="05000000000000000000" pitchFamily="2" charset="2"/>
        <a:buChar char="u"/>
        <a:defRPr sz="1200" kern="1200">
          <a:solidFill>
            <a:schemeClr val="tx1"/>
          </a:solidFill>
          <a:latin typeface="Arial"/>
          <a:ea typeface="+mn-ea"/>
          <a:cs typeface="+mn-cs"/>
        </a:defRPr>
      </a:lvl2pPr>
      <a:lvl3pPr marL="461963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Arial"/>
          <a:ea typeface="+mn-ea"/>
          <a:cs typeface="+mn-cs"/>
        </a:defRPr>
      </a:lvl3pPr>
      <a:lvl4pPr marL="685800" indent="-228600" algn="l" defTabSz="457200" rtl="0" eaLnBrk="1" latinLnBrk="0" hangingPunct="1">
        <a:spcBef>
          <a:spcPct val="20000"/>
        </a:spcBef>
        <a:buClr>
          <a:srgbClr val="919D9D"/>
        </a:buClr>
        <a:buFont typeface="Arial" panose="020B0604020202020204" pitchFamily="34" charset="0"/>
        <a:buChar char="■"/>
        <a:defRPr sz="1200" kern="1200">
          <a:solidFill>
            <a:schemeClr val="tx1"/>
          </a:solidFill>
          <a:latin typeface="Arial"/>
          <a:ea typeface="+mn-ea"/>
          <a:cs typeface="+mn-cs"/>
        </a:defRPr>
      </a:lvl4pPr>
      <a:lvl5pPr marL="909638" indent="-219075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358405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Every business monitoring requirement is unique, customers need a highly flexible platform so that they can build highly customizable purpose-built solutions at speed and lower economies.</a:t>
            </a: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monitoring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Build any custom solutions using proven framework.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Buy capabilities  , not any propitiatory closed product.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team able to collect and deliver business monitoring requirement at speed.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387" y="-91650"/>
            <a:ext cx="52367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Platform Architecture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E78722-7090-4D4A-9869-9F1F401C0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14" y="370015"/>
            <a:ext cx="8274995" cy="455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9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6304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Cloud native Fast-Data &amp; Big-Data  platform that serves as single source of truth for real -time , olap , relational data catering any data source (unstructured ,  semi- structured un-structured) .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analytics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framework to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1) Automate Data Management &amp; Query optimization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2)Integrated Policy based alert &amp; remediation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3)NLP &amp; Deep Learning Enabled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-- Resource pool trained to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Management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Governance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Smart Analytics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endParaRPr lang="en-US" sz="1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915" y="-91650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Intent 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D13BF3-6E00-4E3C-892E-7DFAA4A7591D}"/>
              </a:ext>
            </a:extLst>
          </p:cNvPr>
          <p:cNvSpPr txBox="1"/>
          <p:nvPr/>
        </p:nvSpPr>
        <p:spPr>
          <a:xfrm>
            <a:off x="155643" y="525294"/>
            <a:ext cx="8819744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Agent Less </a:t>
            </a: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Scrap existing Cloud Native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Easy to scale out – avoid full text indexing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Do more ad-hoc analysis in browser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Integrate tools like Jaeger for Better RCA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Kubernetes &amp; Container Ecosystem Friendly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Good for both microservices &amp; monolith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987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6304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Cloud native Fast-Data &amp; Big-Data  platform that serves as single source of truth for real -time , olap , relational data catering any data source (unstructured ,  semi- structured un-structured) .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analytics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framework to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1) Automate Data Management &amp; Query optimization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2)Integrated Policy based alert &amp; remediation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3)NLP &amp; Deep Learning Enabled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-- Resource pool trained to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Management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Governance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Smart Analytics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endParaRPr lang="en-US" sz="1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915" y="-91650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RCA Dashboard for App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ACB94B-A498-442F-8F43-2CA295779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0015"/>
            <a:ext cx="9144000" cy="4461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188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6304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Cloud native Fast-Data &amp; Big-Data  platform that serves as single source of truth for real -time , olap , relational data catering any data source (unstructured ,  semi- structured un-structured) .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analytics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framework to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1) Automate Data Management &amp; Query optimization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2)Integrated Policy based alert &amp; remediation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3)NLP &amp; Deep Learning Enabled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-- Resource pool trained to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Management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Governance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Smart Analytics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endParaRPr lang="en-US" sz="1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915" y="-91650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Debug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5641E4-A8F4-4D42-B952-A69528D74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0015"/>
            <a:ext cx="9143999" cy="440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606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6304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Cloud native Fast-Data &amp; Big-Data  platform that serves as single source of truth for real -time , olap , relational data catering any data source (unstructured ,  semi- structured un-structured) .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analytics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framework to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1) Automate Data Management &amp; Query optimization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2)Integrated Policy based alert &amp; remediation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3)NLP &amp; Deep Learning Enabled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-- Resource pool trained to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Management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Governance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Smart Analytics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endParaRPr lang="en-US" sz="1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915" y="-91650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Explore more on DB 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EB3034-BFD5-4ADC-97E0-9C5F2CB45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0015"/>
            <a:ext cx="9144000" cy="456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659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6304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Cloud native Fast-Data &amp; Big-Data  platform that serves as single source of truth for real -time , olap , relational data catering any data source (unstructured ,  semi- structured un-structured) .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analytics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framework to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1) Automate Data Management &amp; Query optimization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2)Integrated Policy based alert &amp; remediation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3)NLP &amp; Deep Learning Enabled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-- Resource pool trained to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Management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Governance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Smart Analytics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endParaRPr lang="en-US" sz="1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120651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Explore for Query/Instance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30BB0D-B8ED-4CE1-87EE-0A68FFEF2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0016"/>
            <a:ext cx="9144000" cy="440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018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6304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Cloud native Fast-Data &amp; Big-Data  platform that serves as single source of truth for real -time , olap , relational data catering any data source (unstructured ,  semi- structured un-structured) .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analytics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framework to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1) Automate Data Management &amp; Query optimization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2)Integrated Policy based alert &amp; remediation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3)NLP &amp; Deep Learning Enabled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-- Resource pool trained to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Management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Governance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Smart Analytics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endParaRPr lang="en-US" sz="1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120651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Further Breakdown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54F48E-79A5-45CA-91E7-A1B2CA546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5554"/>
            <a:ext cx="9144000" cy="451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026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6304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Cloud native Fast-Data &amp; Big-Data  platform that serves as single source of truth for real -time , olap , relational data catering any data source (unstructured ,  semi- structured un-structured) .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analytics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framework to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1) Automate Data Management &amp; Query optimization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2)Integrated Policy based alert &amp; remediation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3)NLP &amp; Deep Learning Enabled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-- Resource pool trained to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Management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Governance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Smart Analytics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endParaRPr lang="en-US" sz="1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120651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Further Breakdown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0B443D-AD21-4C3F-AB6F-EBE620709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1468"/>
            <a:ext cx="9144000" cy="450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04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6304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Cloud native Fast-Data &amp; Big-Data  platform that serves as single source of truth for real -time , olap , relational data catering any data source (unstructured ,  semi- structured un-structured) .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analytics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framework to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1) Automate Data Management &amp; Query optimization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2)Integrated Policy based alert &amp; remediation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3)NLP &amp; Deep Learning Enabled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-- Resource pool trained to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Management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Governance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Smart Analytics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endParaRPr lang="en-US" sz="1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120651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Split View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9D403B-8609-46A1-8F00-91853EA1A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0328"/>
            <a:ext cx="9144000" cy="463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859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6304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Cloud native Fast-Data &amp; Big-Data  platform that serves as single source of truth for real -time , olap , relational data catering any data source (unstructured ,  semi- structured un-structured) .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analytics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framework to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1) Automate Data Management &amp; Query optimization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2)Integrated Policy based alert &amp; remediation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3)NLP &amp; Deep Learning Enabled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-- Resource pool trained to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Management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Governance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Smart Analytics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endParaRPr lang="en-US" sz="1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120651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Drill Down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D710FC-183D-4118-8C25-417633C89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7238"/>
            <a:ext cx="9144000" cy="440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72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Use Case Template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DDC2D55-1617-4E72-84FC-830227EF2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522924"/>
              </p:ext>
            </p:extLst>
          </p:nvPr>
        </p:nvGraphicFramePr>
        <p:xfrm>
          <a:off x="207523" y="410877"/>
          <a:ext cx="8480975" cy="44209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6967">
                  <a:extLst>
                    <a:ext uri="{9D8B030D-6E8A-4147-A177-3AD203B41FA5}">
                      <a16:colId xmlns:a16="http://schemas.microsoft.com/office/drawing/2014/main" val="2618663979"/>
                    </a:ext>
                  </a:extLst>
                </a:gridCol>
                <a:gridCol w="6704008">
                  <a:extLst>
                    <a:ext uri="{9D8B030D-6E8A-4147-A177-3AD203B41FA5}">
                      <a16:colId xmlns:a16="http://schemas.microsoft.com/office/drawing/2014/main" val="3216379728"/>
                    </a:ext>
                  </a:extLst>
                </a:gridCol>
              </a:tblGrid>
              <a:tr h="346503">
                <a:tc>
                  <a:txBody>
                    <a:bodyPr/>
                    <a:lstStyle/>
                    <a:p>
                      <a:r>
                        <a:rPr lang="en-US" sz="1200" dirty="0"/>
                        <a:t>Use Case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Response Time Monitoring of Public facing Website &lt;XXXXXXXX&gt;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726090"/>
                  </a:ext>
                </a:extLst>
              </a:tr>
              <a:tr h="346503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Find out the root cause of latency and slow loading of Top 5 worst hit features of &lt;</a:t>
                      </a:r>
                      <a:r>
                        <a:rPr lang="en-US" sz="1000" dirty="0" err="1"/>
                        <a:t>siteXX</a:t>
                      </a:r>
                      <a:r>
                        <a:rPr lang="en-US" sz="1000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47710"/>
                  </a:ext>
                </a:extLst>
              </a:tr>
              <a:tr h="375550">
                <a:tc>
                  <a:txBody>
                    <a:bodyPr/>
                    <a:lstStyle/>
                    <a:p>
                      <a:r>
                        <a:rPr lang="en-US" sz="1200" dirty="0"/>
                        <a:t>Sources of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LB Logs ,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Gateway Logs, Webserver Logs, DB instances Logs</a:t>
                      </a:r>
                    </a:p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 All the above logs will be available in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cloudwatch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205448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Logs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&lt;resource&gt;&lt;user&gt;,&lt;</a:t>
                      </a:r>
                      <a:r>
                        <a:rPr lang="en-US" sz="1000" dirty="0" err="1"/>
                        <a:t>ip</a:t>
                      </a:r>
                      <a:r>
                        <a:rPr lang="en-US" sz="1000" dirty="0"/>
                        <a:t>/id&gt;, &lt;time&gt;&lt;operation&gt;&lt;message&gt;&lt;status code&gt; &lt;severity&gt; &lt;Type&gt; &lt;</a:t>
                      </a:r>
                      <a:r>
                        <a:rPr lang="en-US" sz="1000" dirty="0" err="1"/>
                        <a:t>ResponseTime</a:t>
                      </a:r>
                      <a:r>
                        <a:rPr lang="en-US" sz="1000" dirty="0"/>
                        <a:t>&gt;</a:t>
                      </a:r>
                    </a:p>
                    <a:p>
                      <a:r>
                        <a:rPr lang="en-US" sz="1000" dirty="0"/>
                        <a:t>Type – Ex.  Application , Service Health, System , Activity Log, Config Change</a:t>
                      </a:r>
                    </a:p>
                    <a:p>
                      <a:r>
                        <a:rPr lang="en-US" sz="1000"/>
                        <a:t>Operation – Ex. </a:t>
                      </a:r>
                      <a:r>
                        <a:rPr lang="en-US" sz="1000" dirty="0"/>
                        <a:t>Get a page / add item to cart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017815"/>
                  </a:ext>
                </a:extLst>
              </a:tr>
              <a:tr h="302077">
                <a:tc>
                  <a:txBody>
                    <a:bodyPr/>
                    <a:lstStyle/>
                    <a:p>
                      <a:r>
                        <a:rPr lang="en-US" sz="1200" dirty="0"/>
                        <a:t>Logs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u="sng" dirty="0"/>
                        <a:t>Dashboard1</a:t>
                      </a:r>
                      <a:r>
                        <a:rPr lang="en-US" sz="1000" dirty="0"/>
                        <a:t> , </a:t>
                      </a:r>
                      <a:r>
                        <a:rPr lang="en-US" sz="1000" u="sng" dirty="0"/>
                        <a:t>Dashboard2</a:t>
                      </a:r>
                      <a:r>
                        <a:rPr lang="en-US" sz="1000" dirty="0"/>
                        <a:t>, </a:t>
                      </a:r>
                      <a:r>
                        <a:rPr lang="en-US" sz="1000" u="sng" dirty="0"/>
                        <a:t>Dashboard3  </a:t>
                      </a:r>
                      <a:r>
                        <a:rPr lang="en-US" sz="1000" dirty="0"/>
                        <a:t>, </a:t>
                      </a:r>
                      <a:r>
                        <a:rPr lang="en-US" sz="1000" u="sng" dirty="0"/>
                        <a:t>Dashboard4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68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Perf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sng" dirty="0"/>
                        <a:t>Dashboard1 (RCA Dashboard)</a:t>
                      </a:r>
                      <a:r>
                        <a:rPr lang="en-US" sz="1000" dirty="0"/>
                        <a:t> , </a:t>
                      </a:r>
                      <a:r>
                        <a:rPr lang="en-US" sz="1000" u="sng" dirty="0"/>
                        <a:t>Dashboard2 (Error Code)</a:t>
                      </a:r>
                      <a:r>
                        <a:rPr lang="en-US" sz="1000" dirty="0"/>
                        <a:t>, </a:t>
                      </a:r>
                      <a:r>
                        <a:rPr lang="en-US" sz="1000" u="sng" dirty="0"/>
                        <a:t>Dashboard3 (Tracing) </a:t>
                      </a:r>
                      <a:r>
                        <a:rPr lang="en-US" sz="1000" dirty="0"/>
                        <a:t>, </a:t>
                      </a:r>
                      <a:r>
                        <a:rPr lang="en-US" sz="1000" u="sng" dirty="0"/>
                        <a:t>Dashboard4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99998"/>
                  </a:ext>
                </a:extLst>
              </a:tr>
              <a:tr h="351199">
                <a:tc>
                  <a:txBody>
                    <a:bodyPr/>
                    <a:lstStyle/>
                    <a:p>
                      <a:r>
                        <a:rPr lang="en-US" sz="1200" dirty="0"/>
                        <a:t>Alert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Anything return code 500, Response Time &gt; 2 Sec,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2832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Steps for 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Go to RCA Dashboard for any latency / Error code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Identify RC of any latency from trace (app / database )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Identify logs corresponding to error codes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Do some rea-</a:t>
                      </a:r>
                      <a:r>
                        <a:rPr lang="en-US" sz="1000" dirty="0" err="1"/>
                        <a:t>ltime</a:t>
                      </a:r>
                      <a:r>
                        <a:rPr lang="en-US" sz="1000" dirty="0"/>
                        <a:t> diagnose if require</a:t>
                      </a:r>
                    </a:p>
                    <a:p>
                      <a:pPr marL="228600" indent="-228600">
                        <a:buAutoNum type="arabicParenR"/>
                      </a:pP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93609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Remediation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Generate Tickets / Associate Workflows /  Trigger Automation / Ignore Manually /  Batch Ignore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55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6482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Hitachi Color Palette">
      <a:dk1>
        <a:srgbClr val="000000"/>
      </a:dk1>
      <a:lt1>
        <a:srgbClr val="FFFFFF"/>
      </a:lt1>
      <a:dk2>
        <a:srgbClr val="919D9D"/>
      </a:dk2>
      <a:lt2>
        <a:srgbClr val="DA291C"/>
      </a:lt2>
      <a:accent1>
        <a:srgbClr val="F37021"/>
      </a:accent1>
      <a:accent2>
        <a:srgbClr val="E97F77"/>
      </a:accent2>
      <a:accent3>
        <a:srgbClr val="666666"/>
      </a:accent3>
      <a:accent4>
        <a:srgbClr val="BDC4C4"/>
      </a:accent4>
      <a:accent5>
        <a:srgbClr val="F8A97A"/>
      </a:accent5>
      <a:accent6>
        <a:srgbClr val="D3D8D8"/>
      </a:accent6>
      <a:hlink>
        <a:srgbClr val="7C99C6"/>
      </a:hlink>
      <a:folHlink>
        <a:srgbClr val="1B355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919D9D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1448DDD-EDB0-4F92-B235-BA4AA698FF26}"/>
</file>

<file path=customXml/itemProps2.xml><?xml version="1.0" encoding="utf-8"?>
<ds:datastoreItem xmlns:ds="http://schemas.openxmlformats.org/officeDocument/2006/customXml" ds:itemID="{B51BF9A0-A380-42E8-B81F-03D2471160C1}">
  <ds:schemaRefs>
    <ds:schemaRef ds:uri="http://schemas.microsoft.com/office/2006/metadata/properties"/>
    <ds:schemaRef ds:uri="http://purl.org/dc/elements/1.1/"/>
    <ds:schemaRef ds:uri="5acf12f0-ea3e-4c9d-a767-3aa0f3b33160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7a43c2af-ef50-4599-bf97-6a2bd9850d12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21F4AC2-0AEA-4354-802A-609AA4E08D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14698</TotalTime>
  <Words>1119</Words>
  <Application>Microsoft Office PowerPoint</Application>
  <PresentationFormat>On-screen Show (16:9)</PresentationFormat>
  <Paragraphs>195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Raleway ExtraBold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SYNECTIKS INC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SYNECTIKS</dc:title>
  <dc:creator>SV</dc:creator>
  <cp:lastModifiedBy>Papu Bhattacharya</cp:lastModifiedBy>
  <cp:revision>296</cp:revision>
  <cp:lastPrinted>2016-12-06T22:14:27Z</cp:lastPrinted>
  <dcterms:created xsi:type="dcterms:W3CDTF">2014-11-12T22:29:05Z</dcterms:created>
  <dcterms:modified xsi:type="dcterms:W3CDTF">2020-05-08T12:24:05Z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  <property fmtid="{D5CDD505-2E9C-101B-9397-08002B2CF9AE}" pid="3" name="IsMyDocuments">
    <vt:bool>true</vt:bool>
  </property>
</Properties>
</file>