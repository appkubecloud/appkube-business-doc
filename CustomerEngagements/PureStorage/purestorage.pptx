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6" r:id="rId5"/>
    <p:sldId id="354" r:id="rId6"/>
    <p:sldId id="355" r:id="rId7"/>
    <p:sldId id="341" r:id="rId8"/>
    <p:sldId id="339" r:id="rId9"/>
    <p:sldId id="336" r:id="rId10"/>
    <p:sldId id="342" r:id="rId11"/>
    <p:sldId id="362" r:id="rId12"/>
    <p:sldId id="363" r:id="rId13"/>
    <p:sldId id="349" r:id="rId14"/>
    <p:sldId id="364" r:id="rId15"/>
    <p:sldId id="365" r:id="rId16"/>
    <p:sldId id="366" r:id="rId17"/>
    <p:sldId id="361" r:id="rId18"/>
    <p:sldId id="343" r:id="rId19"/>
    <p:sldId id="367" r:id="rId20"/>
  </p:sldIdLst>
  <p:sldSz cx="9144000" cy="5143500" type="screen16x9"/>
  <p:notesSz cx="9601200" cy="7315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8" userDrawn="1">
          <p15:clr>
            <a:srgbClr val="A4A3A4"/>
          </p15:clr>
        </p15:guide>
        <p15:guide id="2" pos="355">
          <p15:clr>
            <a:srgbClr val="A4A3A4"/>
          </p15:clr>
        </p15:guide>
        <p15:guide id="3" orient="horz" pos="1212" userDrawn="1">
          <p15:clr>
            <a:srgbClr val="A4A3A4"/>
          </p15:clr>
        </p15:guide>
        <p15:guide id="4" orient="horz" pos="948" userDrawn="1">
          <p15:clr>
            <a:srgbClr val="A4A3A4"/>
          </p15:clr>
        </p15:guide>
        <p15:guide id="5" orient="horz" pos="2964" userDrawn="1">
          <p15:clr>
            <a:srgbClr val="A4A3A4"/>
          </p15:clr>
        </p15:guide>
        <p15:guide id="6" orient="horz" pos="516" userDrawn="1">
          <p15:clr>
            <a:srgbClr val="A4A3A4"/>
          </p15:clr>
        </p15:guide>
        <p15:guide id="7" orient="horz" pos="1190">
          <p15:clr>
            <a:srgbClr val="A4A3A4"/>
          </p15:clr>
        </p15:guide>
        <p15:guide id="8" orient="horz" pos="750">
          <p15:clr>
            <a:srgbClr val="A4A3A4"/>
          </p15:clr>
        </p15:guide>
        <p15:guide id="9" orient="horz" pos="2916">
          <p15:clr>
            <a:srgbClr val="A4A3A4"/>
          </p15:clr>
        </p15:guide>
        <p15:guide id="10" pos="145">
          <p15:clr>
            <a:srgbClr val="A4A3A4"/>
          </p15:clr>
        </p15:guide>
        <p15:guide id="11" pos="5617">
          <p15:clr>
            <a:srgbClr val="A4A3A4"/>
          </p15:clr>
        </p15:guide>
        <p15:guide id="12" pos="288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  <p15:guide id="3" orient="horz" pos="2304">
          <p15:clr>
            <a:srgbClr val="A4A3A4"/>
          </p15:clr>
        </p15:guide>
        <p15:guide id="4" pos="30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irban Banerjee" initials="AB" lastIdx="10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D0DA"/>
    <a:srgbClr val="34B2E4"/>
    <a:srgbClr val="E23936"/>
    <a:srgbClr val="FE912A"/>
    <a:srgbClr val="E34856"/>
    <a:srgbClr val="8B103E"/>
    <a:srgbClr val="065381"/>
    <a:srgbClr val="FCC601"/>
    <a:srgbClr val="DD382B"/>
    <a:srgbClr val="DA29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25" autoAdjust="0"/>
    <p:restoredTop sz="94291" autoAdjust="0"/>
  </p:normalViewPr>
  <p:slideViewPr>
    <p:cSldViewPr snapToGrid="0">
      <p:cViewPr varScale="1">
        <p:scale>
          <a:sx n="105" d="100"/>
          <a:sy n="105" d="100"/>
        </p:scale>
        <p:origin x="244" y="88"/>
      </p:cViewPr>
      <p:guideLst>
        <p:guide orient="horz" pos="708"/>
        <p:guide pos="355"/>
        <p:guide orient="horz" pos="1212"/>
        <p:guide orient="horz" pos="948"/>
        <p:guide orient="horz" pos="2964"/>
        <p:guide orient="horz" pos="516"/>
        <p:guide orient="horz" pos="1190"/>
        <p:guide orient="horz" pos="750"/>
        <p:guide orient="horz" pos="2916"/>
        <p:guide pos="145"/>
        <p:guide pos="5617"/>
        <p:guide pos="2881"/>
      </p:guideLst>
    </p:cSldViewPr>
  </p:slideViewPr>
  <p:outlineViewPr>
    <p:cViewPr>
      <p:scale>
        <a:sx n="33" d="100"/>
        <a:sy n="33" d="100"/>
      </p:scale>
      <p:origin x="0" y="17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5490"/>
    </p:cViewPr>
  </p:sorterViewPr>
  <p:notesViewPr>
    <p:cSldViewPr snapToGrid="0">
      <p:cViewPr varScale="1">
        <p:scale>
          <a:sx n="98" d="100"/>
          <a:sy n="98" d="100"/>
        </p:scale>
        <p:origin x="3516" y="72"/>
      </p:cViewPr>
      <p:guideLst>
        <p:guide orient="horz" pos="3024"/>
        <p:guide pos="2304"/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1B9E88C5-C104-1D4D-887E-00A617007132}" type="datetimeFigureOut">
              <a:rPr lang="en-US" smtClean="0"/>
              <a:pPr/>
              <a:t>4/3/2019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AE1561C0-4582-414D-9482-B90AA17E592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3673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0F237061-72E3-FC45-B1DA-EE364FA20673}" type="datetimeFigureOut">
              <a:rPr lang="en-US" smtClean="0"/>
              <a:pPr/>
              <a:t>4/3/2019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8" tIns="48325" rIns="96648" bIns="48325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1" y="3474720"/>
            <a:ext cx="7680960" cy="3291840"/>
          </a:xfrm>
          <a:prstGeom prst="rect">
            <a:avLst/>
          </a:prstGeom>
        </p:spPr>
        <p:txBody>
          <a:bodyPr vert="horz" lIns="96648" tIns="48325" rIns="96648" bIns="4832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11D4D097-0016-D44A-A908-ADB1EED4D5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6525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707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720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6107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093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Образ слайда 1">
            <a:extLst>
              <a:ext uri="{FF2B5EF4-FFF2-40B4-BE49-F238E27FC236}">
                <a16:creationId xmlns:a16="http://schemas.microsoft.com/office/drawing/2014/main" id="{8C103B6F-4FDD-4F1B-B1BD-880759F5090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Заметки 2">
            <a:extLst>
              <a:ext uri="{FF2B5EF4-FFF2-40B4-BE49-F238E27FC236}">
                <a16:creationId xmlns:a16="http://schemas.microsoft.com/office/drawing/2014/main" id="{DEE7CA47-E531-4949-B74A-0328511D374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  <p:sp>
        <p:nvSpPr>
          <p:cNvPr id="81924" name="Номер слайда 3">
            <a:extLst>
              <a:ext uri="{FF2B5EF4-FFF2-40B4-BE49-F238E27FC236}">
                <a16:creationId xmlns:a16="http://schemas.microsoft.com/office/drawing/2014/main" id="{A430C0BF-C2E9-4998-8C00-BC2628EA07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D09A60-5FC8-41BA-A389-1C7229118C41}" type="slidenum">
              <a:rPr lang="ru-RU" altLang="ru-RU" smtClean="0"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ru-RU" altLang="ru-RU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4285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3835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0720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00025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3944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5635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3603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9006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720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and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4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aseline="0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4D82F6D6-BD64-564F-BDB4-3E98167DF08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Date Placeholder 3"/>
          <p:cNvSpPr txBox="1">
            <a:spLocks/>
          </p:cNvSpPr>
          <p:nvPr userDrawn="1"/>
        </p:nvSpPr>
        <p:spPr>
          <a:xfrm>
            <a:off x="230188" y="4860192"/>
            <a:ext cx="43434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700" kern="1200" cap="small" baseline="0" dirty="0">
                <a:solidFill>
                  <a:schemeClr val="tx1">
                    <a:tint val="75000"/>
                  </a:schemeClr>
                </a:solidFill>
                <a:effectLst/>
                <a:latin typeface="Arial"/>
                <a:ea typeface="+mn-ea"/>
                <a:cs typeface="+mn-cs"/>
              </a:rPr>
              <a:t>© 2018 SYNECTIKS. all rights reserved. proprietary and confidential.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C45070-596F-4EA7-B9EA-0907061F19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6028" y="55630"/>
            <a:ext cx="1176798" cy="1400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1885949"/>
            <a:ext cx="9144000" cy="2743201"/>
          </a:xfrm>
        </p:spPr>
        <p:txBody>
          <a:bodyPr anchor="ctr" anchorCtr="0"/>
          <a:lstStyle>
            <a:lvl1pPr marL="0" indent="0" algn="ctr">
              <a:buFontTx/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baseline="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704716" y="4879337"/>
            <a:ext cx="218782" cy="15903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8A01B8-B8FC-4B6F-80F1-7D9899A5F8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6028" y="55630"/>
            <a:ext cx="1176798" cy="1400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7"/>
          <p:cNvSpPr>
            <a:spLocks noGrp="1"/>
          </p:cNvSpPr>
          <p:nvPr>
            <p:ph type="pic" sz="quarter" idx="11"/>
          </p:nvPr>
        </p:nvSpPr>
        <p:spPr>
          <a:xfrm>
            <a:off x="0" y="1289713"/>
            <a:ext cx="9144001" cy="385378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435256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6">
            <a:extLst>
              <a:ext uri="{FF2B5EF4-FFF2-40B4-BE49-F238E27FC236}">
                <a16:creationId xmlns:a16="http://schemas.microsoft.com/office/drawing/2014/main" id="{68483481-277A-44ED-BA83-A15318FB0E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488309" y="4829175"/>
            <a:ext cx="306495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2B866F7B-4554-47CE-B65B-4F558B942A30}" type="slidenum">
              <a:rPr lang="ru-RU" altLang="ru-RU" sz="675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9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712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-12053"/>
            <a:ext cx="9144000" cy="2347065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0 h 10074"/>
              <a:gd name="connsiteX1" fmla="*/ 10000 w 10000"/>
              <a:gd name="connsiteY1" fmla="*/ 74 h 10074"/>
              <a:gd name="connsiteX2" fmla="*/ 10000 w 10000"/>
              <a:gd name="connsiteY2" fmla="*/ 10074 h 10074"/>
              <a:gd name="connsiteX3" fmla="*/ 0 w 10000"/>
              <a:gd name="connsiteY3" fmla="*/ 10074 h 10074"/>
              <a:gd name="connsiteX4" fmla="*/ 0 w 10000"/>
              <a:gd name="connsiteY4" fmla="*/ 0 h 10074"/>
              <a:gd name="connsiteX0" fmla="*/ 0 w 10000"/>
              <a:gd name="connsiteY0" fmla="*/ 0 h 14410"/>
              <a:gd name="connsiteX1" fmla="*/ 10000 w 10000"/>
              <a:gd name="connsiteY1" fmla="*/ 74 h 14410"/>
              <a:gd name="connsiteX2" fmla="*/ 10000 w 10000"/>
              <a:gd name="connsiteY2" fmla="*/ 10074 h 14410"/>
              <a:gd name="connsiteX3" fmla="*/ 11 w 10000"/>
              <a:gd name="connsiteY3" fmla="*/ 14410 h 14410"/>
              <a:gd name="connsiteX4" fmla="*/ 0 w 10000"/>
              <a:gd name="connsiteY4" fmla="*/ 0 h 14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4410">
                <a:moveTo>
                  <a:pt x="0" y="0"/>
                </a:moveTo>
                <a:lnTo>
                  <a:pt x="10000" y="74"/>
                </a:lnTo>
                <a:lnTo>
                  <a:pt x="10000" y="10074"/>
                </a:lnTo>
                <a:lnTo>
                  <a:pt x="11" y="14410"/>
                </a:lnTo>
                <a:cubicBezTo>
                  <a:pt x="7" y="9607"/>
                  <a:pt x="4" y="4803"/>
                  <a:pt x="0" y="0"/>
                </a:cubicBezTo>
                <a:close/>
              </a:path>
            </a:pathLst>
          </a:cu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1"/>
          </p:nvPr>
        </p:nvSpPr>
        <p:spPr>
          <a:xfrm>
            <a:off x="1084660" y="1525191"/>
            <a:ext cx="1340644" cy="1340644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9" name="Рисунок 7"/>
          <p:cNvSpPr>
            <a:spLocks noGrp="1"/>
          </p:cNvSpPr>
          <p:nvPr>
            <p:ph type="pic" sz="quarter" idx="12"/>
          </p:nvPr>
        </p:nvSpPr>
        <p:spPr>
          <a:xfrm>
            <a:off x="3901679" y="1525191"/>
            <a:ext cx="1340644" cy="1340644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7"/>
          <p:cNvSpPr>
            <a:spLocks noGrp="1"/>
          </p:cNvSpPr>
          <p:nvPr>
            <p:ph type="pic" sz="quarter" idx="13"/>
          </p:nvPr>
        </p:nvSpPr>
        <p:spPr>
          <a:xfrm>
            <a:off x="6718698" y="1525191"/>
            <a:ext cx="1340644" cy="1340644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379017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188" y="1200150"/>
            <a:ext cx="8686800" cy="3429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0"/>
            <a:ext cx="3429000" cy="228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701" r:id="rId2"/>
    <p:sldLayoutId id="2147483702" r:id="rId3"/>
    <p:sldLayoutId id="2147483705" r:id="rId4"/>
    <p:sldLayoutId id="2147483706" r:id="rId5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2400" kern="1200" baseline="0">
          <a:solidFill>
            <a:srgbClr val="DA291C"/>
          </a:solidFill>
          <a:latin typeface="Arial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75000"/>
        <a:buFontTx/>
        <a:buNone/>
        <a:defRPr sz="1200" kern="1200">
          <a:solidFill>
            <a:schemeClr val="tx1"/>
          </a:solidFill>
          <a:latin typeface="Arial"/>
          <a:ea typeface="+mn-ea"/>
          <a:cs typeface="+mn-cs"/>
        </a:defRPr>
      </a:lvl1pPr>
      <a:lvl2pPr marL="233363" indent="-233363" algn="l" defTabSz="457200" rtl="0" eaLnBrk="1" latinLnBrk="0" hangingPunct="1">
        <a:spcBef>
          <a:spcPct val="20000"/>
        </a:spcBef>
        <a:buClr>
          <a:srgbClr val="DA291C"/>
        </a:buClr>
        <a:buSzPct val="80000"/>
        <a:buFont typeface="Wingdings" panose="05000000000000000000" pitchFamily="2" charset="2"/>
        <a:buChar char="u"/>
        <a:defRPr sz="1200" kern="1200">
          <a:solidFill>
            <a:schemeClr val="tx1"/>
          </a:solidFill>
          <a:latin typeface="Arial"/>
          <a:ea typeface="+mn-ea"/>
          <a:cs typeface="+mn-cs"/>
        </a:defRPr>
      </a:lvl2pPr>
      <a:lvl3pPr marL="461963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Arial"/>
          <a:ea typeface="+mn-ea"/>
          <a:cs typeface="+mn-cs"/>
        </a:defRPr>
      </a:lvl3pPr>
      <a:lvl4pPr marL="685800" indent="-228600" algn="l" defTabSz="457200" rtl="0" eaLnBrk="1" latinLnBrk="0" hangingPunct="1">
        <a:spcBef>
          <a:spcPct val="20000"/>
        </a:spcBef>
        <a:buClr>
          <a:srgbClr val="919D9D"/>
        </a:buClr>
        <a:buFont typeface="Arial" panose="020B0604020202020204" pitchFamily="34" charset="0"/>
        <a:buChar char="■"/>
        <a:defRPr sz="1200" kern="1200">
          <a:solidFill>
            <a:schemeClr val="tx1"/>
          </a:solidFill>
          <a:latin typeface="Arial"/>
          <a:ea typeface="+mn-ea"/>
          <a:cs typeface="+mn-cs"/>
        </a:defRPr>
      </a:lvl4pPr>
      <a:lvl5pPr marL="909638" indent="-219075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C0B67D0-2E5A-4867-9463-40974D4487F0}"/>
              </a:ext>
            </a:extLst>
          </p:cNvPr>
          <p:cNvSpPr txBox="1"/>
          <p:nvPr/>
        </p:nvSpPr>
        <p:spPr>
          <a:xfrm>
            <a:off x="174171" y="4792570"/>
            <a:ext cx="871945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500" cap="small" dirty="0">
                <a:latin typeface="Arial" panose="020B0604020202020204" pitchFamily="34" charset="0"/>
                <a:cs typeface="Arial" panose="020B0604020202020204" pitchFamily="34" charset="0"/>
              </a:rPr>
              <a:t>All information contained in this document and communicated to you by synectiks is confidential and proprietary to synectiks (“confidential information”). The information and any pricing data submitted here is non-binding and for evaluation purposes only and is subject to adjustment or modification by synectiks after its review, consideration, and negotiation of the terms and conditions of a definitive final contract. The data and information contained herein may not be reproduced, published or distributed to, or for, any third parties without the express prior written consent of synectiks.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BC4959-E598-4FD7-8281-789FFD1BF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8085"/>
            <a:ext cx="9144000" cy="4324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609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F7EED0-9380-4BC8-B1CB-4A610AB6D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5867" y="-58890"/>
            <a:ext cx="303196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2000" cap="small" dirty="0">
                <a:solidFill>
                  <a:schemeClr val="bg2"/>
                </a:solidFill>
                <a:latin typeface="Raleway ExtraBold" panose="020B0903030101060003" pitchFamily="34" charset="0"/>
              </a:rPr>
              <a:t>Total Architecture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89B53D-D11C-4E84-8D4C-E43706520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341220"/>
            <a:ext cx="5399313" cy="48022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5ACA78-506E-4EBC-B9F3-CCB2D5D450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9771" y="1482257"/>
            <a:ext cx="2365493" cy="16057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F0E3CC-EA74-44B1-8318-85E608A4CC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2160" y="3415375"/>
            <a:ext cx="2365493" cy="14153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BCD1082-E039-466A-8211-038FA4532B22}"/>
              </a:ext>
            </a:extLst>
          </p:cNvPr>
          <p:cNvSpPr txBox="1"/>
          <p:nvPr/>
        </p:nvSpPr>
        <p:spPr>
          <a:xfrm>
            <a:off x="5957690" y="73047"/>
            <a:ext cx="3186309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Berlin Sans FB" panose="020E0602020502020306" pitchFamily="34" charset="0"/>
              </a:rPr>
              <a:t>			</a:t>
            </a:r>
          </a:p>
          <a:p>
            <a:r>
              <a:rPr lang="en-US" sz="800" dirty="0">
                <a:latin typeface="Berlin Sans FB" panose="020E0602020502020306" pitchFamily="34" charset="0"/>
              </a:rPr>
              <a:t>		Use Cases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latin typeface="Berlin Sans FB" panose="020E0602020502020306" pitchFamily="34" charset="0"/>
              </a:rPr>
              <a:t>SDI-&gt; NFV/SDN -&gt; Storage Plugin -&gt; Storage  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dirty="0">
              <a:latin typeface="Berlin Sans FB" panose="020E0602020502020306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latin typeface="Berlin Sans FB" panose="020E0602020502020306" pitchFamily="34" charset="0"/>
              </a:rPr>
              <a:t>SDI -&gt; NFV/SDN -&gt; COS -&gt; COS Plugin (Volume Plugins) -&gt; Storage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dirty="0">
              <a:latin typeface="Berlin Sans FB" panose="020E0602020502020306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latin typeface="Berlin Sans FB" panose="020E0602020502020306" pitchFamily="34" charset="0"/>
              </a:rPr>
              <a:t>SDI-&gt; SDN/BM -&gt; COS -&gt; COS Plugin (Volume Plugins) -&gt; Storage</a:t>
            </a:r>
          </a:p>
          <a:p>
            <a:endParaRPr lang="en-US" sz="800" dirty="0">
              <a:latin typeface="Berlin Sans FB" panose="020E0602020502020306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latin typeface="Berlin Sans FB" panose="020E0602020502020306" pitchFamily="34" charset="0"/>
              </a:rPr>
              <a:t>SDI-&gt; SDN/BM -&gt; COS -&gt; SAAS Orchestrator(CSI) -&gt; Storage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dirty="0">
              <a:latin typeface="Berlin Sans FB" panose="020E0602020502020306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A2D511-88A8-4681-AD8A-871DBEDDAA27}"/>
              </a:ext>
            </a:extLst>
          </p:cNvPr>
          <p:cNvSpPr txBox="1"/>
          <p:nvPr/>
        </p:nvSpPr>
        <p:spPr>
          <a:xfrm>
            <a:off x="6411031" y="3096815"/>
            <a:ext cx="8961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Current State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E8821F-1B26-4704-8D75-9CBBF24AE704}"/>
              </a:ext>
            </a:extLst>
          </p:cNvPr>
          <p:cNvSpPr txBox="1"/>
          <p:nvPr/>
        </p:nvSpPr>
        <p:spPr>
          <a:xfrm>
            <a:off x="6411031" y="4830692"/>
            <a:ext cx="8961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Futuristic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F036E3-4210-4267-95E5-BE67B1D96A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452" y="1798522"/>
            <a:ext cx="210605" cy="248281"/>
          </a:xfrm>
          <a:prstGeom prst="rect">
            <a:avLst/>
          </a:prstGeom>
        </p:spPr>
      </p:pic>
      <p:sp>
        <p:nvSpPr>
          <p:cNvPr id="10" name="Arrow: Up-Down 9">
            <a:extLst>
              <a:ext uri="{FF2B5EF4-FFF2-40B4-BE49-F238E27FC236}">
                <a16:creationId xmlns:a16="http://schemas.microsoft.com/office/drawing/2014/main" id="{62191EF0-2E20-4593-8A36-80BED2DF8D4F}"/>
              </a:ext>
            </a:extLst>
          </p:cNvPr>
          <p:cNvSpPr/>
          <p:nvPr/>
        </p:nvSpPr>
        <p:spPr>
          <a:xfrm>
            <a:off x="8429436" y="1526019"/>
            <a:ext cx="375449" cy="3191316"/>
          </a:xfrm>
          <a:prstGeom prst="upDownArrow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STORAGE</a:t>
            </a:r>
          </a:p>
        </p:txBody>
      </p:sp>
    </p:spTree>
    <p:extLst>
      <p:ext uri="{BB962C8B-B14F-4D97-AF65-F5344CB8AC3E}">
        <p14:creationId xmlns:p14="http://schemas.microsoft.com/office/powerpoint/2010/main" val="2891240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F7EED0-9380-4BC8-B1CB-4A610AB6D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5866" y="-58890"/>
            <a:ext cx="325024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2000" cap="small" dirty="0">
                <a:solidFill>
                  <a:schemeClr val="bg2"/>
                </a:solidFill>
                <a:latin typeface="Raleway ExtraBold" panose="020B0903030101060003" pitchFamily="34" charset="0"/>
              </a:rPr>
              <a:t>Rapid App Development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72EFA6-E0CF-49E1-9E51-06BF8FAAB50B}"/>
              </a:ext>
            </a:extLst>
          </p:cNvPr>
          <p:cNvSpPr txBox="1"/>
          <p:nvPr/>
        </p:nvSpPr>
        <p:spPr>
          <a:xfrm>
            <a:off x="7166112" y="1040566"/>
            <a:ext cx="178117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sz="1000" dirty="0"/>
              <a:t>Establish ALM</a:t>
            </a:r>
          </a:p>
          <a:p>
            <a:pPr marL="228600" indent="-228600">
              <a:buFont typeface="+mj-lt"/>
              <a:buAutoNum type="arabicPeriod"/>
            </a:pPr>
            <a:endParaRPr lang="en-US" sz="1000" dirty="0"/>
          </a:p>
          <a:p>
            <a:pPr marL="228600" indent="-228600">
              <a:buFont typeface="+mj-lt"/>
              <a:buAutoNum type="arabicPeriod"/>
            </a:pPr>
            <a:endParaRPr lang="en-US" sz="1000" dirty="0"/>
          </a:p>
          <a:p>
            <a:pPr marL="228600" indent="-228600">
              <a:buFont typeface="+mj-lt"/>
              <a:buAutoNum type="arabicPeriod"/>
            </a:pPr>
            <a:r>
              <a:rPr lang="en-US" sz="1000" dirty="0"/>
              <a:t>Develop Microservices / Bigdata / IOT apps with App blocks rapidly</a:t>
            </a:r>
          </a:p>
          <a:p>
            <a:pPr marL="228600" indent="-228600">
              <a:buFont typeface="+mj-lt"/>
              <a:buAutoNum type="arabicPeriod"/>
            </a:pPr>
            <a:endParaRPr lang="en-US" sz="1000" dirty="0"/>
          </a:p>
          <a:p>
            <a:pPr marL="228600" indent="-228600">
              <a:buFont typeface="+mj-lt"/>
              <a:buAutoNum type="arabicPeriod"/>
            </a:pPr>
            <a:endParaRPr lang="en-US" sz="1000" dirty="0"/>
          </a:p>
          <a:p>
            <a:pPr marL="228600" indent="-228600">
              <a:buFont typeface="+mj-lt"/>
              <a:buAutoNum type="arabicPeriod"/>
            </a:pPr>
            <a:r>
              <a:rPr lang="en-US" sz="1000" dirty="0"/>
              <a:t>Aggregate resources across any cloud and deploy Apps</a:t>
            </a:r>
          </a:p>
          <a:p>
            <a:pPr marL="228600" indent="-228600">
              <a:buFont typeface="+mj-lt"/>
              <a:buAutoNum type="arabicPeriod"/>
            </a:pPr>
            <a:endParaRPr lang="en-US" sz="1000" dirty="0"/>
          </a:p>
          <a:p>
            <a:pPr marL="228600" indent="-228600">
              <a:buFont typeface="+mj-lt"/>
              <a:buAutoNum type="arabicPeriod"/>
            </a:pPr>
            <a:endParaRPr lang="en-US" sz="1000" dirty="0"/>
          </a:p>
          <a:p>
            <a:pPr marL="228600" indent="-228600">
              <a:buFont typeface="+mj-lt"/>
              <a:buAutoNum type="arabicPeriod"/>
            </a:pPr>
            <a:r>
              <a:rPr lang="en-US" sz="1000" dirty="0"/>
              <a:t>Provision OSS/ Compliance</a:t>
            </a:r>
          </a:p>
          <a:p>
            <a:endParaRPr lang="en-US"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9E9AC1-03E3-4995-BF47-608F9E1DB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69" y="341220"/>
            <a:ext cx="6845093" cy="400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859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Content Placeholder 5"/>
          <p:cNvSpPr txBox="1">
            <a:spLocks/>
          </p:cNvSpPr>
          <p:nvPr/>
        </p:nvSpPr>
        <p:spPr>
          <a:xfrm>
            <a:off x="436418" y="604718"/>
            <a:ext cx="8252081" cy="4431983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D90000"/>
              </a:buClr>
              <a:buNone/>
            </a:pPr>
            <a:r>
              <a:rPr lang="en-US" sz="1800" dirty="0">
                <a:cs typeface="Helvetica"/>
              </a:rPr>
              <a:t>Strategic Driver –</a:t>
            </a:r>
          </a:p>
          <a:p>
            <a:pPr marL="0" indent="0">
              <a:buClr>
                <a:srgbClr val="D90000"/>
              </a:buClr>
              <a:buNone/>
            </a:pPr>
            <a:r>
              <a:rPr lang="en-US" sz="1800" dirty="0">
                <a:cs typeface="Helvetica"/>
              </a:rPr>
              <a:t>Build Vs Buy + Open Ecosystem + Flexibility  (Multi cloud + Hybrid)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sz="1800" dirty="0">
                <a:cs typeface="Helvetica"/>
              </a:rPr>
              <a:t>Orchestrating Everywhere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sz="1800" dirty="0">
                <a:cs typeface="Helvetica"/>
              </a:rPr>
              <a:t>E2E Solutioning ( App/Compute/Network/ Storage)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sz="1800" dirty="0">
                <a:cs typeface="Helvetica"/>
              </a:rPr>
              <a:t>Container &amp; FAAS Ecosystem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sz="1800" dirty="0">
                <a:cs typeface="Helvetica"/>
              </a:rPr>
              <a:t>Contributing Open Ecosystem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sz="1800" dirty="0">
                <a:cs typeface="Helvetica"/>
              </a:rPr>
              <a:t>Help Embracing DevOps with skilled resource and Open Solutions</a:t>
            </a:r>
          </a:p>
          <a:p>
            <a:pPr>
              <a:buClr>
                <a:srgbClr val="D90000"/>
              </a:buClr>
              <a:buFontTx/>
              <a:buChar char="+"/>
            </a:pPr>
            <a:endParaRPr lang="en-US" sz="1800" dirty="0">
              <a:cs typeface="Helvetica"/>
            </a:endParaRPr>
          </a:p>
          <a:p>
            <a:pPr marL="0" indent="0">
              <a:buClr>
                <a:srgbClr val="D90000"/>
              </a:buClr>
              <a:buNone/>
            </a:pPr>
            <a:endParaRPr lang="en-US" sz="1800" dirty="0">
              <a:cs typeface="Helvetica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28600" y="274320"/>
            <a:ext cx="4914900" cy="252962"/>
          </a:xfrm>
        </p:spPr>
        <p:txBody>
          <a:bodyPr/>
          <a:lstStyle/>
          <a:p>
            <a:r>
              <a:rPr lang="en-US" sz="1800" b="1" cap="small" dirty="0">
                <a:latin typeface="Helvetica" panose="020B0604020202020204" pitchFamily="2" charset="0"/>
              </a:rPr>
              <a:t>Synectiks Highlights</a:t>
            </a:r>
            <a:endParaRPr lang="en-US" dirty="0">
              <a:latin typeface="Helvetica" panose="020B060402020202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089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3C3165-26EE-4549-AB9D-D0789862B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1379" y="352425"/>
            <a:ext cx="61412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Specialties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15594A-D9AC-44BF-8812-3D69BDFD9ADB}"/>
              </a:ext>
            </a:extLst>
          </p:cNvPr>
          <p:cNvSpPr txBox="1"/>
          <p:nvPr/>
        </p:nvSpPr>
        <p:spPr>
          <a:xfrm>
            <a:off x="2191942" y="841772"/>
            <a:ext cx="4783931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900" dirty="0">
                <a:solidFill>
                  <a:schemeClr val="bg1">
                    <a:lumMod val="65000"/>
                  </a:schemeClr>
                </a:solidFill>
                <a:latin typeface="Raleway ExtraBold" panose="020B0903030101060003" pitchFamily="34" charset="-52"/>
                <a:ea typeface="Cardo" panose="02020600000000000000" pitchFamily="18" charset="-79"/>
                <a:cs typeface="Cardo" panose="02020600000000000000" pitchFamily="18" charset="-79"/>
              </a:rPr>
              <a:t>BEST RESULT IS OUR PURPOSE</a:t>
            </a:r>
            <a:endParaRPr lang="ru-RU" sz="900" dirty="0">
              <a:solidFill>
                <a:schemeClr val="bg1">
                  <a:lumMod val="65000"/>
                </a:schemeClr>
              </a:solidFill>
              <a:latin typeface="Raleway ExtraBold" panose="020B0903030101060003" pitchFamily="34" charset="-52"/>
              <a:ea typeface="Cardo" panose="02020600000000000000" pitchFamily="18" charset="-79"/>
              <a:cs typeface="Cardo" panose="02020600000000000000" pitchFamily="18" charset="-79"/>
            </a:endParaRPr>
          </a:p>
        </p:txBody>
      </p:sp>
      <p:sp>
        <p:nvSpPr>
          <p:cNvPr id="4" name="Шестиугольник 3">
            <a:extLst>
              <a:ext uri="{FF2B5EF4-FFF2-40B4-BE49-F238E27FC236}">
                <a16:creationId xmlns:a16="http://schemas.microsoft.com/office/drawing/2014/main" id="{887D0B2E-3B64-4E16-B85A-514F9014105B}"/>
              </a:ext>
            </a:extLst>
          </p:cNvPr>
          <p:cNvSpPr/>
          <p:nvPr/>
        </p:nvSpPr>
        <p:spPr>
          <a:xfrm>
            <a:off x="3673957" y="1647346"/>
            <a:ext cx="1507331" cy="1300163"/>
          </a:xfrm>
          <a:prstGeom prst="hexagon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/>
          </a:p>
        </p:txBody>
      </p:sp>
      <p:sp>
        <p:nvSpPr>
          <p:cNvPr id="5" name="Шестиугольник 4">
            <a:extLst>
              <a:ext uri="{FF2B5EF4-FFF2-40B4-BE49-F238E27FC236}">
                <a16:creationId xmlns:a16="http://schemas.microsoft.com/office/drawing/2014/main" id="{3B99AAC2-EB1E-4F21-83E0-3FF985D1BE61}"/>
              </a:ext>
            </a:extLst>
          </p:cNvPr>
          <p:cNvSpPr/>
          <p:nvPr/>
        </p:nvSpPr>
        <p:spPr>
          <a:xfrm>
            <a:off x="3673957" y="3038475"/>
            <a:ext cx="1507331" cy="1300163"/>
          </a:xfrm>
          <a:prstGeom prst="hexagon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/>
          </a:p>
        </p:txBody>
      </p:sp>
      <p:sp>
        <p:nvSpPr>
          <p:cNvPr id="6" name="Шестиугольник 5">
            <a:extLst>
              <a:ext uri="{FF2B5EF4-FFF2-40B4-BE49-F238E27FC236}">
                <a16:creationId xmlns:a16="http://schemas.microsoft.com/office/drawing/2014/main" id="{9B0455CC-5FF6-4B9E-B4B4-B35C18228031}"/>
              </a:ext>
            </a:extLst>
          </p:cNvPr>
          <p:cNvSpPr/>
          <p:nvPr/>
        </p:nvSpPr>
        <p:spPr>
          <a:xfrm>
            <a:off x="2426182" y="2319338"/>
            <a:ext cx="1508522" cy="1298972"/>
          </a:xfrm>
          <a:prstGeom prst="hexagon">
            <a:avLst/>
          </a:prstGeom>
          <a:solidFill>
            <a:srgbClr val="E239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/>
          </a:p>
        </p:txBody>
      </p:sp>
      <p:sp>
        <p:nvSpPr>
          <p:cNvPr id="7" name="Шестиугольник 6">
            <a:extLst>
              <a:ext uri="{FF2B5EF4-FFF2-40B4-BE49-F238E27FC236}">
                <a16:creationId xmlns:a16="http://schemas.microsoft.com/office/drawing/2014/main" id="{3373C805-2D83-47E7-ADFC-C3A1F8532794}"/>
              </a:ext>
            </a:extLst>
          </p:cNvPr>
          <p:cNvSpPr/>
          <p:nvPr/>
        </p:nvSpPr>
        <p:spPr>
          <a:xfrm>
            <a:off x="4920541" y="2319338"/>
            <a:ext cx="1508522" cy="1298972"/>
          </a:xfrm>
          <a:prstGeom prst="hexagon">
            <a:avLst/>
          </a:prstGeom>
          <a:solidFill>
            <a:srgbClr val="E239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/>
          </a:p>
        </p:txBody>
      </p:sp>
      <p:sp>
        <p:nvSpPr>
          <p:cNvPr id="12" name="Подзаголовок 2">
            <a:extLst>
              <a:ext uri="{FF2B5EF4-FFF2-40B4-BE49-F238E27FC236}">
                <a16:creationId xmlns:a16="http://schemas.microsoft.com/office/drawing/2014/main" id="{B2E2C555-3B67-4DC3-B2A5-751120C1A284}"/>
              </a:ext>
            </a:extLst>
          </p:cNvPr>
          <p:cNvSpPr txBox="1">
            <a:spLocks/>
          </p:cNvSpPr>
          <p:nvPr/>
        </p:nvSpPr>
        <p:spPr>
          <a:xfrm>
            <a:off x="208048" y="2647951"/>
            <a:ext cx="2157413" cy="142279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  <a:defRPr/>
            </a:pPr>
            <a:r>
              <a:rPr lang="en-US" sz="900" b="1" kern="0" dirty="0"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04/ CONTINOUS DELIVERY &amp; AUTOMATION</a:t>
            </a:r>
          </a:p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  <a:defRPr/>
            </a:pPr>
            <a:r>
              <a:rPr lang="en-US" sz="900" kern="0" dirty="0">
                <a:solidFill>
                  <a:schemeClr val="bg1">
                    <a:lumMod val="65000"/>
                  </a:schemeClr>
                </a:solidFill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We help customers to establish the delivery pipelines of container/bigdata/ IOT application and provide them with Realtime insights on their application delivery. </a:t>
            </a:r>
            <a:endParaRPr lang="en-US" sz="900" dirty="0">
              <a:solidFill>
                <a:schemeClr val="bg1">
                  <a:lumMod val="65000"/>
                </a:schemeClr>
              </a:solidFill>
              <a:latin typeface="Helvetica" panose="020B0604020202020204" pitchFamily="2" charset="0"/>
              <a:cs typeface="Poppins" panose="02000000000000000000" pitchFamily="2" charset="0"/>
            </a:endParaRPr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ACBF5E28-B13E-4485-8403-905C9E02ACCB}"/>
              </a:ext>
            </a:extLst>
          </p:cNvPr>
          <p:cNvSpPr txBox="1">
            <a:spLocks/>
          </p:cNvSpPr>
          <p:nvPr/>
        </p:nvSpPr>
        <p:spPr>
          <a:xfrm>
            <a:off x="6563008" y="2239114"/>
            <a:ext cx="2367503" cy="142279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  <a:defRPr/>
            </a:pPr>
            <a:r>
              <a:rPr lang="en-US" sz="900" b="1" kern="0" dirty="0"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02/ CONTAINERIZATION/SERVERLESS</a:t>
            </a:r>
          </a:p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  <a:defRPr/>
            </a:pPr>
            <a:r>
              <a:rPr lang="en-US" sz="900" kern="0" dirty="0">
                <a:solidFill>
                  <a:schemeClr val="bg1">
                    <a:lumMod val="65000"/>
                  </a:schemeClr>
                </a:solidFill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We firmly believe that customers will adopt the flexibility of developing containerized and serverless microservices across cloud and geographies.</a:t>
            </a:r>
            <a:endParaRPr lang="en-US" sz="900" dirty="0">
              <a:solidFill>
                <a:schemeClr val="bg1">
                  <a:lumMod val="65000"/>
                </a:schemeClr>
              </a:solidFill>
              <a:latin typeface="Helvetica" panose="020B0604020202020204" pitchFamily="2" charset="0"/>
              <a:cs typeface="Poppins" panose="02000000000000000000" pitchFamily="2" charset="0"/>
            </a:endParaRPr>
          </a:p>
        </p:txBody>
      </p:sp>
      <p:sp>
        <p:nvSpPr>
          <p:cNvPr id="14" name="Подзаголовок 2">
            <a:extLst>
              <a:ext uri="{FF2B5EF4-FFF2-40B4-BE49-F238E27FC236}">
                <a16:creationId xmlns:a16="http://schemas.microsoft.com/office/drawing/2014/main" id="{0DBCAC98-B977-4BCD-B767-43CCA0D94AA9}"/>
              </a:ext>
            </a:extLst>
          </p:cNvPr>
          <p:cNvSpPr txBox="1">
            <a:spLocks/>
          </p:cNvSpPr>
          <p:nvPr/>
        </p:nvSpPr>
        <p:spPr>
          <a:xfrm>
            <a:off x="1695139" y="1219200"/>
            <a:ext cx="1870472" cy="83581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  <a:defRPr/>
            </a:pPr>
            <a:r>
              <a:rPr lang="en-US" sz="900" b="1" kern="0" dirty="0"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01/ INFRA AS CODE</a:t>
            </a:r>
          </a:p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  <a:defRPr/>
            </a:pPr>
            <a:r>
              <a:rPr lang="en-US" sz="900" kern="0" dirty="0">
                <a:solidFill>
                  <a:schemeClr val="bg1">
                    <a:lumMod val="65000"/>
                  </a:schemeClr>
                </a:solidFill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Everything Software Defined, Create/Change/Manage infrastructure through pure code across clouds.  </a:t>
            </a:r>
            <a:endParaRPr lang="en-US" sz="900" dirty="0">
              <a:solidFill>
                <a:schemeClr val="bg1">
                  <a:lumMod val="65000"/>
                </a:schemeClr>
              </a:solidFill>
              <a:latin typeface="Helvetica" panose="020B0604020202020204" pitchFamily="2" charset="0"/>
              <a:cs typeface="Poppins" panose="02000000000000000000" pitchFamily="2" charset="0"/>
            </a:endParaRPr>
          </a:p>
        </p:txBody>
      </p:sp>
      <p:sp>
        <p:nvSpPr>
          <p:cNvPr id="15" name="Подзаголовок 2">
            <a:extLst>
              <a:ext uri="{FF2B5EF4-FFF2-40B4-BE49-F238E27FC236}">
                <a16:creationId xmlns:a16="http://schemas.microsoft.com/office/drawing/2014/main" id="{3831FCED-B4AB-4606-95E9-0741D9065DBF}"/>
              </a:ext>
            </a:extLst>
          </p:cNvPr>
          <p:cNvSpPr txBox="1">
            <a:spLocks/>
          </p:cNvSpPr>
          <p:nvPr/>
        </p:nvSpPr>
        <p:spPr>
          <a:xfrm>
            <a:off x="5159261" y="3967902"/>
            <a:ext cx="1870472" cy="142279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  <a:defRPr/>
            </a:pPr>
            <a:r>
              <a:rPr lang="en-US" sz="900" b="1" kern="0" dirty="0"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03/ RAPID DEVELOPMENT</a:t>
            </a:r>
          </a:p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  <a:defRPr/>
            </a:pPr>
            <a:r>
              <a:rPr lang="en-US" sz="900" kern="0" dirty="0">
                <a:solidFill>
                  <a:schemeClr val="bg1">
                    <a:lumMod val="65000"/>
                  </a:schemeClr>
                </a:solidFill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We develop Microservices, Bigdata, IOT applications based on proven frameworks.</a:t>
            </a:r>
            <a:endParaRPr lang="en-US" sz="900" dirty="0">
              <a:solidFill>
                <a:schemeClr val="bg1">
                  <a:lumMod val="65000"/>
                </a:schemeClr>
              </a:solidFill>
              <a:latin typeface="Helvetica" panose="020B0604020202020204" pitchFamily="2" charset="0"/>
              <a:cs typeface="Poppins" panose="02000000000000000000" pitchFamily="2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0773BA7-B50F-482E-B753-ACB2E05E40C0}"/>
              </a:ext>
            </a:extLst>
          </p:cNvPr>
          <p:cNvSpPr/>
          <p:nvPr/>
        </p:nvSpPr>
        <p:spPr>
          <a:xfrm>
            <a:off x="4507394" y="2591991"/>
            <a:ext cx="36099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350" kern="0" dirty="0">
                <a:solidFill>
                  <a:schemeClr val="bg1"/>
                </a:solidFill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01</a:t>
            </a:r>
            <a:endParaRPr lang="ru-RU" sz="1350" dirty="0">
              <a:solidFill>
                <a:schemeClr val="bg1"/>
              </a:solidFill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E3FA4C9-59C2-4536-AB36-6440FD82F1E2}"/>
              </a:ext>
            </a:extLst>
          </p:cNvPr>
          <p:cNvSpPr/>
          <p:nvPr/>
        </p:nvSpPr>
        <p:spPr>
          <a:xfrm>
            <a:off x="5742072" y="3295650"/>
            <a:ext cx="36099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350" kern="0" dirty="0">
                <a:solidFill>
                  <a:schemeClr val="bg1"/>
                </a:solidFill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02</a:t>
            </a:r>
            <a:endParaRPr lang="ru-RU" sz="1350" dirty="0">
              <a:solidFill>
                <a:schemeClr val="bg1"/>
              </a:solidFill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42A6BDF-0D8F-430F-81C2-5D5C947586CD}"/>
              </a:ext>
            </a:extLst>
          </p:cNvPr>
          <p:cNvSpPr/>
          <p:nvPr/>
        </p:nvSpPr>
        <p:spPr>
          <a:xfrm>
            <a:off x="4507394" y="4000500"/>
            <a:ext cx="36099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350" kern="0" dirty="0">
                <a:solidFill>
                  <a:schemeClr val="bg1"/>
                </a:solidFill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03</a:t>
            </a:r>
            <a:endParaRPr lang="ru-RU" sz="1350" dirty="0">
              <a:solidFill>
                <a:schemeClr val="bg1"/>
              </a:solidFill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EA6D81CB-FCE6-42C4-89F7-C097A10692C5}"/>
              </a:ext>
            </a:extLst>
          </p:cNvPr>
          <p:cNvSpPr/>
          <p:nvPr/>
        </p:nvSpPr>
        <p:spPr>
          <a:xfrm>
            <a:off x="3225091" y="3290887"/>
            <a:ext cx="36099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350" kern="0" dirty="0">
                <a:solidFill>
                  <a:schemeClr val="bg1"/>
                </a:solidFill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04</a:t>
            </a:r>
            <a:endParaRPr lang="ru-RU" sz="1350" dirty="0">
              <a:solidFill>
                <a:schemeClr val="bg1"/>
              </a:solidFill>
            </a:endParaRPr>
          </a:p>
        </p:txBody>
      </p:sp>
      <p:pic>
        <p:nvPicPr>
          <p:cNvPr id="22" name="Graphic 21" descr="Pencil">
            <a:extLst>
              <a:ext uri="{FF2B5EF4-FFF2-40B4-BE49-F238E27FC236}">
                <a16:creationId xmlns:a16="http://schemas.microsoft.com/office/drawing/2014/main" id="{89637E59-A175-4967-B189-68C0BCC072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39649" y="1956597"/>
            <a:ext cx="560488" cy="560488"/>
          </a:xfrm>
          <a:prstGeom prst="rect">
            <a:avLst/>
          </a:prstGeom>
        </p:spPr>
      </p:pic>
      <p:pic>
        <p:nvPicPr>
          <p:cNvPr id="24" name="Graphic 23" descr="Flask">
            <a:extLst>
              <a:ext uri="{FF2B5EF4-FFF2-40B4-BE49-F238E27FC236}">
                <a16:creationId xmlns:a16="http://schemas.microsoft.com/office/drawing/2014/main" id="{81BB8F24-703E-4109-A222-9F72F739CB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42281" y="2536959"/>
            <a:ext cx="685800" cy="68580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82A5F9F8-7A77-4C09-9AD7-8292EE5F2743}"/>
              </a:ext>
            </a:extLst>
          </p:cNvPr>
          <p:cNvGrpSpPr/>
          <p:nvPr/>
        </p:nvGrpSpPr>
        <p:grpSpPr>
          <a:xfrm>
            <a:off x="3907003" y="3241467"/>
            <a:ext cx="807206" cy="721910"/>
            <a:chOff x="5209337" y="4321955"/>
            <a:chExt cx="1076274" cy="962547"/>
          </a:xfrm>
        </p:grpSpPr>
        <p:pic>
          <p:nvPicPr>
            <p:cNvPr id="28" name="Graphic 27" descr="Single gear">
              <a:extLst>
                <a:ext uri="{FF2B5EF4-FFF2-40B4-BE49-F238E27FC236}">
                  <a16:creationId xmlns:a16="http://schemas.microsoft.com/office/drawing/2014/main" id="{5321CE9A-8026-4542-8FD7-27E16BB1F3C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209337" y="4604012"/>
              <a:ext cx="666840" cy="666840"/>
            </a:xfrm>
            <a:prstGeom prst="rect">
              <a:avLst/>
            </a:prstGeom>
          </p:spPr>
        </p:pic>
        <p:pic>
          <p:nvPicPr>
            <p:cNvPr id="29" name="Graphic 28" descr="Single gear">
              <a:extLst>
                <a:ext uri="{FF2B5EF4-FFF2-40B4-BE49-F238E27FC236}">
                  <a16:creationId xmlns:a16="http://schemas.microsoft.com/office/drawing/2014/main" id="{2414E50B-A15D-4CA0-99D6-D9407EE818F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716579" y="4715470"/>
              <a:ext cx="569032" cy="569032"/>
            </a:xfrm>
            <a:prstGeom prst="rect">
              <a:avLst/>
            </a:prstGeom>
          </p:spPr>
        </p:pic>
        <p:pic>
          <p:nvPicPr>
            <p:cNvPr id="30" name="Graphic 29" descr="Single gear">
              <a:extLst>
                <a:ext uri="{FF2B5EF4-FFF2-40B4-BE49-F238E27FC236}">
                  <a16:creationId xmlns:a16="http://schemas.microsoft.com/office/drawing/2014/main" id="{90AB137F-5B9B-4086-A5B2-4254207E8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582372" y="4321955"/>
              <a:ext cx="569032" cy="569032"/>
            </a:xfrm>
            <a:prstGeom prst="rect">
              <a:avLst/>
            </a:prstGeom>
          </p:spPr>
        </p:pic>
      </p:grpSp>
      <p:pic>
        <p:nvPicPr>
          <p:cNvPr id="35" name="Graphic 34" descr="Dump truck">
            <a:extLst>
              <a:ext uri="{FF2B5EF4-FFF2-40B4-BE49-F238E27FC236}">
                <a16:creationId xmlns:a16="http://schemas.microsoft.com/office/drawing/2014/main" id="{756A0C28-5E64-4039-9279-3C0452122BE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H="1">
            <a:off x="2806317" y="2597338"/>
            <a:ext cx="685800" cy="6858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456F12B-3698-4C3A-B84F-1B10713F6709}"/>
              </a:ext>
            </a:extLst>
          </p:cNvPr>
          <p:cNvSpPr txBox="1"/>
          <p:nvPr/>
        </p:nvSpPr>
        <p:spPr>
          <a:xfrm>
            <a:off x="220747" y="4938949"/>
            <a:ext cx="31679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cap="small" dirty="0">
                <a:latin typeface="Arial"/>
              </a:rPr>
              <a:t>© 2018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77394564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8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3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2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6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3100"/>
                            </p:stCondLst>
                            <p:childTnLst>
                              <p:par>
                                <p:cTn id="5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 animBg="1"/>
      <p:bldP spid="6" grpId="0" animBg="1"/>
      <p:bldP spid="7" grpId="0" animBg="1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F90B31E9-4A25-4C57-8CD4-4DE1DC98F7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0286"/>
            <a:ext cx="9144000" cy="45801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636972-9ED5-4899-8033-134FF44840D2}"/>
              </a:ext>
            </a:extLst>
          </p:cNvPr>
          <p:cNvSpPr txBox="1"/>
          <p:nvPr/>
        </p:nvSpPr>
        <p:spPr>
          <a:xfrm>
            <a:off x="220747" y="4938949"/>
            <a:ext cx="31679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cap="small" dirty="0">
                <a:latin typeface="Arial"/>
              </a:rPr>
              <a:t>© 2018 SYNECTIKS. All Rights Reserved. Proprietary and Confidential.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E4D867-70B1-4B80-9B46-00821E4D9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5866" y="-58890"/>
            <a:ext cx="325024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2000" cap="small" dirty="0">
                <a:solidFill>
                  <a:schemeClr val="bg2"/>
                </a:solidFill>
                <a:latin typeface="Raleway ExtraBold" panose="020B0903030101060003" pitchFamily="34" charset="0"/>
              </a:rPr>
              <a:t>Foundation</a:t>
            </a:r>
          </a:p>
        </p:txBody>
      </p:sp>
    </p:spTree>
    <p:extLst>
      <p:ext uri="{BB962C8B-B14F-4D97-AF65-F5344CB8AC3E}">
        <p14:creationId xmlns:p14="http://schemas.microsoft.com/office/powerpoint/2010/main" val="6459446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>
            <a:extLst>
              <a:ext uri="{FF2B5EF4-FFF2-40B4-BE49-F238E27FC236}">
                <a16:creationId xmlns:a16="http://schemas.microsoft.com/office/drawing/2014/main" id="{1988E320-CCDE-40FD-AA09-5D12ECEFDDD4}"/>
              </a:ext>
            </a:extLst>
          </p:cNvPr>
          <p:cNvGrpSpPr/>
          <p:nvPr/>
        </p:nvGrpSpPr>
        <p:grpSpPr>
          <a:xfrm>
            <a:off x="7710440" y="2301007"/>
            <a:ext cx="1159268" cy="248510"/>
            <a:chOff x="10280586" y="3286378"/>
            <a:chExt cx="1545691" cy="331346"/>
          </a:xfrm>
        </p:grpSpPr>
        <p:pic>
          <p:nvPicPr>
            <p:cNvPr id="103" name="Picture 102" descr="A close up of a logo&#10;&#10;Description generated with very high confidence">
              <a:extLst>
                <a:ext uri="{FF2B5EF4-FFF2-40B4-BE49-F238E27FC236}">
                  <a16:creationId xmlns:a16="http://schemas.microsoft.com/office/drawing/2014/main" id="{A6C66235-C741-441D-9EED-7DA9087826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80586" y="3286378"/>
              <a:ext cx="331346" cy="331346"/>
            </a:xfrm>
            <a:prstGeom prst="rect">
              <a:avLst/>
            </a:prstGeom>
          </p:spPr>
        </p:pic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6F75BF0B-FFE6-4324-BDAA-E64A0AD3C65D}"/>
                </a:ext>
              </a:extLst>
            </p:cNvPr>
            <p:cNvSpPr txBox="1"/>
            <p:nvPr/>
          </p:nvSpPr>
          <p:spPr>
            <a:xfrm>
              <a:off x="10697975" y="3351233"/>
              <a:ext cx="11283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50" cap="small" dirty="0">
                  <a:solidFill>
                    <a:schemeClr val="bg1"/>
                  </a:solidFill>
                </a:rPr>
                <a:t>DevOps</a:t>
              </a:r>
              <a:r>
                <a:rPr lang="en-US" sz="450" dirty="0">
                  <a:solidFill>
                    <a:schemeClr val="bg1"/>
                  </a:solidFill>
                </a:rPr>
                <a:t>  </a:t>
              </a:r>
              <a:r>
                <a:rPr lang="en-US" sz="450" cap="small" dirty="0">
                  <a:solidFill>
                    <a:schemeClr val="bg1"/>
                  </a:solidFill>
                </a:rPr>
                <a:t>Pipeline</a:t>
              </a:r>
            </a:p>
          </p:txBody>
        </p:sp>
      </p:grpSp>
      <p:sp>
        <p:nvSpPr>
          <p:cNvPr id="218" name="TextBox 217">
            <a:extLst>
              <a:ext uri="{FF2B5EF4-FFF2-40B4-BE49-F238E27FC236}">
                <a16:creationId xmlns:a16="http://schemas.microsoft.com/office/drawing/2014/main" id="{36C24136-A8EC-41DA-926D-1547A7178542}"/>
              </a:ext>
            </a:extLst>
          </p:cNvPr>
          <p:cNvSpPr txBox="1"/>
          <p:nvPr/>
        </p:nvSpPr>
        <p:spPr>
          <a:xfrm>
            <a:off x="8016338" y="2680519"/>
            <a:ext cx="949068" cy="161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" cap="small" dirty="0">
                <a:solidFill>
                  <a:schemeClr val="bg1"/>
                </a:solidFill>
              </a:rPr>
              <a:t>Open </a:t>
            </a:r>
            <a:r>
              <a:rPr lang="en-US" sz="450" cap="small" dirty="0" err="1">
                <a:solidFill>
                  <a:schemeClr val="bg1"/>
                </a:solidFill>
              </a:rPr>
              <a:t>Xformation</a:t>
            </a:r>
            <a:r>
              <a:rPr lang="en-US" sz="450" cap="small" dirty="0">
                <a:solidFill>
                  <a:schemeClr val="bg1"/>
                </a:solidFill>
              </a:rPr>
              <a:t> Platform</a:t>
            </a:r>
          </a:p>
        </p:txBody>
      </p:sp>
      <p:cxnSp>
        <p:nvCxnSpPr>
          <p:cNvPr id="116" name="Прямая соединительная линия 18">
            <a:extLst>
              <a:ext uri="{FF2B5EF4-FFF2-40B4-BE49-F238E27FC236}">
                <a16:creationId xmlns:a16="http://schemas.microsoft.com/office/drawing/2014/main" id="{DA77775E-E298-442B-9D15-B595118FCB3F}"/>
              </a:ext>
            </a:extLst>
          </p:cNvPr>
          <p:cNvCxnSpPr>
            <a:cxnSpLocks/>
          </p:cNvCxnSpPr>
          <p:nvPr/>
        </p:nvCxnSpPr>
        <p:spPr>
          <a:xfrm>
            <a:off x="5847164" y="3766622"/>
            <a:ext cx="1" cy="694746"/>
          </a:xfrm>
          <a:prstGeom prst="line">
            <a:avLst/>
          </a:prstGeom>
          <a:ln w="3175">
            <a:solidFill>
              <a:schemeClr val="bg1">
                <a:alpha val="31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Прямая соединительная линия 18">
            <a:extLst>
              <a:ext uri="{FF2B5EF4-FFF2-40B4-BE49-F238E27FC236}">
                <a16:creationId xmlns:a16="http://schemas.microsoft.com/office/drawing/2014/main" id="{CB0777CC-A3BE-48A0-AF7C-1159C2A6D65F}"/>
              </a:ext>
            </a:extLst>
          </p:cNvPr>
          <p:cNvCxnSpPr>
            <a:cxnSpLocks/>
          </p:cNvCxnSpPr>
          <p:nvPr/>
        </p:nvCxnSpPr>
        <p:spPr>
          <a:xfrm>
            <a:off x="3306272" y="3766622"/>
            <a:ext cx="1" cy="694746"/>
          </a:xfrm>
          <a:prstGeom prst="line">
            <a:avLst/>
          </a:prstGeom>
          <a:ln w="3175">
            <a:solidFill>
              <a:schemeClr val="bg1">
                <a:alpha val="31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4E6A3B5-DAF5-4889-92CB-98F581F9AFC2}"/>
              </a:ext>
            </a:extLst>
          </p:cNvPr>
          <p:cNvCxnSpPr/>
          <p:nvPr/>
        </p:nvCxnSpPr>
        <p:spPr>
          <a:xfrm flipH="1">
            <a:off x="2539346" y="3153691"/>
            <a:ext cx="1020162" cy="747460"/>
          </a:xfrm>
          <a:prstGeom prst="straightConnector1">
            <a:avLst/>
          </a:prstGeom>
          <a:ln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2D0B247F-45BB-458D-BED4-3359D298E420}"/>
              </a:ext>
            </a:extLst>
          </p:cNvPr>
          <p:cNvCxnSpPr>
            <a:cxnSpLocks/>
          </p:cNvCxnSpPr>
          <p:nvPr/>
        </p:nvCxnSpPr>
        <p:spPr>
          <a:xfrm flipH="1">
            <a:off x="4833132" y="3174503"/>
            <a:ext cx="331452" cy="618315"/>
          </a:xfrm>
          <a:prstGeom prst="straightConnector1">
            <a:avLst/>
          </a:prstGeom>
          <a:ln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2B3745AA-BAF5-48FE-B36E-D78A11703606}"/>
              </a:ext>
            </a:extLst>
          </p:cNvPr>
          <p:cNvCxnSpPr>
            <a:cxnSpLocks/>
          </p:cNvCxnSpPr>
          <p:nvPr/>
        </p:nvCxnSpPr>
        <p:spPr>
          <a:xfrm>
            <a:off x="5493166" y="3087908"/>
            <a:ext cx="1269493" cy="770374"/>
          </a:xfrm>
          <a:prstGeom prst="straightConnector1">
            <a:avLst/>
          </a:prstGeom>
          <a:ln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628D8625-5688-49AB-BC33-3055DE6E75F4}"/>
              </a:ext>
            </a:extLst>
          </p:cNvPr>
          <p:cNvSpPr txBox="1"/>
          <p:nvPr/>
        </p:nvSpPr>
        <p:spPr>
          <a:xfrm>
            <a:off x="220747" y="4938949"/>
            <a:ext cx="31679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cap="small" dirty="0">
                <a:solidFill>
                  <a:schemeClr val="bg1"/>
                </a:solidFill>
                <a:latin typeface="Arial"/>
              </a:rPr>
              <a:t>© 2018 SYNECTIKS. All Rights Reserved. Proprietary and Confidential.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2CCFD1F1-7871-4678-B5AC-4FD64A8D3F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5092" y="-88054"/>
            <a:ext cx="267276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2000" cap="small" dirty="0">
                <a:solidFill>
                  <a:schemeClr val="bg2"/>
                </a:solidFill>
                <a:latin typeface="Raleway ExtraBold" panose="020B0903030101060003" pitchFamily="34" charset="0"/>
              </a:rPr>
              <a:t>Cultural Impact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FC902A9-0839-40E7-9198-1B1C73633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2056"/>
            <a:ext cx="9143999" cy="4831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9819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250" tmFilter="0,0; .5, 1; 1, 1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" grpId="0"/>
      <p:bldP spid="20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3599" y="0"/>
            <a:ext cx="4914900" cy="252962"/>
          </a:xfrm>
        </p:spPr>
        <p:txBody>
          <a:bodyPr/>
          <a:lstStyle/>
          <a:p>
            <a:r>
              <a:rPr lang="en-US" sz="1800" b="1" cap="small" dirty="0">
                <a:latin typeface="Helvetica" panose="020B0604020202020204" pitchFamily="2" charset="0"/>
              </a:rPr>
              <a:t>/Simplify</a:t>
            </a:r>
            <a:endParaRPr lang="en-US" dirty="0">
              <a:latin typeface="Helvetica" panose="020B0604020202020204" pitchFamily="2" charset="0"/>
            </a:endParaRPr>
          </a:p>
        </p:txBody>
      </p:sp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D8EF73-7BD9-4B0D-B128-AD39FF76B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2962"/>
            <a:ext cx="9144000" cy="449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876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3599" y="0"/>
            <a:ext cx="4914900" cy="252962"/>
          </a:xfrm>
        </p:spPr>
        <p:txBody>
          <a:bodyPr/>
          <a:lstStyle/>
          <a:p>
            <a:r>
              <a:rPr lang="en-US" sz="1800" b="1" cap="small" dirty="0">
                <a:latin typeface="Helvetica" panose="020B0604020202020204" pitchFamily="2" charset="0"/>
              </a:rPr>
              <a:t>/Software Defined</a:t>
            </a:r>
            <a:endParaRPr lang="en-US" dirty="0">
              <a:latin typeface="Helvetica" panose="020B0604020202020204" pitchFamily="2" charset="0"/>
            </a:endParaRPr>
          </a:p>
        </p:txBody>
      </p:sp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CCE9AE-0C80-4F2B-A359-ABFA9814EB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2962"/>
            <a:ext cx="9144000" cy="4577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331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3599" y="0"/>
            <a:ext cx="4914900" cy="252962"/>
          </a:xfrm>
        </p:spPr>
        <p:txBody>
          <a:bodyPr/>
          <a:lstStyle/>
          <a:p>
            <a:r>
              <a:rPr lang="en-US" sz="1800" b="1" cap="small" dirty="0">
                <a:latin typeface="Helvetica" panose="020B0604020202020204" pitchFamily="2" charset="0"/>
              </a:rPr>
              <a:t>Continuous Delivery</a:t>
            </a:r>
            <a:endParaRPr lang="en-US" dirty="0">
              <a:latin typeface="Helvetica" panose="020B0604020202020204" pitchFamily="2" charset="0"/>
            </a:endParaRPr>
          </a:p>
        </p:txBody>
      </p:sp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72A6A6-E9AC-4C45-85C6-8C5962154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2962"/>
            <a:ext cx="8917099" cy="4577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805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3599" y="0"/>
            <a:ext cx="4914900" cy="252962"/>
          </a:xfrm>
        </p:spPr>
        <p:txBody>
          <a:bodyPr/>
          <a:lstStyle/>
          <a:p>
            <a:r>
              <a:rPr lang="en-US" sz="1800" b="1" cap="small" dirty="0">
                <a:latin typeface="Helvetica" panose="020B0604020202020204" pitchFamily="2" charset="0"/>
              </a:rPr>
              <a:t>Operation Central</a:t>
            </a:r>
            <a:endParaRPr lang="en-US" dirty="0">
              <a:latin typeface="Helvetica" panose="020B0604020202020204" pitchFamily="2" charset="0"/>
            </a:endParaRPr>
          </a:p>
        </p:txBody>
      </p:sp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A9B713-EEF4-4C88-833D-6EFF9F5F2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4206"/>
            <a:ext cx="9144000" cy="434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086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3599" y="0"/>
            <a:ext cx="4914900" cy="252962"/>
          </a:xfrm>
        </p:spPr>
        <p:txBody>
          <a:bodyPr/>
          <a:lstStyle/>
          <a:p>
            <a:r>
              <a:rPr lang="en-US" sz="1800" b="1" cap="small" dirty="0">
                <a:latin typeface="Helvetica" panose="020B0604020202020204" pitchFamily="2" charset="0"/>
              </a:rPr>
              <a:t>Service Quality Central</a:t>
            </a:r>
            <a:endParaRPr lang="en-US" dirty="0">
              <a:latin typeface="Helvetica" panose="020B0604020202020204" pitchFamily="2" charset="0"/>
            </a:endParaRPr>
          </a:p>
        </p:txBody>
      </p:sp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EB0F90-63E4-4CF1-B774-CA9EDD78F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8343"/>
            <a:ext cx="9169656" cy="4391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098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3599" y="0"/>
            <a:ext cx="4914900" cy="252962"/>
          </a:xfrm>
        </p:spPr>
        <p:txBody>
          <a:bodyPr/>
          <a:lstStyle/>
          <a:p>
            <a:r>
              <a:rPr lang="en-US" sz="1800" b="1" cap="small" dirty="0">
                <a:latin typeface="Helvetica" panose="020B0604020202020204" pitchFamily="2" charset="0"/>
              </a:rPr>
              <a:t>Billing Central</a:t>
            </a:r>
            <a:endParaRPr lang="en-US" dirty="0">
              <a:latin typeface="Helvetica" panose="020B0604020202020204" pitchFamily="2" charset="0"/>
            </a:endParaRPr>
          </a:p>
        </p:txBody>
      </p:sp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329DA1-F0E1-4031-B680-CAF030A06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56" y="252962"/>
            <a:ext cx="9144000" cy="4568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001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F7EED0-9380-4BC8-B1CB-4A610AB6D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5866" y="-58890"/>
            <a:ext cx="356283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2000" cap="small" dirty="0">
                <a:solidFill>
                  <a:schemeClr val="bg2"/>
                </a:solidFill>
                <a:latin typeface="Raleway ExtraBold" panose="020B0903030101060003" pitchFamily="34" charset="0"/>
              </a:rPr>
              <a:t>Compliance Central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78EBF6-2416-4C6C-ACC7-A1E46E94B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4555"/>
            <a:ext cx="8917100" cy="4614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412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0" name="Прямоугольник 6">
            <a:extLst>
              <a:ext uri="{FF2B5EF4-FFF2-40B4-BE49-F238E27FC236}">
                <a16:creationId xmlns:a16="http://schemas.microsoft.com/office/drawing/2014/main" id="{48EB6FCA-1CEC-43C4-B09D-3D88DE77228C}"/>
              </a:ext>
            </a:extLst>
          </p:cNvPr>
          <p:cNvSpPr/>
          <p:nvPr/>
        </p:nvSpPr>
        <p:spPr>
          <a:xfrm>
            <a:off x="5288525" y="415248"/>
            <a:ext cx="1781175" cy="4444391"/>
          </a:xfrm>
          <a:prstGeom prst="rect">
            <a:avLst/>
          </a:prstGeom>
          <a:solidFill>
            <a:srgbClr val="E239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F7EED0-9380-4BC8-B1CB-4A610AB6D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2545" y="-96754"/>
            <a:ext cx="303196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2000" cap="small" dirty="0">
                <a:solidFill>
                  <a:schemeClr val="bg2"/>
                </a:solidFill>
                <a:latin typeface="Raleway ExtraBold" panose="020B0903030101060003" pitchFamily="34" charset="0"/>
              </a:rPr>
              <a:t>Automation Engine</a:t>
            </a:r>
          </a:p>
        </p:txBody>
      </p:sp>
      <p:sp>
        <p:nvSpPr>
          <p:cNvPr id="12" name="Овал 9">
            <a:extLst>
              <a:ext uri="{FF2B5EF4-FFF2-40B4-BE49-F238E27FC236}">
                <a16:creationId xmlns:a16="http://schemas.microsoft.com/office/drawing/2014/main" id="{4E003DD6-DED2-4DC8-A8C0-932A1928571E}"/>
              </a:ext>
            </a:extLst>
          </p:cNvPr>
          <p:cNvSpPr/>
          <p:nvPr/>
        </p:nvSpPr>
        <p:spPr>
          <a:xfrm>
            <a:off x="5734711" y="669630"/>
            <a:ext cx="785813" cy="78700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4" name="Прямоугольник 2">
            <a:extLst>
              <a:ext uri="{FF2B5EF4-FFF2-40B4-BE49-F238E27FC236}">
                <a16:creationId xmlns:a16="http://schemas.microsoft.com/office/drawing/2014/main" id="{957D84D2-247A-465A-82EC-130F72568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3444" y="1190848"/>
            <a:ext cx="626390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700" b="1" cap="small" dirty="0">
                <a:latin typeface="+mn-lt"/>
              </a:rPr>
              <a:t>Elastic</a:t>
            </a:r>
          </a:p>
        </p:txBody>
      </p:sp>
      <p:sp>
        <p:nvSpPr>
          <p:cNvPr id="15" name="Овал 12">
            <a:extLst>
              <a:ext uri="{FF2B5EF4-FFF2-40B4-BE49-F238E27FC236}">
                <a16:creationId xmlns:a16="http://schemas.microsoft.com/office/drawing/2014/main" id="{85284CDB-E8CC-4CF2-A281-EDA669DC1C15}"/>
              </a:ext>
            </a:extLst>
          </p:cNvPr>
          <p:cNvSpPr/>
          <p:nvPr/>
        </p:nvSpPr>
        <p:spPr>
          <a:xfrm>
            <a:off x="5734711" y="2243599"/>
            <a:ext cx="785813" cy="787004"/>
          </a:xfrm>
          <a:prstGeom prst="ellipse">
            <a:avLst/>
          </a:prstGeom>
          <a:solidFill>
            <a:srgbClr val="E2393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6" name="Овал 13">
            <a:extLst>
              <a:ext uri="{FF2B5EF4-FFF2-40B4-BE49-F238E27FC236}">
                <a16:creationId xmlns:a16="http://schemas.microsoft.com/office/drawing/2014/main" id="{52C7137A-DE28-4318-9858-D3BE47E52A3B}"/>
              </a:ext>
            </a:extLst>
          </p:cNvPr>
          <p:cNvSpPr/>
          <p:nvPr/>
        </p:nvSpPr>
        <p:spPr>
          <a:xfrm>
            <a:off x="5740889" y="3827513"/>
            <a:ext cx="785813" cy="787004"/>
          </a:xfrm>
          <a:prstGeom prst="ellipse">
            <a:avLst/>
          </a:prstGeom>
          <a:solidFill>
            <a:srgbClr val="E2393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cxnSp>
        <p:nvCxnSpPr>
          <p:cNvPr id="17" name="Прямая соединительная линия 14">
            <a:extLst>
              <a:ext uri="{FF2B5EF4-FFF2-40B4-BE49-F238E27FC236}">
                <a16:creationId xmlns:a16="http://schemas.microsoft.com/office/drawing/2014/main" id="{94619D98-BEFE-4DDB-945C-831F2503F793}"/>
              </a:ext>
            </a:extLst>
          </p:cNvPr>
          <p:cNvCxnSpPr>
            <a:stCxn id="12" idx="4"/>
            <a:endCxn id="15" idx="0"/>
          </p:cNvCxnSpPr>
          <p:nvPr/>
        </p:nvCxnSpPr>
        <p:spPr>
          <a:xfrm>
            <a:off x="6127618" y="1456634"/>
            <a:ext cx="0" cy="78696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7">
            <a:extLst>
              <a:ext uri="{FF2B5EF4-FFF2-40B4-BE49-F238E27FC236}">
                <a16:creationId xmlns:a16="http://schemas.microsoft.com/office/drawing/2014/main" id="{C2992437-0A1A-45FB-910F-E843DA28C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8701" y="2739966"/>
            <a:ext cx="808434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700" b="1" cap="small" dirty="0">
                <a:latin typeface="+mn-lt"/>
              </a:rPr>
              <a:t>Real-Time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B73EE3CE-DA9A-4C25-9D9C-114637B244B1}"/>
              </a:ext>
            </a:extLst>
          </p:cNvPr>
          <p:cNvCxnSpPr>
            <a:cxnSpLocks/>
            <a:stCxn id="15" idx="4"/>
            <a:endCxn id="16" idx="0"/>
          </p:cNvCxnSpPr>
          <p:nvPr/>
        </p:nvCxnSpPr>
        <p:spPr>
          <a:xfrm>
            <a:off x="6127618" y="3030603"/>
            <a:ext cx="6178" cy="7969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76F4463-9E9A-49F2-B5B0-F6630F09F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8156" y="4342930"/>
            <a:ext cx="590549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700" b="1" cap="small" dirty="0">
                <a:latin typeface="+mn-lt"/>
              </a:rPr>
              <a:t>Resilient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72EFA6-E0CF-49E1-9E51-06BF8FAAB50B}"/>
              </a:ext>
            </a:extLst>
          </p:cNvPr>
          <p:cNvSpPr txBox="1"/>
          <p:nvPr/>
        </p:nvSpPr>
        <p:spPr>
          <a:xfrm>
            <a:off x="7166112" y="1040566"/>
            <a:ext cx="178117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Runs automations / audits / patches / application delivery / tests jobs into 1 single elastic cluster</a:t>
            </a:r>
          </a:p>
          <a:p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Every job is written in python, in 1 single unified way, easily plugged to automation platform </a:t>
            </a:r>
          </a:p>
          <a:p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Real-time visibility + diagnostics</a:t>
            </a:r>
          </a:p>
          <a:p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Resilience</a:t>
            </a:r>
          </a:p>
          <a:p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Agility</a:t>
            </a:r>
          </a:p>
          <a:p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Reliability / Manageability / Extension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B158F5E7-37F1-4DF3-9342-981908CAC560}"/>
              </a:ext>
            </a:extLst>
          </p:cNvPr>
          <p:cNvGrpSpPr/>
          <p:nvPr/>
        </p:nvGrpSpPr>
        <p:grpSpPr>
          <a:xfrm>
            <a:off x="270397" y="682303"/>
            <a:ext cx="4687231" cy="4198323"/>
            <a:chOff x="264219" y="680307"/>
            <a:chExt cx="4687231" cy="4198323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79905A2E-1B43-4686-BBC0-F385D0A04974}"/>
                </a:ext>
              </a:extLst>
            </p:cNvPr>
            <p:cNvCxnSpPr>
              <a:cxnSpLocks/>
            </p:cNvCxnSpPr>
            <p:nvPr/>
          </p:nvCxnSpPr>
          <p:spPr>
            <a:xfrm>
              <a:off x="2066925" y="4063314"/>
              <a:ext cx="611377" cy="409389"/>
            </a:xfrm>
            <a:prstGeom prst="line">
              <a:avLst/>
            </a:prstGeom>
            <a:ln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7C4C19AD-31DC-4F3C-938D-28E2E4DF3142}"/>
                </a:ext>
              </a:extLst>
            </p:cNvPr>
            <p:cNvCxnSpPr>
              <a:endCxn id="41" idx="0"/>
            </p:cNvCxnSpPr>
            <p:nvPr/>
          </p:nvCxnSpPr>
          <p:spPr>
            <a:xfrm>
              <a:off x="3491117" y="3461242"/>
              <a:ext cx="6162" cy="147399"/>
            </a:xfrm>
            <a:prstGeom prst="line">
              <a:avLst/>
            </a:prstGeom>
            <a:ln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3D78BC96-7B2D-4357-93C0-74CFD727E02C}"/>
                </a:ext>
              </a:extLst>
            </p:cNvPr>
            <p:cNvCxnSpPr/>
            <p:nvPr/>
          </p:nvCxnSpPr>
          <p:spPr>
            <a:xfrm>
              <a:off x="2718430" y="3030603"/>
              <a:ext cx="0" cy="430639"/>
            </a:xfrm>
            <a:prstGeom prst="line">
              <a:avLst/>
            </a:prstGeom>
            <a:ln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DA9B233-52A0-487A-BC1A-A8B59A8765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90507" y="2918522"/>
              <a:ext cx="546213" cy="542720"/>
            </a:xfrm>
            <a:prstGeom prst="line">
              <a:avLst/>
            </a:prstGeom>
            <a:ln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45C3FB1C-FE46-40C4-8913-B4ACC4B60BAC}"/>
                </a:ext>
              </a:extLst>
            </p:cNvPr>
            <p:cNvCxnSpPr>
              <a:cxnSpLocks/>
              <a:stCxn id="32" idx="2"/>
            </p:cNvCxnSpPr>
            <p:nvPr/>
          </p:nvCxnSpPr>
          <p:spPr>
            <a:xfrm>
              <a:off x="4221284" y="2035035"/>
              <a:ext cx="14558" cy="888901"/>
            </a:xfrm>
            <a:prstGeom prst="line">
              <a:avLst/>
            </a:prstGeom>
            <a:ln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BCED3A86-A135-4191-AF42-626C8ADED0B8}"/>
                </a:ext>
              </a:extLst>
            </p:cNvPr>
            <p:cNvCxnSpPr>
              <a:stCxn id="31" idx="2"/>
            </p:cNvCxnSpPr>
            <p:nvPr/>
          </p:nvCxnSpPr>
          <p:spPr>
            <a:xfrm>
              <a:off x="2517084" y="2035035"/>
              <a:ext cx="0" cy="669511"/>
            </a:xfrm>
            <a:prstGeom prst="line">
              <a:avLst/>
            </a:prstGeom>
            <a:ln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416076CC-1226-4F3D-ABE3-6380C35206E1}"/>
                </a:ext>
              </a:extLst>
            </p:cNvPr>
            <p:cNvCxnSpPr>
              <a:stCxn id="6" idx="2"/>
            </p:cNvCxnSpPr>
            <p:nvPr/>
          </p:nvCxnSpPr>
          <p:spPr>
            <a:xfrm>
              <a:off x="850628" y="2035035"/>
              <a:ext cx="0" cy="536715"/>
            </a:xfrm>
            <a:prstGeom prst="line">
              <a:avLst/>
            </a:prstGeom>
            <a:ln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BE90E7EE-0991-4FBD-9D1D-86AFC9E50303}"/>
                </a:ext>
              </a:extLst>
            </p:cNvPr>
            <p:cNvCxnSpPr>
              <a:cxnSpLocks/>
              <a:endCxn id="32" idx="0"/>
            </p:cNvCxnSpPr>
            <p:nvPr/>
          </p:nvCxnSpPr>
          <p:spPr>
            <a:xfrm>
              <a:off x="2758003" y="1075199"/>
              <a:ext cx="1463281" cy="707886"/>
            </a:xfrm>
            <a:prstGeom prst="line">
              <a:avLst/>
            </a:prstGeom>
            <a:ln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B4DBD1CC-3B9C-4B31-8829-549D42879230}"/>
                </a:ext>
              </a:extLst>
            </p:cNvPr>
            <p:cNvSpPr/>
            <p:nvPr/>
          </p:nvSpPr>
          <p:spPr>
            <a:xfrm>
              <a:off x="2212283" y="680307"/>
              <a:ext cx="596348" cy="60183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noFill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5AB0F32-768D-45D5-88B4-B06AA3BEC579}"/>
                </a:ext>
              </a:extLst>
            </p:cNvPr>
            <p:cNvSpPr txBox="1"/>
            <p:nvPr/>
          </p:nvSpPr>
          <p:spPr>
            <a:xfrm>
              <a:off x="2234232" y="870224"/>
              <a:ext cx="59634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Master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6702D18-2E5A-4808-8A80-06B1335762E8}"/>
                </a:ext>
              </a:extLst>
            </p:cNvPr>
            <p:cNvSpPr/>
            <p:nvPr/>
          </p:nvSpPr>
          <p:spPr>
            <a:xfrm>
              <a:off x="264219" y="1783085"/>
              <a:ext cx="1172818" cy="251950"/>
            </a:xfrm>
            <a:prstGeom prst="round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Automation Bots</a:t>
              </a: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4213FFBC-E656-45C7-93F8-5E0C2ED07EDC}"/>
                </a:ext>
              </a:extLst>
            </p:cNvPr>
            <p:cNvSpPr/>
            <p:nvPr/>
          </p:nvSpPr>
          <p:spPr>
            <a:xfrm>
              <a:off x="1857788" y="1783085"/>
              <a:ext cx="1318591" cy="251950"/>
            </a:xfrm>
            <a:prstGeom prst="round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Continuous Audits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EAA5B249-5A37-4E2D-884A-A846F62D6C78}"/>
                </a:ext>
              </a:extLst>
            </p:cNvPr>
            <p:cNvSpPr/>
            <p:nvPr/>
          </p:nvSpPr>
          <p:spPr>
            <a:xfrm>
              <a:off x="3491117" y="1783085"/>
              <a:ext cx="1460333" cy="251950"/>
            </a:xfrm>
            <a:prstGeom prst="round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Continuous Delivery</a:t>
              </a:r>
            </a:p>
          </p:txBody>
        </p:sp>
        <p:sp>
          <p:nvSpPr>
            <p:cNvPr id="7" name="Hexagon 6">
              <a:extLst>
                <a:ext uri="{FF2B5EF4-FFF2-40B4-BE49-F238E27FC236}">
                  <a16:creationId xmlns:a16="http://schemas.microsoft.com/office/drawing/2014/main" id="{85FAC5F9-5C20-4FB4-95E4-BA78B141CFEB}"/>
                </a:ext>
              </a:extLst>
            </p:cNvPr>
            <p:cNvSpPr/>
            <p:nvPr/>
          </p:nvSpPr>
          <p:spPr>
            <a:xfrm>
              <a:off x="2220595" y="2440374"/>
              <a:ext cx="497835" cy="408902"/>
            </a:xfrm>
            <a:prstGeom prst="hexagon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3" name="Hexagon 32">
              <a:extLst>
                <a:ext uri="{FF2B5EF4-FFF2-40B4-BE49-F238E27FC236}">
                  <a16:creationId xmlns:a16="http://schemas.microsoft.com/office/drawing/2014/main" id="{612A6FF0-8112-4A8A-A1D1-6EF0DE527AA5}"/>
                </a:ext>
              </a:extLst>
            </p:cNvPr>
            <p:cNvSpPr/>
            <p:nvPr/>
          </p:nvSpPr>
          <p:spPr>
            <a:xfrm>
              <a:off x="2352681" y="2572460"/>
              <a:ext cx="497835" cy="408902"/>
            </a:xfrm>
            <a:prstGeom prst="hexagon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4" name="Hexagon 33">
              <a:extLst>
                <a:ext uri="{FF2B5EF4-FFF2-40B4-BE49-F238E27FC236}">
                  <a16:creationId xmlns:a16="http://schemas.microsoft.com/office/drawing/2014/main" id="{D1E24B82-FB78-441C-841E-5EEB16F599D7}"/>
                </a:ext>
              </a:extLst>
            </p:cNvPr>
            <p:cNvSpPr/>
            <p:nvPr/>
          </p:nvSpPr>
          <p:spPr>
            <a:xfrm>
              <a:off x="2484767" y="2704546"/>
              <a:ext cx="497835" cy="408902"/>
            </a:xfrm>
            <a:prstGeom prst="hexagon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5" name="Hexagon 34">
              <a:extLst>
                <a:ext uri="{FF2B5EF4-FFF2-40B4-BE49-F238E27FC236}">
                  <a16:creationId xmlns:a16="http://schemas.microsoft.com/office/drawing/2014/main" id="{C408DB98-F3EB-4222-9C4B-A31BCAF97C28}"/>
                </a:ext>
              </a:extLst>
            </p:cNvPr>
            <p:cNvSpPr/>
            <p:nvPr/>
          </p:nvSpPr>
          <p:spPr>
            <a:xfrm>
              <a:off x="630725" y="2490322"/>
              <a:ext cx="497835" cy="408902"/>
            </a:xfrm>
            <a:prstGeom prst="hexagon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Hexagon 35">
              <a:extLst>
                <a:ext uri="{FF2B5EF4-FFF2-40B4-BE49-F238E27FC236}">
                  <a16:creationId xmlns:a16="http://schemas.microsoft.com/office/drawing/2014/main" id="{159CA87A-DACF-49AD-A3AD-1E2C00D1C127}"/>
                </a:ext>
              </a:extLst>
            </p:cNvPr>
            <p:cNvSpPr/>
            <p:nvPr/>
          </p:nvSpPr>
          <p:spPr>
            <a:xfrm>
              <a:off x="775167" y="2653297"/>
              <a:ext cx="497835" cy="408902"/>
            </a:xfrm>
            <a:prstGeom prst="hexagon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Hexagon 36">
              <a:extLst>
                <a:ext uri="{FF2B5EF4-FFF2-40B4-BE49-F238E27FC236}">
                  <a16:creationId xmlns:a16="http://schemas.microsoft.com/office/drawing/2014/main" id="{30454326-40D1-4CDA-A2AD-DB50CAFA50CD}"/>
                </a:ext>
              </a:extLst>
            </p:cNvPr>
            <p:cNvSpPr/>
            <p:nvPr/>
          </p:nvSpPr>
          <p:spPr>
            <a:xfrm>
              <a:off x="3992278" y="2572460"/>
              <a:ext cx="497835" cy="408902"/>
            </a:xfrm>
            <a:prstGeom prst="hexagon">
              <a:avLst/>
            </a:prstGeom>
            <a:solidFill>
              <a:srgbClr val="64D0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Hexagon 37">
              <a:extLst>
                <a:ext uri="{FF2B5EF4-FFF2-40B4-BE49-F238E27FC236}">
                  <a16:creationId xmlns:a16="http://schemas.microsoft.com/office/drawing/2014/main" id="{1450D929-EE2F-48C3-8C4B-AB7708A232E6}"/>
                </a:ext>
              </a:extLst>
            </p:cNvPr>
            <p:cNvSpPr/>
            <p:nvPr/>
          </p:nvSpPr>
          <p:spPr>
            <a:xfrm>
              <a:off x="4136720" y="2704546"/>
              <a:ext cx="497835" cy="408902"/>
            </a:xfrm>
            <a:prstGeom prst="hexagon">
              <a:avLst/>
            </a:prstGeom>
            <a:solidFill>
              <a:srgbClr val="64D0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Hexagon 39">
              <a:extLst>
                <a:ext uri="{FF2B5EF4-FFF2-40B4-BE49-F238E27FC236}">
                  <a16:creationId xmlns:a16="http://schemas.microsoft.com/office/drawing/2014/main" id="{8F40C87E-3270-4C0C-A3DF-A3858CF9B311}"/>
                </a:ext>
              </a:extLst>
            </p:cNvPr>
            <p:cNvSpPr/>
            <p:nvPr/>
          </p:nvSpPr>
          <p:spPr>
            <a:xfrm>
              <a:off x="3873312" y="2478141"/>
              <a:ext cx="497835" cy="408902"/>
            </a:xfrm>
            <a:prstGeom prst="hexagon">
              <a:avLst/>
            </a:prstGeom>
            <a:solidFill>
              <a:srgbClr val="64D0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1" name="Picture Placeholder 37907">
              <a:extLst>
                <a:ext uri="{FF2B5EF4-FFF2-40B4-BE49-F238E27FC236}">
                  <a16:creationId xmlns:a16="http://schemas.microsoft.com/office/drawing/2014/main" id="{0DE5580E-8429-4856-ABA5-723CCC2EBF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40" r="25140"/>
            <a:stretch>
              <a:fillRect/>
            </a:stretch>
          </p:blipFill>
          <p:spPr>
            <a:xfrm>
              <a:off x="3329808" y="3608641"/>
              <a:ext cx="334942" cy="582666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7F0CF9FD-3694-4601-A005-E2B372562C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39110" y="3690789"/>
              <a:ext cx="645527" cy="500518"/>
            </a:xfrm>
            <a:prstGeom prst="rect">
              <a:avLst/>
            </a:prstGeom>
          </p:spPr>
        </p:pic>
        <p:sp>
          <p:nvSpPr>
            <p:cNvPr id="43" name="Cube 42">
              <a:extLst>
                <a:ext uri="{FF2B5EF4-FFF2-40B4-BE49-F238E27FC236}">
                  <a16:creationId xmlns:a16="http://schemas.microsoft.com/office/drawing/2014/main" id="{284D2A90-75E2-450C-BFD2-97D2716A0298}"/>
                </a:ext>
              </a:extLst>
            </p:cNvPr>
            <p:cNvSpPr/>
            <p:nvPr/>
          </p:nvSpPr>
          <p:spPr>
            <a:xfrm>
              <a:off x="667560" y="4472703"/>
              <a:ext cx="4188639" cy="405927"/>
            </a:xfrm>
            <a:prstGeom prst="cube">
              <a:avLst/>
            </a:prstGeom>
            <a:solidFill>
              <a:srgbClr val="34B2E4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MGMT(</a:t>
              </a:r>
              <a:r>
                <a:rPr lang="en-US" cap="small" dirty="0"/>
                <a:t>Visibility</a:t>
              </a:r>
              <a:r>
                <a:rPr lang="en-US" dirty="0"/>
                <a:t>)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A638FEF-836E-4AF8-8F67-A09C845E73EE}"/>
                </a:ext>
              </a:extLst>
            </p:cNvPr>
            <p:cNvSpPr txBox="1"/>
            <p:nvPr/>
          </p:nvSpPr>
          <p:spPr>
            <a:xfrm>
              <a:off x="1861930" y="2924664"/>
              <a:ext cx="77211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Workforce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2961640-289A-4521-BAE3-CC1E1ED2FA47}"/>
                </a:ext>
              </a:extLst>
            </p:cNvPr>
            <p:cNvSpPr txBox="1"/>
            <p:nvPr/>
          </p:nvSpPr>
          <p:spPr>
            <a:xfrm>
              <a:off x="1246951" y="4223020"/>
              <a:ext cx="115686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Time Series DB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EAAA1FE-AE7F-41F9-801D-0A07873ABC26}"/>
                </a:ext>
              </a:extLst>
            </p:cNvPr>
            <p:cNvSpPr txBox="1"/>
            <p:nvPr/>
          </p:nvSpPr>
          <p:spPr>
            <a:xfrm>
              <a:off x="3098949" y="4223020"/>
              <a:ext cx="115686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Search DB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A28C535-46D9-441A-8607-D32E077F4508}"/>
                </a:ext>
              </a:extLst>
            </p:cNvPr>
            <p:cNvCxnSpPr>
              <a:endCxn id="6" idx="0"/>
            </p:cNvCxnSpPr>
            <p:nvPr/>
          </p:nvCxnSpPr>
          <p:spPr>
            <a:xfrm flipH="1">
              <a:off x="850628" y="1116445"/>
              <a:ext cx="1383604" cy="666640"/>
            </a:xfrm>
            <a:prstGeom prst="line">
              <a:avLst/>
            </a:prstGeom>
            <a:ln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266B165D-8876-4D5B-9223-F40551C616B4}"/>
                </a:ext>
              </a:extLst>
            </p:cNvPr>
            <p:cNvCxnSpPr>
              <a:stCxn id="4" idx="4"/>
              <a:endCxn id="31" idx="0"/>
            </p:cNvCxnSpPr>
            <p:nvPr/>
          </p:nvCxnSpPr>
          <p:spPr>
            <a:xfrm>
              <a:off x="2510457" y="1282146"/>
              <a:ext cx="6627" cy="500939"/>
            </a:xfrm>
            <a:prstGeom prst="line">
              <a:avLst/>
            </a:prstGeom>
            <a:ln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530467D1-BB42-4084-9587-91853CB96BB9}"/>
                </a:ext>
              </a:extLst>
            </p:cNvPr>
            <p:cNvCxnSpPr/>
            <p:nvPr/>
          </p:nvCxnSpPr>
          <p:spPr>
            <a:xfrm>
              <a:off x="1549049" y="3460431"/>
              <a:ext cx="2041458" cy="0"/>
            </a:xfrm>
            <a:prstGeom prst="line">
              <a:avLst/>
            </a:prstGeom>
            <a:ln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2A34419F-74F7-4804-9E78-19678584B047}"/>
                </a:ext>
              </a:extLst>
            </p:cNvPr>
            <p:cNvCxnSpPr>
              <a:cxnSpLocks/>
            </p:cNvCxnSpPr>
            <p:nvPr/>
          </p:nvCxnSpPr>
          <p:spPr>
            <a:xfrm>
              <a:off x="1000898" y="3062479"/>
              <a:ext cx="548151" cy="395416"/>
            </a:xfrm>
            <a:prstGeom prst="line">
              <a:avLst/>
            </a:prstGeom>
            <a:ln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DBD2249B-5978-4049-AA7D-EC65B0DDBF13}"/>
                </a:ext>
              </a:extLst>
            </p:cNvPr>
            <p:cNvCxnSpPr>
              <a:endCxn id="42" idx="0"/>
            </p:cNvCxnSpPr>
            <p:nvPr/>
          </p:nvCxnSpPr>
          <p:spPr>
            <a:xfrm>
              <a:off x="1857788" y="3461242"/>
              <a:ext cx="4086" cy="229547"/>
            </a:xfrm>
            <a:prstGeom prst="line">
              <a:avLst/>
            </a:prstGeom>
            <a:ln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8B5DF4E0-DE64-42C9-B5A9-48DDFC1AC6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8430" y="4024093"/>
              <a:ext cx="611377" cy="446191"/>
            </a:xfrm>
            <a:prstGeom prst="line">
              <a:avLst/>
            </a:prstGeom>
            <a:ln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DA638FEF-836E-4AF8-8F67-A09C845E73EE}"/>
              </a:ext>
            </a:extLst>
          </p:cNvPr>
          <p:cNvSpPr txBox="1"/>
          <p:nvPr/>
        </p:nvSpPr>
        <p:spPr>
          <a:xfrm>
            <a:off x="160809" y="2936966"/>
            <a:ext cx="772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Workforce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A638FEF-836E-4AF8-8F67-A09C845E73EE}"/>
              </a:ext>
            </a:extLst>
          </p:cNvPr>
          <p:cNvSpPr txBox="1"/>
          <p:nvPr/>
        </p:nvSpPr>
        <p:spPr>
          <a:xfrm>
            <a:off x="3486839" y="2920484"/>
            <a:ext cx="772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Workforce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9485" y="3971336"/>
            <a:ext cx="390087" cy="390087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2846" y="789458"/>
            <a:ext cx="463794" cy="463794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7583" y="2389378"/>
            <a:ext cx="396104" cy="396104"/>
          </a:xfrm>
          <a:prstGeom prst="rect">
            <a:avLst/>
          </a:prstGeom>
        </p:spPr>
      </p:pic>
      <p:sp>
        <p:nvSpPr>
          <p:cNvPr id="65" name="Hexagon 64">
            <a:extLst>
              <a:ext uri="{FF2B5EF4-FFF2-40B4-BE49-F238E27FC236}">
                <a16:creationId xmlns:a16="http://schemas.microsoft.com/office/drawing/2014/main" id="{D1E24B82-FB78-441C-841E-5EEB16F599D7}"/>
              </a:ext>
            </a:extLst>
          </p:cNvPr>
          <p:cNvSpPr/>
          <p:nvPr/>
        </p:nvSpPr>
        <p:spPr>
          <a:xfrm>
            <a:off x="4292967" y="2852764"/>
            <a:ext cx="497835" cy="408902"/>
          </a:xfrm>
          <a:prstGeom prst="hexagon">
            <a:avLst/>
          </a:prstGeom>
          <a:solidFill>
            <a:srgbClr val="64D0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9702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5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4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75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15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 animBg="1"/>
      <p:bldP spid="14" grpId="0"/>
      <p:bldP spid="15" grpId="0" animBg="1"/>
      <p:bldP spid="16" grpId="0" animBg="1"/>
      <p:bldP spid="19" grpId="0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E664CB3-3A2C-46A5-8C4B-FB6A5503D255}"/>
              </a:ext>
            </a:extLst>
          </p:cNvPr>
          <p:cNvSpPr/>
          <p:nvPr/>
        </p:nvSpPr>
        <p:spPr>
          <a:xfrm>
            <a:off x="0" y="-14287"/>
            <a:ext cx="9144000" cy="2351485"/>
          </a:xfrm>
          <a:custGeom>
            <a:avLst/>
            <a:gdLst>
              <a:gd name="connsiteX0" fmla="*/ 0 w 12192000"/>
              <a:gd name="connsiteY0" fmla="*/ 0 h 2183642"/>
              <a:gd name="connsiteX1" fmla="*/ 12192000 w 12192000"/>
              <a:gd name="connsiteY1" fmla="*/ 0 h 2183642"/>
              <a:gd name="connsiteX2" fmla="*/ 12192000 w 12192000"/>
              <a:gd name="connsiteY2" fmla="*/ 2183642 h 2183642"/>
              <a:gd name="connsiteX3" fmla="*/ 0 w 12192000"/>
              <a:gd name="connsiteY3" fmla="*/ 2183642 h 2183642"/>
              <a:gd name="connsiteX4" fmla="*/ 0 w 12192000"/>
              <a:gd name="connsiteY4" fmla="*/ 0 h 2183642"/>
              <a:gd name="connsiteX0" fmla="*/ 0 w 12192000"/>
              <a:gd name="connsiteY0" fmla="*/ 0 h 3125337"/>
              <a:gd name="connsiteX1" fmla="*/ 12192000 w 12192000"/>
              <a:gd name="connsiteY1" fmla="*/ 0 h 3125337"/>
              <a:gd name="connsiteX2" fmla="*/ 12192000 w 12192000"/>
              <a:gd name="connsiteY2" fmla="*/ 2183642 h 3125337"/>
              <a:gd name="connsiteX3" fmla="*/ 27296 w 12192000"/>
              <a:gd name="connsiteY3" fmla="*/ 3125337 h 3125337"/>
              <a:gd name="connsiteX4" fmla="*/ 0 w 12192000"/>
              <a:gd name="connsiteY4" fmla="*/ 0 h 3125337"/>
              <a:gd name="connsiteX0" fmla="*/ 0 w 12192000"/>
              <a:gd name="connsiteY0" fmla="*/ 0 h 3135970"/>
              <a:gd name="connsiteX1" fmla="*/ 12192000 w 12192000"/>
              <a:gd name="connsiteY1" fmla="*/ 0 h 3135970"/>
              <a:gd name="connsiteX2" fmla="*/ 12192000 w 12192000"/>
              <a:gd name="connsiteY2" fmla="*/ 2183642 h 3135970"/>
              <a:gd name="connsiteX3" fmla="*/ 6031 w 12192000"/>
              <a:gd name="connsiteY3" fmla="*/ 3135970 h 3135970"/>
              <a:gd name="connsiteX4" fmla="*/ 0 w 12192000"/>
              <a:gd name="connsiteY4" fmla="*/ 0 h 3135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3135970">
                <a:moveTo>
                  <a:pt x="0" y="0"/>
                </a:moveTo>
                <a:lnTo>
                  <a:pt x="12192000" y="0"/>
                </a:lnTo>
                <a:lnTo>
                  <a:pt x="12192000" y="2183642"/>
                </a:lnTo>
                <a:lnTo>
                  <a:pt x="6031" y="3135970"/>
                </a:lnTo>
                <a:cubicBezTo>
                  <a:pt x="4021" y="2090647"/>
                  <a:pt x="2010" y="1045323"/>
                  <a:pt x="0" y="0"/>
                </a:cubicBezTo>
                <a:close/>
              </a:path>
            </a:pathLst>
          </a:custGeom>
          <a:solidFill>
            <a:schemeClr val="bg2">
              <a:lumMod val="10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97A429-38B1-48EE-9900-0CE58F8C4247}"/>
              </a:ext>
            </a:extLst>
          </p:cNvPr>
          <p:cNvSpPr txBox="1"/>
          <p:nvPr/>
        </p:nvSpPr>
        <p:spPr>
          <a:xfrm>
            <a:off x="1957235" y="-64637"/>
            <a:ext cx="5978128" cy="11456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lnSpc>
                <a:spcPts val="2700"/>
              </a:lnSpc>
              <a:defRPr/>
            </a:pPr>
            <a:endParaRPr lang="en-US" sz="3300" dirty="0">
              <a:solidFill>
                <a:schemeClr val="bg1"/>
              </a:solidFill>
              <a:latin typeface="Raleway ExtraBold" panose="020B0903030101060003" pitchFamily="34" charset="-52"/>
            </a:endParaRPr>
          </a:p>
          <a:p>
            <a:pPr algn="ctr">
              <a:lnSpc>
                <a:spcPts val="2700"/>
              </a:lnSpc>
              <a:defRPr/>
            </a:pPr>
            <a:r>
              <a:rPr lang="en-US" sz="900" kern="0" spc="38" dirty="0">
                <a:solidFill>
                  <a:schemeClr val="bg1"/>
                </a:solidFill>
                <a:latin typeface="Raleway ExtraBold" panose="020B0903030101060003" pitchFamily="34" charset="-52"/>
                <a:ea typeface="Karla" pitchFamily="2" charset="0"/>
                <a:cs typeface="Poppins" panose="02000000000000000000" pitchFamily="2" charset="0"/>
              </a:rPr>
              <a:t>SOME KEY DIFFERENTIATOR</a:t>
            </a:r>
            <a:endParaRPr lang="en-US" sz="900" spc="38" dirty="0">
              <a:solidFill>
                <a:schemeClr val="bg1"/>
              </a:solidFill>
              <a:latin typeface="Raleway ExtraBold" panose="020B0903030101060003" pitchFamily="34" charset="-52"/>
            </a:endParaRPr>
          </a:p>
          <a:p>
            <a:pPr algn="ctr">
              <a:lnSpc>
                <a:spcPts val="2700"/>
              </a:lnSpc>
              <a:defRPr/>
            </a:pPr>
            <a:endParaRPr lang="en-US" sz="3300" dirty="0">
              <a:solidFill>
                <a:schemeClr val="bg1"/>
              </a:solidFill>
              <a:latin typeface="Raleway ExtraBold" panose="020B0903030101060003" pitchFamily="34" charset="-52"/>
            </a:endParaRPr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E61CE43B-11AB-4B82-8510-5CE5B533E9CC}"/>
              </a:ext>
            </a:extLst>
          </p:cNvPr>
          <p:cNvSpPr txBox="1">
            <a:spLocks/>
          </p:cNvSpPr>
          <p:nvPr/>
        </p:nvSpPr>
        <p:spPr>
          <a:xfrm>
            <a:off x="447242" y="2783536"/>
            <a:ext cx="2705020" cy="159186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00"/>
              </a:lnSpc>
              <a:spcBef>
                <a:spcPts val="900"/>
              </a:spcBef>
              <a:buNone/>
              <a:defRPr/>
            </a:pPr>
            <a:r>
              <a:rPr lang="en-US" sz="1200" dirty="0">
                <a:latin typeface="Helvetica" panose="020B0604020202020204" pitchFamily="2" charset="0"/>
              </a:rPr>
              <a:t>Expertise</a:t>
            </a:r>
            <a:br>
              <a:rPr lang="en-US" sz="1050" dirty="0">
                <a:latin typeface="Helvetica" panose="020B0604020202020204" pitchFamily="2" charset="0"/>
              </a:rPr>
            </a:br>
            <a:r>
              <a:rPr lang="en-US" sz="1050" kern="0" dirty="0">
                <a:solidFill>
                  <a:schemeClr val="bg1">
                    <a:lumMod val="65000"/>
                  </a:schemeClr>
                </a:solidFill>
                <a:latin typeface="Helvetica" panose="020B0604020202020204" pitchFamily="2" charset="0"/>
              </a:rPr>
              <a:t>As IT changes so the resource requirement. We understand the minimal requirement and designed only 2 Types of resources  1) </a:t>
            </a:r>
            <a:r>
              <a:rPr lang="en-US" sz="1050" kern="0" dirty="0">
                <a:solidFill>
                  <a:schemeClr val="bg1">
                    <a:lumMod val="65000"/>
                  </a:schemeClr>
                </a:solidFill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Cloud Architect  2) DevOps </a:t>
            </a:r>
          </a:p>
          <a:p>
            <a:pPr marL="0" indent="0" algn="just">
              <a:lnSpc>
                <a:spcPts val="1500"/>
              </a:lnSpc>
              <a:spcBef>
                <a:spcPts val="900"/>
              </a:spcBef>
              <a:buNone/>
              <a:defRPr/>
            </a:pPr>
            <a:endParaRPr lang="en-US" sz="1050" kern="0" dirty="0">
              <a:solidFill>
                <a:schemeClr val="bg1">
                  <a:lumMod val="65000"/>
                </a:schemeClr>
              </a:solidFill>
              <a:latin typeface="Helvetica" panose="020B0604020202020204" pitchFamily="2" charset="0"/>
              <a:ea typeface="Karla" pitchFamily="2" charset="0"/>
              <a:cs typeface="Poppins" panose="02000000000000000000" pitchFamily="2" charset="0"/>
            </a:endParaRPr>
          </a:p>
          <a:p>
            <a:pPr marL="0" indent="0" algn="ctr">
              <a:lnSpc>
                <a:spcPts val="1500"/>
              </a:lnSpc>
              <a:spcBef>
                <a:spcPts val="900"/>
              </a:spcBef>
              <a:buNone/>
              <a:defRPr/>
            </a:pPr>
            <a:endParaRPr lang="pt-BR" sz="1050" kern="0" dirty="0">
              <a:solidFill>
                <a:schemeClr val="bg1">
                  <a:lumMod val="65000"/>
                </a:schemeClr>
              </a:solidFill>
              <a:latin typeface="Helvetica" panose="020B0604020202020204" pitchFamily="2" charset="0"/>
              <a:ea typeface="Karla" pitchFamily="2" charset="0"/>
              <a:cs typeface="Poppins" panose="02000000000000000000" pitchFamily="2" charset="0"/>
            </a:endParaRPr>
          </a:p>
          <a:p>
            <a:pPr marL="0" indent="0" algn="ctr">
              <a:lnSpc>
                <a:spcPts val="1500"/>
              </a:lnSpc>
              <a:spcBef>
                <a:spcPts val="900"/>
              </a:spcBef>
              <a:buNone/>
              <a:defRPr/>
            </a:pPr>
            <a:endParaRPr lang="en-US" sz="1050" dirty="0">
              <a:solidFill>
                <a:schemeClr val="bg1">
                  <a:lumMod val="65000"/>
                </a:schemeClr>
              </a:solidFill>
              <a:latin typeface="Helvetica" panose="020B0604020202020204" pitchFamily="2" charset="0"/>
              <a:cs typeface="Poppins" panose="02000000000000000000" pitchFamily="2" charset="0"/>
            </a:endParaRPr>
          </a:p>
        </p:txBody>
      </p:sp>
      <p:sp>
        <p:nvSpPr>
          <p:cNvPr id="14" name="Подзаголовок 2">
            <a:extLst>
              <a:ext uri="{FF2B5EF4-FFF2-40B4-BE49-F238E27FC236}">
                <a16:creationId xmlns:a16="http://schemas.microsoft.com/office/drawing/2014/main" id="{3186CA60-9173-4F3A-8125-0576704D6B31}"/>
              </a:ext>
            </a:extLst>
          </p:cNvPr>
          <p:cNvSpPr txBox="1">
            <a:spLocks/>
          </p:cNvSpPr>
          <p:nvPr/>
        </p:nvSpPr>
        <p:spPr>
          <a:xfrm>
            <a:off x="3604194" y="2783536"/>
            <a:ext cx="2662571" cy="1446265"/>
          </a:xfrm>
          <a:prstGeom prst="rect">
            <a:avLst/>
          </a:prstGeom>
        </p:spPr>
        <p:txBody>
          <a:bodyPr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00"/>
              </a:lnSpc>
              <a:spcBef>
                <a:spcPts val="900"/>
              </a:spcBef>
              <a:buNone/>
              <a:defRPr/>
            </a:pPr>
            <a:r>
              <a:rPr lang="en-US" sz="2475" dirty="0">
                <a:latin typeface="Helvetica" panose="020B0604020202020204" pitchFamily="2" charset="0"/>
              </a:rPr>
              <a:t>Experience</a:t>
            </a:r>
            <a:br>
              <a:rPr lang="en-US" sz="2475" dirty="0">
                <a:latin typeface="Helvetica" panose="020B0604020202020204" pitchFamily="2" charset="0"/>
              </a:rPr>
            </a:br>
            <a:r>
              <a:rPr lang="en-US" sz="2550" kern="0" dirty="0">
                <a:solidFill>
                  <a:schemeClr val="bg1">
                    <a:lumMod val="65000"/>
                  </a:schemeClr>
                </a:solidFill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We have done large transformation projects with Toyota, Reliance and addressed the technology and cultural challenges effectively and brought the changes, resulting significant improvement and savings</a:t>
            </a:r>
            <a:endParaRPr lang="pt-BR" sz="2550" kern="0" dirty="0">
              <a:solidFill>
                <a:schemeClr val="bg1">
                  <a:lumMod val="65000"/>
                </a:schemeClr>
              </a:solidFill>
              <a:latin typeface="Helvetica" panose="020B0604020202020204" pitchFamily="2" charset="0"/>
              <a:ea typeface="Karla" pitchFamily="2" charset="0"/>
              <a:cs typeface="Poppins" panose="02000000000000000000" pitchFamily="2" charset="0"/>
            </a:endParaRPr>
          </a:p>
          <a:p>
            <a:pPr marL="0" indent="0" algn="ctr">
              <a:lnSpc>
                <a:spcPts val="1500"/>
              </a:lnSpc>
              <a:spcBef>
                <a:spcPts val="900"/>
              </a:spcBef>
              <a:buNone/>
              <a:defRPr/>
            </a:pPr>
            <a:endParaRPr lang="en-US" sz="788" dirty="0">
              <a:solidFill>
                <a:schemeClr val="bg1">
                  <a:lumMod val="65000"/>
                </a:schemeClr>
              </a:solidFill>
              <a:latin typeface="Helvetica" panose="020B0604020202020204" pitchFamily="2" charset="0"/>
              <a:cs typeface="Poppins" panose="02000000000000000000" pitchFamily="2" charset="0"/>
            </a:endParaRPr>
          </a:p>
        </p:txBody>
      </p:sp>
      <p:sp>
        <p:nvSpPr>
          <p:cNvPr id="15" name="Подзаголовок 2">
            <a:extLst>
              <a:ext uri="{FF2B5EF4-FFF2-40B4-BE49-F238E27FC236}">
                <a16:creationId xmlns:a16="http://schemas.microsoft.com/office/drawing/2014/main" id="{51ECEF57-1CFD-4341-A1D3-02B276797BD2}"/>
              </a:ext>
            </a:extLst>
          </p:cNvPr>
          <p:cNvSpPr txBox="1">
            <a:spLocks/>
          </p:cNvSpPr>
          <p:nvPr/>
        </p:nvSpPr>
        <p:spPr>
          <a:xfrm>
            <a:off x="6594276" y="2783536"/>
            <a:ext cx="2102483" cy="131802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00"/>
              </a:lnSpc>
              <a:spcBef>
                <a:spcPts val="900"/>
              </a:spcBef>
              <a:buNone/>
              <a:defRPr/>
            </a:pPr>
            <a:r>
              <a:rPr lang="en-US" sz="1200" dirty="0">
                <a:latin typeface="Helvetica" panose="020B0604020202020204" pitchFamily="2" charset="0"/>
              </a:rPr>
              <a:t>Contribution</a:t>
            </a:r>
            <a:br>
              <a:rPr lang="en-US" sz="1050" dirty="0">
                <a:latin typeface="Helvetica" panose="020B0604020202020204" pitchFamily="2" charset="0"/>
              </a:rPr>
            </a:br>
            <a:r>
              <a:rPr lang="en-US" sz="1050" kern="0" dirty="0">
                <a:solidFill>
                  <a:schemeClr val="bg1">
                    <a:lumMod val="65000"/>
                  </a:schemeClr>
                </a:solidFill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We are continuously contributing open XFormation platform that is accelerating the transformation @50% Time &amp; Cost.</a:t>
            </a:r>
            <a:endParaRPr lang="pt-BR" sz="1050" kern="0" dirty="0">
              <a:solidFill>
                <a:schemeClr val="bg1">
                  <a:lumMod val="65000"/>
                </a:schemeClr>
              </a:solidFill>
              <a:latin typeface="Helvetica" panose="020B0604020202020204" pitchFamily="2" charset="0"/>
              <a:ea typeface="Karla" pitchFamily="2" charset="0"/>
              <a:cs typeface="Poppins" panose="02000000000000000000" pitchFamily="2" charset="0"/>
            </a:endParaRPr>
          </a:p>
          <a:p>
            <a:pPr marL="0" indent="0" algn="ctr">
              <a:lnSpc>
                <a:spcPts val="1500"/>
              </a:lnSpc>
              <a:spcBef>
                <a:spcPts val="900"/>
              </a:spcBef>
              <a:buNone/>
              <a:defRPr/>
            </a:pPr>
            <a:endParaRPr lang="en-US" sz="1050" dirty="0">
              <a:solidFill>
                <a:schemeClr val="bg1">
                  <a:lumMod val="65000"/>
                </a:schemeClr>
              </a:solidFill>
              <a:latin typeface="Helvetica" panose="020B0604020202020204" pitchFamily="2" charset="0"/>
              <a:cs typeface="Poppins" panose="02000000000000000000" pitchFamily="2" charset="0"/>
            </a:endParaRP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774268B8-0417-4B3E-9D20-8EB82A019C1F}"/>
              </a:ext>
            </a:extLst>
          </p:cNvPr>
          <p:cNvSpPr/>
          <p:nvPr/>
        </p:nvSpPr>
        <p:spPr>
          <a:xfrm>
            <a:off x="1273361" y="1320907"/>
            <a:ext cx="1086446" cy="1086446"/>
          </a:xfrm>
          <a:prstGeom prst="ellipse">
            <a:avLst/>
          </a:prstGeom>
          <a:solidFill>
            <a:srgbClr val="C00000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 dirty="0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16991A1E-CA56-4686-B3A5-40609513F9B1}"/>
              </a:ext>
            </a:extLst>
          </p:cNvPr>
          <p:cNvSpPr/>
          <p:nvPr/>
        </p:nvSpPr>
        <p:spPr>
          <a:xfrm>
            <a:off x="4301398" y="1310192"/>
            <a:ext cx="1086446" cy="1086446"/>
          </a:xfrm>
          <a:prstGeom prst="ellipse">
            <a:avLst/>
          </a:prstGeom>
          <a:solidFill>
            <a:srgbClr val="C00000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 dirty="0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28B598E9-EEBC-441A-A3F7-27D3E4724168}"/>
              </a:ext>
            </a:extLst>
          </p:cNvPr>
          <p:cNvSpPr/>
          <p:nvPr/>
        </p:nvSpPr>
        <p:spPr>
          <a:xfrm>
            <a:off x="7044559" y="1320907"/>
            <a:ext cx="1086446" cy="1086446"/>
          </a:xfrm>
          <a:prstGeom prst="ellipse">
            <a:avLst/>
          </a:prstGeom>
          <a:solidFill>
            <a:srgbClr val="C00000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 dirty="0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259EE303-43BC-48C9-9DBA-AE14FEDBF628}"/>
              </a:ext>
            </a:extLst>
          </p:cNvPr>
          <p:cNvSpPr/>
          <p:nvPr/>
        </p:nvSpPr>
        <p:spPr>
          <a:xfrm>
            <a:off x="1223266" y="4381955"/>
            <a:ext cx="1219628" cy="412623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 dirty="0"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B151113-DDC4-4297-BAEE-EF70EC4E57D9}"/>
              </a:ext>
            </a:extLst>
          </p:cNvPr>
          <p:cNvSpPr/>
          <p:nvPr/>
        </p:nvSpPr>
        <p:spPr>
          <a:xfrm>
            <a:off x="1392894" y="4361282"/>
            <a:ext cx="880370" cy="4551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1500"/>
              </a:lnSpc>
              <a:defRPr/>
            </a:pPr>
            <a:r>
              <a:rPr lang="en-US" sz="900" spc="75" dirty="0">
                <a:solidFill>
                  <a:schemeClr val="bg1"/>
                </a:solidFill>
                <a:latin typeface="Helvetica" panose="020B0604020202020204" pitchFamily="2" charset="0"/>
                <a:cs typeface="Poppins" panose="02000000000000000000" pitchFamily="2" charset="0"/>
              </a:rPr>
              <a:t>Specialized</a:t>
            </a:r>
          </a:p>
          <a:p>
            <a:pPr algn="ctr">
              <a:lnSpc>
                <a:spcPts val="1500"/>
              </a:lnSpc>
              <a:defRPr/>
            </a:pPr>
            <a:r>
              <a:rPr lang="en-US" sz="900" spc="75" dirty="0">
                <a:solidFill>
                  <a:schemeClr val="bg1"/>
                </a:solidFill>
                <a:latin typeface="Helvetica" panose="020B0604020202020204" pitchFamily="2" charset="0"/>
                <a:cs typeface="Poppins" panose="02000000000000000000" pitchFamily="2" charset="0"/>
              </a:rPr>
              <a:t>Resource</a:t>
            </a:r>
            <a:endParaRPr lang="en-US" sz="900" dirty="0">
              <a:solidFill>
                <a:schemeClr val="bg1"/>
              </a:solidFill>
              <a:latin typeface="Helvetica" panose="020B0604020202020204" pitchFamily="2" charset="0"/>
              <a:cs typeface="Poppins" panose="02000000000000000000" pitchFamily="2" charset="0"/>
            </a:endParaRP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7512DB86-6993-4A4A-AF4C-1DC2241625D8}"/>
              </a:ext>
            </a:extLst>
          </p:cNvPr>
          <p:cNvSpPr/>
          <p:nvPr/>
        </p:nvSpPr>
        <p:spPr>
          <a:xfrm>
            <a:off x="4231039" y="4149392"/>
            <a:ext cx="715260" cy="2555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1500"/>
              </a:lnSpc>
              <a:defRPr/>
            </a:pPr>
            <a:r>
              <a:rPr lang="en-US" sz="600" spc="75" dirty="0">
                <a:solidFill>
                  <a:schemeClr val="bg1"/>
                </a:solidFill>
                <a:latin typeface="Montserrat" panose="02000505000000020004" pitchFamily="2" charset="0"/>
                <a:cs typeface="Poppins" panose="02000000000000000000" pitchFamily="2" charset="0"/>
              </a:rPr>
              <a:t>Experience</a:t>
            </a:r>
            <a:endParaRPr lang="en-US" sz="600" dirty="0">
              <a:solidFill>
                <a:schemeClr val="bg1"/>
              </a:solidFill>
              <a:latin typeface="Montserrat" panose="02000505000000020004" pitchFamily="2" charset="0"/>
              <a:cs typeface="Poppins" panose="02000000000000000000" pitchFamily="2" charset="0"/>
            </a:endParaRPr>
          </a:p>
        </p:txBody>
      </p:sp>
      <p:sp>
        <p:nvSpPr>
          <p:cNvPr id="25" name="Прямоугольник 29">
            <a:extLst>
              <a:ext uri="{FF2B5EF4-FFF2-40B4-BE49-F238E27FC236}">
                <a16:creationId xmlns:a16="http://schemas.microsoft.com/office/drawing/2014/main" id="{6CFB4FEC-BE9F-4282-B091-6FF713F8498D}"/>
              </a:ext>
            </a:extLst>
          </p:cNvPr>
          <p:cNvSpPr/>
          <p:nvPr/>
        </p:nvSpPr>
        <p:spPr>
          <a:xfrm>
            <a:off x="4189429" y="4373962"/>
            <a:ext cx="1407080" cy="412623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 dirty="0"/>
          </a:p>
        </p:txBody>
      </p:sp>
      <p:sp>
        <p:nvSpPr>
          <p:cNvPr id="26" name="Прямоугольник 30">
            <a:extLst>
              <a:ext uri="{FF2B5EF4-FFF2-40B4-BE49-F238E27FC236}">
                <a16:creationId xmlns:a16="http://schemas.microsoft.com/office/drawing/2014/main" id="{A6A9CEB2-8B6E-41B7-8FD4-C843A5E760BB}"/>
              </a:ext>
            </a:extLst>
          </p:cNvPr>
          <p:cNvSpPr/>
          <p:nvPr/>
        </p:nvSpPr>
        <p:spPr>
          <a:xfrm>
            <a:off x="4291152" y="4351343"/>
            <a:ext cx="1162498" cy="4551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1500"/>
              </a:lnSpc>
              <a:defRPr/>
            </a:pPr>
            <a:r>
              <a:rPr lang="en-US" sz="900" spc="75" dirty="0">
                <a:solidFill>
                  <a:schemeClr val="bg1"/>
                </a:solidFill>
                <a:latin typeface="Helvetica" panose="020B0604020202020204" pitchFamily="2" charset="0"/>
                <a:cs typeface="Poppins" panose="02000000000000000000" pitchFamily="2" charset="0"/>
              </a:rPr>
              <a:t>Large </a:t>
            </a:r>
          </a:p>
          <a:p>
            <a:pPr algn="ctr">
              <a:lnSpc>
                <a:spcPts val="1500"/>
              </a:lnSpc>
              <a:defRPr/>
            </a:pPr>
            <a:r>
              <a:rPr lang="en-US" sz="900" spc="75" dirty="0">
                <a:solidFill>
                  <a:schemeClr val="bg1"/>
                </a:solidFill>
                <a:latin typeface="Helvetica" panose="020B0604020202020204" pitchFamily="2" charset="0"/>
                <a:cs typeface="Poppins" panose="02000000000000000000" pitchFamily="2" charset="0"/>
              </a:rPr>
              <a:t>Transformations</a:t>
            </a:r>
          </a:p>
        </p:txBody>
      </p:sp>
      <p:sp>
        <p:nvSpPr>
          <p:cNvPr id="27" name="Прямоугольник 29">
            <a:extLst>
              <a:ext uri="{FF2B5EF4-FFF2-40B4-BE49-F238E27FC236}">
                <a16:creationId xmlns:a16="http://schemas.microsoft.com/office/drawing/2014/main" id="{728AF450-6DCF-4653-A09E-D5FDB5D28ECD}"/>
              </a:ext>
            </a:extLst>
          </p:cNvPr>
          <p:cNvSpPr/>
          <p:nvPr/>
        </p:nvSpPr>
        <p:spPr>
          <a:xfrm>
            <a:off x="7097317" y="4361282"/>
            <a:ext cx="1219628" cy="412623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 dirty="0"/>
          </a:p>
        </p:txBody>
      </p:sp>
      <p:sp>
        <p:nvSpPr>
          <p:cNvPr id="28" name="Прямоугольник 30">
            <a:extLst>
              <a:ext uri="{FF2B5EF4-FFF2-40B4-BE49-F238E27FC236}">
                <a16:creationId xmlns:a16="http://schemas.microsoft.com/office/drawing/2014/main" id="{9D8C1839-076F-4E25-93F7-9A79082783D7}"/>
              </a:ext>
            </a:extLst>
          </p:cNvPr>
          <p:cNvSpPr/>
          <p:nvPr/>
        </p:nvSpPr>
        <p:spPr>
          <a:xfrm>
            <a:off x="7252385" y="4341404"/>
            <a:ext cx="970138" cy="4551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1500"/>
              </a:lnSpc>
              <a:defRPr/>
            </a:pPr>
            <a:r>
              <a:rPr lang="en-US" sz="900" spc="75" dirty="0">
                <a:solidFill>
                  <a:schemeClr val="bg1"/>
                </a:solidFill>
                <a:latin typeface="Helvetica" panose="020B0604020202020204" pitchFamily="2" charset="0"/>
                <a:cs typeface="Poppins" panose="02000000000000000000" pitchFamily="2" charset="0"/>
              </a:rPr>
              <a:t>Open Source</a:t>
            </a:r>
          </a:p>
          <a:p>
            <a:pPr algn="ctr">
              <a:lnSpc>
                <a:spcPts val="1500"/>
              </a:lnSpc>
              <a:defRPr/>
            </a:pPr>
            <a:r>
              <a:rPr lang="en-US" sz="900" spc="75" dirty="0">
                <a:solidFill>
                  <a:schemeClr val="bg1"/>
                </a:solidFill>
                <a:latin typeface="Helvetica" panose="020B0604020202020204" pitchFamily="2" charset="0"/>
                <a:cs typeface="Poppins" panose="02000000000000000000" pitchFamily="2" charset="0"/>
              </a:rPr>
              <a:t>Contribution</a:t>
            </a:r>
          </a:p>
        </p:txBody>
      </p:sp>
      <p:pic>
        <p:nvPicPr>
          <p:cNvPr id="19" name="Graphic 18" descr="Users">
            <a:extLst>
              <a:ext uri="{FF2B5EF4-FFF2-40B4-BE49-F238E27FC236}">
                <a16:creationId xmlns:a16="http://schemas.microsoft.com/office/drawing/2014/main" id="{1545692B-5ACE-4B51-B65E-8B583A0B57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42464" y="1392853"/>
            <a:ext cx="954037" cy="954037"/>
          </a:xfrm>
          <a:prstGeom prst="rect">
            <a:avLst/>
          </a:prstGeom>
        </p:spPr>
      </p:pic>
      <p:pic>
        <p:nvPicPr>
          <p:cNvPr id="36" name="Picture 35" descr="A picture containing furniture, table&#10;&#10;Description generated with high confidence">
            <a:extLst>
              <a:ext uri="{FF2B5EF4-FFF2-40B4-BE49-F238E27FC236}">
                <a16:creationId xmlns:a16="http://schemas.microsoft.com/office/drawing/2014/main" id="{1A4FBB28-22DF-48DF-9964-BF8531C887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3891" y="1431846"/>
            <a:ext cx="876050" cy="876050"/>
          </a:xfrm>
          <a:prstGeom prst="rect">
            <a:avLst/>
          </a:prstGeom>
        </p:spPr>
      </p:pic>
      <p:pic>
        <p:nvPicPr>
          <p:cNvPr id="3" name="Picture 2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994B4E33-77D8-429F-B13F-B7B623BF79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841" y="1456314"/>
            <a:ext cx="927559" cy="82847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B9F8DB7-045D-4141-AD9B-D45932F65A62}"/>
              </a:ext>
            </a:extLst>
          </p:cNvPr>
          <p:cNvSpPr txBox="1"/>
          <p:nvPr/>
        </p:nvSpPr>
        <p:spPr>
          <a:xfrm>
            <a:off x="220747" y="4938949"/>
            <a:ext cx="31679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cap="small" dirty="0">
                <a:latin typeface="Arial"/>
              </a:rPr>
              <a:t>© 2018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40400805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5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45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3100"/>
                            </p:stCondLst>
                            <p:childTnLst>
                              <p:par>
                                <p:cTn id="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750"/>
                            </p:stCondLst>
                            <p:childTnLst>
                              <p:par>
                                <p:cTn id="4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475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4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6050"/>
                            </p:stCondLst>
                            <p:childTnLst>
                              <p:par>
                                <p:cTn id="6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700"/>
                            </p:stCondLst>
                            <p:childTnLst>
                              <p:par>
                                <p:cTn id="7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7700"/>
                            </p:stCondLst>
                            <p:childTnLst>
                              <p:par>
                                <p:cTn id="8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8100"/>
                            </p:stCondLst>
                            <p:childTnLst>
                              <p:par>
                                <p:cTn id="8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4" grpId="0"/>
      <p:bldP spid="15" grpId="0"/>
      <p:bldP spid="16" grpId="0" animBg="1"/>
      <p:bldP spid="21" grpId="0" animBg="1"/>
      <p:bldP spid="23" grpId="0" animBg="1"/>
      <p:bldP spid="30" grpId="0" animBg="1"/>
      <p:bldP spid="31" grpId="0"/>
      <p:bldP spid="33" grpId="0"/>
      <p:bldP spid="25" grpId="0" animBg="1"/>
      <p:bldP spid="26" grpId="0"/>
      <p:bldP spid="27" grpId="0" animBg="1"/>
      <p:bldP spid="28" grpId="0"/>
    </p:bldLst>
  </p:timing>
</p:sld>
</file>

<file path=ppt/theme/theme1.xml><?xml version="1.0" encoding="utf-8"?>
<a:theme xmlns:a="http://schemas.openxmlformats.org/drawingml/2006/main" name="Office Theme">
  <a:themeElements>
    <a:clrScheme name="Hitachi Color Palette">
      <a:dk1>
        <a:srgbClr val="000000"/>
      </a:dk1>
      <a:lt1>
        <a:srgbClr val="FFFFFF"/>
      </a:lt1>
      <a:dk2>
        <a:srgbClr val="919D9D"/>
      </a:dk2>
      <a:lt2>
        <a:srgbClr val="DA291C"/>
      </a:lt2>
      <a:accent1>
        <a:srgbClr val="F37021"/>
      </a:accent1>
      <a:accent2>
        <a:srgbClr val="E97F77"/>
      </a:accent2>
      <a:accent3>
        <a:srgbClr val="666666"/>
      </a:accent3>
      <a:accent4>
        <a:srgbClr val="BDC4C4"/>
      </a:accent4>
      <a:accent5>
        <a:srgbClr val="F8A97A"/>
      </a:accent5>
      <a:accent6>
        <a:srgbClr val="D3D8D8"/>
      </a:accent6>
      <a:hlink>
        <a:srgbClr val="7C99C6"/>
      </a:hlink>
      <a:folHlink>
        <a:srgbClr val="1B355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919D9D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317F0AD02050489CEA68A8CF25C850" ma:contentTypeVersion="11" ma:contentTypeDescription="Create a new document." ma:contentTypeScope="" ma:versionID="2827eb6fcaaf4b88c7eb97ba38a93524">
  <xsd:schema xmlns:xsd="http://www.w3.org/2001/XMLSchema" xmlns:xs="http://www.w3.org/2001/XMLSchema" xmlns:p="http://schemas.microsoft.com/office/2006/metadata/properties" xmlns:ns2="dcca88f8-a7ae-4cfc-9184-d6b131f630bb" xmlns:ns3="c5a4b99e-4ccc-4a5c-98e4-7ab8633fd4df" targetNamespace="http://schemas.microsoft.com/office/2006/metadata/properties" ma:root="true" ma:fieldsID="8696a21874c65674d225a4f02c8f2095" ns2:_="" ns3:_="">
    <xsd:import namespace="dcca88f8-a7ae-4cfc-9184-d6b131f630bb"/>
    <xsd:import namespace="c5a4b99e-4ccc-4a5c-98e4-7ab8633fd4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ca88f8-a7ae-4cfc-9184-d6b131f630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a4b99e-4ccc-4a5c-98e4-7ab8633fd4d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51BF9A0-A380-42E8-B81F-03D2471160C1}">
  <ds:schemaRefs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21F4AC2-0AEA-4354-802A-609AA4E08D7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1773FD4-4E0D-479E-92D7-7194BF86A1D6}"/>
</file>

<file path=docProps/app.xml><?xml version="1.0" encoding="utf-8"?>
<Properties xmlns="http://schemas.openxmlformats.org/officeDocument/2006/extended-properties" xmlns:vt="http://schemas.openxmlformats.org/officeDocument/2006/docPropsVTypes">
  <TotalTime>42501</TotalTime>
  <Words>469</Words>
  <Application>Microsoft Office PowerPoint</Application>
  <PresentationFormat>On-screen Show (16:9)</PresentationFormat>
  <Paragraphs>124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Arial</vt:lpstr>
      <vt:lpstr>Berlin Sans FB</vt:lpstr>
      <vt:lpstr>Calibri</vt:lpstr>
      <vt:lpstr>Helvetica</vt:lpstr>
      <vt:lpstr>Montserrat</vt:lpstr>
      <vt:lpstr>Montserrat SemiBold</vt:lpstr>
      <vt:lpstr>Raleway ExtraBold</vt:lpstr>
      <vt:lpstr>Raleway SemiBold</vt:lpstr>
      <vt:lpstr>Wingdings</vt:lpstr>
      <vt:lpstr>Office Theme</vt:lpstr>
      <vt:lpstr>PowerPoint Presentation</vt:lpstr>
      <vt:lpstr>PowerPoint Presentation</vt:lpstr>
      <vt:lpstr>PowerPoint Presentation</vt:lpstr>
      <vt:lpstr>Synectiks Highlights</vt:lpstr>
      <vt:lpstr>PowerPoint Presentation</vt:lpstr>
      <vt:lpstr>PowerPoint Presentation</vt:lpstr>
      <vt:lpstr>PowerPoint Presentation</vt:lpstr>
      <vt:lpstr>/Simplify</vt:lpstr>
      <vt:lpstr>/Software Defined</vt:lpstr>
      <vt:lpstr>Continuous Delivery</vt:lpstr>
      <vt:lpstr>Operation Central</vt:lpstr>
      <vt:lpstr>Service Quality Central</vt:lpstr>
      <vt:lpstr>Billing Central</vt:lpstr>
      <vt:lpstr>PowerPoint Presentation</vt:lpstr>
      <vt:lpstr>PowerPoint Presentation</vt:lpstr>
      <vt:lpstr>PowerPoint Presentation</vt:lpstr>
    </vt:vector>
  </TitlesOfParts>
  <Company>SYNECTIKS INC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SYNECTIKS</dc:title>
  <dc:creator>SV</dc:creator>
  <cp:lastModifiedBy>Papu Bhattacharya</cp:lastModifiedBy>
  <cp:revision>88</cp:revision>
  <cp:lastPrinted>2016-12-06T22:14:27Z</cp:lastPrinted>
  <dcterms:created xsi:type="dcterms:W3CDTF">2014-11-12T22:29:05Z</dcterms:created>
  <dcterms:modified xsi:type="dcterms:W3CDTF">2019-04-03T13:03:14Z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0x0101002C317F0AD02050489CEA68A8CF25C850</vt:lpwstr>
  </property>
  <property fmtid="{D5CDD505-2E9C-101B-9397-08002B2CF9AE}" pid="3" name="IsMyDocuments">
    <vt:bool>true</vt:bool>
  </property>
</Properties>
</file>