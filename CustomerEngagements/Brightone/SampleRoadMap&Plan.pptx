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333" r:id="rId5"/>
    <p:sldId id="349" r:id="rId6"/>
  </p:sldIdLst>
  <p:sldSz cx="9144000" cy="5143500" type="screen16x9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7021"/>
    <a:srgbClr val="9EE0C5"/>
    <a:srgbClr val="BFBFBF"/>
    <a:srgbClr val="919D9D"/>
    <a:srgbClr val="000000"/>
    <a:srgbClr val="DA291C"/>
    <a:srgbClr val="E97F77"/>
    <a:srgbClr val="F8A97A"/>
    <a:srgbClr val="1B355C"/>
    <a:srgbClr val="7C99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5" autoAdjust="0"/>
    <p:restoredTop sz="91799" autoAdjust="0"/>
  </p:normalViewPr>
  <p:slideViewPr>
    <p:cSldViewPr snapToGrid="0">
      <p:cViewPr varScale="1">
        <p:scale>
          <a:sx n="89" d="100"/>
          <a:sy n="89" d="100"/>
        </p:scale>
        <p:origin x="486" y="67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3/9/2020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3/9/2020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66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DFF67-9BFD-4416-9077-7693E6EC49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6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ody Slide with Headlin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30188" y="1200150"/>
            <a:ext cx="8686800" cy="34290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aseline="0">
                <a:solidFill>
                  <a:srgbClr val="000000"/>
                </a:solidFill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 descr="hitachi-consulting-logo-render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5432" y="225962"/>
            <a:ext cx="1798009" cy="352519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775704" y="4830696"/>
            <a:ext cx="168249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D6EC5702-CC6C-449A-9363-23B4FFE00979}" type="datetime1">
              <a:rPr lang="en-US" smtClean="0"/>
              <a:t>3/9/2020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 rot="5400000">
            <a:off x="8529532" y="4946102"/>
            <a:ext cx="77629" cy="1588"/>
          </a:xfrm>
          <a:prstGeom prst="line">
            <a:avLst/>
          </a:prstGeom>
          <a:ln w="6350">
            <a:solidFill>
              <a:srgbClr val="DA29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ate Placeholder 3"/>
          <p:cNvSpPr txBox="1">
            <a:spLocks/>
          </p:cNvSpPr>
          <p:nvPr userDrawn="1"/>
        </p:nvSpPr>
        <p:spPr>
          <a:xfrm>
            <a:off x="230188" y="4830696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kern="120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2016 Hitachi Consulting Corporation.  All rights reserved. Proprietary and confidential.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5" name="Date Placeholder 3"/>
          <p:cNvSpPr>
            <a:spLocks noGrp="1"/>
          </p:cNvSpPr>
          <p:nvPr>
            <p:ph type="dt" sz="half" idx="2"/>
          </p:nvPr>
        </p:nvSpPr>
        <p:spPr>
          <a:xfrm>
            <a:off x="6775704" y="4830696"/>
            <a:ext cx="168249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B91C973-58AE-4B91-87BB-FD454C8224F1}" type="datetime1">
              <a:rPr lang="en-US" smtClean="0"/>
              <a:t>3/9/2020</a:t>
            </a:fld>
            <a:endParaRPr lang="en-US" dirty="0"/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7" name="Straight Connector 26"/>
          <p:cNvCxnSpPr/>
          <p:nvPr userDrawn="1"/>
        </p:nvCxnSpPr>
        <p:spPr>
          <a:xfrm rot="5400000">
            <a:off x="8529532" y="4946102"/>
            <a:ext cx="77629" cy="1588"/>
          </a:xfrm>
          <a:prstGeom prst="line">
            <a:avLst/>
          </a:prstGeom>
          <a:ln w="6350">
            <a:solidFill>
              <a:srgbClr val="DA29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30696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kern="120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2018 Synectiks Inc.  All rights reserved. Proprietary and confidential.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hitachi-consulting-logo-render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0188" y="4714875"/>
            <a:ext cx="1798009" cy="352519"/>
          </a:xfrm>
          <a:prstGeom prst="rect">
            <a:avLst/>
          </a:prstGeom>
        </p:spPr>
      </p:pic>
      <p:pic>
        <p:nvPicPr>
          <p:cNvPr id="13" name="Picture 12" descr="hitachi-inspire-the-next-logo.png"/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0438" y="128016"/>
            <a:ext cx="1289130" cy="522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>
          <a:xfrm>
            <a:off x="0" y="1200150"/>
            <a:ext cx="9144000" cy="3429000"/>
          </a:xfr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 dirty="0"/>
          </a:p>
        </p:txBody>
      </p:sp>
      <p:pic>
        <p:nvPicPr>
          <p:cNvPr id="7" name="Picture 6" descr="hitachi-consulting-logo-render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5432" y="225962"/>
            <a:ext cx="1798009" cy="352519"/>
          </a:xfrm>
          <a:prstGeom prst="rect">
            <a:avLst/>
          </a:prstGeom>
        </p:spPr>
      </p:pic>
      <p:sp>
        <p:nvSpPr>
          <p:cNvPr id="11" name="Date Placeholder 3"/>
          <p:cNvSpPr txBox="1">
            <a:spLocks/>
          </p:cNvSpPr>
          <p:nvPr userDrawn="1"/>
        </p:nvSpPr>
        <p:spPr>
          <a:xfrm>
            <a:off x="230188" y="4830696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kern="120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2016 Hitachi Consulting Corporation.  All rights reserved. Proprietary and confidential.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6"/>
          <p:cNvSpPr>
            <a:spLocks noGrp="1"/>
          </p:cNvSpPr>
          <p:nvPr>
            <p:ph type="pic" sz="quarter" idx="15"/>
          </p:nvPr>
        </p:nvSpPr>
        <p:spPr>
          <a:xfrm>
            <a:off x="0" y="1200151"/>
            <a:ext cx="5430837" cy="3428999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pic>
        <p:nvPicPr>
          <p:cNvPr id="8" name="Picture 7" descr="hitachi-consulting-logo-render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5432" y="225962"/>
            <a:ext cx="1798009" cy="352519"/>
          </a:xfrm>
          <a:prstGeom prst="rect">
            <a:avLst/>
          </a:prstGeom>
        </p:spPr>
      </p:pic>
      <p:sp>
        <p:nvSpPr>
          <p:cNvPr id="14" name="Date Placeholder 3"/>
          <p:cNvSpPr txBox="1">
            <a:spLocks/>
          </p:cNvSpPr>
          <p:nvPr userDrawn="1"/>
        </p:nvSpPr>
        <p:spPr>
          <a:xfrm>
            <a:off x="230188" y="4830696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kern="120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2016 Hitachi Consulting Corporation.  All rights reserved. Proprietary and confidential.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5"/>
          </p:nvPr>
        </p:nvSpPr>
        <p:spPr>
          <a:xfrm>
            <a:off x="0" y="1889125"/>
            <a:ext cx="9144000" cy="2740025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pic>
        <p:nvPicPr>
          <p:cNvPr id="8" name="Picture 7" descr="hitachi-consulting-logo-render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5432" y="225962"/>
            <a:ext cx="1798009" cy="352519"/>
          </a:xfrm>
          <a:prstGeom prst="rect">
            <a:avLst/>
          </a:prstGeom>
        </p:spPr>
      </p:pic>
      <p:sp>
        <p:nvSpPr>
          <p:cNvPr id="16" name="Date Placeholder 3"/>
          <p:cNvSpPr txBox="1">
            <a:spLocks/>
          </p:cNvSpPr>
          <p:nvPr userDrawn="1"/>
        </p:nvSpPr>
        <p:spPr>
          <a:xfrm>
            <a:off x="230188" y="4830696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kern="120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2016 Hitachi Consulting Corporation.  All rights reserved. Proprietary and confidential.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Background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pic>
        <p:nvPicPr>
          <p:cNvPr id="23" name="Picture 22" descr="hitachi-consulting-logo-render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5432" y="225962"/>
            <a:ext cx="1798009" cy="352519"/>
          </a:xfrm>
          <a:prstGeom prst="rect">
            <a:avLst/>
          </a:prstGeom>
        </p:spPr>
      </p:pic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30696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kern="120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2016 Hitachi Consulting Corporation. 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747966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and Tabl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pic>
        <p:nvPicPr>
          <p:cNvPr id="23" name="Picture 22" descr="hitachi-consulting-logo-render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5432" y="225962"/>
            <a:ext cx="1798009" cy="352519"/>
          </a:xfrm>
          <a:prstGeom prst="rect">
            <a:avLst/>
          </a:prstGeom>
        </p:spPr>
      </p:pic>
      <p:sp>
        <p:nvSpPr>
          <p:cNvPr id="25" name="Date Placeholder 3"/>
          <p:cNvSpPr>
            <a:spLocks noGrp="1"/>
          </p:cNvSpPr>
          <p:nvPr>
            <p:ph type="dt" sz="half" idx="2"/>
          </p:nvPr>
        </p:nvSpPr>
        <p:spPr>
          <a:xfrm>
            <a:off x="6775704" y="4830696"/>
            <a:ext cx="168249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69235B16-92EC-4ADE-AC67-A1F32B564842}" type="datetime1">
              <a:rPr lang="en-US" smtClean="0"/>
              <a:t>3/9/2020</a:t>
            </a:fld>
            <a:endParaRPr lang="en-US" dirty="0"/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7" name="Straight Connector 26"/>
          <p:cNvCxnSpPr/>
          <p:nvPr userDrawn="1"/>
        </p:nvCxnSpPr>
        <p:spPr>
          <a:xfrm rot="5400000">
            <a:off x="8529532" y="4946102"/>
            <a:ext cx="77629" cy="1588"/>
          </a:xfrm>
          <a:prstGeom prst="line">
            <a:avLst/>
          </a:prstGeom>
          <a:ln w="6350">
            <a:solidFill>
              <a:srgbClr val="DA29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30696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kern="120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2016 Hitachi Consulting Corporation.  All rights reserved. Proprietary and confidential.</a:t>
            </a:r>
          </a:p>
        </p:txBody>
      </p:sp>
      <p:sp>
        <p:nvSpPr>
          <p:cNvPr id="22" name="Picture Placeholder 16"/>
          <p:cNvSpPr>
            <a:spLocks noGrp="1"/>
          </p:cNvSpPr>
          <p:nvPr>
            <p:ph type="pic" sz="quarter" idx="15"/>
          </p:nvPr>
        </p:nvSpPr>
        <p:spPr>
          <a:xfrm>
            <a:off x="230186" y="1889125"/>
            <a:ext cx="2286000" cy="457200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9" name="Picture Placeholder 16"/>
          <p:cNvSpPr>
            <a:spLocks noGrp="1"/>
          </p:cNvSpPr>
          <p:nvPr>
            <p:ph type="pic" sz="quarter" idx="25"/>
          </p:nvPr>
        </p:nvSpPr>
        <p:spPr>
          <a:xfrm>
            <a:off x="230188" y="2452688"/>
            <a:ext cx="2286000" cy="457200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0" name="Picture Placeholder 16"/>
          <p:cNvSpPr>
            <a:spLocks noGrp="1"/>
          </p:cNvSpPr>
          <p:nvPr>
            <p:ph type="pic" sz="quarter" idx="26"/>
          </p:nvPr>
        </p:nvSpPr>
        <p:spPr>
          <a:xfrm>
            <a:off x="230188" y="3014663"/>
            <a:ext cx="2286000" cy="457200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1" name="Picture Placeholder 16"/>
          <p:cNvSpPr>
            <a:spLocks noGrp="1"/>
          </p:cNvSpPr>
          <p:nvPr>
            <p:ph type="pic" sz="quarter" idx="27"/>
          </p:nvPr>
        </p:nvSpPr>
        <p:spPr>
          <a:xfrm>
            <a:off x="230188" y="3578225"/>
            <a:ext cx="2286000" cy="457200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2" name="Picture Placeholder 16"/>
          <p:cNvSpPr>
            <a:spLocks noGrp="1"/>
          </p:cNvSpPr>
          <p:nvPr>
            <p:ph type="pic" sz="quarter" idx="28"/>
          </p:nvPr>
        </p:nvSpPr>
        <p:spPr>
          <a:xfrm>
            <a:off x="230188" y="4141788"/>
            <a:ext cx="2286000" cy="457200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2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Graph Option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30188" y="1200150"/>
            <a:ext cx="8686800" cy="688975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aseline="0">
                <a:solidFill>
                  <a:srgbClr val="000000"/>
                </a:solidFill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 descr="hitachi-consulting-logo-render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5432" y="225962"/>
            <a:ext cx="1798009" cy="352519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775704" y="4830696"/>
            <a:ext cx="168249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C48BA28F-F5EE-4CA9-83D1-C0DADD8673A3}" type="datetime1">
              <a:rPr lang="en-US" smtClean="0"/>
              <a:t>3/9/2020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 rot="5400000">
            <a:off x="8529532" y="4946102"/>
            <a:ext cx="77629" cy="1588"/>
          </a:xfrm>
          <a:prstGeom prst="line">
            <a:avLst/>
          </a:prstGeom>
          <a:ln w="6350">
            <a:solidFill>
              <a:srgbClr val="DA29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ate Placeholder 3"/>
          <p:cNvSpPr txBox="1">
            <a:spLocks/>
          </p:cNvSpPr>
          <p:nvPr userDrawn="1"/>
        </p:nvSpPr>
        <p:spPr>
          <a:xfrm>
            <a:off x="230188" y="4830696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kern="120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2016 Hitachi Consulting Corporation.  All rights reserved. Proprietary and confidential.</a:t>
            </a:r>
          </a:p>
        </p:txBody>
      </p:sp>
      <p:sp>
        <p:nvSpPr>
          <p:cNvPr id="22" name="Picture Placeholder 16"/>
          <p:cNvSpPr>
            <a:spLocks noGrp="1"/>
          </p:cNvSpPr>
          <p:nvPr>
            <p:ph type="pic" sz="quarter" idx="15"/>
          </p:nvPr>
        </p:nvSpPr>
        <p:spPr>
          <a:xfrm>
            <a:off x="230186" y="1889125"/>
            <a:ext cx="4233672" cy="1225296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3" name="Picture Placeholder 16"/>
          <p:cNvSpPr>
            <a:spLocks noGrp="1"/>
          </p:cNvSpPr>
          <p:nvPr>
            <p:ph type="pic" sz="quarter" idx="16"/>
          </p:nvPr>
        </p:nvSpPr>
        <p:spPr>
          <a:xfrm>
            <a:off x="4680462" y="1889125"/>
            <a:ext cx="4233672" cy="1225296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4" name="Picture Placeholder 16"/>
          <p:cNvSpPr>
            <a:spLocks noGrp="1"/>
          </p:cNvSpPr>
          <p:nvPr>
            <p:ph type="pic" sz="quarter" idx="17"/>
          </p:nvPr>
        </p:nvSpPr>
        <p:spPr>
          <a:xfrm>
            <a:off x="230186" y="3378816"/>
            <a:ext cx="4233672" cy="1225296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5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4680462" y="3378816"/>
            <a:ext cx="4233672" cy="1225296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532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313381" y="4915450"/>
            <a:ext cx="4065124" cy="228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110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53"/>
          <p:cNvSpPr>
            <a:spLocks noGrp="1"/>
          </p:cNvSpPr>
          <p:nvPr>
            <p:ph idx="1" hasCustomPrompt="1"/>
          </p:nvPr>
        </p:nvSpPr>
        <p:spPr>
          <a:xfrm>
            <a:off x="264161" y="1244666"/>
            <a:ext cx="8575039" cy="1494768"/>
          </a:xfrm>
          <a:prstGeom prst="rect">
            <a:avLst/>
          </a:prstGeom>
        </p:spPr>
        <p:txBody>
          <a:bodyPr vert="horz" wrap="square" lIns="91430" tIns="91440" rIns="91430" bIns="91440" rtlCol="0">
            <a:spAutoFit/>
          </a:bodyPr>
          <a:lstStyle>
            <a:lvl1pPr marL="280953" indent="-280953">
              <a:buSzPct val="55000"/>
              <a:buFont typeface="Wingdings" charset="2"/>
              <a:buChar char="u"/>
              <a:defRPr sz="1800"/>
            </a:lvl1pPr>
            <a:lvl2pPr>
              <a:defRPr sz="1600"/>
            </a:lvl2pPr>
            <a:lvl3pPr marL="855557" indent="-280953">
              <a:buClr>
                <a:schemeClr val="tx2"/>
              </a:buClr>
              <a:buFont typeface="Wingdings" charset="2"/>
              <a:buChar char="§"/>
              <a:defRPr sz="1600"/>
            </a:lvl3pPr>
            <a:lvl4pPr>
              <a:defRPr sz="1600" baseline="0"/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Forth level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264160" y="877455"/>
            <a:ext cx="857504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3890593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735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188" y="1200150"/>
            <a:ext cx="8686800" cy="3429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6" r:id="rId2"/>
    <p:sldLayoutId id="2147483701" r:id="rId3"/>
    <p:sldLayoutId id="2147483668" r:id="rId4"/>
    <p:sldLayoutId id="2147483670" r:id="rId5"/>
    <p:sldLayoutId id="2147483671" r:id="rId6"/>
    <p:sldLayoutId id="2147483716" r:id="rId7"/>
    <p:sldLayoutId id="2147483708" r:id="rId8"/>
    <p:sldLayoutId id="2147483709" r:id="rId9"/>
    <p:sldLayoutId id="2147483718" r:id="rId10"/>
    <p:sldLayoutId id="2147483719" r:id="rId11"/>
    <p:sldLayoutId id="2147483722" r:id="rId12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rgbClr val="DA291C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75000"/>
        <a:buFontTx/>
        <a:buNone/>
        <a:defRPr sz="1200" kern="1200">
          <a:solidFill>
            <a:schemeClr val="tx1"/>
          </a:solidFill>
          <a:latin typeface="Arial"/>
          <a:ea typeface="+mn-ea"/>
          <a:cs typeface="+mn-cs"/>
        </a:defRPr>
      </a:lvl1pPr>
      <a:lvl2pPr marL="233363" indent="-233363" algn="l" defTabSz="457200" rtl="0" eaLnBrk="1" latinLnBrk="0" hangingPunct="1">
        <a:spcBef>
          <a:spcPct val="20000"/>
        </a:spcBef>
        <a:buClr>
          <a:srgbClr val="DA291C"/>
        </a:buClr>
        <a:buSzPct val="80000"/>
        <a:buFont typeface="Wingdings" panose="05000000000000000000" pitchFamily="2" charset="2"/>
        <a:buChar char="u"/>
        <a:defRPr sz="1200" kern="1200">
          <a:solidFill>
            <a:schemeClr val="tx1"/>
          </a:solidFill>
          <a:latin typeface="Arial"/>
          <a:ea typeface="+mn-ea"/>
          <a:cs typeface="+mn-cs"/>
        </a:defRPr>
      </a:lvl2pPr>
      <a:lvl3pPr marL="461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/>
          <a:ea typeface="+mn-ea"/>
          <a:cs typeface="+mn-cs"/>
        </a:defRPr>
      </a:lvl3pPr>
      <a:lvl4pPr marL="685800" indent="-228600" algn="l" defTabSz="457200" rtl="0" eaLnBrk="1" latinLnBrk="0" hangingPunct="1">
        <a:spcBef>
          <a:spcPct val="20000"/>
        </a:spcBef>
        <a:buClr>
          <a:srgbClr val="919D9D"/>
        </a:buClr>
        <a:buFont typeface="Arial" panose="020B0604020202020204" pitchFamily="34" charset="0"/>
        <a:buChar char="■"/>
        <a:defRPr sz="1200" kern="1200">
          <a:solidFill>
            <a:schemeClr val="tx1"/>
          </a:solidFill>
          <a:latin typeface="Arial"/>
          <a:ea typeface="+mn-ea"/>
          <a:cs typeface="+mn-cs"/>
        </a:defRPr>
      </a:lvl4pPr>
      <a:lvl5pPr marL="909638" indent="-219075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future state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D82F6D6-BD64-564F-BDB4-3E98167DF08D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30188" y="1078806"/>
            <a:ext cx="1797020" cy="3726106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0188" y="850206"/>
            <a:ext cx="1797020" cy="228600"/>
          </a:xfrm>
          <a:prstGeom prst="rect">
            <a:avLst/>
          </a:prstGeom>
          <a:solidFill>
            <a:srgbClr val="91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chemeClr val="tx1"/>
                </a:solidFill>
              </a:rPr>
              <a:t>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1408" y="1078806"/>
            <a:ext cx="2307272" cy="3726106"/>
          </a:xfrm>
          <a:prstGeom prst="rect">
            <a:avLst/>
          </a:prstGeom>
          <a:solidFill>
            <a:srgbClr val="91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671060" y="1078805"/>
            <a:ext cx="2203768" cy="3726107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865620" y="1076010"/>
            <a:ext cx="2110740" cy="3728902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28287" y="1123936"/>
            <a:ext cx="944880" cy="711559"/>
          </a:xfrm>
          <a:prstGeom prst="ellipse">
            <a:avLst/>
          </a:prstGeom>
          <a:solidFill>
            <a:srgbClr val="91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021469" y="1131561"/>
            <a:ext cx="908528" cy="711559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5231269" y="1131561"/>
            <a:ext cx="908528" cy="711559"/>
          </a:xfrm>
          <a:prstGeom prst="ellipse">
            <a:avLst/>
          </a:prstGeom>
          <a:solidFill>
            <a:srgbClr val="F8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7462853" y="1132045"/>
            <a:ext cx="908528" cy="711559"/>
          </a:xfrm>
          <a:prstGeom prst="ellipse">
            <a:avLst/>
          </a:prstGeom>
          <a:solidFill>
            <a:srgbClr val="E9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30187" y="1973226"/>
            <a:ext cx="2073065" cy="169285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>
              <a:lnSpc>
                <a:spcPts val="800"/>
              </a:lnSpc>
            </a:pPr>
            <a:r>
              <a:rPr lang="en-US" sz="800" b="1" u="sng" dirty="0"/>
              <a:t>Admin</a:t>
            </a:r>
          </a:p>
          <a:p>
            <a:pPr>
              <a:lnSpc>
                <a:spcPts val="800"/>
              </a:lnSpc>
            </a:pPr>
            <a:endParaRPr lang="en-US" sz="800" b="1" dirty="0"/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XXX Platform Maintenance</a:t>
            </a:r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endParaRPr lang="en-US" sz="800" dirty="0"/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XXX Support</a:t>
            </a:r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endParaRPr lang="en-US" sz="800" dirty="0"/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XXX Enhancements</a:t>
            </a:r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endParaRPr lang="en-US" sz="800" dirty="0"/>
          </a:p>
          <a:p>
            <a:pPr marL="111125" indent="-111125">
              <a:lnSpc>
                <a:spcPts val="800"/>
              </a:lnSpc>
              <a:spcAft>
                <a:spcPts val="600"/>
              </a:spcAft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XXX Cloud Migration</a:t>
            </a:r>
          </a:p>
          <a:p>
            <a:pPr marL="111125" indent="-111125">
              <a:lnSpc>
                <a:spcPts val="800"/>
              </a:lnSpc>
              <a:spcAft>
                <a:spcPts val="600"/>
              </a:spcAft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XXX Discovery</a:t>
            </a:r>
            <a:endParaRPr lang="en-US" sz="800" b="1" u="sng" dirty="0"/>
          </a:p>
          <a:p>
            <a:pPr>
              <a:lnSpc>
                <a:spcPts val="800"/>
              </a:lnSpc>
            </a:pPr>
            <a:endParaRPr lang="en-US" sz="800" b="1" u="sng" dirty="0"/>
          </a:p>
          <a:p>
            <a:pPr>
              <a:lnSpc>
                <a:spcPts val="800"/>
              </a:lnSpc>
            </a:pPr>
            <a:r>
              <a:rPr lang="en-US" sz="800" b="1" u="sng" dirty="0"/>
              <a:t>Consumer API</a:t>
            </a:r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endParaRPr lang="en-US" sz="800" dirty="0"/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XXX</a:t>
            </a:r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endParaRPr lang="en-US" sz="800" dirty="0"/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XXX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1408" y="1964826"/>
            <a:ext cx="2307272" cy="23239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>
              <a:lnSpc>
                <a:spcPts val="800"/>
              </a:lnSpc>
              <a:buSzPct val="80000"/>
            </a:pPr>
            <a:r>
              <a:rPr lang="en-US" sz="800" b="1" u="sng" dirty="0"/>
              <a:t>Admin</a:t>
            </a:r>
          </a:p>
          <a:p>
            <a:pPr>
              <a:lnSpc>
                <a:spcPts val="800"/>
              </a:lnSpc>
              <a:buSzPct val="80000"/>
            </a:pPr>
            <a:endParaRPr lang="en-US" sz="800" b="1" u="sng" dirty="0"/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Vehicle content administration discovery</a:t>
            </a:r>
          </a:p>
          <a:p>
            <a:pPr marL="230188" lvl="1" indent="-122238">
              <a:lnSpc>
                <a:spcPts val="800"/>
              </a:lnSpc>
              <a:buSzPct val="100000"/>
              <a:buFont typeface="Arial" panose="020B0604020202020204" pitchFamily="34" charset="0"/>
              <a:buChar char="–"/>
            </a:pPr>
            <a:r>
              <a:rPr lang="en-US" sz="800" dirty="0"/>
              <a:t>Input and data requirements for XXX</a:t>
            </a:r>
          </a:p>
          <a:p>
            <a:pPr marL="107950" lvl="1">
              <a:lnSpc>
                <a:spcPts val="800"/>
              </a:lnSpc>
              <a:buSzPct val="100000"/>
            </a:pPr>
            <a:r>
              <a:rPr lang="en-US" sz="800" dirty="0"/>
              <a:t>CMS product selection</a:t>
            </a:r>
          </a:p>
          <a:p>
            <a:pPr marL="230188" lvl="1" indent="-122238">
              <a:lnSpc>
                <a:spcPts val="8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–"/>
            </a:pPr>
            <a:r>
              <a:rPr lang="en-US" sz="800" dirty="0"/>
              <a:t>XXX content mapping</a:t>
            </a:r>
          </a:p>
          <a:p>
            <a:pPr>
              <a:lnSpc>
                <a:spcPts val="800"/>
              </a:lnSpc>
              <a:buSzPct val="80000"/>
            </a:pPr>
            <a:r>
              <a:rPr lang="en-US" sz="800" b="1" u="sng" dirty="0"/>
              <a:t>Consumer API</a:t>
            </a:r>
          </a:p>
          <a:p>
            <a:pPr>
              <a:lnSpc>
                <a:spcPts val="800"/>
              </a:lnSpc>
              <a:buSzPct val="80000"/>
            </a:pPr>
            <a:endParaRPr lang="en-US" sz="800" b="1" dirty="0"/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Foundation for future state Micro services architecture</a:t>
            </a:r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endParaRPr lang="en-US" sz="800" dirty="0"/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Vehicle Content service using existing XXX content JSON</a:t>
            </a:r>
          </a:p>
          <a:p>
            <a:pPr>
              <a:lnSpc>
                <a:spcPts val="800"/>
              </a:lnSpc>
              <a:buSzPct val="80000"/>
            </a:pPr>
            <a:endParaRPr lang="en-US" sz="800" dirty="0"/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XXX service</a:t>
            </a:r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endParaRPr lang="en-US" sz="800" dirty="0"/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XXX Service </a:t>
            </a:r>
            <a:endParaRPr lang="en-US" sz="800" dirty="0">
              <a:effectLst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678680" y="1964826"/>
            <a:ext cx="2186940" cy="23239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>
              <a:lnSpc>
                <a:spcPts val="800"/>
              </a:lnSpc>
              <a:buSzPct val="80000"/>
            </a:pPr>
            <a:r>
              <a:rPr lang="en-US" sz="800" b="1" u="sng" dirty="0"/>
              <a:t>Admin</a:t>
            </a:r>
          </a:p>
          <a:p>
            <a:pPr>
              <a:lnSpc>
                <a:spcPts val="800"/>
              </a:lnSpc>
              <a:buSzPct val="80000"/>
            </a:pPr>
            <a:endParaRPr lang="en-US" sz="800" b="1" u="sng" dirty="0"/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Vehicle Content Administration</a:t>
            </a:r>
          </a:p>
          <a:p>
            <a:pPr marL="230188" lvl="1" indent="-122238">
              <a:lnSpc>
                <a:spcPts val="800"/>
              </a:lnSpc>
              <a:buSzPct val="100000"/>
              <a:buFont typeface="Arial" panose="020B0604020202020204" pitchFamily="34" charset="0"/>
              <a:buChar char="–"/>
            </a:pPr>
            <a:r>
              <a:rPr lang="en-US" sz="800" dirty="0"/>
              <a:t>Finalize CMS system</a:t>
            </a:r>
          </a:p>
          <a:p>
            <a:pPr marL="230188" lvl="1" indent="-122238">
              <a:lnSpc>
                <a:spcPts val="800"/>
              </a:lnSpc>
              <a:buSzPct val="100000"/>
              <a:buFont typeface="Arial" panose="020B0604020202020204" pitchFamily="34" charset="0"/>
              <a:buChar char="–"/>
            </a:pPr>
            <a:r>
              <a:rPr lang="en-US" sz="800" dirty="0"/>
              <a:t>Migrate marketing content to CMS</a:t>
            </a:r>
          </a:p>
          <a:p>
            <a:pPr marL="111125" indent="-111125">
              <a:lnSpc>
                <a:spcPts val="800"/>
              </a:lnSpc>
              <a:spcAft>
                <a:spcPts val="600"/>
              </a:spcAft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XXX Administration UI</a:t>
            </a:r>
          </a:p>
          <a:p>
            <a:pPr>
              <a:lnSpc>
                <a:spcPts val="800"/>
              </a:lnSpc>
              <a:buSzPct val="80000"/>
            </a:pPr>
            <a:r>
              <a:rPr lang="en-US" sz="800" b="1" u="sng" dirty="0"/>
              <a:t>Consumer API</a:t>
            </a:r>
          </a:p>
          <a:p>
            <a:pPr>
              <a:lnSpc>
                <a:spcPts val="800"/>
              </a:lnSpc>
              <a:buSzPct val="80000"/>
            </a:pPr>
            <a:endParaRPr lang="en-US" sz="800" b="1" u="sng" dirty="0"/>
          </a:p>
          <a:p>
            <a:pPr marL="111125" indent="-111125">
              <a:lnSpc>
                <a:spcPts val="800"/>
              </a:lnSpc>
              <a:spcBef>
                <a:spcPts val="300"/>
              </a:spcBef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XXX micro service from CMS</a:t>
            </a:r>
          </a:p>
          <a:p>
            <a:pPr marL="111125" indent="-111125">
              <a:lnSpc>
                <a:spcPts val="800"/>
              </a:lnSpc>
              <a:spcBef>
                <a:spcPts val="300"/>
              </a:spcBef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XXX event notification service</a:t>
            </a:r>
          </a:p>
          <a:p>
            <a:pPr marL="111125" indent="-111125">
              <a:lnSpc>
                <a:spcPts val="800"/>
              </a:lnSpc>
              <a:spcBef>
                <a:spcPts val="300"/>
              </a:spcBef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Rules event notification service</a:t>
            </a:r>
          </a:p>
          <a:p>
            <a:pPr marL="111125" indent="-111125">
              <a:lnSpc>
                <a:spcPts val="800"/>
              </a:lnSpc>
              <a:spcBef>
                <a:spcPts val="300"/>
              </a:spcBef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Aggregation service to use XXX content micro service</a:t>
            </a:r>
          </a:p>
          <a:p>
            <a:pPr marL="111125" indent="-111125">
              <a:lnSpc>
                <a:spcPts val="800"/>
              </a:lnSpc>
              <a:spcBef>
                <a:spcPts val="300"/>
              </a:spcBef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XXX future state discovery</a:t>
            </a:r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endParaRPr lang="en-US" sz="800" dirty="0"/>
          </a:p>
          <a:p>
            <a:pPr>
              <a:lnSpc>
                <a:spcPts val="800"/>
              </a:lnSpc>
              <a:buSzPct val="80000"/>
            </a:pPr>
            <a:r>
              <a:rPr lang="en-US" sz="800" b="1" u="sng" dirty="0"/>
              <a:t>Client Integration</a:t>
            </a:r>
          </a:p>
          <a:p>
            <a:pPr>
              <a:lnSpc>
                <a:spcPts val="800"/>
              </a:lnSpc>
              <a:buSzPct val="80000"/>
            </a:pPr>
            <a:endParaRPr lang="en-US" sz="800" b="1" u="sng" dirty="0"/>
          </a:p>
          <a:p>
            <a:pPr marL="111125" indent="-111125">
              <a:lnSpc>
                <a:spcPts val="800"/>
              </a:lnSpc>
              <a:spcBef>
                <a:spcPts val="300"/>
              </a:spcBef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Integrate with pilot consumer applications</a:t>
            </a:r>
          </a:p>
          <a:p>
            <a:pPr marL="111125" indent="-111125">
              <a:lnSpc>
                <a:spcPts val="800"/>
              </a:lnSpc>
              <a:spcBef>
                <a:spcPts val="300"/>
              </a:spcBef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Replace client java script API with Micro services</a:t>
            </a:r>
            <a:endParaRPr lang="en-US" sz="800" dirty="0">
              <a:effectLst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874828" y="1964826"/>
            <a:ext cx="2101532" cy="23239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t"/>
          <a:lstStyle/>
          <a:p>
            <a:pPr>
              <a:lnSpc>
                <a:spcPts val="800"/>
              </a:lnSpc>
              <a:buSzPct val="80000"/>
            </a:pPr>
            <a:r>
              <a:rPr lang="en-US" sz="800" b="1" u="sng" dirty="0"/>
              <a:t>Admin</a:t>
            </a:r>
          </a:p>
          <a:p>
            <a:pPr>
              <a:lnSpc>
                <a:spcPts val="800"/>
              </a:lnSpc>
              <a:buSzPct val="80000"/>
            </a:pPr>
            <a:endParaRPr lang="en-US" sz="800" b="1" u="sng" dirty="0"/>
          </a:p>
          <a:p>
            <a:pPr marL="111125" indent="-111125">
              <a:lnSpc>
                <a:spcPts val="800"/>
              </a:lnSpc>
              <a:spcAft>
                <a:spcPts val="600"/>
              </a:spcAft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XXX Administration UI</a:t>
            </a:r>
          </a:p>
          <a:p>
            <a:pPr>
              <a:lnSpc>
                <a:spcPts val="800"/>
              </a:lnSpc>
              <a:buSzPct val="80000"/>
            </a:pPr>
            <a:endParaRPr lang="en-US" sz="800" b="1" u="sng" dirty="0"/>
          </a:p>
          <a:p>
            <a:pPr>
              <a:lnSpc>
                <a:spcPts val="800"/>
              </a:lnSpc>
              <a:buSzPct val="80000"/>
            </a:pPr>
            <a:endParaRPr lang="en-US" sz="800" b="1" u="sng" dirty="0"/>
          </a:p>
          <a:p>
            <a:pPr>
              <a:lnSpc>
                <a:spcPts val="800"/>
              </a:lnSpc>
              <a:buSzPct val="80000"/>
            </a:pPr>
            <a:endParaRPr lang="en-US" sz="800" b="1" u="sng" dirty="0"/>
          </a:p>
          <a:p>
            <a:pPr>
              <a:lnSpc>
                <a:spcPts val="800"/>
              </a:lnSpc>
              <a:buSzPct val="80000"/>
            </a:pPr>
            <a:r>
              <a:rPr lang="en-US" sz="800" b="1" u="sng" dirty="0"/>
              <a:t>Consumer API</a:t>
            </a:r>
          </a:p>
          <a:p>
            <a:pPr>
              <a:lnSpc>
                <a:spcPts val="800"/>
              </a:lnSpc>
              <a:buSzPct val="80000"/>
            </a:pPr>
            <a:endParaRPr lang="en-US" sz="800" b="1" u="sng" dirty="0"/>
          </a:p>
          <a:p>
            <a:pPr marL="111125" indent="-111125">
              <a:lnSpc>
                <a:spcPts val="800"/>
              </a:lnSpc>
              <a:buSzPct val="80000"/>
              <a:buFont typeface="Wingdings" panose="05000000000000000000" pitchFamily="2" charset="2"/>
              <a:buChar char="u"/>
            </a:pPr>
            <a:r>
              <a:rPr lang="en-US" sz="800" dirty="0"/>
              <a:t>XXX Micro service</a:t>
            </a:r>
            <a:endParaRPr lang="en-US" sz="800" dirty="0">
              <a:effectLst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371407" y="850207"/>
            <a:ext cx="2101532" cy="2286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5" name="Chevron 34"/>
          <p:cNvSpPr/>
          <p:nvPr/>
        </p:nvSpPr>
        <p:spPr>
          <a:xfrm>
            <a:off x="4618879" y="850206"/>
            <a:ext cx="2434757" cy="228600"/>
          </a:xfrm>
          <a:prstGeom prst="chevron">
            <a:avLst/>
          </a:prstGeom>
          <a:solidFill>
            <a:srgbClr val="F8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18879" y="850206"/>
            <a:ext cx="2101532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 defTabSz="910563">
              <a:buSzPct val="100000"/>
              <a:defRPr/>
            </a:pPr>
            <a:r>
              <a:rPr lang="en-US" sz="1000" b="1" dirty="0">
                <a:solidFill>
                  <a:schemeClr val="tx1"/>
                </a:solidFill>
                <a:ea typeface="ＭＳ Ｐゴシック" pitchFamily="34" charset="-128"/>
              </a:rPr>
              <a:t>FY18-Q1</a:t>
            </a:r>
          </a:p>
        </p:txBody>
      </p:sp>
      <p:sp>
        <p:nvSpPr>
          <p:cNvPr id="33" name="Chevron 32"/>
          <p:cNvSpPr/>
          <p:nvPr/>
        </p:nvSpPr>
        <p:spPr>
          <a:xfrm>
            <a:off x="2967910" y="850206"/>
            <a:ext cx="1805247" cy="22860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371407" y="850206"/>
            <a:ext cx="2101532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 defTabSz="910563">
              <a:buSzPct val="100000"/>
              <a:defRPr/>
            </a:pPr>
            <a:r>
              <a:rPr lang="en-US" sz="1000" b="1" dirty="0">
                <a:solidFill>
                  <a:schemeClr val="tx1"/>
                </a:solidFill>
                <a:ea typeface="ＭＳ Ｐゴシック" pitchFamily="34" charset="-128"/>
              </a:rPr>
              <a:t>FY17 Q4 </a:t>
            </a:r>
          </a:p>
        </p:txBody>
      </p:sp>
      <p:sp>
        <p:nvSpPr>
          <p:cNvPr id="36" name="Chevron 35"/>
          <p:cNvSpPr/>
          <p:nvPr/>
        </p:nvSpPr>
        <p:spPr>
          <a:xfrm>
            <a:off x="6866351" y="850206"/>
            <a:ext cx="1505030" cy="228600"/>
          </a:xfrm>
          <a:prstGeom prst="chevron">
            <a:avLst/>
          </a:prstGeom>
          <a:solidFill>
            <a:srgbClr val="E9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337331" y="850206"/>
            <a:ext cx="1630551" cy="228600"/>
          </a:xfrm>
          <a:prstGeom prst="rect">
            <a:avLst/>
          </a:prstGeom>
          <a:solidFill>
            <a:srgbClr val="E9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866353" y="865345"/>
            <a:ext cx="2101529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200"/>
              </a:lnSpc>
            </a:pPr>
            <a:r>
              <a:rPr lang="en-US" sz="1000" b="1" dirty="0">
                <a:solidFill>
                  <a:schemeClr val="tx1"/>
                </a:solidFill>
              </a:rPr>
              <a:t>FYQ2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021469" y="1123935"/>
            <a:ext cx="908528" cy="7191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2000"/>
              </a:lnSpc>
            </a:pPr>
            <a:r>
              <a:rPr lang="en-US" sz="1200" b="1" dirty="0">
                <a:solidFill>
                  <a:schemeClr val="tx1"/>
                </a:solidFill>
              </a:rPr>
              <a:t>Phase</a:t>
            </a:r>
            <a:endParaRPr lang="en-US" b="1" dirty="0">
              <a:solidFill>
                <a:schemeClr val="tx1"/>
              </a:solidFill>
            </a:endParaRPr>
          </a:p>
          <a:p>
            <a:pPr algn="ctr">
              <a:lnSpc>
                <a:spcPts val="2000"/>
              </a:lnSpc>
            </a:pPr>
            <a:r>
              <a:rPr lang="en-US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31269" y="1146246"/>
            <a:ext cx="908528" cy="7191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2000"/>
              </a:lnSpc>
            </a:pPr>
            <a:r>
              <a:rPr lang="en-US" sz="1200" b="1" dirty="0">
                <a:solidFill>
                  <a:schemeClr val="tx1"/>
                </a:solidFill>
              </a:rPr>
              <a:t>Phase</a:t>
            </a:r>
            <a:endParaRPr lang="en-US" b="1" dirty="0">
              <a:solidFill>
                <a:schemeClr val="tx1"/>
              </a:solidFill>
            </a:endParaRPr>
          </a:p>
          <a:p>
            <a:pPr algn="ctr">
              <a:lnSpc>
                <a:spcPts val="2000"/>
              </a:lnSpc>
            </a:pPr>
            <a:r>
              <a:rPr lang="en-US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62853" y="1098870"/>
            <a:ext cx="908528" cy="7191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2000"/>
              </a:lnSpc>
            </a:pPr>
            <a:r>
              <a:rPr lang="en-US" sz="1200" b="1" dirty="0">
                <a:solidFill>
                  <a:schemeClr val="tx1"/>
                </a:solidFill>
              </a:rPr>
              <a:t>Phase</a:t>
            </a:r>
            <a:endParaRPr lang="en-US" b="1" dirty="0">
              <a:solidFill>
                <a:schemeClr val="tx1"/>
              </a:solidFill>
            </a:endParaRPr>
          </a:p>
          <a:p>
            <a:pPr algn="ctr">
              <a:lnSpc>
                <a:spcPts val="2000"/>
              </a:lnSpc>
            </a:pPr>
            <a:r>
              <a:rPr lang="en-US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8287" y="1141950"/>
            <a:ext cx="944880" cy="7191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</a:rPr>
              <a:t>Current</a:t>
            </a:r>
          </a:p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</a:rPr>
              <a:t>Initiatives</a:t>
            </a:r>
            <a:endParaRPr lang="en-US" sz="2400" b="1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31" name="Date Placeholder 1"/>
          <p:cNvSpPr>
            <a:spLocks noGrp="1"/>
          </p:cNvSpPr>
          <p:nvPr>
            <p:ph type="dt" sz="half" idx="2"/>
          </p:nvPr>
        </p:nvSpPr>
        <p:spPr>
          <a:xfrm>
            <a:off x="6775704" y="4830696"/>
            <a:ext cx="1682496" cy="228600"/>
          </a:xfrm>
          <a:prstGeom prst="rect">
            <a:avLst/>
          </a:prstGeom>
        </p:spPr>
        <p:txBody>
          <a:bodyPr/>
          <a:lstStyle/>
          <a:p>
            <a:fld id="{CC8FAB6F-E7C0-48EA-B25A-906BB1BDD55D}" type="datetime1">
              <a:rPr lang="en-US" smtClean="0"/>
              <a:t>3/9/2020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594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/>
          <p:cNvGrpSpPr/>
          <p:nvPr/>
        </p:nvGrpSpPr>
        <p:grpSpPr>
          <a:xfrm>
            <a:off x="470464" y="464620"/>
            <a:ext cx="8426659" cy="324779"/>
            <a:chOff x="893915" y="464620"/>
            <a:chExt cx="7548004" cy="324779"/>
          </a:xfrm>
        </p:grpSpPr>
        <p:sp>
          <p:nvSpPr>
            <p:cNvPr id="2" name="Round Diagonal Corner Rectangle 1"/>
            <p:cNvSpPr/>
            <p:nvPr/>
          </p:nvSpPr>
          <p:spPr>
            <a:xfrm>
              <a:off x="893915" y="464620"/>
              <a:ext cx="7548004" cy="324779"/>
            </a:xfrm>
            <a:prstGeom prst="round2DiagRect">
              <a:avLst>
                <a:gd name="adj1" fmla="val 26236"/>
                <a:gd name="adj2" fmla="val 1257"/>
              </a:avLst>
            </a:prstGeom>
            <a:gradFill flip="none" rotWithShape="1">
              <a:gsLst>
                <a:gs pos="100000">
                  <a:srgbClr val="FFFFFF">
                    <a:lumMod val="50000"/>
                  </a:srgbClr>
                </a:gs>
                <a:gs pos="50000">
                  <a:srgbClr val="FFFFFF">
                    <a:lumMod val="75000"/>
                  </a:srgbClr>
                </a:gs>
                <a:gs pos="0">
                  <a:srgbClr val="FFFFFF">
                    <a:lumMod val="50000"/>
                  </a:srgbClr>
                </a:gs>
              </a:gsLst>
              <a:lin ang="5400000" scaled="1"/>
              <a:tileRect/>
            </a:gradFill>
            <a:ln w="12700" cap="flat" cmpd="sng" algn="ctr">
              <a:gradFill flip="none" rotWithShape="1">
                <a:gsLst>
                  <a:gs pos="0">
                    <a:srgbClr val="CBCBCB"/>
                  </a:gs>
                  <a:gs pos="13000">
                    <a:srgbClr val="5F5F5F"/>
                  </a:gs>
                  <a:gs pos="21001">
                    <a:srgbClr val="5F5F5F"/>
                  </a:gs>
                  <a:gs pos="63000">
                    <a:srgbClr val="FFFFFF"/>
                  </a:gs>
                  <a:gs pos="67000">
                    <a:srgbClr val="B2B2B2"/>
                  </a:gs>
                  <a:gs pos="69000">
                    <a:srgbClr val="292929"/>
                  </a:gs>
                  <a:gs pos="82001">
                    <a:srgbClr val="777777"/>
                  </a:gs>
                  <a:gs pos="100000">
                    <a:srgbClr val="EAEAEA"/>
                  </a:gs>
                </a:gsLst>
                <a:lin ang="10800000" scaled="1"/>
                <a:tileRect/>
              </a:gradFill>
              <a:prstDash val="solid"/>
            </a:ln>
            <a:effectLst>
              <a:outerShdw blurRad="50800" dist="38100" dir="5400000" algn="t" rotWithShape="0">
                <a:prstClr val="black">
                  <a:alpha val="2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914378">
                <a:defRPr/>
              </a:pPr>
              <a:endParaRPr lang="en-US" sz="12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1804808" y="601583"/>
              <a:ext cx="14183" cy="18781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 defTabSz="914378">
                <a:defRPr/>
              </a:pPr>
              <a:endParaRPr lang="en-US" sz="12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2799304" y="601583"/>
              <a:ext cx="14183" cy="18781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 defTabSz="914378">
                <a:defRPr/>
              </a:pPr>
              <a:endParaRPr lang="en-US" sz="12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4758699" y="601583"/>
              <a:ext cx="14183" cy="18781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 defTabSz="914378">
                <a:defRPr/>
              </a:pPr>
              <a:endParaRPr lang="en-US" sz="12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5665773" y="601583"/>
              <a:ext cx="14183" cy="18781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 defTabSz="914378">
                <a:defRPr/>
              </a:pPr>
              <a:endParaRPr lang="en-US" sz="12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572848" y="601583"/>
              <a:ext cx="14183" cy="18781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 defTabSz="914378">
                <a:defRPr/>
              </a:pPr>
              <a:endParaRPr lang="en-US" sz="12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479923" y="601583"/>
              <a:ext cx="14183" cy="18781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 defTabSz="914378">
                <a:defRPr/>
              </a:pPr>
              <a:endParaRPr lang="en-US" sz="12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716166" y="601583"/>
              <a:ext cx="14183" cy="18781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 defTabSz="914378">
                <a:defRPr/>
              </a:pPr>
              <a:endParaRPr lang="en-US" sz="12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26054" y="510824"/>
              <a:ext cx="654830" cy="253916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1200" b="1" dirty="0">
                  <a:solidFill>
                    <a:srgbClr val="FFFFFF"/>
                  </a:solidFill>
                  <a:latin typeface="Calibri"/>
                </a:rPr>
                <a:t>Jan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942915" y="510824"/>
              <a:ext cx="654830" cy="253916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1200" b="1" dirty="0">
                  <a:solidFill>
                    <a:srgbClr val="FFFFFF"/>
                  </a:solidFill>
                  <a:latin typeface="Calibri"/>
                </a:rPr>
                <a:t>Feb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937411" y="510824"/>
              <a:ext cx="654830" cy="253916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1200" b="1" dirty="0">
                  <a:solidFill>
                    <a:srgbClr val="FFFFFF"/>
                  </a:solidFill>
                  <a:latin typeface="Calibri"/>
                </a:rPr>
                <a:t>Mar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854273" y="510824"/>
              <a:ext cx="780502" cy="253916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1200" b="1" dirty="0">
                  <a:solidFill>
                    <a:srgbClr val="FFFFFF"/>
                  </a:solidFill>
                  <a:latin typeface="Calibri"/>
                </a:rPr>
                <a:t>Apr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96806" y="510824"/>
              <a:ext cx="645043" cy="253916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1200" b="1" dirty="0">
                  <a:solidFill>
                    <a:srgbClr val="FFFFFF"/>
                  </a:solidFill>
                  <a:latin typeface="Calibri"/>
                </a:rPr>
                <a:t>May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03881" y="510824"/>
              <a:ext cx="645043" cy="253916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1200" b="1" dirty="0">
                  <a:solidFill>
                    <a:srgbClr val="FFFFFF"/>
                  </a:solidFill>
                  <a:latin typeface="Calibri"/>
                </a:rPr>
                <a:t>Jun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10955" y="510824"/>
              <a:ext cx="645043" cy="253916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1200" b="1" dirty="0">
                  <a:solidFill>
                    <a:srgbClr val="FFFFFF"/>
                  </a:solidFill>
                  <a:latin typeface="Calibri"/>
                </a:rPr>
                <a:t>Jul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618023" y="510824"/>
              <a:ext cx="645043" cy="253916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1200" b="1" dirty="0">
                  <a:solidFill>
                    <a:srgbClr val="FFFFFF"/>
                  </a:solidFill>
                  <a:latin typeface="Calibri"/>
                </a:rPr>
                <a:t>Aug</a:t>
              </a:r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470464" y="1451069"/>
            <a:ext cx="4062875" cy="277381"/>
          </a:xfrm>
          <a:prstGeom prst="roundRect">
            <a:avLst/>
          </a:prstGeom>
          <a:solidFill>
            <a:srgbClr val="CC0000"/>
          </a:solidFill>
          <a:ln w="9525" cap="flat" cmpd="sng" algn="ctr">
            <a:gradFill flip="none" rotWithShape="1">
              <a:gsLst>
                <a:gs pos="0">
                  <a:srgbClr val="BF0103">
                    <a:lumMod val="40000"/>
                    <a:lumOff val="60000"/>
                  </a:srgbClr>
                </a:gs>
                <a:gs pos="100000">
                  <a:srgbClr val="BF0103">
                    <a:lumMod val="40000"/>
                    <a:lumOff val="60000"/>
                  </a:srgbClr>
                </a:gs>
                <a:gs pos="50000">
                  <a:srgbClr val="BF0103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r>
              <a:rPr lang="en-US" sz="1200" kern="0" dirty="0">
                <a:solidFill>
                  <a:prstClr val="white"/>
                </a:solidFill>
                <a:latin typeface="Calibri"/>
              </a:rPr>
              <a:t>Design Sprints</a:t>
            </a:r>
          </a:p>
        </p:txBody>
      </p:sp>
      <p:cxnSp>
        <p:nvCxnSpPr>
          <p:cNvPr id="21" name="Straight Connector 20"/>
          <p:cNvCxnSpPr/>
          <p:nvPr/>
        </p:nvCxnSpPr>
        <p:spPr>
          <a:xfrm rot="5400000">
            <a:off x="2133459" y="1819668"/>
            <a:ext cx="914400" cy="1588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487393" y="1756528"/>
            <a:ext cx="3045947" cy="277381"/>
          </a:xfrm>
          <a:prstGeom prst="roundRect">
            <a:avLst/>
          </a:prstGeom>
          <a:solidFill>
            <a:srgbClr val="00B050"/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r>
              <a:rPr lang="en-US" sz="1200" kern="0" dirty="0">
                <a:solidFill>
                  <a:prstClr val="white"/>
                </a:solidFill>
                <a:latin typeface="Calibri"/>
              </a:rPr>
              <a:t>Development Sprints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477838" y="844948"/>
            <a:ext cx="0" cy="880993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2589864" y="789399"/>
            <a:ext cx="7538" cy="2882494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 rot="16200000">
            <a:off x="-1108429" y="3296067"/>
            <a:ext cx="2632893" cy="27865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914378"/>
            <a:r>
              <a:rPr lang="en-US" sz="1200" b="1" kern="0" dirty="0">
                <a:solidFill>
                  <a:prstClr val="white"/>
                </a:solidFill>
                <a:latin typeface="Calibri"/>
              </a:rPr>
              <a:t>Phase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84909" y="2572923"/>
            <a:ext cx="1948431" cy="42579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dashDot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r>
              <a:rPr lang="en-US" sz="1000" kern="0" dirty="0">
                <a:latin typeface="Calibri"/>
              </a:rPr>
              <a:t>Implementation</a:t>
            </a:r>
          </a:p>
          <a:p>
            <a:pPr algn="ctr" defTabSz="914378">
              <a:defRPr/>
            </a:pPr>
            <a:r>
              <a:rPr lang="en-US" sz="1000" kern="0" dirty="0">
                <a:latin typeface="Calibri"/>
              </a:rPr>
              <a:t>XXX Content Service – Enriched Vehicle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5899" y="2122374"/>
            <a:ext cx="1833965" cy="4301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dashDot"/>
          </a:ln>
          <a:effectLst/>
        </p:spPr>
        <p:txBody>
          <a:bodyPr lIns="68580" tIns="34290" rIns="68580" bIns="34290" rtlCol="0" anchor="ctr"/>
          <a:lstStyle/>
          <a:p>
            <a:pPr defTabSz="914378">
              <a:defRPr/>
            </a:pPr>
            <a:r>
              <a:rPr lang="en-US" sz="1050" kern="0" dirty="0">
                <a:latin typeface="Calibri"/>
              </a:rPr>
              <a:t>Requirements Documentation</a:t>
            </a:r>
          </a:p>
        </p:txBody>
      </p:sp>
      <p:cxnSp>
        <p:nvCxnSpPr>
          <p:cNvPr id="34" name="Straight Connector 33"/>
          <p:cNvCxnSpPr>
            <a:endCxn id="30" idx="1"/>
          </p:cNvCxnSpPr>
          <p:nvPr/>
        </p:nvCxnSpPr>
        <p:spPr>
          <a:xfrm flipH="1">
            <a:off x="2584909" y="125558"/>
            <a:ext cx="11894" cy="2660264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747272" y="789399"/>
            <a:ext cx="1" cy="1671021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70464" y="1063349"/>
            <a:ext cx="311313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 defTabSz="914378"/>
            <a:r>
              <a:rPr lang="en-GB" sz="900" b="1" dirty="0">
                <a:solidFill>
                  <a:srgbClr val="BF0103"/>
                </a:solidFill>
                <a:latin typeface="Rockwell" pitchFamily="18" charset="0"/>
              </a:rPr>
              <a:t>S0</a:t>
            </a:r>
          </a:p>
        </p:txBody>
      </p:sp>
      <p:sp>
        <p:nvSpPr>
          <p:cNvPr id="40" name="Rounded Rectangle 39"/>
          <p:cNvSpPr/>
          <p:nvPr/>
        </p:nvSpPr>
        <p:spPr>
          <a:xfrm rot="16200000">
            <a:off x="-296068" y="1390494"/>
            <a:ext cx="1008176" cy="27865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r>
              <a:rPr lang="en-US" sz="1200" b="1" kern="0" dirty="0">
                <a:solidFill>
                  <a:prstClr val="white"/>
                </a:solidFill>
                <a:latin typeface="Calibri"/>
              </a:rPr>
              <a:t>Sprints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849131" y="1061502"/>
            <a:ext cx="1626219" cy="209596"/>
            <a:chOff x="849131" y="1061502"/>
            <a:chExt cx="1626219" cy="209596"/>
          </a:xfrm>
        </p:grpSpPr>
        <p:sp>
          <p:nvSpPr>
            <p:cNvPr id="37" name="TextBox 36"/>
            <p:cNvSpPr txBox="1"/>
            <p:nvPr/>
          </p:nvSpPr>
          <p:spPr>
            <a:xfrm>
              <a:off x="849131" y="1063349"/>
              <a:ext cx="311313" cy="20774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900" b="1" dirty="0">
                  <a:solidFill>
                    <a:srgbClr val="BF0103"/>
                  </a:solidFill>
                  <a:latin typeface="Rockwell" pitchFamily="18" charset="0"/>
                </a:rPr>
                <a:t>S1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293574" y="1063349"/>
              <a:ext cx="311313" cy="20774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900" b="1" dirty="0">
                  <a:solidFill>
                    <a:srgbClr val="BF0103"/>
                  </a:solidFill>
                  <a:latin typeface="Rockwell" pitchFamily="18" charset="0"/>
                </a:rPr>
                <a:t>S2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731328" y="1063349"/>
              <a:ext cx="311313" cy="20774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900" b="1" dirty="0">
                  <a:solidFill>
                    <a:srgbClr val="BF0103"/>
                  </a:solidFill>
                  <a:latin typeface="Rockwell" pitchFamily="18" charset="0"/>
                </a:rPr>
                <a:t>S3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164037" y="1061502"/>
              <a:ext cx="311313" cy="20774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900" b="1" dirty="0">
                  <a:solidFill>
                    <a:srgbClr val="BF0103"/>
                  </a:solidFill>
                  <a:latin typeface="Rockwell" pitchFamily="18" charset="0"/>
                </a:rPr>
                <a:t>S4</a:t>
              </a:r>
            </a:p>
          </p:txBody>
        </p:sp>
      </p:grpSp>
      <p:sp>
        <p:nvSpPr>
          <p:cNvPr id="61" name="Line Callout 2 (Accent Bar) 60"/>
          <p:cNvSpPr/>
          <p:nvPr/>
        </p:nvSpPr>
        <p:spPr bwMode="auto">
          <a:xfrm>
            <a:off x="347347" y="3078747"/>
            <a:ext cx="1294897" cy="1683448"/>
          </a:xfrm>
          <a:prstGeom prst="accentCallout2">
            <a:avLst>
              <a:gd name="adj1" fmla="val -605"/>
              <a:gd name="adj2" fmla="val 5299"/>
              <a:gd name="adj3" fmla="val -19126"/>
              <a:gd name="adj4" fmla="val 31953"/>
              <a:gd name="adj5" fmla="val -19749"/>
              <a:gd name="adj6" fmla="val 32141"/>
            </a:avLst>
          </a:prstGeom>
          <a:solidFill>
            <a:srgbClr val="FFFFFF"/>
          </a:solidFill>
          <a:ln w="6350" cap="flat" cmpd="sng" algn="ctr">
            <a:solidFill>
              <a:schemeClr val="accent5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378"/>
            <a:r>
              <a:rPr lang="en-US" sz="800" b="1" kern="0" dirty="0">
                <a:latin typeface="Segoe UI" panose="020B0502040204020203" pitchFamily="34" charset="0"/>
                <a:cs typeface="Segoe UI" panose="020B0502040204020203" pitchFamily="34" charset="0"/>
              </a:rPr>
              <a:t>Activities</a:t>
            </a:r>
          </a:p>
          <a:p>
            <a:pPr marL="112713" indent="-112713" defTabSz="914378">
              <a:buFont typeface="Arial" panose="020B0604020202020204" pitchFamily="34" charset="0"/>
              <a:buChar char="•"/>
            </a:pPr>
            <a:r>
              <a:rPr lang="en-US" sz="800" kern="0" dirty="0">
                <a:latin typeface="Segoe UI" panose="020B0502040204020203" pitchFamily="34" charset="0"/>
                <a:cs typeface="Segoe UI" panose="020B0502040204020203" pitchFamily="34" charset="0"/>
              </a:rPr>
              <a:t>Procure AWS environment from D&amp;IS</a:t>
            </a:r>
          </a:p>
          <a:p>
            <a:pPr marL="112713" indent="-112713" defTabSz="914378">
              <a:buFont typeface="Arial" panose="020B0604020202020204" pitchFamily="34" charset="0"/>
              <a:buChar char="•"/>
            </a:pPr>
            <a:r>
              <a:rPr lang="en-US" sz="800" kern="0" dirty="0">
                <a:latin typeface="Segoe UI" panose="020B0502040204020203" pitchFamily="34" charset="0"/>
                <a:cs typeface="Segoe UI" panose="020B0502040204020203" pitchFamily="34" charset="0"/>
              </a:rPr>
              <a:t>Review AWS Infrastructure and Technology Stack</a:t>
            </a:r>
          </a:p>
          <a:p>
            <a:pPr marL="112713" indent="-112713" defTabSz="914378">
              <a:buFont typeface="Arial" panose="020B0604020202020204" pitchFamily="34" charset="0"/>
              <a:buChar char="•"/>
            </a:pPr>
            <a:r>
              <a:rPr lang="en-US" sz="800" kern="0" dirty="0">
                <a:latin typeface="Segoe UI" panose="020B0502040204020203" pitchFamily="34" charset="0"/>
                <a:cs typeface="Segoe UI" panose="020B0502040204020203" pitchFamily="34" charset="0"/>
              </a:rPr>
              <a:t>Continuous Integration Build and Processes</a:t>
            </a:r>
          </a:p>
        </p:txBody>
      </p:sp>
      <p:sp>
        <p:nvSpPr>
          <p:cNvPr id="69" name="Text Placeholder 6"/>
          <p:cNvSpPr txBox="1">
            <a:spLocks/>
          </p:cNvSpPr>
          <p:nvPr/>
        </p:nvSpPr>
        <p:spPr>
          <a:xfrm>
            <a:off x="3282609" y="43986"/>
            <a:ext cx="5794716" cy="422740"/>
          </a:xfrm>
          <a:prstGeom prst="rect">
            <a:avLst/>
          </a:prstGeom>
        </p:spPr>
        <p:txBody>
          <a:bodyPr lIns="0" tIns="0" rIns="0" bIns="0" anchor="t" anchorCtr="0"/>
          <a:lstStyle>
            <a:defPPr>
              <a:defRPr lang="en-US"/>
            </a:defPPr>
            <a:lvl1pPr algn="r">
              <a:spcBef>
                <a:spcPct val="0"/>
              </a:spcBef>
              <a:buNone/>
              <a:defRPr sz="2400" baseline="0">
                <a:solidFill>
                  <a:srgbClr val="DA291C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 altLang="ja-JP" dirty="0"/>
              <a:t>Proposed Project Timeline</a:t>
            </a:r>
          </a:p>
        </p:txBody>
      </p:sp>
      <p:sp>
        <p:nvSpPr>
          <p:cNvPr id="104" name="Right Arrow 103"/>
          <p:cNvSpPr/>
          <p:nvPr/>
        </p:nvSpPr>
        <p:spPr bwMode="auto">
          <a:xfrm>
            <a:off x="7795846" y="981301"/>
            <a:ext cx="1306082" cy="351834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dash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/>
            <a:r>
              <a:rPr lang="en-US" sz="1050" kern="0" dirty="0">
                <a:latin typeface="Segoe UI" panose="020B0502040204020203" pitchFamily="34" charset="0"/>
                <a:cs typeface="Segoe UI" panose="020B0502040204020203" pitchFamily="34" charset="0"/>
              </a:rPr>
              <a:t>Future Phases</a:t>
            </a:r>
          </a:p>
        </p:txBody>
      </p:sp>
      <p:sp>
        <p:nvSpPr>
          <p:cNvPr id="79" name="Rounded Rectangle 78"/>
          <p:cNvSpPr/>
          <p:nvPr/>
        </p:nvSpPr>
        <p:spPr>
          <a:xfrm rot="16200000">
            <a:off x="2661871" y="2707623"/>
            <a:ext cx="4021596" cy="27865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r>
              <a:rPr lang="en-US" sz="1200" b="1" kern="0" dirty="0">
                <a:solidFill>
                  <a:prstClr val="white"/>
                </a:solidFill>
                <a:latin typeface="Calibri"/>
              </a:rPr>
              <a:t>CHRISTMAS BREAK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71964" y="2649682"/>
            <a:ext cx="1048210" cy="3537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dashDot"/>
          </a:ln>
          <a:effectLst/>
        </p:spPr>
        <p:txBody>
          <a:bodyPr lIns="68580" tIns="34290" rIns="68580" bIns="34290" rtlCol="0" anchor="ctr"/>
          <a:lstStyle/>
          <a:p>
            <a:pPr defTabSz="914378">
              <a:defRPr/>
            </a:pPr>
            <a:r>
              <a:rPr lang="en-US" sz="1050" kern="0" dirty="0">
                <a:latin typeface="Calibri"/>
              </a:rPr>
              <a:t>Architecture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533313" y="3057165"/>
            <a:ext cx="1048210" cy="3537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dashDot"/>
          </a:ln>
          <a:effectLst/>
        </p:spPr>
        <p:txBody>
          <a:bodyPr lIns="68580" tIns="34290" rIns="68580" bIns="34290" rtlCol="0" anchor="ctr"/>
          <a:lstStyle/>
          <a:p>
            <a:pPr defTabSz="914378">
              <a:defRPr/>
            </a:pPr>
            <a:r>
              <a:rPr lang="en-US" sz="1050" kern="0" dirty="0">
                <a:latin typeface="Calibri"/>
              </a:rPr>
              <a:t>Architecture / Service Design</a:t>
            </a:r>
          </a:p>
        </p:txBody>
      </p:sp>
      <p:grpSp>
        <p:nvGrpSpPr>
          <p:cNvPr id="93" name="Group 92"/>
          <p:cNvGrpSpPr/>
          <p:nvPr/>
        </p:nvGrpSpPr>
        <p:grpSpPr>
          <a:xfrm>
            <a:off x="2762625" y="1057968"/>
            <a:ext cx="1626219" cy="214528"/>
            <a:chOff x="849131" y="1063349"/>
            <a:chExt cx="1626219" cy="214528"/>
          </a:xfrm>
        </p:grpSpPr>
        <p:sp>
          <p:nvSpPr>
            <p:cNvPr id="94" name="TextBox 93"/>
            <p:cNvSpPr txBox="1"/>
            <p:nvPr/>
          </p:nvSpPr>
          <p:spPr>
            <a:xfrm>
              <a:off x="849131" y="1063349"/>
              <a:ext cx="311313" cy="20774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900" b="1" dirty="0">
                  <a:solidFill>
                    <a:srgbClr val="BF0103"/>
                  </a:solidFill>
                  <a:latin typeface="Rockwell" pitchFamily="18" charset="0"/>
                </a:rPr>
                <a:t>S5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293574" y="1063349"/>
              <a:ext cx="311313" cy="20774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900" b="1" dirty="0">
                  <a:solidFill>
                    <a:srgbClr val="BF0103"/>
                  </a:solidFill>
                  <a:latin typeface="Rockwell" pitchFamily="18" charset="0"/>
                </a:rPr>
                <a:t>S6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1731328" y="1063349"/>
              <a:ext cx="311313" cy="20774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900" b="1" dirty="0">
                  <a:solidFill>
                    <a:srgbClr val="BF0103"/>
                  </a:solidFill>
                  <a:latin typeface="Rockwell" pitchFamily="18" charset="0"/>
                </a:rPr>
                <a:t>S7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2164037" y="1070128"/>
              <a:ext cx="311313" cy="20774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900" b="1" dirty="0">
                  <a:solidFill>
                    <a:srgbClr val="BF0103"/>
                  </a:solidFill>
                  <a:latin typeface="Rockwell" pitchFamily="18" charset="0"/>
                </a:rPr>
                <a:t>S8</a:t>
              </a:r>
            </a:p>
          </p:txBody>
        </p:sp>
      </p:grpSp>
      <p:sp>
        <p:nvSpPr>
          <p:cNvPr id="99" name="Line Callout 2 (Accent Bar) 98"/>
          <p:cNvSpPr/>
          <p:nvPr/>
        </p:nvSpPr>
        <p:spPr bwMode="auto">
          <a:xfrm>
            <a:off x="1414726" y="3571069"/>
            <a:ext cx="1485914" cy="1292501"/>
          </a:xfrm>
          <a:prstGeom prst="accentCallout2">
            <a:avLst>
              <a:gd name="adj1" fmla="val -605"/>
              <a:gd name="adj2" fmla="val 5299"/>
              <a:gd name="adj3" fmla="val -14454"/>
              <a:gd name="adj4" fmla="val 27252"/>
              <a:gd name="adj5" fmla="val -13075"/>
              <a:gd name="adj6" fmla="val 26364"/>
            </a:avLst>
          </a:prstGeom>
          <a:solidFill>
            <a:srgbClr val="FFFFFF"/>
          </a:solidFill>
          <a:ln w="6350" cap="flat" cmpd="sng" algn="ctr">
            <a:solidFill>
              <a:schemeClr val="accent5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378"/>
            <a:r>
              <a:rPr lang="en-US" sz="800" b="1" kern="0" dirty="0">
                <a:latin typeface="Segoe UI" panose="020B0502040204020203" pitchFamily="34" charset="0"/>
                <a:cs typeface="Segoe UI" panose="020B0502040204020203" pitchFamily="34" charset="0"/>
              </a:rPr>
              <a:t>Activities</a:t>
            </a:r>
          </a:p>
          <a:p>
            <a:pPr marL="112713" indent="-112713" defTabSz="914378">
              <a:buFont typeface="Arial" panose="020B0604020202020204" pitchFamily="34" charset="0"/>
              <a:buChar char="•"/>
            </a:pPr>
            <a:r>
              <a:rPr lang="en-US" sz="800" kern="0" dirty="0">
                <a:latin typeface="Segoe UI" panose="020B0502040204020203" pitchFamily="34" charset="0"/>
                <a:cs typeface="Segoe UI" panose="020B0502040204020203" pitchFamily="34" charset="0"/>
              </a:rPr>
              <a:t>Define and Design services structure</a:t>
            </a:r>
          </a:p>
          <a:p>
            <a:pPr marL="112713" indent="-112713" defTabSz="914378">
              <a:buFont typeface="Arial" panose="020B0604020202020204" pitchFamily="34" charset="0"/>
              <a:buChar char="•"/>
            </a:pPr>
            <a:r>
              <a:rPr lang="en-US" sz="800" kern="0" dirty="0">
                <a:latin typeface="Segoe UI" panose="020B0502040204020203" pitchFamily="34" charset="0"/>
                <a:cs typeface="Segoe UI" panose="020B0502040204020203" pitchFamily="34" charset="0"/>
              </a:rPr>
              <a:t>Design caching strategy</a:t>
            </a:r>
          </a:p>
          <a:p>
            <a:pPr marL="112713" indent="-112713" defTabSz="914378">
              <a:buFont typeface="Arial" panose="020B0604020202020204" pitchFamily="34" charset="0"/>
              <a:buChar char="•"/>
            </a:pPr>
            <a:r>
              <a:rPr lang="en-US" sz="800" kern="0" dirty="0">
                <a:latin typeface="Segoe UI" panose="020B0502040204020203" pitchFamily="34" charset="0"/>
                <a:cs typeface="Segoe UI" panose="020B0502040204020203" pitchFamily="34" charset="0"/>
              </a:rPr>
              <a:t>Finalize AWS Technology Stack</a:t>
            </a:r>
          </a:p>
          <a:p>
            <a:pPr marL="112713" indent="-112713" defTabSz="914378">
              <a:buFont typeface="Arial" panose="020B0604020202020204" pitchFamily="34" charset="0"/>
              <a:buChar char="•"/>
            </a:pPr>
            <a:r>
              <a:rPr lang="en-US" sz="800" kern="0" dirty="0">
                <a:latin typeface="Segoe UI" panose="020B0502040204020203" pitchFamily="34" charset="0"/>
                <a:cs typeface="Segoe UI" panose="020B0502040204020203" pitchFamily="34" charset="0"/>
              </a:rPr>
              <a:t>AWS Initial Environment Setup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581523" y="3633292"/>
            <a:ext cx="1948431" cy="44857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dashDot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r>
              <a:rPr lang="en-US" sz="1000" kern="0" dirty="0">
                <a:latin typeface="Calibri"/>
              </a:rPr>
              <a:t>Implementation</a:t>
            </a:r>
          </a:p>
          <a:p>
            <a:pPr algn="ctr" defTabSz="914378">
              <a:defRPr/>
            </a:pPr>
            <a:r>
              <a:rPr lang="en-US" sz="1000" kern="0" dirty="0">
                <a:latin typeface="Calibri"/>
              </a:rPr>
              <a:t>Rules Service – </a:t>
            </a:r>
          </a:p>
          <a:p>
            <a:pPr algn="ctr" defTabSz="914378">
              <a:defRPr/>
            </a:pPr>
            <a:r>
              <a:rPr lang="en-US" sz="1000" kern="0" dirty="0">
                <a:latin typeface="Calibri"/>
              </a:rPr>
              <a:t>Enriched rules</a:t>
            </a:r>
          </a:p>
        </p:txBody>
      </p:sp>
      <p:sp>
        <p:nvSpPr>
          <p:cNvPr id="101" name="Line Callout 2 (Accent Bar) 100"/>
          <p:cNvSpPr/>
          <p:nvPr/>
        </p:nvSpPr>
        <p:spPr bwMode="auto">
          <a:xfrm>
            <a:off x="2704152" y="3137046"/>
            <a:ext cx="1816070" cy="462020"/>
          </a:xfrm>
          <a:prstGeom prst="accentCallout2">
            <a:avLst>
              <a:gd name="adj1" fmla="val 12611"/>
              <a:gd name="adj2" fmla="val 7964"/>
              <a:gd name="adj3" fmla="val -21026"/>
              <a:gd name="adj4" fmla="val 40613"/>
              <a:gd name="adj5" fmla="val -23441"/>
              <a:gd name="adj6" fmla="val 41467"/>
            </a:avLst>
          </a:prstGeom>
          <a:solidFill>
            <a:srgbClr val="FFFFFF"/>
          </a:solidFill>
          <a:ln w="6350" cap="flat" cmpd="sng" algn="ctr">
            <a:solidFill>
              <a:schemeClr val="accent5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378"/>
            <a:r>
              <a:rPr lang="en-US" sz="800" b="1" kern="0" dirty="0">
                <a:latin typeface="Segoe UI" panose="020B0502040204020203" pitchFamily="34" charset="0"/>
                <a:cs typeface="Segoe UI" panose="020B0502040204020203" pitchFamily="34" charset="0"/>
              </a:rPr>
              <a:t>Activities</a:t>
            </a:r>
          </a:p>
          <a:p>
            <a:pPr marL="112713" indent="-112713" defTabSz="914378">
              <a:buFont typeface="Arial" panose="020B0604020202020204" pitchFamily="34" charset="0"/>
              <a:buChar char="•"/>
            </a:pPr>
            <a:r>
              <a:rPr lang="en-US" sz="800" kern="0" dirty="0">
                <a:latin typeface="Segoe UI" panose="020B0502040204020203" pitchFamily="34" charset="0"/>
                <a:cs typeface="Segoe UI" panose="020B0502040204020203" pitchFamily="34" charset="0"/>
              </a:rPr>
              <a:t>National English Content service </a:t>
            </a:r>
          </a:p>
        </p:txBody>
      </p:sp>
      <p:sp>
        <p:nvSpPr>
          <p:cNvPr id="106" name="Line Callout 2 (Accent Bar) 105"/>
          <p:cNvSpPr/>
          <p:nvPr/>
        </p:nvSpPr>
        <p:spPr bwMode="auto">
          <a:xfrm>
            <a:off x="2715275" y="4299669"/>
            <a:ext cx="1814679" cy="767205"/>
          </a:xfrm>
          <a:prstGeom prst="accentCallout2">
            <a:avLst>
              <a:gd name="adj1" fmla="val 12611"/>
              <a:gd name="adj2" fmla="val 7964"/>
              <a:gd name="adj3" fmla="val -21026"/>
              <a:gd name="adj4" fmla="val 40613"/>
              <a:gd name="adj5" fmla="val -23441"/>
              <a:gd name="adj6" fmla="val 41467"/>
            </a:avLst>
          </a:prstGeom>
          <a:solidFill>
            <a:srgbClr val="FFFFFF"/>
          </a:solidFill>
          <a:ln w="6350" cap="flat" cmpd="sng" algn="ctr">
            <a:solidFill>
              <a:schemeClr val="accent5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378"/>
            <a:r>
              <a:rPr lang="en-US" sz="800" b="1" kern="0" dirty="0">
                <a:latin typeface="Segoe UI" panose="020B0502040204020203" pitchFamily="34" charset="0"/>
                <a:cs typeface="Segoe UI" panose="020B0502040204020203" pitchFamily="34" charset="0"/>
              </a:rPr>
              <a:t>Activities</a:t>
            </a:r>
          </a:p>
          <a:p>
            <a:pPr marL="112713" indent="-112713" defTabSz="914378">
              <a:buFont typeface="Arial" panose="020B0604020202020204" pitchFamily="34" charset="0"/>
              <a:buChar char="•"/>
            </a:pPr>
            <a:r>
              <a:rPr lang="en-US" sz="800" kern="0" dirty="0">
                <a:latin typeface="Segoe UI" panose="020B0502040204020203" pitchFamily="34" charset="0"/>
                <a:cs typeface="Segoe UI" panose="020B0502040204020203" pitchFamily="34" charset="0"/>
              </a:rPr>
              <a:t>Rules – Enriched rules service</a:t>
            </a:r>
          </a:p>
          <a:p>
            <a:pPr marL="112713" indent="-112713" defTabSz="914378">
              <a:buFont typeface="Arial" panose="020B0604020202020204" pitchFamily="34" charset="0"/>
              <a:buChar char="•"/>
            </a:pPr>
            <a:r>
              <a:rPr lang="en-US" sz="800" kern="0" dirty="0">
                <a:latin typeface="Segoe UI" panose="020B0502040204020203" pitchFamily="34" charset="0"/>
                <a:cs typeface="Segoe UI" panose="020B0502040204020203" pitchFamily="34" charset="0"/>
              </a:rPr>
              <a:t>Rules – Features Display</a:t>
            </a:r>
          </a:p>
          <a:p>
            <a:pPr marL="112713" indent="-112713" defTabSz="914378">
              <a:buFont typeface="Arial" panose="020B0604020202020204" pitchFamily="34" charset="0"/>
              <a:buChar char="•"/>
            </a:pPr>
            <a:endParaRPr lang="en-US" sz="80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7" name="Straight Connector 106"/>
          <p:cNvCxnSpPr/>
          <p:nvPr/>
        </p:nvCxnSpPr>
        <p:spPr>
          <a:xfrm rot="5400000">
            <a:off x="4377995" y="1815312"/>
            <a:ext cx="914400" cy="1588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4835990" y="1752172"/>
            <a:ext cx="2437088" cy="281737"/>
          </a:xfrm>
          <a:prstGeom prst="roundRect">
            <a:avLst/>
          </a:prstGeom>
          <a:solidFill>
            <a:srgbClr val="00B050"/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r>
              <a:rPr lang="en-US" sz="1200" kern="0" dirty="0">
                <a:solidFill>
                  <a:prstClr val="white"/>
                </a:solidFill>
                <a:latin typeface="Calibri"/>
              </a:rPr>
              <a:t>Development Sprints</a:t>
            </a:r>
          </a:p>
        </p:txBody>
      </p:sp>
      <p:cxnSp>
        <p:nvCxnSpPr>
          <p:cNvPr id="109" name="Straight Connector 108"/>
          <p:cNvCxnSpPr/>
          <p:nvPr/>
        </p:nvCxnSpPr>
        <p:spPr>
          <a:xfrm flipH="1">
            <a:off x="4834400" y="785043"/>
            <a:ext cx="7538" cy="2882494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4829446" y="2568567"/>
            <a:ext cx="2443632" cy="42579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dashDot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r>
              <a:rPr lang="en-US" sz="1000" kern="0" dirty="0">
                <a:latin typeface="Calibri"/>
              </a:rPr>
              <a:t>Implementation</a:t>
            </a:r>
          </a:p>
          <a:p>
            <a:pPr algn="ctr" defTabSz="914378">
              <a:defRPr/>
            </a:pPr>
            <a:r>
              <a:rPr lang="en-US" sz="1000" kern="0" dirty="0">
                <a:latin typeface="Calibri"/>
              </a:rPr>
              <a:t>XXX Content Service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946779" y="1053612"/>
            <a:ext cx="311313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 defTabSz="914378"/>
            <a:r>
              <a:rPr lang="en-GB" sz="900" b="1" dirty="0">
                <a:solidFill>
                  <a:srgbClr val="BF0103"/>
                </a:solidFill>
                <a:latin typeface="Rockwell" pitchFamily="18" charset="0"/>
              </a:rPr>
              <a:t>S9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65344" y="1053612"/>
            <a:ext cx="417239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 defTabSz="914378"/>
            <a:r>
              <a:rPr lang="en-GB" sz="900" b="1" dirty="0">
                <a:solidFill>
                  <a:srgbClr val="BF0103"/>
                </a:solidFill>
                <a:latin typeface="Rockwell" pitchFamily="18" charset="0"/>
              </a:rPr>
              <a:t>S10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897984" y="1053612"/>
            <a:ext cx="422702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 defTabSz="914378"/>
            <a:r>
              <a:rPr lang="en-GB" sz="900" b="1" dirty="0">
                <a:solidFill>
                  <a:srgbClr val="BF0103"/>
                </a:solidFill>
                <a:latin typeface="Rockwell" pitchFamily="18" charset="0"/>
              </a:rPr>
              <a:t>S11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416953" y="1060391"/>
            <a:ext cx="350059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 defTabSz="914378"/>
            <a:r>
              <a:rPr lang="en-GB" sz="900" b="1" dirty="0">
                <a:solidFill>
                  <a:srgbClr val="BF0103"/>
                </a:solidFill>
                <a:latin typeface="Rockwell" pitchFamily="18" charset="0"/>
              </a:rPr>
              <a:t>S12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826060" y="3628936"/>
            <a:ext cx="2447018" cy="44857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dashDot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r>
              <a:rPr lang="en-US" sz="1000" kern="0" dirty="0">
                <a:latin typeface="Calibri"/>
              </a:rPr>
              <a:t>Implementation</a:t>
            </a:r>
          </a:p>
          <a:p>
            <a:pPr algn="ctr" defTabSz="914378">
              <a:defRPr/>
            </a:pPr>
            <a:r>
              <a:rPr lang="en-US" sz="1000" kern="0" dirty="0">
                <a:latin typeface="Calibri"/>
              </a:rPr>
              <a:t>Rules Service – Enriched rules</a:t>
            </a:r>
          </a:p>
        </p:txBody>
      </p:sp>
      <p:sp>
        <p:nvSpPr>
          <p:cNvPr id="121" name="Line Callout 2 (Accent Bar) 120"/>
          <p:cNvSpPr/>
          <p:nvPr/>
        </p:nvSpPr>
        <p:spPr bwMode="auto">
          <a:xfrm>
            <a:off x="4959811" y="4295313"/>
            <a:ext cx="2208740" cy="767205"/>
          </a:xfrm>
          <a:prstGeom prst="accentCallout2">
            <a:avLst>
              <a:gd name="adj1" fmla="val 12611"/>
              <a:gd name="adj2" fmla="val 7964"/>
              <a:gd name="adj3" fmla="val -21026"/>
              <a:gd name="adj4" fmla="val 40613"/>
              <a:gd name="adj5" fmla="val -23441"/>
              <a:gd name="adj6" fmla="val 41467"/>
            </a:avLst>
          </a:prstGeom>
          <a:solidFill>
            <a:srgbClr val="FFFFFF"/>
          </a:solidFill>
          <a:ln w="6350" cap="flat" cmpd="sng" algn="ctr">
            <a:solidFill>
              <a:schemeClr val="accent5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378"/>
            <a:r>
              <a:rPr lang="en-US" sz="800" b="1" kern="0" dirty="0">
                <a:latin typeface="Segoe UI" panose="020B0502040204020203" pitchFamily="34" charset="0"/>
                <a:cs typeface="Segoe UI" panose="020B0502040204020203" pitchFamily="34" charset="0"/>
              </a:rPr>
              <a:t>Activities</a:t>
            </a:r>
          </a:p>
          <a:p>
            <a:pPr marL="112713" indent="-112713" defTabSz="914378">
              <a:buFont typeface="Arial" panose="020B0604020202020204" pitchFamily="34" charset="0"/>
              <a:buChar char="•"/>
            </a:pPr>
            <a:r>
              <a:rPr lang="en-US" sz="800" kern="0" dirty="0">
                <a:latin typeface="Segoe UI" panose="020B0502040204020203" pitchFamily="34" charset="0"/>
                <a:cs typeface="Segoe UI" panose="020B0502040204020203" pitchFamily="34" charset="0"/>
              </a:rPr>
              <a:t>Rules – Enriched rules service</a:t>
            </a:r>
          </a:p>
          <a:p>
            <a:pPr marL="112713" indent="-112713" defTabSz="914378">
              <a:buFont typeface="Arial" panose="020B0604020202020204" pitchFamily="34" charset="0"/>
              <a:buChar char="•"/>
            </a:pPr>
            <a:r>
              <a:rPr lang="en-US" sz="800" kern="0" dirty="0">
                <a:latin typeface="Segoe UI" panose="020B0502040204020203" pitchFamily="34" charset="0"/>
                <a:cs typeface="Segoe UI" panose="020B0502040204020203" pitchFamily="34" charset="0"/>
              </a:rPr>
              <a:t>Rules – Conflicts resolution (Fix List)</a:t>
            </a:r>
          </a:p>
          <a:p>
            <a:pPr marL="112713" indent="-112713" defTabSz="914378">
              <a:buFont typeface="Arial" panose="020B0604020202020204" pitchFamily="34" charset="0"/>
              <a:buChar char="•"/>
            </a:pPr>
            <a:r>
              <a:rPr lang="en-US" sz="800" kern="0" dirty="0">
                <a:latin typeface="Segoe UI" panose="020B0502040204020203" pitchFamily="34" charset="0"/>
                <a:cs typeface="Segoe UI" panose="020B0502040204020203" pitchFamily="34" charset="0"/>
              </a:rPr>
              <a:t>Inventory Rules</a:t>
            </a:r>
          </a:p>
          <a:p>
            <a:pPr marL="112713" indent="-112713" defTabSz="914378">
              <a:buFont typeface="Arial" panose="020B0604020202020204" pitchFamily="34" charset="0"/>
              <a:buChar char="•"/>
            </a:pPr>
            <a:endParaRPr lang="en-US" sz="800" kern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2" name="Line Callout 2 (Accent Bar) 121"/>
          <p:cNvSpPr/>
          <p:nvPr/>
        </p:nvSpPr>
        <p:spPr bwMode="auto">
          <a:xfrm>
            <a:off x="4947621" y="3149858"/>
            <a:ext cx="1816070" cy="449208"/>
          </a:xfrm>
          <a:prstGeom prst="accentCallout2">
            <a:avLst>
              <a:gd name="adj1" fmla="val -6383"/>
              <a:gd name="adj2" fmla="val 9978"/>
              <a:gd name="adj3" fmla="val -21026"/>
              <a:gd name="adj4" fmla="val 40613"/>
              <a:gd name="adj5" fmla="val -23441"/>
              <a:gd name="adj6" fmla="val 41467"/>
            </a:avLst>
          </a:prstGeom>
          <a:solidFill>
            <a:srgbClr val="FFFFFF"/>
          </a:solidFill>
          <a:ln w="6350" cap="flat" cmpd="sng" algn="ctr">
            <a:solidFill>
              <a:schemeClr val="accent5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378"/>
            <a:r>
              <a:rPr lang="en-US" sz="800" b="1" kern="0" dirty="0">
                <a:latin typeface="Segoe UI" panose="020B0502040204020203" pitchFamily="34" charset="0"/>
                <a:cs typeface="Segoe UI" panose="020B0502040204020203" pitchFamily="34" charset="0"/>
              </a:rPr>
              <a:t>Activities</a:t>
            </a:r>
          </a:p>
          <a:p>
            <a:pPr marL="112713" indent="-112713" defTabSz="914378">
              <a:buFont typeface="Arial" panose="020B0604020202020204" pitchFamily="34" charset="0"/>
              <a:buChar char="•"/>
            </a:pPr>
            <a:r>
              <a:rPr lang="en-US" sz="800" kern="0" dirty="0">
                <a:latin typeface="Segoe UI" panose="020B0502040204020203" pitchFamily="34" charset="0"/>
                <a:cs typeface="Segoe UI" panose="020B0502040204020203" pitchFamily="34" charset="0"/>
              </a:rPr>
              <a:t>XXX Content service</a:t>
            </a:r>
          </a:p>
          <a:p>
            <a:pPr marL="112713" indent="-112713" defTabSz="914378">
              <a:buFont typeface="Arial" panose="020B0604020202020204" pitchFamily="34" charset="0"/>
              <a:buChar char="•"/>
            </a:pPr>
            <a:r>
              <a:rPr lang="en-US" sz="800" kern="0" dirty="0">
                <a:latin typeface="Segoe UI" panose="020B0502040204020203" pitchFamily="34" charset="0"/>
                <a:cs typeface="Segoe UI" panose="020B0502040204020203" pitchFamily="34" charset="0"/>
              </a:rPr>
              <a:t>XXX Content service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923019" y="1057523"/>
            <a:ext cx="350059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 defTabSz="914378"/>
            <a:r>
              <a:rPr lang="en-GB" sz="900" b="1" dirty="0">
                <a:solidFill>
                  <a:srgbClr val="BF0103"/>
                </a:solidFill>
                <a:latin typeface="Rockwell" pitchFamily="18" charset="0"/>
              </a:rPr>
              <a:t>S13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03207" y="1057277"/>
            <a:ext cx="350059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 defTabSz="914378"/>
            <a:r>
              <a:rPr lang="en-GB" sz="900" b="1" dirty="0">
                <a:solidFill>
                  <a:srgbClr val="BF0103"/>
                </a:solidFill>
                <a:latin typeface="Rockwell" pitchFamily="18" charset="0"/>
              </a:rPr>
              <a:t>S14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584908" y="2122374"/>
            <a:ext cx="1948431" cy="4301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dashDot"/>
          </a:ln>
          <a:effectLst/>
        </p:spPr>
        <p:txBody>
          <a:bodyPr lIns="68580" tIns="34290" rIns="68580" bIns="34290" rtlCol="0" anchor="ctr"/>
          <a:lstStyle/>
          <a:p>
            <a:pPr defTabSz="914378">
              <a:defRPr/>
            </a:pPr>
            <a:r>
              <a:rPr lang="en-US" sz="1050" kern="0" dirty="0">
                <a:latin typeface="Calibri"/>
              </a:rPr>
              <a:t>Environment Setup</a:t>
            </a:r>
          </a:p>
        </p:txBody>
      </p:sp>
      <p:sp>
        <p:nvSpPr>
          <p:cNvPr id="74" name="Text Placeholder 56"/>
          <p:cNvSpPr txBox="1">
            <a:spLocks/>
          </p:cNvSpPr>
          <p:nvPr/>
        </p:nvSpPr>
        <p:spPr>
          <a:xfrm>
            <a:off x="7382803" y="1365436"/>
            <a:ext cx="1746565" cy="355769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lIns="68580" tIns="68580" rIns="68580" bIns="68580"/>
          <a:lstStyle>
            <a:lvl1pPr marL="342900" indent="-342900" algn="l" defTabSz="457200" rtl="0" eaLnBrk="1" latinLnBrk="0" hangingPunct="1">
              <a:spcBef>
                <a:spcPct val="20000"/>
              </a:spcBef>
              <a:buSzPct val="75000"/>
              <a:buFont typeface="Wingdings" panose="05000000000000000000" pitchFamily="2" charset="2"/>
              <a:buChar char="u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bg1"/>
              </a:buClr>
              <a:buSzPct val="80000"/>
              <a:buNone/>
            </a:pPr>
            <a:r>
              <a:rPr lang="en-US" sz="1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Sprint Cycle:</a:t>
            </a:r>
          </a:p>
          <a:p>
            <a:pPr marL="175022" indent="-175022">
              <a:buClr>
                <a:schemeClr val="bg1"/>
              </a:buClr>
              <a:buSzPct val="80000"/>
            </a:pP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2 weeks design / development sprints</a:t>
            </a:r>
          </a:p>
          <a:p>
            <a:pPr marL="0" indent="0">
              <a:buClr>
                <a:schemeClr val="bg1"/>
              </a:buClr>
              <a:buSzPct val="80000"/>
              <a:buNone/>
            </a:pPr>
            <a:endParaRPr lang="en-US" sz="1200" b="1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Clr>
                <a:schemeClr val="bg1"/>
              </a:buClr>
              <a:buSzPct val="80000"/>
              <a:buNone/>
            </a:pPr>
            <a:r>
              <a:rPr lang="en-US" sz="1200" b="1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Deliverables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marL="0" indent="0">
              <a:buClr>
                <a:schemeClr val="bg1"/>
              </a:buClr>
              <a:buSzPct val="80000"/>
              <a:buNone/>
            </a:pP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By end of Phase 1</a:t>
            </a:r>
          </a:p>
          <a:p>
            <a:pPr marL="175022" indent="-175022">
              <a:spcBef>
                <a:spcPts val="600"/>
              </a:spcBef>
              <a:buClr>
                <a:schemeClr val="bg1"/>
              </a:buClr>
              <a:buSzPct val="80000"/>
            </a:pP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API Requirements</a:t>
            </a:r>
          </a:p>
          <a:p>
            <a:pPr marL="175022" indent="-175022">
              <a:spcBef>
                <a:spcPts val="600"/>
              </a:spcBef>
              <a:buClr>
                <a:schemeClr val="bg1"/>
              </a:buClr>
              <a:buSzPct val="80000"/>
            </a:pP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Design Document</a:t>
            </a:r>
          </a:p>
          <a:p>
            <a:pPr marL="175022" indent="-175022">
              <a:spcBef>
                <a:spcPts val="600"/>
              </a:spcBef>
              <a:buClr>
                <a:schemeClr val="bg1"/>
              </a:buClr>
              <a:buSzPct val="80000"/>
            </a:pP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Service API Document</a:t>
            </a:r>
          </a:p>
          <a:p>
            <a:pPr marL="175022" indent="-175022">
              <a:spcBef>
                <a:spcPts val="600"/>
              </a:spcBef>
              <a:buClr>
                <a:schemeClr val="bg1"/>
              </a:buClr>
              <a:buSzPct val="80000"/>
            </a:pP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Functional Test Cases</a:t>
            </a:r>
          </a:p>
          <a:p>
            <a:pPr marL="175022" indent="-175022">
              <a:spcBef>
                <a:spcPts val="600"/>
              </a:spcBef>
              <a:buClr>
                <a:schemeClr val="bg1"/>
              </a:buClr>
              <a:buSzPct val="80000"/>
            </a:pP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Performance Test Results</a:t>
            </a:r>
          </a:p>
          <a:p>
            <a:pPr marL="175022" indent="-175022">
              <a:spcBef>
                <a:spcPts val="600"/>
              </a:spcBef>
              <a:buClr>
                <a:schemeClr val="bg1"/>
              </a:buClr>
              <a:buSzPct val="80000"/>
            </a:pP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Deployment Guide</a:t>
            </a:r>
          </a:p>
          <a:p>
            <a:pPr marL="175022" indent="-175022">
              <a:spcBef>
                <a:spcPts val="600"/>
              </a:spcBef>
              <a:buClr>
                <a:schemeClr val="bg1"/>
              </a:buClr>
              <a:buSzPct val="80000"/>
            </a:pP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Source Code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845747" y="2118949"/>
            <a:ext cx="2427331" cy="4301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dashDot"/>
          </a:ln>
          <a:effectLst/>
        </p:spPr>
        <p:txBody>
          <a:bodyPr lIns="68580" tIns="34290" rIns="68580" bIns="34290" rtlCol="0" anchor="ctr"/>
          <a:lstStyle/>
          <a:p>
            <a:pPr defTabSz="914378">
              <a:defRPr/>
            </a:pPr>
            <a:r>
              <a:rPr lang="en-US" sz="1050" kern="0" dirty="0">
                <a:latin typeface="Calibri"/>
              </a:rPr>
              <a:t>Environment Refinement</a:t>
            </a:r>
          </a:p>
        </p:txBody>
      </p:sp>
    </p:spTree>
    <p:extLst>
      <p:ext uri="{BB962C8B-B14F-4D97-AF65-F5344CB8AC3E}">
        <p14:creationId xmlns:p14="http://schemas.microsoft.com/office/powerpoint/2010/main" val="4194157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itachi Color Palette">
      <a:dk1>
        <a:srgbClr val="000000"/>
      </a:dk1>
      <a:lt1>
        <a:srgbClr val="FFFFFF"/>
      </a:lt1>
      <a:dk2>
        <a:srgbClr val="919D9D"/>
      </a:dk2>
      <a:lt2>
        <a:srgbClr val="DA291C"/>
      </a:lt2>
      <a:accent1>
        <a:srgbClr val="F37021"/>
      </a:accent1>
      <a:accent2>
        <a:srgbClr val="E97F77"/>
      </a:accent2>
      <a:accent3>
        <a:srgbClr val="666666"/>
      </a:accent3>
      <a:accent4>
        <a:srgbClr val="BDC4C4"/>
      </a:accent4>
      <a:accent5>
        <a:srgbClr val="F8A97A"/>
      </a:accent5>
      <a:accent6>
        <a:srgbClr val="D3D8D8"/>
      </a:accent6>
      <a:hlink>
        <a:srgbClr val="7C99C6"/>
      </a:hlink>
      <a:folHlink>
        <a:srgbClr val="1B355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919D9D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1BF9A0-A380-42E8-B81F-03D2471160C1}">
  <ds:schemaRefs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97303FD2-4184-48C6-A40D-84973E6D37D3}"/>
</file>

<file path=customXml/itemProps3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41390</TotalTime>
  <Words>323</Words>
  <Application>Microsoft Office PowerPoint</Application>
  <PresentationFormat>On-screen Show (16:9)</PresentationFormat>
  <Paragraphs>153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Black</vt:lpstr>
      <vt:lpstr>Calibri</vt:lpstr>
      <vt:lpstr>Rockwell</vt:lpstr>
      <vt:lpstr>Segoe UI</vt:lpstr>
      <vt:lpstr>Wingdings</vt:lpstr>
      <vt:lpstr>Office Theme</vt:lpstr>
      <vt:lpstr>High-level future state road map</vt:lpstr>
      <vt:lpstr>PowerPoint Presentation</vt:lpstr>
    </vt:vector>
  </TitlesOfParts>
  <Company>E.VIL NYC / CUNY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Hitachi Consulting Widescreen Presentation Template v1</dc:title>
  <dc:creator>David.Blankenship@hitachiconsulting.com</dc:creator>
  <cp:lastModifiedBy>Papu Bhattacharya</cp:lastModifiedBy>
  <cp:revision>1759</cp:revision>
  <cp:lastPrinted>2016-12-06T22:14:27Z</cp:lastPrinted>
  <dcterms:created xsi:type="dcterms:W3CDTF">2014-11-12T22:29:05Z</dcterms:created>
  <dcterms:modified xsi:type="dcterms:W3CDTF">2020-03-09T06:28:16Z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  <property fmtid="{D5CDD505-2E9C-101B-9397-08002B2CF9AE}" pid="3" name="IsMyDocuments">
    <vt:bool>true</vt:bool>
  </property>
</Properties>
</file>