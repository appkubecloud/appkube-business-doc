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4" r:id="rId16"/>
    <p:sldId id="413" r:id="rId17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33" y="6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41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37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8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7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02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28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07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28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86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3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wazuh.com/3.11/user-manual/capabilities/file-integrity/index.html#manual-file-integrity" TargetMode="External"/><Relationship Id="rId7" Type="http://schemas.openxmlformats.org/officeDocument/2006/relationships/hyperlink" Target="https://documentation.wazuh.com/3.11/user-manual/capabilities/vulnerability-detection/index.html#vulnerability-detec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umentation.wazuh.com/3.11/user-manual/capabilities/syscollector.html#syscollector" TargetMode="External"/><Relationship Id="rId5" Type="http://schemas.openxmlformats.org/officeDocument/2006/relationships/hyperlink" Target="https://documentation.wazuh.com/3.11/user-manual/capabilities/policy-monitoring/index.html#manual-policy-monitoring" TargetMode="External"/><Relationship Id="rId4" Type="http://schemas.openxmlformats.org/officeDocument/2006/relationships/hyperlink" Target="https://documentation.wazuh.com/3.11/user-manual/capabilities/anomalies-detection/index.html#manual-anomaly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E78722-7090-4D4A-9869-9F1F401C0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" y="370015"/>
            <a:ext cx="8274995" cy="45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Intent 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13BF3-6E00-4E3C-892E-7DFAA4A7591D}"/>
              </a:ext>
            </a:extLst>
          </p:cNvPr>
          <p:cNvSpPr txBox="1"/>
          <p:nvPr/>
        </p:nvSpPr>
        <p:spPr>
          <a:xfrm>
            <a:off x="155643" y="525294"/>
            <a:ext cx="881974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Agent Less 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Scrap existing Cloud Native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Easy to scale out – avoid full text indexing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Do more ad-hoc analysis in browser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Integrate tools like Jaeger for Better RCA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Kubernetes &amp; Container Ecosystem 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Good for both microservices &amp; monolith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RCA Dashboard for App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ACB94B-A498-442F-8F43-2CA295779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5"/>
            <a:ext cx="9144000" cy="446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8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Debug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5641E4-A8F4-4D42-B952-A69528D74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5"/>
            <a:ext cx="9143999" cy="44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0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915" y="-91650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Explore more on DB 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EB3034-BFD5-4ADC-97E0-9C5F2CB4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5"/>
            <a:ext cx="9144000" cy="456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5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Explore for Query/Instance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30BB0D-B8ED-4CE1-87EE-0A68FFEF2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6"/>
            <a:ext cx="9144000" cy="440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1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Further Breakdown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54F48E-79A5-45CA-91E7-A1B2CA54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554"/>
            <a:ext cx="9144000" cy="451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2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Further Breakdown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B443D-AD21-4C3F-AB6F-EBE62070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468"/>
            <a:ext cx="9144000" cy="45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Split View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9D403B-8609-46A1-8F00-91853EA1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328"/>
            <a:ext cx="9144000" cy="463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5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463049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Cloud native Fast-Data &amp; Big-Data  platform that serves as single source of truth for real -time , olap , relational data catering any data source (unstructured ,  semi- structured un-structured) 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analytics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3)NLP &amp; Deep Learning Enabled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-- Resource pool trained to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Management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Governance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 Analytics</a:t>
            </a:r>
          </a:p>
          <a:p>
            <a:pPr marL="509587" lvl="1" indent="-228600" fontAlgn="auto">
              <a:spcBef>
                <a:spcPts val="600"/>
              </a:spcBef>
              <a:spcAft>
                <a:spcPts val="0"/>
              </a:spcAft>
              <a:buAutoNum type="arabicParenR"/>
              <a:defRPr/>
            </a:pPr>
            <a:endParaRPr lang="en-US" sz="1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120651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Drill Down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710FC-183D-4118-8C25-417633C8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238"/>
            <a:ext cx="9144000" cy="440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2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Use Case Template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522924"/>
              </p:ext>
            </p:extLst>
          </p:nvPr>
        </p:nvGraphicFramePr>
        <p:xfrm>
          <a:off x="207523" y="410877"/>
          <a:ext cx="8480975" cy="44209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Response Time Monitoring of Public facing Website &lt;XXXXXXXX&gt;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Find out the root cause of latency and slow loading of Top 5 worst hit features of &lt;</a:t>
                      </a:r>
                      <a:r>
                        <a:rPr lang="en-US" sz="1000" dirty="0" err="1"/>
                        <a:t>siteXX</a:t>
                      </a:r>
                      <a:r>
                        <a:rPr lang="en-US" sz="1000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LB Logs ,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Gateway Logs, Webserver Logs, DB instances Logs</a:t>
                      </a:r>
                    </a:p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All the above logs will be available in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&lt;resource&gt;&lt;user&gt;,&lt;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/id&gt;, &lt;time&gt;&lt;operation&gt;&lt;message&gt;&lt;status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Ex.  Application , Service Health, System , Activity Log, Config Change</a:t>
                      </a:r>
                    </a:p>
                    <a:p>
                      <a:r>
                        <a:rPr lang="en-US" sz="1000"/>
                        <a:t>Operation – Ex. </a:t>
                      </a:r>
                      <a:r>
                        <a:rPr lang="en-US" sz="1000" dirty="0"/>
                        <a:t>Get a page / add item to cart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(RCA Dashboard)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(Error Code)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(Tracing)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Anything return code 500, Response Time &gt; 2 Sec,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RCA Dashboard for any latency / Error code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any latency from trace (app / database )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logs corresponding to error codes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rea-</a:t>
                      </a:r>
                      <a:r>
                        <a:rPr lang="en-US" sz="1000" dirty="0" err="1"/>
                        <a:t>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5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Jobs Template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921938"/>
              </p:ext>
            </p:extLst>
          </p:nvPr>
        </p:nvGraphicFramePr>
        <p:xfrm>
          <a:off x="207523" y="410877"/>
          <a:ext cx="8480975" cy="415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Batch Jobs reliability  Monitoring (Mostly ETL dataflow jobs)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Find out the root cause of failure or slow processing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 details logs that is forwarded to cloud watch  | Jobs logs are available in individual instances that is running the jobs and populating the logs in /var/log/job/job.log ( rotating ) , u need to tail them and forward them.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&lt;time&gt; &lt;</a:t>
                      </a:r>
                      <a:r>
                        <a:rPr lang="en-US" sz="1000" dirty="0" err="1"/>
                        <a:t>JobId</a:t>
                      </a:r>
                      <a:r>
                        <a:rPr lang="en-US" sz="1000" dirty="0"/>
                        <a:t>&gt;, &lt;Step Name&gt; &lt; Task Name&gt; &lt;message&gt;&lt;status code&gt; &lt;severity&gt; &lt;Type&gt; &lt;</a:t>
                      </a:r>
                      <a:r>
                        <a:rPr lang="en-US" sz="1000" dirty="0" err="1"/>
                        <a:t>ReasonCode</a:t>
                      </a:r>
                      <a:r>
                        <a:rPr lang="en-US" sz="1000" dirty="0"/>
                        <a:t>&gt; &lt;</a:t>
                      </a:r>
                      <a:r>
                        <a:rPr lang="en-US" sz="1000" dirty="0" err="1"/>
                        <a:t>CompletionTime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Job , </a:t>
                      </a:r>
                      <a:r>
                        <a:rPr lang="en-US" sz="1000" dirty="0" err="1"/>
                        <a:t>Status_Code</a:t>
                      </a:r>
                      <a:r>
                        <a:rPr lang="en-US" sz="1000" dirty="0"/>
                        <a:t> =0 success 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 ( Failed Jobs Today)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 Top 10 Time consuming jobs)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( Mostly failed jobs by category 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 ( Job Status Today)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(Weekly Performance Trend by job)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 Job Failure </a:t>
                      </a:r>
                    </a:p>
                    <a:p>
                      <a:r>
                        <a:rPr lang="en-US" sz="1000" dirty="0"/>
                        <a:t>Completion Time &gt; 30 mins,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logs dashboard of Failed Jobs Today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failure by looking at the logs of that </a:t>
                      </a:r>
                      <a:r>
                        <a:rPr lang="en-US" sz="1000" dirty="0" err="1"/>
                        <a:t>job_id</a:t>
                      </a:r>
                      <a:r>
                        <a:rPr lang="en-US" sz="1000" dirty="0"/>
                        <a:t> and that days logs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</a:t>
                      </a:r>
                      <a:r>
                        <a:rPr lang="en-US" sz="1000" dirty="0" err="1"/>
                        <a:t>realtime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27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Example Use Cases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8B397-C393-4C41-B8D5-573F94397019}"/>
              </a:ext>
            </a:extLst>
          </p:cNvPr>
          <p:cNvSpPr txBox="1"/>
          <p:nvPr/>
        </p:nvSpPr>
        <p:spPr>
          <a:xfrm>
            <a:off x="226940" y="386536"/>
            <a:ext cx="869012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Key Categories:</a:t>
            </a:r>
          </a:p>
          <a:p>
            <a:endParaRPr lang="en-US" sz="1000" dirty="0"/>
          </a:p>
          <a:p>
            <a:r>
              <a:rPr lang="en-US" sz="1000" dirty="0"/>
              <a:t>EC2  - </a:t>
            </a:r>
            <a:r>
              <a:rPr 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 integrity monitoring</a:t>
            </a:r>
            <a:r>
              <a:rPr lang="en-US" sz="1000" dirty="0"/>
              <a:t>, </a:t>
            </a:r>
            <a:r>
              <a:rPr lang="en-US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Anomaly and malware detection</a:t>
            </a:r>
            <a:r>
              <a:rPr lang="en-US" sz="1000" dirty="0"/>
              <a:t> , </a:t>
            </a:r>
            <a:r>
              <a:rPr 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 policy monitoring</a:t>
            </a:r>
            <a:r>
              <a:rPr lang="en-US" sz="1000" dirty="0"/>
              <a:t>, </a:t>
            </a:r>
            <a:r>
              <a:rPr lang="en-US" sz="1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</a:t>
            </a:r>
            <a:r>
              <a:rPr lang="en-US" sz="10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inventory</a:t>
            </a:r>
            <a:r>
              <a:rPr lang="en-US" sz="1000" dirty="0" err="1"/>
              <a:t>,</a:t>
            </a:r>
            <a:r>
              <a:rPr lang="en-US" sz="10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Vulnerability</a:t>
            </a:r>
            <a:r>
              <a:rPr lang="en-US" sz="1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detection</a:t>
            </a:r>
            <a:r>
              <a:rPr lang="en-US" sz="1000" dirty="0"/>
              <a:t>, Auditing who-data</a:t>
            </a:r>
          </a:p>
          <a:p>
            <a:r>
              <a:rPr lang="en-US" sz="1000" dirty="0"/>
              <a:t>EC2 Provisioning – (Run/ Start / Stop / Update SG / Allocate &amp; Associate EIP)</a:t>
            </a:r>
          </a:p>
          <a:p>
            <a:r>
              <a:rPr lang="en-US" sz="1000" dirty="0"/>
              <a:t>IAM ( User account provisioning / Login Failures / Possible break in attempt / many login success)</a:t>
            </a:r>
          </a:p>
          <a:p>
            <a:r>
              <a:rPr lang="en-US" sz="1000" dirty="0"/>
              <a:t>VPC ( Provisioning / Create attempt without permission / Spike in Traffic from specific IP)</a:t>
            </a:r>
          </a:p>
          <a:p>
            <a:r>
              <a:rPr lang="en-US" sz="1000" dirty="0"/>
              <a:t>Applications &amp; Jobs – Errors &amp; Latencies</a:t>
            </a:r>
          </a:p>
          <a:p>
            <a:endParaRPr lang="en-US" sz="1000" dirty="0"/>
          </a:p>
          <a:p>
            <a:r>
              <a:rPr lang="en-US" sz="1000" u="sng" dirty="0"/>
              <a:t>Sample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Get a list of the number of exceptions per hour.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Find the 25 most recently added log events.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Determine the amount of overprovisioned memory.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Create a latency report of web facing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Find the top 15 packet transfers across hosts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Find the top 15  byte transfers for hosts on a given subnet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Find the 10 DNS resolvers with the highest number of requests.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Find the number of records by domain and subdomain where the server failed to complete the DNS request.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Find the Amazon EC2 hosts that were started or stopped in a given Region.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Find average latency  for each unique combination of @method and @user </a:t>
            </a: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Find the  log events that contain ERROR strings for an application.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/>
              <a:t>Find the latest 7 days changes in security groups ordered by users.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162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DD69406-F1EA-4DB8-8E9E-DF27F3778A2F}"/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14698</TotalTime>
  <Words>1583</Words>
  <Application>Microsoft Office PowerPoint</Application>
  <PresentationFormat>On-screen Show (16:9)</PresentationFormat>
  <Paragraphs>250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295</cp:revision>
  <cp:lastPrinted>2016-12-06T22:14:27Z</cp:lastPrinted>
  <dcterms:created xsi:type="dcterms:W3CDTF">2014-11-12T22:29:05Z</dcterms:created>
  <dcterms:modified xsi:type="dcterms:W3CDTF">2020-04-09T07:33:14Z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