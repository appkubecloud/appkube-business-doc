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415" r:id="rId5"/>
    <p:sldId id="420" r:id="rId6"/>
    <p:sldId id="421" r:id="rId7"/>
    <p:sldId id="422" r:id="rId8"/>
    <p:sldId id="423" r:id="rId9"/>
    <p:sldId id="416" r:id="rId10"/>
    <p:sldId id="419" r:id="rId11"/>
    <p:sldId id="432" r:id="rId12"/>
    <p:sldId id="417" r:id="rId13"/>
    <p:sldId id="424" r:id="rId14"/>
    <p:sldId id="426" r:id="rId15"/>
    <p:sldId id="418" r:id="rId16"/>
    <p:sldId id="429" r:id="rId17"/>
    <p:sldId id="430" r:id="rId18"/>
    <p:sldId id="444" r:id="rId19"/>
    <p:sldId id="441" r:id="rId20"/>
    <p:sldId id="437" r:id="rId21"/>
    <p:sldId id="442" r:id="rId22"/>
    <p:sldId id="445" r:id="rId23"/>
    <p:sldId id="414" r:id="rId24"/>
  </p:sldIdLst>
  <p:sldSz cx="9144000" cy="5143500" type="screen16x9"/>
  <p:notesSz cx="9601200" cy="7315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D0DA"/>
    <a:srgbClr val="34B2E4"/>
    <a:srgbClr val="E23936"/>
    <a:srgbClr val="FE912A"/>
    <a:srgbClr val="E34856"/>
    <a:srgbClr val="8B103E"/>
    <a:srgbClr val="065381"/>
    <a:srgbClr val="FCC601"/>
    <a:srgbClr val="DD382B"/>
    <a:srgbClr val="DA29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259" autoAdjust="0"/>
  </p:normalViewPr>
  <p:slideViewPr>
    <p:cSldViewPr snapToGrid="0">
      <p:cViewPr varScale="1">
        <p:scale>
          <a:sx n="97" d="100"/>
          <a:sy n="97" d="100"/>
        </p:scale>
        <p:origin x="183" y="8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5/20/2020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5/20/2020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870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66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23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94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0707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15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528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83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857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16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397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9839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700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72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19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698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51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785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6767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D4D097-0016-D44A-A908-ADB1EED4D51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86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Subhea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4" name="Text Placeholder 12"/>
          <p:cNvSpPr>
            <a:spLocks noGrp="1"/>
          </p:cNvSpPr>
          <p:nvPr>
            <p:ph type="body" sz="quarter" idx="24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 baseline="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2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</a:defRPr>
            </a:lvl1pPr>
          </a:lstStyle>
          <a:p>
            <a:fld id="{4D82F6D6-BD64-564F-BDB4-3E98167DF08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3"/>
          <p:cNvSpPr txBox="1">
            <a:spLocks/>
          </p:cNvSpPr>
          <p:nvPr userDrawn="1"/>
        </p:nvSpPr>
        <p:spPr>
          <a:xfrm>
            <a:off x="230188" y="4860192"/>
            <a:ext cx="4343400" cy="2286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700" kern="1200" cap="small" baseline="0">
                <a:solidFill>
                  <a:schemeClr val="tx1">
                    <a:tint val="75000"/>
                  </a:schemeClr>
                </a:solidFill>
                <a:effectLst/>
                <a:latin typeface="Arial"/>
                <a:ea typeface="+mn-ea"/>
                <a:cs typeface="+mn-cs"/>
              </a:rPr>
              <a:t>© 2019 SYNECTIKS. all rights reserved.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C45070-596F-4EA7-B9EA-0907061F19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8A01B8-B8FC-4B6F-80F1-7D9899A5F8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86028" y="55630"/>
            <a:ext cx="1176798" cy="14003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0188" y="1200150"/>
            <a:ext cx="8686800" cy="3429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0"/>
            <a:ext cx="3429000" cy="228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701" r:id="rId2"/>
  </p:sldLayoutIdLst>
  <p:hf hdr="0" ftr="0"/>
  <p:txStyles>
    <p:titleStyle>
      <a:lvl1pPr algn="l" defTabSz="457200" rtl="0" eaLnBrk="1" latinLnBrk="0" hangingPunct="1">
        <a:spcBef>
          <a:spcPct val="0"/>
        </a:spcBef>
        <a:buNone/>
        <a:defRPr sz="2400" kern="1200" baseline="0">
          <a:solidFill>
            <a:srgbClr val="DA291C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75000"/>
        <a:buFontTx/>
        <a:buNone/>
        <a:defRPr sz="1200" kern="1200">
          <a:solidFill>
            <a:schemeClr val="tx1"/>
          </a:solidFill>
          <a:latin typeface="Arial"/>
          <a:ea typeface="+mn-ea"/>
          <a:cs typeface="+mn-cs"/>
        </a:defRPr>
      </a:lvl1pPr>
      <a:lvl2pPr marL="233363" indent="-233363" algn="l" defTabSz="457200" rtl="0" eaLnBrk="1" latinLnBrk="0" hangingPunct="1">
        <a:spcBef>
          <a:spcPct val="20000"/>
        </a:spcBef>
        <a:buClr>
          <a:srgbClr val="DA291C"/>
        </a:buClr>
        <a:buSzPct val="80000"/>
        <a:buFont typeface="Wingdings" panose="05000000000000000000" pitchFamily="2" charset="2"/>
        <a:buChar char="u"/>
        <a:defRPr sz="1200" kern="1200">
          <a:solidFill>
            <a:schemeClr val="tx1"/>
          </a:solidFill>
          <a:latin typeface="Arial"/>
          <a:ea typeface="+mn-ea"/>
          <a:cs typeface="+mn-cs"/>
        </a:defRPr>
      </a:lvl2pPr>
      <a:lvl3pPr marL="461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Arial"/>
          <a:ea typeface="+mn-ea"/>
          <a:cs typeface="+mn-cs"/>
        </a:defRPr>
      </a:lvl3pPr>
      <a:lvl4pPr marL="685800" indent="-228600" algn="l" defTabSz="457200" rtl="0" eaLnBrk="1" latinLnBrk="0" hangingPunct="1">
        <a:spcBef>
          <a:spcPct val="20000"/>
        </a:spcBef>
        <a:buClr>
          <a:srgbClr val="919D9D"/>
        </a:buClr>
        <a:buFont typeface="Arial" panose="020B0604020202020204" pitchFamily="34" charset="0"/>
        <a:buChar char="■"/>
        <a:defRPr sz="1200" kern="1200">
          <a:solidFill>
            <a:schemeClr val="tx1"/>
          </a:solidFill>
          <a:latin typeface="Arial"/>
          <a:ea typeface="+mn-ea"/>
          <a:cs typeface="+mn-cs"/>
        </a:defRPr>
      </a:lvl4pPr>
      <a:lvl5pPr marL="909638" indent="-219075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015614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Storage space usage of AWS RDS postgresql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filesystem and disk usage of 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Storage Consumption 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</a:t>
                      </a:r>
                      <a:r>
                        <a:rPr lang="en-US" sz="1000" u="sng" dirty="0" err="1"/>
                        <a:t>Stoarge</a:t>
                      </a:r>
                      <a:r>
                        <a:rPr lang="en-US" sz="1000" u="sng" dirty="0"/>
                        <a:t> Consumption)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Storage usage &gt; 90% 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filesystem getting filled 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and Perform storage expansion Workflows based on ticket approval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7482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19495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CPU usage of AWS RDS postgresql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CPU usage of 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Storage Consumption 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CPU utilization)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CPU usage &gt; 75% 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CPU utilization is high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Look at other KPI ‘s like concurrent connections to see that time no of active connections.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744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9646602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average read/ write latency of postgresql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Read/Write latency of 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Read/ write latency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Read Write Latency)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latency &gt; 10 </a:t>
                      </a:r>
                      <a:r>
                        <a:rPr lang="en-US" sz="1000" dirty="0" err="1"/>
                        <a:t>ms</a:t>
                      </a:r>
                      <a:endParaRPr lang="en-US" sz="1000" dirty="0"/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read / write </a:t>
                      </a:r>
                      <a:r>
                        <a:rPr lang="en-US" sz="1000" dirty="0" err="1"/>
                        <a:t>latecy</a:t>
                      </a:r>
                      <a:r>
                        <a:rPr lang="en-US" sz="1000" dirty="0"/>
                        <a:t> is high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Look at the disk speed and network speed to do a deep dive.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36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786832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429880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concurrent connections AWS RDS postgresql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concurrent connection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Concurrent connections 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concurrent connections)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Max connections &gt; 30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concurrent connection is high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Look at the database which apps are holding the connections, any app that is constantly holding it.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93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AWS-RDS-POSTGRESQL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30302"/>
              </p:ext>
            </p:extLst>
          </p:nvPr>
        </p:nvGraphicFramePr>
        <p:xfrm>
          <a:off x="207524" y="391240"/>
          <a:ext cx="8480975" cy="45182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Monitor the Health Check / Availability AWS RDS postgresql database and generate alert depending on usage rule.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concurrent connection AWS RDS instance  and make sure that we alert rules placed against those KPI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RDS – Health Check / Availability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RDS Dashboard  (monitoring of Health Check / Availability)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Availability != 1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</a:t>
                      </a:r>
                      <a:r>
                        <a:rPr lang="en-US" sz="1000" dirty="0" err="1"/>
                        <a:t>kpi</a:t>
                      </a:r>
                      <a:r>
                        <a:rPr lang="en-US" sz="1000" dirty="0"/>
                        <a:t> dashboard of alert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database Health Check / Availability has 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00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776A0B-0E22-4CD1-895A-F74BD36A9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31" y="397811"/>
            <a:ext cx="6345515" cy="44328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33383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26ACC-2565-4090-A0D7-9E378BE44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01" y="382593"/>
            <a:ext cx="7294690" cy="43783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05455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C47F43-F141-4496-AD11-43EF0536A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80" y="391240"/>
            <a:ext cx="7211327" cy="433839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3903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B7B9E5-A3DB-47E3-84DD-7AD12F02A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3" y="416055"/>
            <a:ext cx="7101610" cy="431138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348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–RDS-POSTGRESQL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7303A04-9244-48CE-B89E-9639079EF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16" y="713820"/>
            <a:ext cx="8557767" cy="349644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0368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- VPN Monitoring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78989"/>
              </p:ext>
            </p:extLst>
          </p:nvPr>
        </p:nvGraphicFramePr>
        <p:xfrm>
          <a:off x="207524" y="391240"/>
          <a:ext cx="8480975" cy="45224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425297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Availability Tunnel State, Tunnel Data In, Tunnel Data Out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49072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KPI Based – Have dashboards to monitor the VPN Availability, Tunnel Data In, Tunnel Data Out and make sure that we alert rules placed against those Logs dashboards.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490728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AWS VPN – VPN monitoring dashboards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60670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24229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294437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VPN Dashboard (monitoring of VPN Availability Tunnel Data In/Out)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752450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Availability != 1</a:t>
                      </a:r>
                    </a:p>
                    <a:p>
                      <a:r>
                        <a:rPr lang="en-US" sz="1000" dirty="0"/>
                        <a:t>&lt;Resource Group&gt;&lt;Resource&gt;&lt;Source-Type&gt;&lt;</a:t>
                      </a:r>
                      <a:r>
                        <a:rPr lang="en-US" sz="1000" dirty="0" err="1"/>
                        <a:t>ip</a:t>
                      </a:r>
                      <a:r>
                        <a:rPr lang="en-US" sz="1000" dirty="0"/>
                        <a:t>/id&gt;&lt;message&gt;&lt;status code&gt; &lt;severity&gt; &lt;Type&gt; </a:t>
                      </a:r>
                    </a:p>
                    <a:p>
                      <a:r>
                        <a:rPr lang="en-US" sz="1000" dirty="0"/>
                        <a:t>Source-Type – Ex.  Node / Application / Database / Jobs / IAM / </a:t>
                      </a:r>
                    </a:p>
                    <a:p>
                      <a:r>
                        <a:rPr lang="en-US" sz="1000" dirty="0"/>
                        <a:t>Type – Performance / Reliability / Security / Vulnerability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641933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VPC Flow Logs dashboard of alerts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VPN Health Check / Availability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641933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986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 VPN Monitoring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AF939B9-AC04-484C-BDF2-4B254ED5D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43" y="497801"/>
            <a:ext cx="8783913" cy="40038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3636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 VPC Flow Logs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439419"/>
              </p:ext>
            </p:extLst>
          </p:nvPr>
        </p:nvGraphicFramePr>
        <p:xfrm>
          <a:off x="207524" y="391240"/>
          <a:ext cx="8480975" cy="45123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42435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VPC  Flow Logs – Discover network traffic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48963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Logs Based – Have dashboards to monitor the network traffic, gives the list of top resource and destination addresses and make sure that we alert rules placed against those Logs dashboards. 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489638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 – VPC Flow Logs monitoring dashboards ( focus on </a:t>
                      </a:r>
                      <a:r>
                        <a:rPr 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based tabular dashboards).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59647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23509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293783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AWS VPC Dashboard (monitoring of VPC Flow Logs)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750778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Number of reject request &gt; 200</a:t>
                      </a:r>
                    </a:p>
                    <a:p>
                      <a:r>
                        <a:rPr lang="en-US" sz="1000" dirty="0"/>
                        <a:t>&lt;Source-Type&gt;&lt;id&gt;&lt;message&gt;&lt;status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&lt;Acc ID&gt;&lt;ENI IP&gt;&lt;</a:t>
                      </a:r>
                      <a:r>
                        <a:rPr lang="en-US" sz="1000" dirty="0" err="1"/>
                        <a:t>Src</a:t>
                      </a:r>
                      <a:r>
                        <a:rPr lang="en-US" sz="1000" dirty="0"/>
                        <a:t> IP&gt;&lt;</a:t>
                      </a:r>
                      <a:r>
                        <a:rPr lang="en-US" sz="1000" dirty="0" err="1"/>
                        <a:t>dest</a:t>
                      </a:r>
                      <a:r>
                        <a:rPr lang="en-US" sz="1000" dirty="0"/>
                        <a:t> IP&gt;…… REJECT/ACCEPT OK </a:t>
                      </a:r>
                    </a:p>
                    <a:p>
                      <a:r>
                        <a:rPr lang="en-US" sz="1000" dirty="0"/>
                        <a:t>Type – Security / Data Protection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640506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VPC Flow Logs dashboard of alerts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which are the top reject request per minute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640506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7604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 VPC Flow Logs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A29A4-D181-44A5-8F98-E074BCA4BC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62" y="343666"/>
            <a:ext cx="8127175" cy="456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0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 VPC Flow Logs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C2FB5-2C15-4C5A-B60F-6EB0F4860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7878"/>
            <a:ext cx="9144000" cy="444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4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NGINX Monitoring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827945"/>
              </p:ext>
            </p:extLst>
          </p:nvPr>
        </p:nvGraphicFramePr>
        <p:xfrm>
          <a:off x="207524" y="391240"/>
          <a:ext cx="8480975" cy="47890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42435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NGINX – Discover non 200 response / latency / server error over time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48963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Mechanism ( Logs based / KPI based)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Logs Based – Have dashboards to monitor request / response , error codes and compute average / percentile latency time of responses.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489638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 / Source of KPI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CloudWatch – NGINX log monitoring Dashboard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59647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NA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23509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293783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NGINX Dashboard (monitoring of NGIX Logs)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750778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Number of non 200 res  &gt; 0</a:t>
                      </a:r>
                    </a:p>
                    <a:p>
                      <a:r>
                        <a:rPr lang="en-US" sz="1000" dirty="0"/>
                        <a:t>&lt;Source-Type&gt;&lt;id&gt;&lt;message&gt;&lt;status code&gt; &lt;severity&gt; &lt;Type&gt; &lt;</a:t>
                      </a:r>
                      <a:r>
                        <a:rPr lang="en-US" sz="1000" dirty="0" err="1"/>
                        <a:t>ResponseTime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Source-Type – &lt;Acc ID&gt;&lt;ENI IP&gt;&lt;</a:t>
                      </a:r>
                      <a:r>
                        <a:rPr lang="en-US" sz="1000" dirty="0" err="1"/>
                        <a:t>Src</a:t>
                      </a:r>
                      <a:r>
                        <a:rPr lang="en-US" sz="1000" dirty="0"/>
                        <a:t> IP&gt;&lt;</a:t>
                      </a:r>
                      <a:r>
                        <a:rPr lang="en-US" sz="1000" dirty="0" err="1"/>
                        <a:t>dest</a:t>
                      </a:r>
                      <a:r>
                        <a:rPr lang="en-US" sz="1000" dirty="0"/>
                        <a:t> IP&gt;…… REJECT/ACCEPT OK </a:t>
                      </a:r>
                    </a:p>
                    <a:p>
                      <a:r>
                        <a:rPr lang="en-US" sz="1000" dirty="0"/>
                        <a:t>Type –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640506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NGINX Logs dashboard of alerts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server error and latency for </a:t>
                      </a:r>
                      <a:r>
                        <a:rPr lang="en-US" sz="1000" dirty="0" err="1"/>
                        <a:t>urls</a:t>
                      </a:r>
                      <a:endParaRPr lang="en-US" sz="1000" dirty="0"/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Find out the logs for the corresponding time and nail down the RCA.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640506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</a:t>
                      </a:r>
                    </a:p>
                  </a:txBody>
                  <a:tcPr>
                    <a:solidFill>
                      <a:srgbClr val="64D0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671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 </a:t>
            </a:r>
            <a:r>
              <a:rPr lang="en-US" altLang="ru-RU" sz="2400" dirty="0" err="1">
                <a:latin typeface="Raleway ExtraBold" panose="020B0903030101060003" pitchFamily="34" charset="0"/>
              </a:rPr>
              <a:t>nginx</a:t>
            </a:r>
            <a:r>
              <a:rPr lang="en-US" altLang="ru-RU" sz="2400" dirty="0">
                <a:latin typeface="Raleway ExtraBold" panose="020B0903030101060003" pitchFamily="34" charset="0"/>
              </a:rPr>
              <a:t>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872C2F6-6378-4AC1-B3CD-982295FB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4435"/>
            <a:ext cx="9144000" cy="480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651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 </a:t>
            </a:r>
            <a:r>
              <a:rPr lang="en-US" altLang="ru-RU" sz="2400" dirty="0" err="1">
                <a:latin typeface="Raleway ExtraBold" panose="020B0903030101060003" pitchFamily="34" charset="0"/>
              </a:rPr>
              <a:t>nginx</a:t>
            </a:r>
            <a:r>
              <a:rPr lang="en-US" altLang="ru-RU" sz="2400" dirty="0">
                <a:latin typeface="Raleway ExtraBold" panose="020B0903030101060003" pitchFamily="34" charset="0"/>
              </a:rPr>
              <a:t>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54C3AA-2225-4C13-B549-C00D0E62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1240"/>
            <a:ext cx="9144000" cy="443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75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AWS – </a:t>
            </a:r>
            <a:r>
              <a:rPr lang="en-US" altLang="ru-RU" sz="2400" dirty="0" err="1">
                <a:latin typeface="Raleway ExtraBold" panose="020B0903030101060003" pitchFamily="34" charset="0"/>
              </a:rPr>
              <a:t>nginx</a:t>
            </a:r>
            <a:r>
              <a:rPr lang="en-US" altLang="ru-RU" sz="2400" dirty="0">
                <a:latin typeface="Raleway ExtraBold" panose="020B0903030101060003" pitchFamily="34" charset="0"/>
              </a:rPr>
              <a:t>-format 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24632D-6A3A-41E8-AFD5-902F4B4203F5}"/>
              </a:ext>
            </a:extLst>
          </p:cNvPr>
          <p:cNvSpPr/>
          <p:nvPr/>
        </p:nvSpPr>
        <p:spPr>
          <a:xfrm>
            <a:off x="325256" y="503226"/>
            <a:ext cx="8456666" cy="3725107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http {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log_format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upstream_time</a:t>
            </a:r>
            <a:r>
              <a:rPr lang="en-US" dirty="0">
                <a:solidFill>
                  <a:schemeClr val="tx1"/>
                </a:solidFill>
              </a:rPr>
              <a:t> '$</a:t>
            </a:r>
            <a:r>
              <a:rPr lang="en-US" dirty="0" err="1">
                <a:solidFill>
                  <a:schemeClr val="tx1"/>
                </a:solidFill>
              </a:rPr>
              <a:t>remote_addr</a:t>
            </a:r>
            <a:r>
              <a:rPr lang="en-US" dirty="0">
                <a:solidFill>
                  <a:schemeClr val="tx1"/>
                </a:solidFill>
              </a:rPr>
              <a:t> - $</a:t>
            </a:r>
            <a:r>
              <a:rPr lang="en-US" dirty="0" err="1">
                <a:solidFill>
                  <a:schemeClr val="tx1"/>
                </a:solidFill>
              </a:rPr>
              <a:t>remote_user</a:t>
            </a:r>
            <a:r>
              <a:rPr lang="en-US" dirty="0">
                <a:solidFill>
                  <a:schemeClr val="tx1"/>
                </a:solidFill>
              </a:rPr>
              <a:t> [$</a:t>
            </a:r>
            <a:r>
              <a:rPr lang="en-US" dirty="0" err="1">
                <a:solidFill>
                  <a:schemeClr val="tx1"/>
                </a:solidFill>
              </a:rPr>
              <a:t>time_local</a:t>
            </a:r>
            <a:r>
              <a:rPr lang="en-US" dirty="0">
                <a:solidFill>
                  <a:schemeClr val="tx1"/>
                </a:solidFill>
              </a:rPr>
              <a:t>] '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              '"$request" $status $</a:t>
            </a:r>
            <a:r>
              <a:rPr lang="en-US" dirty="0" err="1">
                <a:solidFill>
                  <a:schemeClr val="tx1"/>
                </a:solidFill>
              </a:rPr>
              <a:t>body_bytes_sent</a:t>
            </a:r>
            <a:r>
              <a:rPr lang="en-US" dirty="0">
                <a:solidFill>
                  <a:schemeClr val="tx1"/>
                </a:solidFill>
              </a:rPr>
              <a:t> '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              '"$</a:t>
            </a:r>
            <a:r>
              <a:rPr lang="en-US" dirty="0" err="1">
                <a:solidFill>
                  <a:schemeClr val="tx1"/>
                </a:solidFill>
              </a:rPr>
              <a:t>http_referer</a:t>
            </a:r>
            <a:r>
              <a:rPr lang="en-US" dirty="0">
                <a:solidFill>
                  <a:schemeClr val="tx1"/>
                </a:solidFill>
              </a:rPr>
              <a:t>" "$</a:t>
            </a:r>
            <a:r>
              <a:rPr lang="en-US" dirty="0" err="1">
                <a:solidFill>
                  <a:schemeClr val="tx1"/>
                </a:solidFill>
              </a:rPr>
              <a:t>http_user_agent</a:t>
            </a:r>
            <a:r>
              <a:rPr lang="en-US" dirty="0">
                <a:solidFill>
                  <a:schemeClr val="tx1"/>
                </a:solidFill>
              </a:rPr>
              <a:t>"'</a:t>
            </a:r>
          </a:p>
          <a:p>
            <a:r>
              <a:rPr lang="en-US" dirty="0">
                <a:solidFill>
                  <a:schemeClr val="tx1"/>
                </a:solidFill>
              </a:rPr>
              <a:t>                             'rt=$</a:t>
            </a:r>
            <a:r>
              <a:rPr lang="en-US" dirty="0" err="1">
                <a:solidFill>
                  <a:schemeClr val="tx1"/>
                </a:solidFill>
              </a:rPr>
              <a:t>request_time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uct</a:t>
            </a:r>
            <a:r>
              <a:rPr lang="en-US" dirty="0">
                <a:solidFill>
                  <a:schemeClr val="tx1"/>
                </a:solidFill>
              </a:rPr>
              <a:t>="$</a:t>
            </a:r>
            <a:r>
              <a:rPr lang="en-US" dirty="0" err="1">
                <a:solidFill>
                  <a:schemeClr val="tx1"/>
                </a:solidFill>
              </a:rPr>
              <a:t>upstream_connect_time</a:t>
            </a:r>
            <a:r>
              <a:rPr lang="en-US" dirty="0">
                <a:solidFill>
                  <a:schemeClr val="tx1"/>
                </a:solidFill>
              </a:rPr>
              <a:t>" </a:t>
            </a:r>
            <a:r>
              <a:rPr lang="en-US" dirty="0" err="1">
                <a:solidFill>
                  <a:schemeClr val="tx1"/>
                </a:solidFill>
              </a:rPr>
              <a:t>uht</a:t>
            </a:r>
            <a:r>
              <a:rPr lang="en-US" dirty="0">
                <a:solidFill>
                  <a:schemeClr val="tx1"/>
                </a:solidFill>
              </a:rPr>
              <a:t>="$</a:t>
            </a:r>
            <a:r>
              <a:rPr lang="en-US" dirty="0" err="1">
                <a:solidFill>
                  <a:schemeClr val="tx1"/>
                </a:solidFill>
              </a:rPr>
              <a:t>upstream_header_time</a:t>
            </a:r>
            <a:r>
              <a:rPr lang="en-US" dirty="0">
                <a:solidFill>
                  <a:schemeClr val="tx1"/>
                </a:solidFill>
              </a:rPr>
              <a:t>" </a:t>
            </a:r>
            <a:r>
              <a:rPr lang="en-US" dirty="0" err="1">
                <a:solidFill>
                  <a:schemeClr val="tx1"/>
                </a:solidFill>
              </a:rPr>
              <a:t>urt</a:t>
            </a:r>
            <a:r>
              <a:rPr lang="en-US" dirty="0">
                <a:solidFill>
                  <a:schemeClr val="tx1"/>
                </a:solidFill>
              </a:rPr>
              <a:t>="$</a:t>
            </a:r>
            <a:r>
              <a:rPr lang="en-US" dirty="0" err="1">
                <a:solidFill>
                  <a:schemeClr val="tx1"/>
                </a:solidFill>
              </a:rPr>
              <a:t>upstream_response_time</a:t>
            </a:r>
            <a:r>
              <a:rPr lang="en-US" dirty="0">
                <a:solidFill>
                  <a:schemeClr val="tx1"/>
                </a:solidFill>
              </a:rPr>
              <a:t>"';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server {</a:t>
            </a:r>
          </a:p>
          <a:p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access_log</a:t>
            </a:r>
            <a:r>
              <a:rPr lang="en-US" dirty="0">
                <a:solidFill>
                  <a:schemeClr val="tx1"/>
                </a:solidFill>
              </a:rPr>
              <a:t> /spool/logs/nginx-access.log </a:t>
            </a:r>
            <a:r>
              <a:rPr lang="en-US" dirty="0" err="1">
                <a:solidFill>
                  <a:schemeClr val="tx1"/>
                </a:solidFill>
              </a:rPr>
              <a:t>upstream_time</a:t>
            </a:r>
            <a:r>
              <a:rPr lang="en-US" dirty="0">
                <a:solidFill>
                  <a:schemeClr val="tx1"/>
                </a:solidFill>
              </a:rPr>
              <a:t>;</a:t>
            </a:r>
          </a:p>
          <a:p>
            <a:r>
              <a:rPr lang="en-US" dirty="0">
                <a:solidFill>
                  <a:schemeClr val="tx1"/>
                </a:solidFill>
              </a:rPr>
              <a:t>        ...</a:t>
            </a:r>
          </a:p>
          <a:p>
            <a:r>
              <a:rPr lang="en-US" dirty="0">
                <a:solidFill>
                  <a:schemeClr val="tx1"/>
                </a:solidFill>
              </a:rPr>
              <a:t>    }</a:t>
            </a:r>
          </a:p>
          <a:p>
            <a:r>
              <a:rPr lang="en-US" dirty="0">
                <a:solidFill>
                  <a:schemeClr val="tx1"/>
                </a:solidFill>
              </a:rPr>
              <a:t>}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492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 Placeholder 4">
            <a:extLst>
              <a:ext uri="{FF2B5EF4-FFF2-40B4-BE49-F238E27FC236}">
                <a16:creationId xmlns:a16="http://schemas.microsoft.com/office/drawing/2014/main" id="{C35A4E53-A199-41DC-944E-9282AC50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8499" y="4830692"/>
            <a:ext cx="228600" cy="228600"/>
          </a:xfrm>
        </p:spPr>
        <p:txBody>
          <a:bodyPr/>
          <a:lstStyle/>
          <a:p>
            <a:fld id="{4D82F6D6-BD64-564F-BDB4-3E98167DF08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967FCE-3A6C-44E1-88F9-7862B7E056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5796" y="-70425"/>
            <a:ext cx="492219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400" dirty="0">
                <a:latin typeface="Raleway ExtraBold" panose="020B0903030101060003" pitchFamily="34" charset="0"/>
              </a:rPr>
              <a:t>Jobs Template</a:t>
            </a:r>
            <a:endParaRPr lang="ru-RU" altLang="ru-RU" sz="2400" dirty="0">
              <a:latin typeface="Raleway ExtraBold" panose="020B0903030101060003" pitchFamily="34" charset="0"/>
              <a:cs typeface="Rubik Medium" panose="02000604000000020004" pitchFamily="2" charset="-79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DDC2D55-1617-4E72-84FC-830227EF2D8C}"/>
              </a:ext>
            </a:extLst>
          </p:cNvPr>
          <p:cNvGraphicFramePr>
            <a:graphicFrameLocks noGrp="1"/>
          </p:cNvGraphicFramePr>
          <p:nvPr/>
        </p:nvGraphicFramePr>
        <p:xfrm>
          <a:off x="207523" y="410877"/>
          <a:ext cx="8480975" cy="4156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76967">
                  <a:extLst>
                    <a:ext uri="{9D8B030D-6E8A-4147-A177-3AD203B41FA5}">
                      <a16:colId xmlns:a16="http://schemas.microsoft.com/office/drawing/2014/main" val="2618663979"/>
                    </a:ext>
                  </a:extLst>
                </a:gridCol>
                <a:gridCol w="6704008">
                  <a:extLst>
                    <a:ext uri="{9D8B030D-6E8A-4147-A177-3AD203B41FA5}">
                      <a16:colId xmlns:a16="http://schemas.microsoft.com/office/drawing/2014/main" val="3216379728"/>
                    </a:ext>
                  </a:extLst>
                </a:gridCol>
              </a:tblGrid>
              <a:tr h="346503">
                <a:tc>
                  <a:txBody>
                    <a:bodyPr/>
                    <a:lstStyle/>
                    <a:p>
                      <a:r>
                        <a:rPr lang="en-US" sz="1200" dirty="0"/>
                        <a:t>Use Case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Batch Jobs reliability  Monitoring (Mostly ETL dataflow jobs)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0726090"/>
                  </a:ext>
                </a:extLst>
              </a:tr>
              <a:tr h="346503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Objective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Find out the root cause of failure or slow processing jobs.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47710"/>
                  </a:ext>
                </a:extLst>
              </a:tr>
              <a:tr h="375550">
                <a:tc>
                  <a:txBody>
                    <a:bodyPr/>
                    <a:lstStyle/>
                    <a:p>
                      <a:r>
                        <a:rPr lang="en-US" sz="1200" dirty="0"/>
                        <a:t>Sources of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 details logs that is forwarded to cloud watch  | Jobs logs are available in individual instances that is running the jobs and populating the logs in /var/log/job/job.log ( rotating ) , u need to tail them and forward them.</a:t>
                      </a:r>
                    </a:p>
                    <a:p>
                      <a:endParaRPr 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8205448"/>
                  </a:ext>
                </a:extLst>
              </a:tr>
              <a:tr h="429196">
                <a:tc>
                  <a:txBody>
                    <a:bodyPr/>
                    <a:lstStyle/>
                    <a:p>
                      <a:r>
                        <a:rPr lang="en-US" sz="1200" dirty="0"/>
                        <a:t>Logs 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&lt;time&gt; &lt;</a:t>
                      </a:r>
                      <a:r>
                        <a:rPr lang="en-US" sz="1000" dirty="0" err="1"/>
                        <a:t>JobId</a:t>
                      </a:r>
                      <a:r>
                        <a:rPr lang="en-US" sz="1000" dirty="0"/>
                        <a:t>&gt;, &lt;Step Name&gt; &lt; Task Name&gt; &lt;message&gt;&lt;status code&gt; &lt;severity&gt; &lt;Type&gt; &lt;</a:t>
                      </a:r>
                      <a:r>
                        <a:rPr lang="en-US" sz="1000" dirty="0" err="1"/>
                        <a:t>ReasonCode</a:t>
                      </a:r>
                      <a:r>
                        <a:rPr lang="en-US" sz="1000" dirty="0"/>
                        <a:t>&gt; &lt;</a:t>
                      </a:r>
                      <a:r>
                        <a:rPr lang="en-US" sz="1000" dirty="0" err="1"/>
                        <a:t>CompletionTime</a:t>
                      </a:r>
                      <a:r>
                        <a:rPr lang="en-US" sz="1000" dirty="0"/>
                        <a:t>&gt;</a:t>
                      </a:r>
                    </a:p>
                    <a:p>
                      <a:r>
                        <a:rPr lang="en-US" sz="1000" dirty="0"/>
                        <a:t>Type – Job , </a:t>
                      </a:r>
                      <a:r>
                        <a:rPr lang="en-US" sz="1000" dirty="0" err="1"/>
                        <a:t>Status_Code</a:t>
                      </a:r>
                      <a:r>
                        <a:rPr lang="en-US" sz="1000" dirty="0"/>
                        <a:t> =0 success 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4017815"/>
                  </a:ext>
                </a:extLst>
              </a:tr>
              <a:tr h="302077">
                <a:tc>
                  <a:txBody>
                    <a:bodyPr/>
                    <a:lstStyle/>
                    <a:p>
                      <a:r>
                        <a:rPr lang="en-US" sz="1200" dirty="0"/>
                        <a:t>Logs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u="sng" dirty="0"/>
                        <a:t>Dashboard1 ( Failed Jobs Today)</a:t>
                      </a:r>
                      <a:r>
                        <a:rPr lang="en-US" sz="1000" dirty="0"/>
                        <a:t> , </a:t>
                      </a:r>
                      <a:r>
                        <a:rPr lang="en-US" sz="1000" u="sng" dirty="0"/>
                        <a:t>Dashboard2 ( Top 10 Time consuming jobs)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Dashboard3  ( Mostly failed jobs by category ) </a:t>
                      </a:r>
                      <a:r>
                        <a:rPr lang="en-US" sz="1000" dirty="0"/>
                        <a:t>, </a:t>
                      </a:r>
                      <a:r>
                        <a:rPr lang="en-US" sz="1000" u="sng" dirty="0"/>
                        <a:t>Dashboard4 ( Job Status Today)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6682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dirty="0"/>
                        <a:t>Perf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u="sng" dirty="0"/>
                        <a:t>Dashboard1 (Weekly Performance Trend by job)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99998"/>
                  </a:ext>
                </a:extLst>
              </a:tr>
              <a:tr h="351199">
                <a:tc>
                  <a:txBody>
                    <a:bodyPr/>
                    <a:lstStyle/>
                    <a:p>
                      <a:r>
                        <a:rPr lang="en-US" sz="1200" dirty="0"/>
                        <a:t>Alert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Any Job Failure </a:t>
                      </a:r>
                    </a:p>
                    <a:p>
                      <a:r>
                        <a:rPr lang="en-US" sz="1000" dirty="0"/>
                        <a:t>Completion Time &gt; 30 mins,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12832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Steps for RCA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Go to logs dashboard of Failed Jobs Today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Identify RC of failure by looking at the logs of that </a:t>
                      </a:r>
                      <a:r>
                        <a:rPr lang="en-US" sz="1000" dirty="0" err="1"/>
                        <a:t>job_id</a:t>
                      </a:r>
                      <a:r>
                        <a:rPr lang="en-US" sz="1000" dirty="0"/>
                        <a:t> and that days logs</a:t>
                      </a:r>
                    </a:p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Do some </a:t>
                      </a:r>
                      <a:r>
                        <a:rPr lang="en-US" sz="1000" dirty="0" err="1"/>
                        <a:t>realtime</a:t>
                      </a:r>
                      <a:r>
                        <a:rPr lang="en-US" sz="1000" dirty="0"/>
                        <a:t> diagnose if require</a:t>
                      </a:r>
                    </a:p>
                    <a:p>
                      <a:pPr marL="228600" indent="-228600">
                        <a:buAutoNum type="arabicParenR"/>
                      </a:pP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993609"/>
                  </a:ext>
                </a:extLst>
              </a:tr>
              <a:tr h="598074">
                <a:tc>
                  <a:txBody>
                    <a:bodyPr/>
                    <a:lstStyle/>
                    <a:p>
                      <a:r>
                        <a:rPr lang="en-US" sz="1200" dirty="0"/>
                        <a:t>Remediation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arenR"/>
                      </a:pPr>
                      <a:r>
                        <a:rPr lang="en-US" sz="1000" dirty="0"/>
                        <a:t>Generate Tickets / Associate Workflows /  Trigger Automation / Ignore Manually /  Batch Ignore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2710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277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Hitachi Color Palette">
      <a:dk1>
        <a:srgbClr val="000000"/>
      </a:dk1>
      <a:lt1>
        <a:srgbClr val="FFFFFF"/>
      </a:lt1>
      <a:dk2>
        <a:srgbClr val="919D9D"/>
      </a:dk2>
      <a:lt2>
        <a:srgbClr val="DA291C"/>
      </a:lt2>
      <a:accent1>
        <a:srgbClr val="F37021"/>
      </a:accent1>
      <a:accent2>
        <a:srgbClr val="E97F77"/>
      </a:accent2>
      <a:accent3>
        <a:srgbClr val="666666"/>
      </a:accent3>
      <a:accent4>
        <a:srgbClr val="BDC4C4"/>
      </a:accent4>
      <a:accent5>
        <a:srgbClr val="F8A97A"/>
      </a:accent5>
      <a:accent6>
        <a:srgbClr val="D3D8D8"/>
      </a:accent6>
      <a:hlink>
        <a:srgbClr val="7C99C6"/>
      </a:hlink>
      <a:folHlink>
        <a:srgbClr val="1B355C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919D9D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BF9A0-A380-42E8-B81F-03D2471160C1}">
  <ds:schemaRefs>
    <ds:schemaRef ds:uri="http://schemas.microsoft.com/office/2006/metadata/properties"/>
    <ds:schemaRef ds:uri="http://purl.org/dc/elements/1.1/"/>
    <ds:schemaRef ds:uri="5acf12f0-ea3e-4c9d-a767-3aa0f3b33160"/>
    <ds:schemaRef ds:uri="http://www.w3.org/XML/1998/namespace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7a43c2af-ef50-4599-bf97-6a2bd9850d1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C9DC0FF-EA84-4544-A05A-95619760E501}"/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41067</TotalTime>
  <Words>1795</Words>
  <Application>Microsoft Office PowerPoint</Application>
  <PresentationFormat>On-screen Show (16:9)</PresentationFormat>
  <Paragraphs>273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Raleway ExtraBold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SYNECTIKS INC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SYNECTIKS</dc:title>
  <dc:creator>SV</dc:creator>
  <cp:lastModifiedBy>Papu Bhattacharya</cp:lastModifiedBy>
  <cp:revision>368</cp:revision>
  <cp:lastPrinted>2016-12-06T22:14:27Z</cp:lastPrinted>
  <dcterms:created xsi:type="dcterms:W3CDTF">2014-11-12T22:29:05Z</dcterms:created>
  <dcterms:modified xsi:type="dcterms:W3CDTF">2020-05-20T16:48:40Z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  <property fmtid="{D5CDD505-2E9C-101B-9397-08002B2CF9AE}" pid="3" name="IsMyDocuments">
    <vt:bool>true</vt:bool>
  </property>
</Properties>
</file>