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3" r:id="rId4"/>
  </p:sldMasterIdLst>
  <p:notesMasterIdLst>
    <p:notesMasterId r:id="rId8"/>
  </p:notesMasterIdLst>
  <p:handoutMasterIdLst>
    <p:handoutMasterId r:id="rId9"/>
  </p:handoutMasterIdLst>
  <p:sldIdLst>
    <p:sldId id="930" r:id="rId5"/>
    <p:sldId id="349" r:id="rId6"/>
    <p:sldId id="350" r:id="rId7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E7B18C"/>
    <a:srgbClr val="F1D580"/>
    <a:srgbClr val="E17328"/>
    <a:srgbClr val="D9AA18"/>
    <a:srgbClr val="E9B000"/>
    <a:srgbClr val="C4C4C4"/>
    <a:srgbClr val="9B9B9B"/>
    <a:srgbClr val="EBB48F"/>
    <a:srgbClr val="DE70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5" autoAdjust="0"/>
    <p:restoredTop sz="91799" autoAdjust="0"/>
  </p:normalViewPr>
  <p:slideViewPr>
    <p:cSldViewPr snapToGrid="0">
      <p:cViewPr>
        <p:scale>
          <a:sx n="100" d="100"/>
          <a:sy n="100" d="100"/>
        </p:scale>
        <p:origin x="1046" y="158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6/25/2020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355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0DFF67-9BFD-4416-9077-7693E6EC49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6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C470-AD6E-4186-B9D1-F5CD3B500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C95E8-2456-4167-873C-DCE7CAAC3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8EA70-3D9F-4AF5-98CD-ADBF6098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43C81-0BFA-4130-A65D-D3CC8450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E84D5-BB7E-4E36-BDD6-EFE15F39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9198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13E0-DD14-47F6-9B7F-42FBF6140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29E49-3498-4403-82C4-B1F6B86D5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97E07-562F-45F1-837C-60309DDD7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F44FE-B2E7-4C3E-A0FF-6663FE33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7BC22-0663-4485-AAEC-0BD58F22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44002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4CC4-3A0B-4712-A9F7-8EFECAA6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75C78-E1BE-4358-BCCB-44D8FE6C9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35536-F69A-4616-A789-DA0A622B9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58AAC-821A-44AE-8EE6-C0A1200F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20430-D5EC-4964-B716-240956BB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67756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428F0-303B-4830-9E52-17B2E6DD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EB1E4-6C50-4BA0-AB4A-0E170CA47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525F4-5C5E-4C65-A4B4-F4613C63D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5BC1C-BB68-4BEF-8C5B-5F1CE4BE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B7364-CEC3-4B58-A2E4-650734E4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36CBE-3367-47A8-A624-5AA9168A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10347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F2DC-7C77-423C-B5AA-22D7DD08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FEFCC-4ACB-4A5B-A4AC-E10B7B40D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8E7C7-CF83-449D-ACC7-0141E70E6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D6AC6-B8C6-4A02-8F99-A7E0F4933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F52BC-C951-4B70-9938-2B204E1F4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33799-1F0E-4495-8FE1-72980475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4A26C-594B-4849-ADE7-BDD65FA6F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AB182-1C5B-41A4-992A-A46157BC1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04878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E026-9521-49F9-9910-4E59D0EE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0F577-9C03-4D72-B18C-3DB7A3079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D3A2E-13DC-495D-90A7-7A4E5FDF7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7EF5E-5D2B-4CCD-B2BC-2A9FAD1D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C55AE-6A42-40C6-97AE-E89CE4E6C939}"/>
              </a:ext>
            </a:extLst>
          </p:cNvPr>
          <p:cNvSpPr/>
          <p:nvPr userDrawn="1"/>
        </p:nvSpPr>
        <p:spPr>
          <a:xfrm>
            <a:off x="313381" y="4915450"/>
            <a:ext cx="4065124" cy="228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46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418A9C-B077-499A-8FA9-DFFA04A0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B566F-A0BB-400C-A181-7DA718D9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58D3B-0ADC-4EE2-8119-D2FEA44A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Graphic 5">
            <a:extLst>
              <a:ext uri="{FF2B5EF4-FFF2-40B4-BE49-F238E27FC236}">
                <a16:creationId xmlns:a16="http://schemas.microsoft.com/office/drawing/2014/main" id="{B8F8BF69-64D7-4398-A323-00B3D8B0C0C0}"/>
              </a:ext>
            </a:extLst>
          </p:cNvPr>
          <p:cNvSpPr>
            <a:spLocks noChangeAspect="1"/>
          </p:cNvSpPr>
          <p:nvPr userDrawn="1"/>
        </p:nvSpPr>
        <p:spPr>
          <a:xfrm>
            <a:off x="3079321" y="1"/>
            <a:ext cx="2985359" cy="290786"/>
          </a:xfrm>
          <a:custGeom>
            <a:avLst/>
            <a:gdLst>
              <a:gd name="connsiteX0" fmla="*/ 5298019 w 5298018"/>
              <a:gd name="connsiteY0" fmla="*/ 0 h 475749"/>
              <a:gd name="connsiteX1" fmla="*/ 4792594 w 5298018"/>
              <a:gd name="connsiteY1" fmla="*/ 475749 h 475749"/>
              <a:gd name="connsiteX2" fmla="*/ 505473 w 5298018"/>
              <a:gd name="connsiteY2" fmla="*/ 475749 h 475749"/>
              <a:gd name="connsiteX3" fmla="*/ 0 w 5298018"/>
              <a:gd name="connsiteY3" fmla="*/ 0 h 475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8018" h="475749">
                <a:moveTo>
                  <a:pt x="5298019" y="0"/>
                </a:moveTo>
                <a:cubicBezTo>
                  <a:pt x="4930695" y="172726"/>
                  <a:pt x="5133304" y="475749"/>
                  <a:pt x="4792594" y="475749"/>
                </a:cubicBezTo>
                <a:lnTo>
                  <a:pt x="505473" y="475749"/>
                </a:lnTo>
                <a:cubicBezTo>
                  <a:pt x="164763" y="475749"/>
                  <a:pt x="367324" y="17272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881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</p:spTree>
    <p:extLst>
      <p:ext uri="{BB962C8B-B14F-4D97-AF65-F5344CB8AC3E}">
        <p14:creationId xmlns:p14="http://schemas.microsoft.com/office/powerpoint/2010/main" val="376080980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E1F1-69D8-4AB9-A2CB-D1008002A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CFE4-0CFA-4BB0-99D2-46954FDDA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256C7-FCFA-43F1-94D2-4A905D203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5FC62-A4D6-4E31-874E-E2F7D31A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67646-D893-4414-BAEC-A3578E0E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F64B9-EAA5-4849-872E-8A5B5815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20739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09EF-03C5-4888-88B5-4EA70E42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A5960-079A-48E1-843B-4F5A89112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5F0BC-0F2D-4FBE-B9F3-4AA42F04C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127A3-FA32-49FB-9287-668F7ED6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82F0A-7C33-4891-8DDC-058E2B9CE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4B07F-B89D-44C8-9955-21F878CB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1905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3897-2A10-48CC-B46F-A4984195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313DE-D904-4D6D-A071-8078EACAB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042B-5B4A-4A4A-91CB-597523F4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FBA54-D886-4643-8534-A20CFD9E3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AA205-DC56-4C6D-B193-E25F0A4A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60278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43D52B-5A56-4B4C-9B42-D9A53D157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A10A3-6943-4364-97E4-E652E32B3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1A199-B825-4041-8038-B421CFEF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F5A77-474F-4406-90D1-B956A7B3E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8F4A5-AF5C-4AA5-BA15-0F4D22CF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94370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Body Slide with Headlin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30188" y="1200150"/>
            <a:ext cx="8686800" cy="3429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aseline="0">
                <a:solidFill>
                  <a:srgbClr val="000000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775704" y="4830696"/>
            <a:ext cx="168249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D6EC5702-CC6C-449A-9363-23B4FFE00979}" type="datetime1">
              <a:rPr lang="en-US" smtClean="0"/>
              <a:t>6/25/2020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 rot="5400000">
            <a:off x="8529532" y="4946102"/>
            <a:ext cx="77629" cy="1588"/>
          </a:xfrm>
          <a:prstGeom prst="line">
            <a:avLst/>
          </a:prstGeom>
          <a:ln w="6350">
            <a:solidFill>
              <a:srgbClr val="DA29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0188" y="4714875"/>
            <a:ext cx="1798009" cy="352519"/>
          </a:xfrm>
          <a:prstGeom prst="rect">
            <a:avLst/>
          </a:prstGeom>
        </p:spPr>
      </p:pic>
      <p:pic>
        <p:nvPicPr>
          <p:cNvPr id="13" name="Picture 12" descr="hitachi-inspire-the-next-logo.png"/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0438" y="128016"/>
            <a:ext cx="1289130" cy="522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4"/>
          </p:nvPr>
        </p:nvSpPr>
        <p:spPr>
          <a:xfrm>
            <a:off x="0" y="1200150"/>
            <a:ext cx="9144000" cy="3429000"/>
          </a:xfrm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pic>
        <p:nvPicPr>
          <p:cNvPr id="7" name="Picture 6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11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0" y="1200151"/>
            <a:ext cx="5430837" cy="3428999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pic>
        <p:nvPicPr>
          <p:cNvPr id="8" name="Picture 7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14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0" y="1889125"/>
            <a:ext cx="9144000" cy="2740025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pic>
        <p:nvPicPr>
          <p:cNvPr id="8" name="Picture 7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16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Background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pic>
        <p:nvPicPr>
          <p:cNvPr id="23" name="Picture 22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7479664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and Tab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pic>
        <p:nvPicPr>
          <p:cNvPr id="23" name="Picture 22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25" name="Date Placeholder 3"/>
          <p:cNvSpPr>
            <a:spLocks noGrp="1"/>
          </p:cNvSpPr>
          <p:nvPr>
            <p:ph type="dt" sz="half" idx="2"/>
          </p:nvPr>
        </p:nvSpPr>
        <p:spPr>
          <a:xfrm>
            <a:off x="6775704" y="4830696"/>
            <a:ext cx="168249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69235B16-92EC-4ADE-AC67-A1F32B564842}" type="datetime1">
              <a:rPr lang="en-US" smtClean="0"/>
              <a:t>6/25/2020</a:t>
            </a:fld>
            <a:endParaRPr lang="en-US" dirty="0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>
          <a:xfrm rot="5400000">
            <a:off x="8529532" y="4946102"/>
            <a:ext cx="77629" cy="1588"/>
          </a:xfrm>
          <a:prstGeom prst="line">
            <a:avLst/>
          </a:prstGeom>
          <a:ln w="6350">
            <a:solidFill>
              <a:srgbClr val="DA29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  <p:sp>
        <p:nvSpPr>
          <p:cNvPr id="22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230186" y="1889125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9" name="Picture Placeholder 16"/>
          <p:cNvSpPr>
            <a:spLocks noGrp="1"/>
          </p:cNvSpPr>
          <p:nvPr>
            <p:ph type="pic" sz="quarter" idx="25"/>
          </p:nvPr>
        </p:nvSpPr>
        <p:spPr>
          <a:xfrm>
            <a:off x="230188" y="2452688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0" name="Picture Placeholder 16"/>
          <p:cNvSpPr>
            <a:spLocks noGrp="1"/>
          </p:cNvSpPr>
          <p:nvPr>
            <p:ph type="pic" sz="quarter" idx="26"/>
          </p:nvPr>
        </p:nvSpPr>
        <p:spPr>
          <a:xfrm>
            <a:off x="230188" y="3014663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1" name="Picture Placeholder 16"/>
          <p:cNvSpPr>
            <a:spLocks noGrp="1"/>
          </p:cNvSpPr>
          <p:nvPr>
            <p:ph type="pic" sz="quarter" idx="27"/>
          </p:nvPr>
        </p:nvSpPr>
        <p:spPr>
          <a:xfrm>
            <a:off x="230188" y="3578225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2" name="Picture Placeholder 16"/>
          <p:cNvSpPr>
            <a:spLocks noGrp="1"/>
          </p:cNvSpPr>
          <p:nvPr>
            <p:ph type="pic" sz="quarter" idx="28"/>
          </p:nvPr>
        </p:nvSpPr>
        <p:spPr>
          <a:xfrm>
            <a:off x="230188" y="4141788"/>
            <a:ext cx="2286000" cy="457200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292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Graph Option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30188" y="1200150"/>
            <a:ext cx="8686800" cy="688975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aseline="0">
                <a:solidFill>
                  <a:srgbClr val="000000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 descr="hitachi-consulting-logo-rendered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5432" y="225962"/>
            <a:ext cx="1798009" cy="352519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6775704" y="4830696"/>
            <a:ext cx="168249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C48BA28F-F5EE-4CA9-83D1-C0DADD8673A3}" type="datetime1">
              <a:rPr lang="en-US" smtClean="0"/>
              <a:t>6/25/2020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 rot="5400000">
            <a:off x="8529532" y="4946102"/>
            <a:ext cx="77629" cy="1588"/>
          </a:xfrm>
          <a:prstGeom prst="line">
            <a:avLst/>
          </a:prstGeom>
          <a:ln w="6350">
            <a:solidFill>
              <a:srgbClr val="DA29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ate Placeholder 3"/>
          <p:cNvSpPr txBox="1">
            <a:spLocks/>
          </p:cNvSpPr>
          <p:nvPr userDrawn="1"/>
        </p:nvSpPr>
        <p:spPr>
          <a:xfrm>
            <a:off x="230188" y="4830696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kern="1200" dirty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2016 Hitachi Consulting Corporation.  All rights reserved. Proprietary and confidential.</a:t>
            </a:r>
          </a:p>
        </p:txBody>
      </p:sp>
      <p:sp>
        <p:nvSpPr>
          <p:cNvPr id="22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230186" y="1889125"/>
            <a:ext cx="4233672" cy="1225296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4680462" y="1889125"/>
            <a:ext cx="4233672" cy="1225296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4" name="Picture Placeholder 16"/>
          <p:cNvSpPr>
            <a:spLocks noGrp="1"/>
          </p:cNvSpPr>
          <p:nvPr>
            <p:ph type="pic" sz="quarter" idx="17"/>
          </p:nvPr>
        </p:nvSpPr>
        <p:spPr>
          <a:xfrm>
            <a:off x="230186" y="3378816"/>
            <a:ext cx="4233672" cy="1225296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5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4680462" y="3378816"/>
            <a:ext cx="4233672" cy="1225296"/>
          </a:xfrm>
        </p:spPr>
        <p:txBody>
          <a:bodyPr anchor="ctr" anchorCtr="0">
            <a:noAutofit/>
          </a:bodyPr>
          <a:lstStyle>
            <a:lvl1pPr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324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313381" y="4915450"/>
            <a:ext cx="4065124" cy="228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11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53"/>
          <p:cNvSpPr>
            <a:spLocks noGrp="1"/>
          </p:cNvSpPr>
          <p:nvPr>
            <p:ph idx="1" hasCustomPrompt="1"/>
          </p:nvPr>
        </p:nvSpPr>
        <p:spPr>
          <a:xfrm>
            <a:off x="264161" y="1244666"/>
            <a:ext cx="8575039" cy="1494768"/>
          </a:xfrm>
          <a:prstGeom prst="rect">
            <a:avLst/>
          </a:prstGeom>
        </p:spPr>
        <p:txBody>
          <a:bodyPr vert="horz" wrap="square" lIns="91430" tIns="91440" rIns="91430" bIns="91440" rtlCol="0">
            <a:spAutoFit/>
          </a:bodyPr>
          <a:lstStyle>
            <a:lvl1pPr marL="280953" indent="-280953">
              <a:buSzPct val="55000"/>
              <a:buFont typeface="Wingdings" charset="2"/>
              <a:buChar char="u"/>
              <a:defRPr sz="1800"/>
            </a:lvl1pPr>
            <a:lvl2pPr>
              <a:defRPr sz="1600"/>
            </a:lvl2pPr>
            <a:lvl3pPr marL="855557" indent="-280953">
              <a:buClr>
                <a:schemeClr val="tx2"/>
              </a:buClr>
              <a:buFont typeface="Wingdings" charset="2"/>
              <a:buChar char="§"/>
              <a:defRPr sz="1600"/>
            </a:lvl3pPr>
            <a:lvl4pPr>
              <a:defRPr sz="1600" baseline="0"/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Forth level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264160" y="877455"/>
            <a:ext cx="857504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8905931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76628-BC36-2846-9551-8543357C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51878-DE82-2E48-91DA-6912F7BF6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Graphic 5">
            <a:extLst>
              <a:ext uri="{FF2B5EF4-FFF2-40B4-BE49-F238E27FC236}">
                <a16:creationId xmlns:a16="http://schemas.microsoft.com/office/drawing/2014/main" id="{DCFC08EF-7FE6-E944-A777-63DB76A50D04}"/>
              </a:ext>
            </a:extLst>
          </p:cNvPr>
          <p:cNvSpPr>
            <a:spLocks noChangeAspect="1"/>
          </p:cNvSpPr>
          <p:nvPr userDrawn="1"/>
        </p:nvSpPr>
        <p:spPr>
          <a:xfrm>
            <a:off x="3079321" y="1"/>
            <a:ext cx="2985359" cy="290786"/>
          </a:xfrm>
          <a:custGeom>
            <a:avLst/>
            <a:gdLst>
              <a:gd name="connsiteX0" fmla="*/ 5298019 w 5298018"/>
              <a:gd name="connsiteY0" fmla="*/ 0 h 475749"/>
              <a:gd name="connsiteX1" fmla="*/ 4792594 w 5298018"/>
              <a:gd name="connsiteY1" fmla="*/ 475749 h 475749"/>
              <a:gd name="connsiteX2" fmla="*/ 505473 w 5298018"/>
              <a:gd name="connsiteY2" fmla="*/ 475749 h 475749"/>
              <a:gd name="connsiteX3" fmla="*/ 0 w 5298018"/>
              <a:gd name="connsiteY3" fmla="*/ 0 h 475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8018" h="475749">
                <a:moveTo>
                  <a:pt x="5298019" y="0"/>
                </a:moveTo>
                <a:cubicBezTo>
                  <a:pt x="4930695" y="172726"/>
                  <a:pt x="5133304" y="475749"/>
                  <a:pt x="4792594" y="475749"/>
                </a:cubicBezTo>
                <a:lnTo>
                  <a:pt x="505473" y="475749"/>
                </a:lnTo>
                <a:cubicBezTo>
                  <a:pt x="164763" y="475749"/>
                  <a:pt x="367324" y="17272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881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</p:spTree>
    <p:extLst>
      <p:ext uri="{BB962C8B-B14F-4D97-AF65-F5344CB8AC3E}">
        <p14:creationId xmlns:p14="http://schemas.microsoft.com/office/powerpoint/2010/main" val="21710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4536B8-BC4D-477E-BD3E-1E14E11F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19134-91FE-46CC-B0FB-BEDBEF588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AF512-084F-4371-A0B6-8088CB778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2FC0F-490E-4037-809F-EE94D2F34D5E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9B006-DED5-43AC-A255-C435A76BF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B28A4-A031-40DC-89D6-956EADB64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A14B2-F45F-4421-8663-2E4CBFF6C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6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654" r:id="rId12"/>
    <p:sldLayoutId id="2147483701" r:id="rId13"/>
    <p:sldLayoutId id="2147483668" r:id="rId14"/>
    <p:sldLayoutId id="2147483670" r:id="rId15"/>
    <p:sldLayoutId id="2147483671" r:id="rId16"/>
    <p:sldLayoutId id="2147483716" r:id="rId17"/>
    <p:sldLayoutId id="2147483708" r:id="rId18"/>
    <p:sldLayoutId id="2147483709" r:id="rId19"/>
    <p:sldLayoutId id="2147483718" r:id="rId20"/>
    <p:sldLayoutId id="2147483719" r:id="rId21"/>
    <p:sldLayoutId id="2147483736" r:id="rId2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CD42E3-9462-2449-BFC5-DCCCBBD463F4}"/>
              </a:ext>
            </a:extLst>
          </p:cNvPr>
          <p:cNvSpPr txBox="1"/>
          <p:nvPr/>
        </p:nvSpPr>
        <p:spPr>
          <a:xfrm>
            <a:off x="3494638" y="69247"/>
            <a:ext cx="215472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Raleway Medium" panose="020B0503030101060003" pitchFamily="34" charset="77"/>
                <a:ea typeface="Roboto" panose="02000000000000000000" pitchFamily="2" charset="0"/>
                <a:cs typeface="Open Sans" panose="020B0606030504020204" pitchFamily="34" charset="0"/>
              </a:rPr>
              <a:t>Road Map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77EB52-02F5-A949-AAF9-412D321E5642}"/>
              </a:ext>
            </a:extLst>
          </p:cNvPr>
          <p:cNvCxnSpPr/>
          <p:nvPr/>
        </p:nvCxnSpPr>
        <p:spPr>
          <a:xfrm>
            <a:off x="4572000" y="4811731"/>
            <a:ext cx="0" cy="203704"/>
          </a:xfrm>
          <a:prstGeom prst="line">
            <a:avLst/>
          </a:prstGeom>
          <a:ln w="19050" cap="rnd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9E7306C-C6C8-AC4E-AC3F-F062559C1CE8}"/>
              </a:ext>
            </a:extLst>
          </p:cNvPr>
          <p:cNvSpPr/>
          <p:nvPr/>
        </p:nvSpPr>
        <p:spPr>
          <a:xfrm>
            <a:off x="1796533" y="286954"/>
            <a:ext cx="5572020" cy="43088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Raleway SemiBold" panose="020B0503030101060003" pitchFamily="34" charset="77"/>
              </a:rPr>
              <a:t>High Level </a:t>
            </a:r>
            <a:r>
              <a:rPr lang="en-US" sz="22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aleway SemiBold" panose="020B0503030101060003" pitchFamily="34" charset="77"/>
              </a:rPr>
              <a:t>Future State Road Map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B5ED2CA-D2D1-8844-9E92-DFC015ED06AB}"/>
              </a:ext>
            </a:extLst>
          </p:cNvPr>
          <p:cNvSpPr/>
          <p:nvPr/>
        </p:nvSpPr>
        <p:spPr>
          <a:xfrm>
            <a:off x="638905" y="748983"/>
            <a:ext cx="1790455" cy="4266452"/>
          </a:xfrm>
          <a:custGeom>
            <a:avLst/>
            <a:gdLst>
              <a:gd name="connsiteX0" fmla="*/ 1339016 w 1386444"/>
              <a:gd name="connsiteY0" fmla="*/ 47388 h 1706633"/>
              <a:gd name="connsiteX1" fmla="*/ 1339016 w 1386444"/>
              <a:gd name="connsiteY1" fmla="*/ 1659246 h 1706633"/>
              <a:gd name="connsiteX2" fmla="*/ 47429 w 1386444"/>
              <a:gd name="connsiteY2" fmla="*/ 1659246 h 1706633"/>
              <a:gd name="connsiteX3" fmla="*/ 47429 w 1386444"/>
              <a:gd name="connsiteY3" fmla="*/ 47388 h 1706633"/>
              <a:gd name="connsiteX4" fmla="*/ 1339016 w 1386444"/>
              <a:gd name="connsiteY4" fmla="*/ 47388 h 1706633"/>
              <a:gd name="connsiteX5" fmla="*/ 1386445 w 1386444"/>
              <a:gd name="connsiteY5" fmla="*/ 0 h 1706633"/>
              <a:gd name="connsiteX6" fmla="*/ 0 w 1386444"/>
              <a:gd name="connsiteY6" fmla="*/ 0 h 1706633"/>
              <a:gd name="connsiteX7" fmla="*/ 0 w 1386444"/>
              <a:gd name="connsiteY7" fmla="*/ 1706634 h 1706633"/>
              <a:gd name="connsiteX8" fmla="*/ 1386445 w 1386444"/>
              <a:gd name="connsiteY8" fmla="*/ 1706634 h 1706633"/>
              <a:gd name="connsiteX9" fmla="*/ 1386445 w 1386444"/>
              <a:gd name="connsiteY9" fmla="*/ 0 h 170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6444" h="1706633">
                <a:moveTo>
                  <a:pt x="1339016" y="47388"/>
                </a:moveTo>
                <a:lnTo>
                  <a:pt x="1339016" y="1659246"/>
                </a:lnTo>
                <a:lnTo>
                  <a:pt x="47429" y="1659246"/>
                </a:lnTo>
                <a:lnTo>
                  <a:pt x="47429" y="47388"/>
                </a:lnTo>
                <a:lnTo>
                  <a:pt x="1339016" y="47388"/>
                </a:lnTo>
                <a:moveTo>
                  <a:pt x="1386445" y="0"/>
                </a:moveTo>
                <a:lnTo>
                  <a:pt x="0" y="0"/>
                </a:lnTo>
                <a:lnTo>
                  <a:pt x="0" y="1706634"/>
                </a:lnTo>
                <a:lnTo>
                  <a:pt x="1386445" y="1706634"/>
                </a:lnTo>
                <a:lnTo>
                  <a:pt x="1386445" y="0"/>
                </a:lnTo>
                <a:close/>
              </a:path>
            </a:pathLst>
          </a:custGeom>
          <a:solidFill>
            <a:schemeClr val="accent1"/>
          </a:solidFill>
          <a:ln w="9466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815F2C8-9030-2F4B-9DAC-C6D34725D509}"/>
              </a:ext>
            </a:extLst>
          </p:cNvPr>
          <p:cNvSpPr/>
          <p:nvPr/>
        </p:nvSpPr>
        <p:spPr>
          <a:xfrm>
            <a:off x="440532" y="804034"/>
            <a:ext cx="198371" cy="485873"/>
          </a:xfrm>
          <a:custGeom>
            <a:avLst/>
            <a:gdLst>
              <a:gd name="connsiteX0" fmla="*/ 153101 w 153100"/>
              <a:gd name="connsiteY0" fmla="*/ 361571 h 361570"/>
              <a:gd name="connsiteX1" fmla="*/ 0 w 153100"/>
              <a:gd name="connsiteY1" fmla="*/ 361571 h 361570"/>
              <a:gd name="connsiteX2" fmla="*/ 0 w 153100"/>
              <a:gd name="connsiteY2" fmla="*/ 58003 h 361570"/>
              <a:gd name="connsiteX3" fmla="*/ 153101 w 153100"/>
              <a:gd name="connsiteY3" fmla="*/ 0 h 361570"/>
              <a:gd name="connsiteX4" fmla="*/ 153101 w 153100"/>
              <a:gd name="connsiteY4" fmla="*/ 361571 h 361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100" h="361570">
                <a:moveTo>
                  <a:pt x="153101" y="361571"/>
                </a:moveTo>
                <a:lnTo>
                  <a:pt x="0" y="361571"/>
                </a:lnTo>
                <a:lnTo>
                  <a:pt x="0" y="58003"/>
                </a:lnTo>
                <a:lnTo>
                  <a:pt x="153101" y="0"/>
                </a:lnTo>
                <a:lnTo>
                  <a:pt x="153101" y="36157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466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258B25E-3E57-214A-A9E9-83B067E5EEE1}"/>
              </a:ext>
            </a:extLst>
          </p:cNvPr>
          <p:cNvSpPr/>
          <p:nvPr/>
        </p:nvSpPr>
        <p:spPr>
          <a:xfrm>
            <a:off x="440531" y="881977"/>
            <a:ext cx="1785111" cy="407930"/>
          </a:xfrm>
          <a:custGeom>
            <a:avLst/>
            <a:gdLst>
              <a:gd name="connsiteX0" fmla="*/ 0 w 1382840"/>
              <a:gd name="connsiteY0" fmla="*/ 0 h 303567"/>
              <a:gd name="connsiteX1" fmla="*/ 1382840 w 1382840"/>
              <a:gd name="connsiteY1" fmla="*/ 0 h 303567"/>
              <a:gd name="connsiteX2" fmla="*/ 1382840 w 1382840"/>
              <a:gd name="connsiteY2" fmla="*/ 303568 h 303567"/>
              <a:gd name="connsiteX3" fmla="*/ 0 w 1382840"/>
              <a:gd name="connsiteY3" fmla="*/ 303568 h 30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2840" h="303567">
                <a:moveTo>
                  <a:pt x="0" y="0"/>
                </a:moveTo>
                <a:lnTo>
                  <a:pt x="1382840" y="0"/>
                </a:lnTo>
                <a:lnTo>
                  <a:pt x="1382840" y="303568"/>
                </a:lnTo>
                <a:lnTo>
                  <a:pt x="0" y="303568"/>
                </a:lnTo>
                <a:close/>
              </a:path>
            </a:pathLst>
          </a:custGeom>
          <a:solidFill>
            <a:schemeClr val="accent1"/>
          </a:solidFill>
          <a:ln w="9466" cap="flat">
            <a:noFill/>
            <a:prstDash val="solid"/>
            <a:miter/>
          </a:ln>
        </p:spPr>
        <p:txBody>
          <a:bodyPr lIns="432000" r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Now</a:t>
            </a:r>
            <a:endParaRPr lang="en-EG" sz="1200" b="1" dirty="0">
              <a:solidFill>
                <a:srgbClr val="FFFFFF"/>
              </a:solidFill>
              <a:latin typeface="Raleway SemiBold" panose="020B0503030101060003" pitchFamily="34" charset="77"/>
            </a:endParaRPr>
          </a:p>
          <a:p>
            <a:r>
              <a:rPr lang="en-US" sz="1050" dirty="0">
                <a:solidFill>
                  <a:srgbClr val="FFFFFF"/>
                </a:solidFill>
                <a:latin typeface="Raleway Medium" panose="020B0503030101060003" pitchFamily="34" charset="77"/>
              </a:rPr>
              <a:t>Current Initiatives</a:t>
            </a:r>
            <a:endParaRPr lang="en-EG" sz="1050" dirty="0">
              <a:solidFill>
                <a:srgbClr val="FFFFFF"/>
              </a:solidFill>
              <a:latin typeface="Raleway Medium" panose="020B05030301010600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E2B00B-D4D0-C642-9A7F-A102B588531B}"/>
              </a:ext>
            </a:extLst>
          </p:cNvPr>
          <p:cNvSpPr txBox="1"/>
          <p:nvPr/>
        </p:nvSpPr>
        <p:spPr>
          <a:xfrm>
            <a:off x="774214" y="1353955"/>
            <a:ext cx="10946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Product Design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BE060B-E1B7-BF4E-A43E-7AB97228D695}"/>
              </a:ext>
            </a:extLst>
          </p:cNvPr>
          <p:cNvSpPr txBox="1"/>
          <p:nvPr/>
        </p:nvSpPr>
        <p:spPr>
          <a:xfrm>
            <a:off x="1002817" y="1553150"/>
            <a:ext cx="132763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Performance &amp; Availability Management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86D40B6-40BE-2D42-80B5-5EDD01588477}"/>
              </a:ext>
            </a:extLst>
          </p:cNvPr>
          <p:cNvSpPr>
            <a:spLocks noChangeAspect="1"/>
          </p:cNvSpPr>
          <p:nvPr/>
        </p:nvSpPr>
        <p:spPr>
          <a:xfrm>
            <a:off x="800079" y="1627493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0CC7AD-5A86-914C-B279-BCC989B4DA53}"/>
              </a:ext>
            </a:extLst>
          </p:cNvPr>
          <p:cNvSpPr txBox="1"/>
          <p:nvPr/>
        </p:nvSpPr>
        <p:spPr>
          <a:xfrm>
            <a:off x="1002817" y="1877703"/>
            <a:ext cx="132763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Log Management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7A365BA-8903-2D43-986D-80E41EC01F39}"/>
              </a:ext>
            </a:extLst>
          </p:cNvPr>
          <p:cNvSpPr>
            <a:spLocks noChangeAspect="1"/>
          </p:cNvSpPr>
          <p:nvPr/>
        </p:nvSpPr>
        <p:spPr>
          <a:xfrm>
            <a:off x="800079" y="1870932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EEF8C3-718F-D74F-AE65-C2477415A30D}"/>
              </a:ext>
            </a:extLst>
          </p:cNvPr>
          <p:cNvSpPr txBox="1"/>
          <p:nvPr/>
        </p:nvSpPr>
        <p:spPr>
          <a:xfrm>
            <a:off x="1002818" y="2084266"/>
            <a:ext cx="109463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Alert Management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BE7EEBD-AA9E-C54A-8797-87CBED05F724}"/>
              </a:ext>
            </a:extLst>
          </p:cNvPr>
          <p:cNvSpPr>
            <a:spLocks noChangeAspect="1"/>
          </p:cNvSpPr>
          <p:nvPr/>
        </p:nvSpPr>
        <p:spPr>
          <a:xfrm>
            <a:off x="800079" y="2077495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1F579CE-D829-7C42-9C5A-62067E920111}"/>
              </a:ext>
            </a:extLst>
          </p:cNvPr>
          <p:cNvSpPr txBox="1"/>
          <p:nvPr/>
        </p:nvSpPr>
        <p:spPr>
          <a:xfrm>
            <a:off x="1002818" y="2290837"/>
            <a:ext cx="132763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Workflow &amp; Automation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C6E9EC4-6102-8F4C-B980-2124D31D8160}"/>
              </a:ext>
            </a:extLst>
          </p:cNvPr>
          <p:cNvSpPr>
            <a:spLocks noChangeAspect="1"/>
          </p:cNvSpPr>
          <p:nvPr/>
        </p:nvSpPr>
        <p:spPr>
          <a:xfrm>
            <a:off x="800079" y="2284066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82A893B5-094E-CE4D-928D-073AB1D6D716}"/>
              </a:ext>
            </a:extLst>
          </p:cNvPr>
          <p:cNvSpPr/>
          <p:nvPr/>
        </p:nvSpPr>
        <p:spPr>
          <a:xfrm>
            <a:off x="2730275" y="748981"/>
            <a:ext cx="1790455" cy="4266454"/>
          </a:xfrm>
          <a:custGeom>
            <a:avLst/>
            <a:gdLst>
              <a:gd name="connsiteX0" fmla="*/ 1339016 w 1386444"/>
              <a:gd name="connsiteY0" fmla="*/ 47388 h 1706633"/>
              <a:gd name="connsiteX1" fmla="*/ 1339016 w 1386444"/>
              <a:gd name="connsiteY1" fmla="*/ 1659246 h 1706633"/>
              <a:gd name="connsiteX2" fmla="*/ 47429 w 1386444"/>
              <a:gd name="connsiteY2" fmla="*/ 1659246 h 1706633"/>
              <a:gd name="connsiteX3" fmla="*/ 47429 w 1386444"/>
              <a:gd name="connsiteY3" fmla="*/ 47388 h 1706633"/>
              <a:gd name="connsiteX4" fmla="*/ 1339016 w 1386444"/>
              <a:gd name="connsiteY4" fmla="*/ 47388 h 1706633"/>
              <a:gd name="connsiteX5" fmla="*/ 1386445 w 1386444"/>
              <a:gd name="connsiteY5" fmla="*/ 0 h 1706633"/>
              <a:gd name="connsiteX6" fmla="*/ 0 w 1386444"/>
              <a:gd name="connsiteY6" fmla="*/ 0 h 1706633"/>
              <a:gd name="connsiteX7" fmla="*/ 0 w 1386444"/>
              <a:gd name="connsiteY7" fmla="*/ 1706634 h 1706633"/>
              <a:gd name="connsiteX8" fmla="*/ 1386445 w 1386444"/>
              <a:gd name="connsiteY8" fmla="*/ 1706634 h 1706633"/>
              <a:gd name="connsiteX9" fmla="*/ 1386445 w 1386444"/>
              <a:gd name="connsiteY9" fmla="*/ 0 h 170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6444" h="1706633">
                <a:moveTo>
                  <a:pt x="1339016" y="47388"/>
                </a:moveTo>
                <a:lnTo>
                  <a:pt x="1339016" y="1659246"/>
                </a:lnTo>
                <a:lnTo>
                  <a:pt x="47429" y="1659246"/>
                </a:lnTo>
                <a:lnTo>
                  <a:pt x="47429" y="47388"/>
                </a:lnTo>
                <a:lnTo>
                  <a:pt x="1339016" y="47388"/>
                </a:lnTo>
                <a:moveTo>
                  <a:pt x="1386445" y="0"/>
                </a:moveTo>
                <a:lnTo>
                  <a:pt x="0" y="0"/>
                </a:lnTo>
                <a:lnTo>
                  <a:pt x="0" y="1706634"/>
                </a:lnTo>
                <a:lnTo>
                  <a:pt x="1386445" y="1706634"/>
                </a:lnTo>
                <a:lnTo>
                  <a:pt x="1386445" y="0"/>
                </a:lnTo>
                <a:close/>
              </a:path>
            </a:pathLst>
          </a:custGeom>
          <a:solidFill>
            <a:schemeClr val="accent2"/>
          </a:solidFill>
          <a:ln w="9466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6AE1B267-53A3-6948-B46E-1FC5A16D1708}"/>
              </a:ext>
            </a:extLst>
          </p:cNvPr>
          <p:cNvSpPr/>
          <p:nvPr/>
        </p:nvSpPr>
        <p:spPr>
          <a:xfrm>
            <a:off x="2531902" y="804034"/>
            <a:ext cx="198371" cy="485873"/>
          </a:xfrm>
          <a:custGeom>
            <a:avLst/>
            <a:gdLst>
              <a:gd name="connsiteX0" fmla="*/ 153101 w 153100"/>
              <a:gd name="connsiteY0" fmla="*/ 361571 h 361570"/>
              <a:gd name="connsiteX1" fmla="*/ 0 w 153100"/>
              <a:gd name="connsiteY1" fmla="*/ 361571 h 361570"/>
              <a:gd name="connsiteX2" fmla="*/ 0 w 153100"/>
              <a:gd name="connsiteY2" fmla="*/ 58003 h 361570"/>
              <a:gd name="connsiteX3" fmla="*/ 153101 w 153100"/>
              <a:gd name="connsiteY3" fmla="*/ 0 h 361570"/>
              <a:gd name="connsiteX4" fmla="*/ 153101 w 153100"/>
              <a:gd name="connsiteY4" fmla="*/ 361571 h 361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100" h="361570">
                <a:moveTo>
                  <a:pt x="153101" y="361571"/>
                </a:moveTo>
                <a:lnTo>
                  <a:pt x="0" y="361571"/>
                </a:lnTo>
                <a:lnTo>
                  <a:pt x="0" y="58003"/>
                </a:lnTo>
                <a:lnTo>
                  <a:pt x="153101" y="0"/>
                </a:lnTo>
                <a:lnTo>
                  <a:pt x="153101" y="36157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466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AD759896-CFDA-9F49-A17B-38360FA9958D}"/>
              </a:ext>
            </a:extLst>
          </p:cNvPr>
          <p:cNvSpPr/>
          <p:nvPr/>
        </p:nvSpPr>
        <p:spPr>
          <a:xfrm>
            <a:off x="2531901" y="881977"/>
            <a:ext cx="1785111" cy="407930"/>
          </a:xfrm>
          <a:custGeom>
            <a:avLst/>
            <a:gdLst>
              <a:gd name="connsiteX0" fmla="*/ 0 w 1382840"/>
              <a:gd name="connsiteY0" fmla="*/ 0 h 303567"/>
              <a:gd name="connsiteX1" fmla="*/ 1382840 w 1382840"/>
              <a:gd name="connsiteY1" fmla="*/ 0 h 303567"/>
              <a:gd name="connsiteX2" fmla="*/ 1382840 w 1382840"/>
              <a:gd name="connsiteY2" fmla="*/ 303568 h 303567"/>
              <a:gd name="connsiteX3" fmla="*/ 0 w 1382840"/>
              <a:gd name="connsiteY3" fmla="*/ 303568 h 30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2840" h="303567">
                <a:moveTo>
                  <a:pt x="0" y="0"/>
                </a:moveTo>
                <a:lnTo>
                  <a:pt x="1382840" y="0"/>
                </a:lnTo>
                <a:lnTo>
                  <a:pt x="1382840" y="303568"/>
                </a:lnTo>
                <a:lnTo>
                  <a:pt x="0" y="303568"/>
                </a:lnTo>
                <a:close/>
              </a:path>
            </a:pathLst>
          </a:custGeom>
          <a:solidFill>
            <a:srgbClr val="ED7D31"/>
          </a:solidFill>
          <a:ln w="9466" cap="flat">
            <a:noFill/>
            <a:prstDash val="solid"/>
            <a:miter/>
          </a:ln>
        </p:spPr>
        <p:txBody>
          <a:bodyPr lIns="432000" r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Phase One</a:t>
            </a:r>
          </a:p>
          <a:p>
            <a:r>
              <a:rPr lang="en-US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06-W4+07-W1+07-W2+07-W3</a:t>
            </a:r>
            <a:endParaRPr lang="en-US" sz="7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CD291C2-81A1-B34A-885F-1A3D4D193775}"/>
              </a:ext>
            </a:extLst>
          </p:cNvPr>
          <p:cNvSpPr txBox="1"/>
          <p:nvPr/>
        </p:nvSpPr>
        <p:spPr>
          <a:xfrm>
            <a:off x="3094187" y="1553150"/>
            <a:ext cx="13140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Performance / Availability Management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60881C07-574F-3D49-955D-F73312F87DED}"/>
              </a:ext>
            </a:extLst>
          </p:cNvPr>
          <p:cNvSpPr>
            <a:spLocks noChangeAspect="1"/>
          </p:cNvSpPr>
          <p:nvPr/>
        </p:nvSpPr>
        <p:spPr>
          <a:xfrm>
            <a:off x="2891449" y="1627493"/>
            <a:ext cx="118160" cy="122546"/>
          </a:xfrm>
          <a:prstGeom prst="ellipse">
            <a:avLst/>
          </a:pr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EA694E6-C0E4-B64B-A117-234C2C0E3FF2}"/>
              </a:ext>
            </a:extLst>
          </p:cNvPr>
          <p:cNvSpPr txBox="1"/>
          <p:nvPr/>
        </p:nvSpPr>
        <p:spPr>
          <a:xfrm>
            <a:off x="3170387" y="1856538"/>
            <a:ext cx="13140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Cataloging with AWS Collectors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E15676-8D35-FA4D-9D59-1AED0F70B779}"/>
              </a:ext>
            </a:extLst>
          </p:cNvPr>
          <p:cNvSpPr txBox="1"/>
          <p:nvPr/>
        </p:nvSpPr>
        <p:spPr>
          <a:xfrm>
            <a:off x="3252515" y="2152632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KPI from CloudWatch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AFDAE65-7AFF-4F42-8E1E-94849F21DFED}"/>
              </a:ext>
            </a:extLst>
          </p:cNvPr>
          <p:cNvSpPr txBox="1"/>
          <p:nvPr/>
        </p:nvSpPr>
        <p:spPr>
          <a:xfrm>
            <a:off x="3170387" y="2365812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Dashboards</a:t>
            </a:r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B99D7C83-DC5B-894B-AE94-1E3923CEA627}"/>
              </a:ext>
            </a:extLst>
          </p:cNvPr>
          <p:cNvSpPr/>
          <p:nvPr/>
        </p:nvSpPr>
        <p:spPr>
          <a:xfrm>
            <a:off x="4821645" y="748983"/>
            <a:ext cx="1790455" cy="4266452"/>
          </a:xfrm>
          <a:custGeom>
            <a:avLst/>
            <a:gdLst>
              <a:gd name="connsiteX0" fmla="*/ 1339016 w 1386444"/>
              <a:gd name="connsiteY0" fmla="*/ 47388 h 1706633"/>
              <a:gd name="connsiteX1" fmla="*/ 1339016 w 1386444"/>
              <a:gd name="connsiteY1" fmla="*/ 1659246 h 1706633"/>
              <a:gd name="connsiteX2" fmla="*/ 47429 w 1386444"/>
              <a:gd name="connsiteY2" fmla="*/ 1659246 h 1706633"/>
              <a:gd name="connsiteX3" fmla="*/ 47429 w 1386444"/>
              <a:gd name="connsiteY3" fmla="*/ 47388 h 1706633"/>
              <a:gd name="connsiteX4" fmla="*/ 1339016 w 1386444"/>
              <a:gd name="connsiteY4" fmla="*/ 47388 h 1706633"/>
              <a:gd name="connsiteX5" fmla="*/ 1386445 w 1386444"/>
              <a:gd name="connsiteY5" fmla="*/ 0 h 1706633"/>
              <a:gd name="connsiteX6" fmla="*/ 0 w 1386444"/>
              <a:gd name="connsiteY6" fmla="*/ 0 h 1706633"/>
              <a:gd name="connsiteX7" fmla="*/ 0 w 1386444"/>
              <a:gd name="connsiteY7" fmla="*/ 1706634 h 1706633"/>
              <a:gd name="connsiteX8" fmla="*/ 1386445 w 1386444"/>
              <a:gd name="connsiteY8" fmla="*/ 1706634 h 1706633"/>
              <a:gd name="connsiteX9" fmla="*/ 1386445 w 1386444"/>
              <a:gd name="connsiteY9" fmla="*/ 0 h 170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6444" h="1706633">
                <a:moveTo>
                  <a:pt x="1339016" y="47388"/>
                </a:moveTo>
                <a:lnTo>
                  <a:pt x="1339016" y="1659246"/>
                </a:lnTo>
                <a:lnTo>
                  <a:pt x="47429" y="1659246"/>
                </a:lnTo>
                <a:lnTo>
                  <a:pt x="47429" y="47388"/>
                </a:lnTo>
                <a:lnTo>
                  <a:pt x="1339016" y="47388"/>
                </a:lnTo>
                <a:moveTo>
                  <a:pt x="1386445" y="0"/>
                </a:moveTo>
                <a:lnTo>
                  <a:pt x="0" y="0"/>
                </a:lnTo>
                <a:lnTo>
                  <a:pt x="0" y="1706634"/>
                </a:lnTo>
                <a:lnTo>
                  <a:pt x="1386445" y="1706634"/>
                </a:lnTo>
                <a:lnTo>
                  <a:pt x="1386445" y="0"/>
                </a:lnTo>
                <a:close/>
              </a:path>
            </a:pathLst>
          </a:custGeom>
          <a:solidFill>
            <a:schemeClr val="accent3"/>
          </a:solidFill>
          <a:ln w="9466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71735859-CB72-1D49-87FA-E8FAB7AB212C}"/>
              </a:ext>
            </a:extLst>
          </p:cNvPr>
          <p:cNvSpPr/>
          <p:nvPr/>
        </p:nvSpPr>
        <p:spPr>
          <a:xfrm>
            <a:off x="4623271" y="804034"/>
            <a:ext cx="198371" cy="485873"/>
          </a:xfrm>
          <a:custGeom>
            <a:avLst/>
            <a:gdLst>
              <a:gd name="connsiteX0" fmla="*/ 153101 w 153100"/>
              <a:gd name="connsiteY0" fmla="*/ 361571 h 361570"/>
              <a:gd name="connsiteX1" fmla="*/ 0 w 153100"/>
              <a:gd name="connsiteY1" fmla="*/ 361571 h 361570"/>
              <a:gd name="connsiteX2" fmla="*/ 0 w 153100"/>
              <a:gd name="connsiteY2" fmla="*/ 58003 h 361570"/>
              <a:gd name="connsiteX3" fmla="*/ 153101 w 153100"/>
              <a:gd name="connsiteY3" fmla="*/ 0 h 361570"/>
              <a:gd name="connsiteX4" fmla="*/ 153101 w 153100"/>
              <a:gd name="connsiteY4" fmla="*/ 361571 h 361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100" h="361570">
                <a:moveTo>
                  <a:pt x="153101" y="361571"/>
                </a:moveTo>
                <a:lnTo>
                  <a:pt x="0" y="361571"/>
                </a:lnTo>
                <a:lnTo>
                  <a:pt x="0" y="58003"/>
                </a:lnTo>
                <a:lnTo>
                  <a:pt x="153101" y="0"/>
                </a:lnTo>
                <a:lnTo>
                  <a:pt x="153101" y="36157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466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2EAD950E-3298-7740-9C12-AF378F8DA40A}"/>
              </a:ext>
            </a:extLst>
          </p:cNvPr>
          <p:cNvSpPr/>
          <p:nvPr/>
        </p:nvSpPr>
        <p:spPr>
          <a:xfrm>
            <a:off x="4623271" y="881977"/>
            <a:ext cx="1785111" cy="407930"/>
          </a:xfrm>
          <a:custGeom>
            <a:avLst/>
            <a:gdLst>
              <a:gd name="connsiteX0" fmla="*/ 0 w 1382840"/>
              <a:gd name="connsiteY0" fmla="*/ 0 h 303567"/>
              <a:gd name="connsiteX1" fmla="*/ 1382840 w 1382840"/>
              <a:gd name="connsiteY1" fmla="*/ 0 h 303567"/>
              <a:gd name="connsiteX2" fmla="*/ 1382840 w 1382840"/>
              <a:gd name="connsiteY2" fmla="*/ 303568 h 303567"/>
              <a:gd name="connsiteX3" fmla="*/ 0 w 1382840"/>
              <a:gd name="connsiteY3" fmla="*/ 303568 h 30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2840" h="303567">
                <a:moveTo>
                  <a:pt x="0" y="0"/>
                </a:moveTo>
                <a:lnTo>
                  <a:pt x="1382840" y="0"/>
                </a:lnTo>
                <a:lnTo>
                  <a:pt x="1382840" y="303568"/>
                </a:lnTo>
                <a:lnTo>
                  <a:pt x="0" y="303568"/>
                </a:lnTo>
                <a:close/>
              </a:path>
            </a:pathLst>
          </a:custGeom>
          <a:solidFill>
            <a:schemeClr val="accent3"/>
          </a:solidFill>
          <a:ln w="9466" cap="flat">
            <a:noFill/>
            <a:prstDash val="solid"/>
            <a:miter/>
          </a:ln>
        </p:spPr>
        <p:txBody>
          <a:bodyPr lIns="432000" rIns="0" rtlCol="0" anchor="ctr"/>
          <a:lstStyle/>
          <a:p>
            <a:endParaRPr lang="en-US" sz="1200" b="1" dirty="0">
              <a:solidFill>
                <a:srgbClr val="FFFFFF"/>
              </a:solidFill>
              <a:latin typeface="Raleway SemiBold" panose="020B0503030101060003" pitchFamily="34" charset="77"/>
            </a:endParaRPr>
          </a:p>
          <a:p>
            <a:r>
              <a:rPr lang="en-EG" sz="1200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Phase </a:t>
            </a:r>
            <a:r>
              <a:rPr lang="en-US" sz="1200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Two</a:t>
            </a:r>
          </a:p>
          <a:p>
            <a:r>
              <a:rPr lang="en-US" sz="700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07-W4+08-W1+08-W2</a:t>
            </a:r>
          </a:p>
          <a:p>
            <a:endParaRPr lang="en-EG" sz="1200" b="1" dirty="0">
              <a:solidFill>
                <a:srgbClr val="FFFFFF"/>
              </a:solidFill>
              <a:latin typeface="Raleway SemiBold" panose="020B0503030101060003" pitchFamily="34" charset="7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9D575B1-8846-4C44-9D5C-BC3D2A6FD1AA}"/>
              </a:ext>
            </a:extLst>
          </p:cNvPr>
          <p:cNvSpPr txBox="1"/>
          <p:nvPr/>
        </p:nvSpPr>
        <p:spPr>
          <a:xfrm>
            <a:off x="5185558" y="1547783"/>
            <a:ext cx="79371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Activity Log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ECE0EE3B-0E91-BB44-AB8F-5D47FA08C4F5}"/>
              </a:ext>
            </a:extLst>
          </p:cNvPr>
          <p:cNvSpPr>
            <a:spLocks noChangeAspect="1"/>
          </p:cNvSpPr>
          <p:nvPr/>
        </p:nvSpPr>
        <p:spPr>
          <a:xfrm>
            <a:off x="4982818" y="1555760"/>
            <a:ext cx="118160" cy="122546"/>
          </a:xfrm>
          <a:prstGeom prst="ellipse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0D5AD05-D872-B648-A52A-94D07FA709BD}"/>
              </a:ext>
            </a:extLst>
          </p:cNvPr>
          <p:cNvSpPr txBox="1"/>
          <p:nvPr/>
        </p:nvSpPr>
        <p:spPr>
          <a:xfrm>
            <a:off x="5185558" y="2123841"/>
            <a:ext cx="79371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Alerting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774D5B6-EE8F-C74E-8C5B-0B224C5FD3B3}"/>
              </a:ext>
            </a:extLst>
          </p:cNvPr>
          <p:cNvSpPr>
            <a:spLocks noChangeAspect="1"/>
          </p:cNvSpPr>
          <p:nvPr/>
        </p:nvSpPr>
        <p:spPr>
          <a:xfrm>
            <a:off x="4982818" y="2131818"/>
            <a:ext cx="118160" cy="122546"/>
          </a:xfrm>
          <a:prstGeom prst="ellipse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FE5086CD-D709-9F46-AEAA-E17843714637}"/>
              </a:ext>
            </a:extLst>
          </p:cNvPr>
          <p:cNvSpPr/>
          <p:nvPr/>
        </p:nvSpPr>
        <p:spPr>
          <a:xfrm>
            <a:off x="6913014" y="748982"/>
            <a:ext cx="1790455" cy="4266452"/>
          </a:xfrm>
          <a:custGeom>
            <a:avLst/>
            <a:gdLst>
              <a:gd name="connsiteX0" fmla="*/ 1339016 w 1386444"/>
              <a:gd name="connsiteY0" fmla="*/ 47388 h 1706633"/>
              <a:gd name="connsiteX1" fmla="*/ 1339016 w 1386444"/>
              <a:gd name="connsiteY1" fmla="*/ 1659246 h 1706633"/>
              <a:gd name="connsiteX2" fmla="*/ 47429 w 1386444"/>
              <a:gd name="connsiteY2" fmla="*/ 1659246 h 1706633"/>
              <a:gd name="connsiteX3" fmla="*/ 47429 w 1386444"/>
              <a:gd name="connsiteY3" fmla="*/ 47388 h 1706633"/>
              <a:gd name="connsiteX4" fmla="*/ 1339016 w 1386444"/>
              <a:gd name="connsiteY4" fmla="*/ 47388 h 1706633"/>
              <a:gd name="connsiteX5" fmla="*/ 1386445 w 1386444"/>
              <a:gd name="connsiteY5" fmla="*/ 0 h 1706633"/>
              <a:gd name="connsiteX6" fmla="*/ 0 w 1386444"/>
              <a:gd name="connsiteY6" fmla="*/ 0 h 1706633"/>
              <a:gd name="connsiteX7" fmla="*/ 0 w 1386444"/>
              <a:gd name="connsiteY7" fmla="*/ 1706634 h 1706633"/>
              <a:gd name="connsiteX8" fmla="*/ 1386445 w 1386444"/>
              <a:gd name="connsiteY8" fmla="*/ 1706634 h 1706633"/>
              <a:gd name="connsiteX9" fmla="*/ 1386445 w 1386444"/>
              <a:gd name="connsiteY9" fmla="*/ 0 h 1706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6444" h="1706633">
                <a:moveTo>
                  <a:pt x="1339016" y="47388"/>
                </a:moveTo>
                <a:lnTo>
                  <a:pt x="1339016" y="1659246"/>
                </a:lnTo>
                <a:lnTo>
                  <a:pt x="47429" y="1659246"/>
                </a:lnTo>
                <a:lnTo>
                  <a:pt x="47429" y="47388"/>
                </a:lnTo>
                <a:lnTo>
                  <a:pt x="1339016" y="47388"/>
                </a:lnTo>
                <a:moveTo>
                  <a:pt x="1386445" y="0"/>
                </a:moveTo>
                <a:lnTo>
                  <a:pt x="0" y="0"/>
                </a:lnTo>
                <a:lnTo>
                  <a:pt x="0" y="1706634"/>
                </a:lnTo>
                <a:lnTo>
                  <a:pt x="1386445" y="1706634"/>
                </a:lnTo>
                <a:lnTo>
                  <a:pt x="1386445" y="0"/>
                </a:lnTo>
                <a:close/>
              </a:path>
            </a:pathLst>
          </a:custGeom>
          <a:solidFill>
            <a:schemeClr val="accent4"/>
          </a:solidFill>
          <a:ln w="9466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  <p:sp>
        <p:nvSpPr>
          <p:cNvPr id="124" name="Freeform 123">
            <a:extLst>
              <a:ext uri="{FF2B5EF4-FFF2-40B4-BE49-F238E27FC236}">
                <a16:creationId xmlns:a16="http://schemas.microsoft.com/office/drawing/2014/main" id="{F0EF865A-C378-1940-A112-AB70266D5FC7}"/>
              </a:ext>
            </a:extLst>
          </p:cNvPr>
          <p:cNvSpPr/>
          <p:nvPr/>
        </p:nvSpPr>
        <p:spPr>
          <a:xfrm>
            <a:off x="6714641" y="804034"/>
            <a:ext cx="198371" cy="485873"/>
          </a:xfrm>
          <a:custGeom>
            <a:avLst/>
            <a:gdLst>
              <a:gd name="connsiteX0" fmla="*/ 153101 w 153100"/>
              <a:gd name="connsiteY0" fmla="*/ 361571 h 361570"/>
              <a:gd name="connsiteX1" fmla="*/ 0 w 153100"/>
              <a:gd name="connsiteY1" fmla="*/ 361571 h 361570"/>
              <a:gd name="connsiteX2" fmla="*/ 0 w 153100"/>
              <a:gd name="connsiteY2" fmla="*/ 58003 h 361570"/>
              <a:gd name="connsiteX3" fmla="*/ 153101 w 153100"/>
              <a:gd name="connsiteY3" fmla="*/ 0 h 361570"/>
              <a:gd name="connsiteX4" fmla="*/ 153101 w 153100"/>
              <a:gd name="connsiteY4" fmla="*/ 361571 h 361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100" h="361570">
                <a:moveTo>
                  <a:pt x="153101" y="361571"/>
                </a:moveTo>
                <a:lnTo>
                  <a:pt x="0" y="361571"/>
                </a:lnTo>
                <a:lnTo>
                  <a:pt x="0" y="58003"/>
                </a:lnTo>
                <a:lnTo>
                  <a:pt x="153101" y="0"/>
                </a:lnTo>
                <a:lnTo>
                  <a:pt x="153101" y="36157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466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51AFBF66-1DAD-BD47-8098-199EFB35FB4C}"/>
              </a:ext>
            </a:extLst>
          </p:cNvPr>
          <p:cNvSpPr/>
          <p:nvPr/>
        </p:nvSpPr>
        <p:spPr>
          <a:xfrm>
            <a:off x="6714641" y="881977"/>
            <a:ext cx="1785111" cy="407930"/>
          </a:xfrm>
          <a:custGeom>
            <a:avLst/>
            <a:gdLst>
              <a:gd name="connsiteX0" fmla="*/ 0 w 1382840"/>
              <a:gd name="connsiteY0" fmla="*/ 0 h 303567"/>
              <a:gd name="connsiteX1" fmla="*/ 1382840 w 1382840"/>
              <a:gd name="connsiteY1" fmla="*/ 0 h 303567"/>
              <a:gd name="connsiteX2" fmla="*/ 1382840 w 1382840"/>
              <a:gd name="connsiteY2" fmla="*/ 303568 h 303567"/>
              <a:gd name="connsiteX3" fmla="*/ 0 w 1382840"/>
              <a:gd name="connsiteY3" fmla="*/ 303568 h 303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2840" h="303567">
                <a:moveTo>
                  <a:pt x="0" y="0"/>
                </a:moveTo>
                <a:lnTo>
                  <a:pt x="1382840" y="0"/>
                </a:lnTo>
                <a:lnTo>
                  <a:pt x="1382840" y="303568"/>
                </a:lnTo>
                <a:lnTo>
                  <a:pt x="0" y="303568"/>
                </a:lnTo>
                <a:close/>
              </a:path>
            </a:pathLst>
          </a:custGeom>
          <a:solidFill>
            <a:schemeClr val="accent4"/>
          </a:solidFill>
          <a:ln w="9466" cap="flat">
            <a:noFill/>
            <a:prstDash val="solid"/>
            <a:miter/>
          </a:ln>
        </p:spPr>
        <p:txBody>
          <a:bodyPr lIns="432000" rIns="0" rtlCol="0" anchor="ctr"/>
          <a:lstStyle/>
          <a:p>
            <a:r>
              <a:rPr lang="en-EG" sz="1200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Phase </a:t>
            </a:r>
            <a:r>
              <a:rPr lang="en-US" sz="1200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Three</a:t>
            </a:r>
          </a:p>
          <a:p>
            <a:r>
              <a:rPr lang="en-US" sz="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08-W3+08-W4</a:t>
            </a:r>
            <a:endParaRPr lang="en-EG" sz="7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933FA54-9048-7A44-B50A-FD6A0AEDC744}"/>
              </a:ext>
            </a:extLst>
          </p:cNvPr>
          <p:cNvSpPr txBox="1"/>
          <p:nvPr/>
        </p:nvSpPr>
        <p:spPr>
          <a:xfrm>
            <a:off x="7276927" y="1547783"/>
            <a:ext cx="13202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RCA Central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B350AC5E-52EB-E94F-85B1-7FCA09BC016A}"/>
              </a:ext>
            </a:extLst>
          </p:cNvPr>
          <p:cNvSpPr>
            <a:spLocks noChangeAspect="1"/>
          </p:cNvSpPr>
          <p:nvPr/>
        </p:nvSpPr>
        <p:spPr>
          <a:xfrm>
            <a:off x="7074188" y="1555760"/>
            <a:ext cx="118160" cy="122546"/>
          </a:xfrm>
          <a:prstGeom prst="ellipse">
            <a:avLst/>
          </a:prstGeom>
          <a:gradFill>
            <a:gsLst>
              <a:gs pos="100000">
                <a:schemeClr val="accent4">
                  <a:lumMod val="75000"/>
                </a:schemeClr>
              </a:gs>
              <a:gs pos="0">
                <a:schemeClr val="accent4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1941D11-7884-9740-9670-3BBB1D9A5D4F}"/>
              </a:ext>
            </a:extLst>
          </p:cNvPr>
          <p:cNvSpPr txBox="1"/>
          <p:nvPr/>
        </p:nvSpPr>
        <p:spPr>
          <a:xfrm>
            <a:off x="7276927" y="2361973"/>
            <a:ext cx="132026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ATP / Verification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354524DE-77A4-EB41-87B8-3EAE1D73F310}"/>
              </a:ext>
            </a:extLst>
          </p:cNvPr>
          <p:cNvSpPr>
            <a:spLocks noChangeAspect="1"/>
          </p:cNvSpPr>
          <p:nvPr/>
        </p:nvSpPr>
        <p:spPr>
          <a:xfrm>
            <a:off x="7074188" y="2369950"/>
            <a:ext cx="118160" cy="122546"/>
          </a:xfrm>
          <a:prstGeom prst="ellipse">
            <a:avLst/>
          </a:prstGeom>
          <a:gradFill>
            <a:gsLst>
              <a:gs pos="100000">
                <a:schemeClr val="accent4">
                  <a:lumMod val="75000"/>
                </a:schemeClr>
              </a:gs>
              <a:gs pos="0">
                <a:schemeClr val="accent4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92E442F-2B8D-4644-BC0C-74A8178A547E}"/>
              </a:ext>
            </a:extLst>
          </p:cNvPr>
          <p:cNvSpPr txBox="1"/>
          <p:nvPr/>
        </p:nvSpPr>
        <p:spPr>
          <a:xfrm>
            <a:off x="1002818" y="2490023"/>
            <a:ext cx="142654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Compliance Management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F3D3CCDA-7960-C44A-B085-960AD9F6C1C4}"/>
              </a:ext>
            </a:extLst>
          </p:cNvPr>
          <p:cNvSpPr>
            <a:spLocks noChangeAspect="1"/>
          </p:cNvSpPr>
          <p:nvPr/>
        </p:nvSpPr>
        <p:spPr>
          <a:xfrm>
            <a:off x="800079" y="2483252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F6015C5-B332-0A4E-ADBC-6E6C7B8B1337}"/>
              </a:ext>
            </a:extLst>
          </p:cNvPr>
          <p:cNvSpPr txBox="1"/>
          <p:nvPr/>
        </p:nvSpPr>
        <p:spPr>
          <a:xfrm>
            <a:off x="3170387" y="2573053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Alert Rules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E283A9-5D51-EA42-BF80-A3B80CAB8372}"/>
              </a:ext>
            </a:extLst>
          </p:cNvPr>
          <p:cNvSpPr txBox="1"/>
          <p:nvPr/>
        </p:nvSpPr>
        <p:spPr>
          <a:xfrm>
            <a:off x="5185557" y="3019212"/>
            <a:ext cx="122282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Workflows</a:t>
            </a: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1F9D1808-656C-0440-B886-6789A59866F1}"/>
              </a:ext>
            </a:extLst>
          </p:cNvPr>
          <p:cNvSpPr>
            <a:spLocks noChangeAspect="1"/>
          </p:cNvSpPr>
          <p:nvPr/>
        </p:nvSpPr>
        <p:spPr>
          <a:xfrm>
            <a:off x="4982818" y="3027189"/>
            <a:ext cx="118160" cy="122546"/>
          </a:xfrm>
          <a:prstGeom prst="ellipse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A4189D5-BAE2-3346-91C3-B6B70C55661A}"/>
              </a:ext>
            </a:extLst>
          </p:cNvPr>
          <p:cNvSpPr txBox="1"/>
          <p:nvPr/>
        </p:nvSpPr>
        <p:spPr>
          <a:xfrm>
            <a:off x="2535988" y="91281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1</a:t>
            </a:r>
            <a:endParaRPr lang="en-EG" b="1" dirty="0">
              <a:solidFill>
                <a:srgbClr val="FFFFFF"/>
              </a:solidFill>
              <a:latin typeface="Raleway SemiBold" panose="020B0503030101060003" pitchFamily="34" charset="7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5856BA1-72A8-FD4D-A20B-FCDB063FD16D}"/>
              </a:ext>
            </a:extLst>
          </p:cNvPr>
          <p:cNvSpPr txBox="1"/>
          <p:nvPr/>
        </p:nvSpPr>
        <p:spPr>
          <a:xfrm>
            <a:off x="4631447" y="91281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2</a:t>
            </a:r>
            <a:endParaRPr lang="en-EG" b="1" dirty="0">
              <a:solidFill>
                <a:srgbClr val="FFFFFF"/>
              </a:solidFill>
              <a:latin typeface="Raleway SemiBold" panose="020B0503030101060003" pitchFamily="34" charset="7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0F218D5-6597-F845-83C6-87282419F23B}"/>
              </a:ext>
            </a:extLst>
          </p:cNvPr>
          <p:cNvSpPr txBox="1"/>
          <p:nvPr/>
        </p:nvSpPr>
        <p:spPr>
          <a:xfrm>
            <a:off x="6720988" y="91281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0</a:t>
            </a:r>
            <a:r>
              <a:rPr lang="en-US" b="1" dirty="0">
                <a:solidFill>
                  <a:srgbClr val="FFFFFF"/>
                </a:solidFill>
                <a:latin typeface="Raleway SemiBold" panose="020B0503030101060003" pitchFamily="34" charset="77"/>
              </a:rPr>
              <a:t>3</a:t>
            </a:r>
            <a:endParaRPr lang="en-EG" b="1" dirty="0">
              <a:solidFill>
                <a:srgbClr val="FFFFFF"/>
              </a:solidFill>
              <a:latin typeface="Raleway SemiBold" panose="020B0503030101060003" pitchFamily="34" charset="7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3DACCF-029E-4FA0-A33D-F273893E7DED}"/>
              </a:ext>
            </a:extLst>
          </p:cNvPr>
          <p:cNvSpPr txBox="1"/>
          <p:nvPr/>
        </p:nvSpPr>
        <p:spPr>
          <a:xfrm>
            <a:off x="774214" y="2700972"/>
            <a:ext cx="10946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Documentation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D4271D9-DA18-4AA3-A4C8-7B606E2396CD}"/>
              </a:ext>
            </a:extLst>
          </p:cNvPr>
          <p:cNvSpPr txBox="1"/>
          <p:nvPr/>
        </p:nvSpPr>
        <p:spPr>
          <a:xfrm>
            <a:off x="1002818" y="2922643"/>
            <a:ext cx="142654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Requirement &amp; Use Cases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1BB3B96-FB12-4682-A8DD-84ED9CDCDB47}"/>
              </a:ext>
            </a:extLst>
          </p:cNvPr>
          <p:cNvSpPr>
            <a:spLocks noChangeAspect="1"/>
          </p:cNvSpPr>
          <p:nvPr/>
        </p:nvSpPr>
        <p:spPr>
          <a:xfrm>
            <a:off x="800079" y="2915872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46B388B-37A1-4CE2-BC94-91A4694BC5C2}"/>
              </a:ext>
            </a:extLst>
          </p:cNvPr>
          <p:cNvSpPr txBox="1"/>
          <p:nvPr/>
        </p:nvSpPr>
        <p:spPr>
          <a:xfrm>
            <a:off x="1002818" y="3134035"/>
            <a:ext cx="142654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Architectures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042FB78-33DF-40A7-AD07-B1E666EBF4DB}"/>
              </a:ext>
            </a:extLst>
          </p:cNvPr>
          <p:cNvSpPr>
            <a:spLocks noChangeAspect="1"/>
          </p:cNvSpPr>
          <p:nvPr/>
        </p:nvSpPr>
        <p:spPr>
          <a:xfrm>
            <a:off x="800079" y="3127264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D6AF363-6A9D-44B4-B8B7-FD1AB21001A4}"/>
              </a:ext>
            </a:extLst>
          </p:cNvPr>
          <p:cNvSpPr txBox="1"/>
          <p:nvPr/>
        </p:nvSpPr>
        <p:spPr>
          <a:xfrm>
            <a:off x="1002818" y="3338053"/>
            <a:ext cx="142654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RoadMap &amp; Plans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15B06C9-A661-4397-B960-9DA6CFCC3556}"/>
              </a:ext>
            </a:extLst>
          </p:cNvPr>
          <p:cNvSpPr>
            <a:spLocks noChangeAspect="1"/>
          </p:cNvSpPr>
          <p:nvPr/>
        </p:nvSpPr>
        <p:spPr>
          <a:xfrm>
            <a:off x="800079" y="3331282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F7A7DB4-77A4-48EE-98D0-FE0E3CBEAAA8}"/>
              </a:ext>
            </a:extLst>
          </p:cNvPr>
          <p:cNvSpPr txBox="1"/>
          <p:nvPr/>
        </p:nvSpPr>
        <p:spPr>
          <a:xfrm>
            <a:off x="774214" y="3546552"/>
            <a:ext cx="10946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Development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A6D3C56-A557-44AB-A2FC-2502DA3BA53A}"/>
              </a:ext>
            </a:extLst>
          </p:cNvPr>
          <p:cNvSpPr txBox="1"/>
          <p:nvPr/>
        </p:nvSpPr>
        <p:spPr>
          <a:xfrm>
            <a:off x="1002818" y="3763298"/>
            <a:ext cx="14265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UI Screens </a:t>
            </a:r>
          </a:p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(Common + Alerts)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F096240-B224-44DB-92BE-495DC915A630}"/>
              </a:ext>
            </a:extLst>
          </p:cNvPr>
          <p:cNvSpPr>
            <a:spLocks noChangeAspect="1"/>
          </p:cNvSpPr>
          <p:nvPr/>
        </p:nvSpPr>
        <p:spPr>
          <a:xfrm>
            <a:off x="800079" y="3822893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D033237-95F8-4F16-B890-9EF565DE4ECA}"/>
              </a:ext>
            </a:extLst>
          </p:cNvPr>
          <p:cNvSpPr txBox="1"/>
          <p:nvPr/>
        </p:nvSpPr>
        <p:spPr>
          <a:xfrm>
            <a:off x="1002818" y="4117262"/>
            <a:ext cx="142654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Few Customer Use Cases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1FB151B-16FF-4200-8F38-F3F68CB1D531}"/>
              </a:ext>
            </a:extLst>
          </p:cNvPr>
          <p:cNvSpPr>
            <a:spLocks noChangeAspect="1"/>
          </p:cNvSpPr>
          <p:nvPr/>
        </p:nvSpPr>
        <p:spPr>
          <a:xfrm>
            <a:off x="800079" y="4110491"/>
            <a:ext cx="118160" cy="122546"/>
          </a:xfrm>
          <a:prstGeom prst="ellipse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042068D-5C8F-401D-BE9F-68525A534922}"/>
              </a:ext>
            </a:extLst>
          </p:cNvPr>
          <p:cNvSpPr txBox="1"/>
          <p:nvPr/>
        </p:nvSpPr>
        <p:spPr>
          <a:xfrm>
            <a:off x="2892574" y="1353955"/>
            <a:ext cx="10946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Modules 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012E50A3-D9AE-440B-89A8-4E326B2DBD25}"/>
              </a:ext>
            </a:extLst>
          </p:cNvPr>
          <p:cNvSpPr/>
          <p:nvPr/>
        </p:nvSpPr>
        <p:spPr>
          <a:xfrm>
            <a:off x="3060700" y="2174784"/>
            <a:ext cx="101600" cy="82552"/>
          </a:xfrm>
          <a:prstGeom prst="chevron">
            <a:avLst/>
          </a:prstGeom>
          <a:solidFill>
            <a:srgbClr val="DE7025"/>
          </a:solidFill>
          <a:ln>
            <a:solidFill>
              <a:srgbClr val="EBB48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0DCD8EC-C2E0-4ACD-B4B3-10BBC9DB409F}"/>
              </a:ext>
            </a:extLst>
          </p:cNvPr>
          <p:cNvSpPr txBox="1"/>
          <p:nvPr/>
        </p:nvSpPr>
        <p:spPr>
          <a:xfrm>
            <a:off x="3170387" y="2962519"/>
            <a:ext cx="13140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Cataloging with AWS Collectors 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AF2F249-A83F-49EA-9C54-8B964C36EE93}"/>
              </a:ext>
            </a:extLst>
          </p:cNvPr>
          <p:cNvSpPr txBox="1"/>
          <p:nvPr/>
        </p:nvSpPr>
        <p:spPr>
          <a:xfrm>
            <a:off x="3252515" y="3249062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Cloud watch Log</a:t>
            </a:r>
          </a:p>
        </p:txBody>
      </p:sp>
      <p:sp>
        <p:nvSpPr>
          <p:cNvPr id="130" name="Arrow: Chevron 129">
            <a:extLst>
              <a:ext uri="{FF2B5EF4-FFF2-40B4-BE49-F238E27FC236}">
                <a16:creationId xmlns:a16="http://schemas.microsoft.com/office/drawing/2014/main" id="{5102E500-4FDE-433C-8B9D-D847A6F2F7BF}"/>
              </a:ext>
            </a:extLst>
          </p:cNvPr>
          <p:cNvSpPr/>
          <p:nvPr/>
        </p:nvSpPr>
        <p:spPr>
          <a:xfrm>
            <a:off x="3060700" y="3271214"/>
            <a:ext cx="101600" cy="82552"/>
          </a:xfrm>
          <a:prstGeom prst="chevron">
            <a:avLst/>
          </a:prstGeom>
          <a:solidFill>
            <a:srgbClr val="DE7025"/>
          </a:solidFill>
          <a:ln>
            <a:solidFill>
              <a:srgbClr val="EBB48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69F9C8A-D8C9-434A-883A-4A2A03C85F29}"/>
              </a:ext>
            </a:extLst>
          </p:cNvPr>
          <p:cNvSpPr txBox="1"/>
          <p:nvPr/>
        </p:nvSpPr>
        <p:spPr>
          <a:xfrm>
            <a:off x="3252515" y="3435326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Cloud trail log</a:t>
            </a:r>
          </a:p>
        </p:txBody>
      </p:sp>
      <p:sp>
        <p:nvSpPr>
          <p:cNvPr id="150" name="Arrow: Chevron 149">
            <a:extLst>
              <a:ext uri="{FF2B5EF4-FFF2-40B4-BE49-F238E27FC236}">
                <a16:creationId xmlns:a16="http://schemas.microsoft.com/office/drawing/2014/main" id="{34B53BDE-4936-4B50-A2CB-87EEE6A1C109}"/>
              </a:ext>
            </a:extLst>
          </p:cNvPr>
          <p:cNvSpPr/>
          <p:nvPr/>
        </p:nvSpPr>
        <p:spPr>
          <a:xfrm>
            <a:off x="3060700" y="3457478"/>
            <a:ext cx="101600" cy="82552"/>
          </a:xfrm>
          <a:prstGeom prst="chevron">
            <a:avLst/>
          </a:prstGeom>
          <a:solidFill>
            <a:srgbClr val="DE7025"/>
          </a:solidFill>
          <a:ln>
            <a:solidFill>
              <a:srgbClr val="EBB48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A871389-9067-4053-82DF-017A3586DC06}"/>
              </a:ext>
            </a:extLst>
          </p:cNvPr>
          <p:cNvSpPr txBox="1"/>
          <p:nvPr/>
        </p:nvSpPr>
        <p:spPr>
          <a:xfrm>
            <a:off x="3252515" y="3625823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Flow Logs</a:t>
            </a:r>
          </a:p>
        </p:txBody>
      </p:sp>
      <p:sp>
        <p:nvSpPr>
          <p:cNvPr id="155" name="Arrow: Chevron 154">
            <a:extLst>
              <a:ext uri="{FF2B5EF4-FFF2-40B4-BE49-F238E27FC236}">
                <a16:creationId xmlns:a16="http://schemas.microsoft.com/office/drawing/2014/main" id="{E36BFA9B-141C-4243-A398-96229955D1D9}"/>
              </a:ext>
            </a:extLst>
          </p:cNvPr>
          <p:cNvSpPr/>
          <p:nvPr/>
        </p:nvSpPr>
        <p:spPr>
          <a:xfrm>
            <a:off x="3060700" y="3647975"/>
            <a:ext cx="101600" cy="82552"/>
          </a:xfrm>
          <a:prstGeom prst="chevron">
            <a:avLst/>
          </a:prstGeom>
          <a:solidFill>
            <a:srgbClr val="DE7025"/>
          </a:solidFill>
          <a:ln>
            <a:solidFill>
              <a:srgbClr val="EBB48F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BF901BF-2B2F-4BC6-9ABA-CBF442E82C8E}"/>
              </a:ext>
            </a:extLst>
          </p:cNvPr>
          <p:cNvSpPr txBox="1"/>
          <p:nvPr/>
        </p:nvSpPr>
        <p:spPr>
          <a:xfrm>
            <a:off x="3170387" y="3830542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Dashboards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382DD37-EBC9-429E-8EE9-3FAC4B3B1FC3}"/>
              </a:ext>
            </a:extLst>
          </p:cNvPr>
          <p:cNvSpPr txBox="1"/>
          <p:nvPr/>
        </p:nvSpPr>
        <p:spPr>
          <a:xfrm>
            <a:off x="3170387" y="4037783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Alert Rules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7FF3A33-A402-465E-9A29-F263A1BE9D16}"/>
              </a:ext>
            </a:extLst>
          </p:cNvPr>
          <p:cNvSpPr txBox="1"/>
          <p:nvPr/>
        </p:nvSpPr>
        <p:spPr>
          <a:xfrm>
            <a:off x="3170387" y="4453416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Search &amp; Act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74F14FD1-DF31-45E1-9A3A-72CD575EF275}"/>
              </a:ext>
            </a:extLst>
          </p:cNvPr>
          <p:cNvSpPr txBox="1"/>
          <p:nvPr/>
        </p:nvSpPr>
        <p:spPr>
          <a:xfrm>
            <a:off x="3170387" y="4654305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Dashboard Rules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F4C4EE9-1A68-4128-86B5-B54C4A1A50E9}"/>
              </a:ext>
            </a:extLst>
          </p:cNvPr>
          <p:cNvSpPr txBox="1"/>
          <p:nvPr/>
        </p:nvSpPr>
        <p:spPr>
          <a:xfrm>
            <a:off x="4991540" y="1353955"/>
            <a:ext cx="10946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Modules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F8F4631-5AE1-435F-BF16-3F85F01E2D54}"/>
              </a:ext>
            </a:extLst>
          </p:cNvPr>
          <p:cNvSpPr txBox="1"/>
          <p:nvPr/>
        </p:nvSpPr>
        <p:spPr>
          <a:xfrm>
            <a:off x="5406901" y="1723140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Agent Activity logs</a:t>
            </a:r>
          </a:p>
        </p:txBody>
      </p:sp>
      <p:sp>
        <p:nvSpPr>
          <p:cNvPr id="167" name="Arrow: Chevron 166">
            <a:extLst>
              <a:ext uri="{FF2B5EF4-FFF2-40B4-BE49-F238E27FC236}">
                <a16:creationId xmlns:a16="http://schemas.microsoft.com/office/drawing/2014/main" id="{5423DE0F-75A2-4D61-A60C-D850B20F96ED}"/>
              </a:ext>
            </a:extLst>
          </p:cNvPr>
          <p:cNvSpPr/>
          <p:nvPr/>
        </p:nvSpPr>
        <p:spPr>
          <a:xfrm>
            <a:off x="5215086" y="1745292"/>
            <a:ext cx="101600" cy="82552"/>
          </a:xfrm>
          <a:prstGeom prst="chevron">
            <a:avLst/>
          </a:prstGeom>
          <a:solidFill>
            <a:srgbClr val="9B9B9B"/>
          </a:solidFill>
          <a:ln>
            <a:solidFill>
              <a:srgbClr val="C4C4C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81606A1-3A1D-4D76-8B04-D823DD44CABE}"/>
              </a:ext>
            </a:extLst>
          </p:cNvPr>
          <p:cNvSpPr txBox="1"/>
          <p:nvPr/>
        </p:nvSpPr>
        <p:spPr>
          <a:xfrm>
            <a:off x="5406901" y="1902210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Insights</a:t>
            </a:r>
          </a:p>
        </p:txBody>
      </p:sp>
      <p:sp>
        <p:nvSpPr>
          <p:cNvPr id="169" name="Arrow: Chevron 168">
            <a:extLst>
              <a:ext uri="{FF2B5EF4-FFF2-40B4-BE49-F238E27FC236}">
                <a16:creationId xmlns:a16="http://schemas.microsoft.com/office/drawing/2014/main" id="{EFB8FE20-88F2-459E-88F7-2E7A56448AD2}"/>
              </a:ext>
            </a:extLst>
          </p:cNvPr>
          <p:cNvSpPr/>
          <p:nvPr/>
        </p:nvSpPr>
        <p:spPr>
          <a:xfrm>
            <a:off x="5215086" y="1924362"/>
            <a:ext cx="101600" cy="82552"/>
          </a:xfrm>
          <a:prstGeom prst="chevron">
            <a:avLst/>
          </a:prstGeom>
          <a:solidFill>
            <a:srgbClr val="9B9B9B"/>
          </a:solidFill>
          <a:ln>
            <a:solidFill>
              <a:srgbClr val="C4C4C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CDE56BC-445C-4FDC-AE69-320F2DCC15C6}"/>
              </a:ext>
            </a:extLst>
          </p:cNvPr>
          <p:cNvSpPr txBox="1"/>
          <p:nvPr/>
        </p:nvSpPr>
        <p:spPr>
          <a:xfrm>
            <a:off x="5406901" y="2302260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Activity Logs</a:t>
            </a:r>
          </a:p>
        </p:txBody>
      </p:sp>
      <p:sp>
        <p:nvSpPr>
          <p:cNvPr id="171" name="Arrow: Chevron 170">
            <a:extLst>
              <a:ext uri="{FF2B5EF4-FFF2-40B4-BE49-F238E27FC236}">
                <a16:creationId xmlns:a16="http://schemas.microsoft.com/office/drawing/2014/main" id="{EA98802F-8F63-43A8-8CF2-086F13923372}"/>
              </a:ext>
            </a:extLst>
          </p:cNvPr>
          <p:cNvSpPr/>
          <p:nvPr/>
        </p:nvSpPr>
        <p:spPr>
          <a:xfrm>
            <a:off x="5215086" y="2324412"/>
            <a:ext cx="101600" cy="82552"/>
          </a:xfrm>
          <a:prstGeom prst="chevron">
            <a:avLst/>
          </a:prstGeom>
          <a:solidFill>
            <a:srgbClr val="9B9B9B"/>
          </a:solidFill>
          <a:ln>
            <a:solidFill>
              <a:srgbClr val="C4C4C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1CD24D0-1BBF-4235-A98B-55F4543B72B3}"/>
              </a:ext>
            </a:extLst>
          </p:cNvPr>
          <p:cNvSpPr txBox="1"/>
          <p:nvPr/>
        </p:nvSpPr>
        <p:spPr>
          <a:xfrm>
            <a:off x="5406901" y="2480060"/>
            <a:ext cx="108279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Rule based inhibit /silence / </a:t>
            </a:r>
            <a:r>
              <a:rPr lang="en-US" sz="8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dedup</a:t>
            </a:r>
            <a:endParaRPr lang="en-US" sz="800" dirty="0">
              <a:solidFill>
                <a:schemeClr val="tx1">
                  <a:lumMod val="90000"/>
                  <a:lumOff val="10000"/>
                </a:schemeClr>
              </a:solidFill>
              <a:latin typeface="Raleway" panose="020B0503030101060003" pitchFamily="34" charset="77"/>
            </a:endParaRPr>
          </a:p>
        </p:txBody>
      </p:sp>
      <p:sp>
        <p:nvSpPr>
          <p:cNvPr id="173" name="Arrow: Chevron 172">
            <a:extLst>
              <a:ext uri="{FF2B5EF4-FFF2-40B4-BE49-F238E27FC236}">
                <a16:creationId xmlns:a16="http://schemas.microsoft.com/office/drawing/2014/main" id="{E48717F6-A2C0-49D0-9CB9-062838E31809}"/>
              </a:ext>
            </a:extLst>
          </p:cNvPr>
          <p:cNvSpPr/>
          <p:nvPr/>
        </p:nvSpPr>
        <p:spPr>
          <a:xfrm>
            <a:off x="5215086" y="2553012"/>
            <a:ext cx="101600" cy="82552"/>
          </a:xfrm>
          <a:prstGeom prst="chevron">
            <a:avLst/>
          </a:prstGeom>
          <a:solidFill>
            <a:srgbClr val="9B9B9B"/>
          </a:solidFill>
          <a:ln>
            <a:solidFill>
              <a:srgbClr val="C4C4C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99FB628-7BF9-41BE-B67F-9CDD361A9542}"/>
              </a:ext>
            </a:extLst>
          </p:cNvPr>
          <p:cNvSpPr txBox="1"/>
          <p:nvPr/>
        </p:nvSpPr>
        <p:spPr>
          <a:xfrm>
            <a:off x="5406901" y="2797560"/>
            <a:ext cx="108279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Diagnostics</a:t>
            </a:r>
          </a:p>
        </p:txBody>
      </p:sp>
      <p:sp>
        <p:nvSpPr>
          <p:cNvPr id="175" name="Arrow: Chevron 174">
            <a:extLst>
              <a:ext uri="{FF2B5EF4-FFF2-40B4-BE49-F238E27FC236}">
                <a16:creationId xmlns:a16="http://schemas.microsoft.com/office/drawing/2014/main" id="{94C802D8-31FB-4826-B712-5F4AD7A4F0D0}"/>
              </a:ext>
            </a:extLst>
          </p:cNvPr>
          <p:cNvSpPr/>
          <p:nvPr/>
        </p:nvSpPr>
        <p:spPr>
          <a:xfrm>
            <a:off x="5215086" y="2819712"/>
            <a:ext cx="101600" cy="82552"/>
          </a:xfrm>
          <a:prstGeom prst="chevron">
            <a:avLst/>
          </a:prstGeom>
          <a:solidFill>
            <a:srgbClr val="9B9B9B"/>
          </a:solidFill>
          <a:ln>
            <a:solidFill>
              <a:srgbClr val="C4C4C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04A80E3-0E9A-47AC-85BF-25B4F7E67BB3}"/>
              </a:ext>
            </a:extLst>
          </p:cNvPr>
          <p:cNvSpPr txBox="1"/>
          <p:nvPr/>
        </p:nvSpPr>
        <p:spPr>
          <a:xfrm>
            <a:off x="5406901" y="3191260"/>
            <a:ext cx="100148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Discovery / Orchestration</a:t>
            </a:r>
          </a:p>
        </p:txBody>
      </p:sp>
      <p:sp>
        <p:nvSpPr>
          <p:cNvPr id="177" name="Arrow: Chevron 176">
            <a:extLst>
              <a:ext uri="{FF2B5EF4-FFF2-40B4-BE49-F238E27FC236}">
                <a16:creationId xmlns:a16="http://schemas.microsoft.com/office/drawing/2014/main" id="{348E63AA-3E3A-4888-9ED0-8DC4335100C8}"/>
              </a:ext>
            </a:extLst>
          </p:cNvPr>
          <p:cNvSpPr/>
          <p:nvPr/>
        </p:nvSpPr>
        <p:spPr>
          <a:xfrm>
            <a:off x="5215086" y="3276912"/>
            <a:ext cx="101600" cy="82552"/>
          </a:xfrm>
          <a:prstGeom prst="chevron">
            <a:avLst/>
          </a:prstGeom>
          <a:solidFill>
            <a:srgbClr val="9B9B9B"/>
          </a:solidFill>
          <a:ln>
            <a:solidFill>
              <a:srgbClr val="C4C4C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3651809A-3E14-4A5B-BC50-240225FE0BD6}"/>
              </a:ext>
            </a:extLst>
          </p:cNvPr>
          <p:cNvSpPr txBox="1"/>
          <p:nvPr/>
        </p:nvSpPr>
        <p:spPr>
          <a:xfrm>
            <a:off x="5406901" y="3502410"/>
            <a:ext cx="108279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Insights</a:t>
            </a:r>
          </a:p>
        </p:txBody>
      </p:sp>
      <p:sp>
        <p:nvSpPr>
          <p:cNvPr id="179" name="Arrow: Chevron 178">
            <a:extLst>
              <a:ext uri="{FF2B5EF4-FFF2-40B4-BE49-F238E27FC236}">
                <a16:creationId xmlns:a16="http://schemas.microsoft.com/office/drawing/2014/main" id="{C98C44D2-5407-4DCD-811C-FBFF1B5C02E2}"/>
              </a:ext>
            </a:extLst>
          </p:cNvPr>
          <p:cNvSpPr/>
          <p:nvPr/>
        </p:nvSpPr>
        <p:spPr>
          <a:xfrm>
            <a:off x="5215086" y="3524562"/>
            <a:ext cx="101600" cy="82552"/>
          </a:xfrm>
          <a:prstGeom prst="chevron">
            <a:avLst/>
          </a:prstGeom>
          <a:solidFill>
            <a:srgbClr val="9B9B9B"/>
          </a:solidFill>
          <a:ln>
            <a:solidFill>
              <a:srgbClr val="C4C4C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DB4A2E3-F238-47F3-9F67-4AD79E00EDF2}"/>
              </a:ext>
            </a:extLst>
          </p:cNvPr>
          <p:cNvSpPr txBox="1"/>
          <p:nvPr/>
        </p:nvSpPr>
        <p:spPr>
          <a:xfrm>
            <a:off x="5185557" y="3743112"/>
            <a:ext cx="122282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Service Desk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D596DB8E-BB92-46A4-8D9C-8D85A332D3EF}"/>
              </a:ext>
            </a:extLst>
          </p:cNvPr>
          <p:cNvSpPr>
            <a:spLocks noChangeAspect="1"/>
          </p:cNvSpPr>
          <p:nvPr/>
        </p:nvSpPr>
        <p:spPr>
          <a:xfrm>
            <a:off x="4982818" y="3744739"/>
            <a:ext cx="118160" cy="122546"/>
          </a:xfrm>
          <a:prstGeom prst="ellipse">
            <a:avLst/>
          </a:prstGeom>
          <a:gradFill>
            <a:gsLst>
              <a:gs pos="10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2695403-FFD8-4E18-8414-F13E1CF906F9}"/>
              </a:ext>
            </a:extLst>
          </p:cNvPr>
          <p:cNvSpPr txBox="1"/>
          <p:nvPr/>
        </p:nvSpPr>
        <p:spPr>
          <a:xfrm>
            <a:off x="5406901" y="3927860"/>
            <a:ext cx="108279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Insights</a:t>
            </a:r>
          </a:p>
        </p:txBody>
      </p:sp>
      <p:sp>
        <p:nvSpPr>
          <p:cNvPr id="183" name="Arrow: Chevron 182">
            <a:extLst>
              <a:ext uri="{FF2B5EF4-FFF2-40B4-BE49-F238E27FC236}">
                <a16:creationId xmlns:a16="http://schemas.microsoft.com/office/drawing/2014/main" id="{6C924C93-23B1-4F99-BE9D-90382365D7F0}"/>
              </a:ext>
            </a:extLst>
          </p:cNvPr>
          <p:cNvSpPr/>
          <p:nvPr/>
        </p:nvSpPr>
        <p:spPr>
          <a:xfrm>
            <a:off x="5215086" y="3950012"/>
            <a:ext cx="101600" cy="82552"/>
          </a:xfrm>
          <a:prstGeom prst="chevron">
            <a:avLst/>
          </a:prstGeom>
          <a:solidFill>
            <a:srgbClr val="9B9B9B"/>
          </a:solidFill>
          <a:ln>
            <a:solidFill>
              <a:srgbClr val="C4C4C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778F857-BD91-4F2B-A928-228671E616BC}"/>
              </a:ext>
            </a:extLst>
          </p:cNvPr>
          <p:cNvSpPr txBox="1"/>
          <p:nvPr/>
        </p:nvSpPr>
        <p:spPr>
          <a:xfrm>
            <a:off x="5406901" y="4131060"/>
            <a:ext cx="108279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Integrations</a:t>
            </a:r>
          </a:p>
        </p:txBody>
      </p:sp>
      <p:sp>
        <p:nvSpPr>
          <p:cNvPr id="185" name="Arrow: Chevron 184">
            <a:extLst>
              <a:ext uri="{FF2B5EF4-FFF2-40B4-BE49-F238E27FC236}">
                <a16:creationId xmlns:a16="http://schemas.microsoft.com/office/drawing/2014/main" id="{67B1B23E-C8C3-464B-9719-D98F15FFC1F8}"/>
              </a:ext>
            </a:extLst>
          </p:cNvPr>
          <p:cNvSpPr/>
          <p:nvPr/>
        </p:nvSpPr>
        <p:spPr>
          <a:xfrm>
            <a:off x="5215086" y="4153212"/>
            <a:ext cx="101600" cy="82552"/>
          </a:xfrm>
          <a:prstGeom prst="chevron">
            <a:avLst/>
          </a:prstGeom>
          <a:solidFill>
            <a:srgbClr val="9B9B9B"/>
          </a:solidFill>
          <a:ln>
            <a:solidFill>
              <a:srgbClr val="C4C4C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989EFA6-77A3-47A4-BAA0-0BD128C90D99}"/>
              </a:ext>
            </a:extLst>
          </p:cNvPr>
          <p:cNvSpPr txBox="1"/>
          <p:nvPr/>
        </p:nvSpPr>
        <p:spPr>
          <a:xfrm>
            <a:off x="7080690" y="1353955"/>
            <a:ext cx="10946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Modules 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F8C39A9-CC39-476D-B6F6-2CE399100DBF}"/>
              </a:ext>
            </a:extLst>
          </p:cNvPr>
          <p:cNvSpPr txBox="1"/>
          <p:nvPr/>
        </p:nvSpPr>
        <p:spPr>
          <a:xfrm>
            <a:off x="7489701" y="1710440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Explorer</a:t>
            </a:r>
          </a:p>
        </p:txBody>
      </p:sp>
      <p:sp>
        <p:nvSpPr>
          <p:cNvPr id="188" name="Arrow: Chevron 187">
            <a:extLst>
              <a:ext uri="{FF2B5EF4-FFF2-40B4-BE49-F238E27FC236}">
                <a16:creationId xmlns:a16="http://schemas.microsoft.com/office/drawing/2014/main" id="{7A8C7B89-AB64-4D82-9745-2BFC5BAB0534}"/>
              </a:ext>
            </a:extLst>
          </p:cNvPr>
          <p:cNvSpPr/>
          <p:nvPr/>
        </p:nvSpPr>
        <p:spPr>
          <a:xfrm>
            <a:off x="7297886" y="1732592"/>
            <a:ext cx="101600" cy="82552"/>
          </a:xfrm>
          <a:prstGeom prst="chevron">
            <a:avLst/>
          </a:prstGeom>
          <a:solidFill>
            <a:srgbClr val="E9B000"/>
          </a:solidFill>
          <a:ln>
            <a:solidFill>
              <a:srgbClr val="F1D58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A637B70-B355-4B75-8A2B-3102D14EDD07}"/>
              </a:ext>
            </a:extLst>
          </p:cNvPr>
          <p:cNvSpPr txBox="1"/>
          <p:nvPr/>
        </p:nvSpPr>
        <p:spPr>
          <a:xfrm>
            <a:off x="7489701" y="1902210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Split Window Analysis</a:t>
            </a:r>
          </a:p>
        </p:txBody>
      </p:sp>
      <p:sp>
        <p:nvSpPr>
          <p:cNvPr id="190" name="Arrow: Chevron 189">
            <a:extLst>
              <a:ext uri="{FF2B5EF4-FFF2-40B4-BE49-F238E27FC236}">
                <a16:creationId xmlns:a16="http://schemas.microsoft.com/office/drawing/2014/main" id="{A5E78C6D-B8C0-410B-A110-7877E4073EB4}"/>
              </a:ext>
            </a:extLst>
          </p:cNvPr>
          <p:cNvSpPr/>
          <p:nvPr/>
        </p:nvSpPr>
        <p:spPr>
          <a:xfrm>
            <a:off x="7297886" y="1924362"/>
            <a:ext cx="101600" cy="82552"/>
          </a:xfrm>
          <a:prstGeom prst="chevron">
            <a:avLst/>
          </a:prstGeom>
          <a:solidFill>
            <a:srgbClr val="E9B000"/>
          </a:solidFill>
          <a:ln>
            <a:solidFill>
              <a:srgbClr val="F1D58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18F5695-08C7-45F1-9AD8-132060F232A5}"/>
              </a:ext>
            </a:extLst>
          </p:cNvPr>
          <p:cNvSpPr txBox="1"/>
          <p:nvPr/>
        </p:nvSpPr>
        <p:spPr>
          <a:xfrm>
            <a:off x="7102634" y="2157749"/>
            <a:ext cx="10946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Implementation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FB54F57-F81C-44F7-AA83-5BB54AFA6620}"/>
              </a:ext>
            </a:extLst>
          </p:cNvPr>
          <p:cNvSpPr/>
          <p:nvPr/>
        </p:nvSpPr>
        <p:spPr>
          <a:xfrm>
            <a:off x="2978360" y="1919142"/>
            <a:ext cx="112456" cy="81672"/>
          </a:xfrm>
          <a:prstGeom prst="homePlate">
            <a:avLst/>
          </a:prstGeom>
          <a:solidFill>
            <a:srgbClr val="E17328"/>
          </a:solidFill>
          <a:ln>
            <a:solidFill>
              <a:srgbClr val="E7B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Arrow: Pentagon 193">
            <a:extLst>
              <a:ext uri="{FF2B5EF4-FFF2-40B4-BE49-F238E27FC236}">
                <a16:creationId xmlns:a16="http://schemas.microsoft.com/office/drawing/2014/main" id="{50EEBFA7-9258-4526-B7D0-EBD38D647013}"/>
              </a:ext>
            </a:extLst>
          </p:cNvPr>
          <p:cNvSpPr/>
          <p:nvPr/>
        </p:nvSpPr>
        <p:spPr>
          <a:xfrm>
            <a:off x="2978360" y="2382692"/>
            <a:ext cx="112456" cy="81672"/>
          </a:xfrm>
          <a:prstGeom prst="homePlate">
            <a:avLst/>
          </a:prstGeom>
          <a:solidFill>
            <a:srgbClr val="E17328"/>
          </a:solidFill>
          <a:ln>
            <a:solidFill>
              <a:srgbClr val="E7B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Arrow: Pentagon 194">
            <a:extLst>
              <a:ext uri="{FF2B5EF4-FFF2-40B4-BE49-F238E27FC236}">
                <a16:creationId xmlns:a16="http://schemas.microsoft.com/office/drawing/2014/main" id="{05409C06-1E67-4BCF-B4AD-05EB9E67164D}"/>
              </a:ext>
            </a:extLst>
          </p:cNvPr>
          <p:cNvSpPr/>
          <p:nvPr/>
        </p:nvSpPr>
        <p:spPr>
          <a:xfrm>
            <a:off x="2978360" y="2579542"/>
            <a:ext cx="112456" cy="81672"/>
          </a:xfrm>
          <a:prstGeom prst="homePlate">
            <a:avLst/>
          </a:prstGeom>
          <a:solidFill>
            <a:srgbClr val="E17328"/>
          </a:solidFill>
          <a:ln>
            <a:solidFill>
              <a:srgbClr val="E7B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1AFFBEA-699D-4E88-BF81-E8F8FB29F0B0}"/>
              </a:ext>
            </a:extLst>
          </p:cNvPr>
          <p:cNvSpPr txBox="1"/>
          <p:nvPr/>
        </p:nvSpPr>
        <p:spPr>
          <a:xfrm>
            <a:off x="3094187" y="2765669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Log Management</a:t>
            </a: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70982532-A6EA-4F1F-9E28-41D8EA9DE437}"/>
              </a:ext>
            </a:extLst>
          </p:cNvPr>
          <p:cNvSpPr>
            <a:spLocks noChangeAspect="1"/>
          </p:cNvSpPr>
          <p:nvPr/>
        </p:nvSpPr>
        <p:spPr>
          <a:xfrm>
            <a:off x="2891449" y="2763059"/>
            <a:ext cx="118160" cy="122546"/>
          </a:xfrm>
          <a:prstGeom prst="ellipse">
            <a:avLst/>
          </a:pr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0" name="Arrow: Pentagon 199">
            <a:extLst>
              <a:ext uri="{FF2B5EF4-FFF2-40B4-BE49-F238E27FC236}">
                <a16:creationId xmlns:a16="http://schemas.microsoft.com/office/drawing/2014/main" id="{C8EB94BF-3CE4-4DAC-8552-48D4E363561C}"/>
              </a:ext>
            </a:extLst>
          </p:cNvPr>
          <p:cNvSpPr/>
          <p:nvPr/>
        </p:nvSpPr>
        <p:spPr>
          <a:xfrm>
            <a:off x="2978360" y="3043092"/>
            <a:ext cx="112456" cy="81672"/>
          </a:xfrm>
          <a:prstGeom prst="homePlate">
            <a:avLst/>
          </a:prstGeom>
          <a:solidFill>
            <a:srgbClr val="E17328"/>
          </a:solidFill>
          <a:ln>
            <a:solidFill>
              <a:srgbClr val="E7B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7285560-7146-4F32-AFB2-A65D1AB70AD3}"/>
              </a:ext>
            </a:extLst>
          </p:cNvPr>
          <p:cNvSpPr txBox="1"/>
          <p:nvPr/>
        </p:nvSpPr>
        <p:spPr>
          <a:xfrm>
            <a:off x="3094187" y="4250216"/>
            <a:ext cx="131408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0000"/>
                    <a:lumOff val="10000"/>
                  </a:schemeClr>
                </a:solidFill>
                <a:latin typeface="Raleway" panose="020B0503030101060003" pitchFamily="34" charset="77"/>
              </a:rPr>
              <a:t>Alerting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3904E75E-1C12-4DC3-AACD-A9A6EC197630}"/>
              </a:ext>
            </a:extLst>
          </p:cNvPr>
          <p:cNvSpPr>
            <a:spLocks noChangeAspect="1"/>
          </p:cNvSpPr>
          <p:nvPr/>
        </p:nvSpPr>
        <p:spPr>
          <a:xfrm>
            <a:off x="2891449" y="4258193"/>
            <a:ext cx="118160" cy="122546"/>
          </a:xfrm>
          <a:prstGeom prst="ellipse">
            <a:avLst/>
          </a:pr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/>
              </a:gs>
            </a:gsLst>
            <a:lin ang="0" scaled="0"/>
          </a:gradFill>
          <a:ln w="31750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3" name="Arrow: Pentagon 202">
            <a:extLst>
              <a:ext uri="{FF2B5EF4-FFF2-40B4-BE49-F238E27FC236}">
                <a16:creationId xmlns:a16="http://schemas.microsoft.com/office/drawing/2014/main" id="{44D04C18-67C1-4F6C-BD14-5F6C5F681C4A}"/>
              </a:ext>
            </a:extLst>
          </p:cNvPr>
          <p:cNvSpPr/>
          <p:nvPr/>
        </p:nvSpPr>
        <p:spPr>
          <a:xfrm>
            <a:off x="2978360" y="3849542"/>
            <a:ext cx="112456" cy="81672"/>
          </a:xfrm>
          <a:prstGeom prst="homePlate">
            <a:avLst/>
          </a:prstGeom>
          <a:solidFill>
            <a:srgbClr val="E17328"/>
          </a:solidFill>
          <a:ln>
            <a:solidFill>
              <a:srgbClr val="E7B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Arrow: Pentagon 203">
            <a:extLst>
              <a:ext uri="{FF2B5EF4-FFF2-40B4-BE49-F238E27FC236}">
                <a16:creationId xmlns:a16="http://schemas.microsoft.com/office/drawing/2014/main" id="{7F0C76B6-E7AB-49B6-8491-50873EE5FE1C}"/>
              </a:ext>
            </a:extLst>
          </p:cNvPr>
          <p:cNvSpPr/>
          <p:nvPr/>
        </p:nvSpPr>
        <p:spPr>
          <a:xfrm>
            <a:off x="2978360" y="4046392"/>
            <a:ext cx="112456" cy="81672"/>
          </a:xfrm>
          <a:prstGeom prst="homePlate">
            <a:avLst/>
          </a:prstGeom>
          <a:solidFill>
            <a:srgbClr val="E17328"/>
          </a:solidFill>
          <a:ln>
            <a:solidFill>
              <a:srgbClr val="E7B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Arrow: Pentagon 204">
            <a:extLst>
              <a:ext uri="{FF2B5EF4-FFF2-40B4-BE49-F238E27FC236}">
                <a16:creationId xmlns:a16="http://schemas.microsoft.com/office/drawing/2014/main" id="{C439CE57-7867-4866-9F77-A51C8012DE88}"/>
              </a:ext>
            </a:extLst>
          </p:cNvPr>
          <p:cNvSpPr/>
          <p:nvPr/>
        </p:nvSpPr>
        <p:spPr>
          <a:xfrm>
            <a:off x="2978360" y="4465492"/>
            <a:ext cx="112456" cy="81672"/>
          </a:xfrm>
          <a:prstGeom prst="homePlate">
            <a:avLst/>
          </a:prstGeom>
          <a:solidFill>
            <a:srgbClr val="E17328"/>
          </a:solidFill>
          <a:ln>
            <a:solidFill>
              <a:srgbClr val="E7B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Arrow: Pentagon 205">
            <a:extLst>
              <a:ext uri="{FF2B5EF4-FFF2-40B4-BE49-F238E27FC236}">
                <a16:creationId xmlns:a16="http://schemas.microsoft.com/office/drawing/2014/main" id="{9C52CC59-9FEE-4C2D-B719-B91258C829CF}"/>
              </a:ext>
            </a:extLst>
          </p:cNvPr>
          <p:cNvSpPr/>
          <p:nvPr/>
        </p:nvSpPr>
        <p:spPr>
          <a:xfrm>
            <a:off x="2978360" y="4675042"/>
            <a:ext cx="112456" cy="81672"/>
          </a:xfrm>
          <a:prstGeom prst="homePlate">
            <a:avLst/>
          </a:prstGeom>
          <a:solidFill>
            <a:srgbClr val="E17328"/>
          </a:solidFill>
          <a:ln>
            <a:solidFill>
              <a:srgbClr val="E7B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3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470464" y="716080"/>
            <a:ext cx="8426659" cy="324779"/>
            <a:chOff x="893915" y="464620"/>
            <a:chExt cx="7548004" cy="324779"/>
          </a:xfrm>
        </p:grpSpPr>
        <p:sp>
          <p:nvSpPr>
            <p:cNvPr id="2" name="Round Diagonal Corner Rectangle 1"/>
            <p:cNvSpPr/>
            <p:nvPr/>
          </p:nvSpPr>
          <p:spPr>
            <a:xfrm>
              <a:off x="893915" y="464620"/>
              <a:ext cx="7548004" cy="324779"/>
            </a:xfrm>
            <a:prstGeom prst="round2DiagRect">
              <a:avLst>
                <a:gd name="adj1" fmla="val 26236"/>
                <a:gd name="adj2" fmla="val 1257"/>
              </a:avLst>
            </a:prstGeom>
            <a:solidFill>
              <a:schemeClr val="accent1"/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2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1804808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2799304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4758699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65773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508356" y="561579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479923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16166" y="601583"/>
              <a:ext cx="14183" cy="187816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lstStyle/>
            <a:p>
              <a:pPr algn="ctr" defTabSz="914378">
                <a:defRPr/>
              </a:pPr>
              <a:endParaRPr lang="en-US" sz="12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26054" y="510824"/>
              <a:ext cx="654830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July W1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42915" y="510824"/>
              <a:ext cx="654830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July W2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37411" y="510824"/>
              <a:ext cx="654830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July W3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54273" y="510824"/>
              <a:ext cx="780502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July W4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96806" y="510824"/>
              <a:ext cx="645043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Aug W1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03881" y="510824"/>
              <a:ext cx="645043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Aug W2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10955" y="510824"/>
              <a:ext cx="645043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Aug W3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618023" y="510824"/>
              <a:ext cx="645043" cy="253916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1200" b="1" dirty="0">
                  <a:solidFill>
                    <a:srgbClr val="FFFFFF"/>
                  </a:solidFill>
                  <a:latin typeface="Calibri"/>
                </a:rPr>
                <a:t>Aug W4</a:t>
              </a:r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470465" y="1702529"/>
            <a:ext cx="1062848" cy="258705"/>
          </a:xfrm>
          <a:prstGeom prst="roundRect">
            <a:avLst/>
          </a:prstGeom>
          <a:solidFill>
            <a:srgbClr val="CC0000"/>
          </a:solidFill>
          <a:ln w="9525" cap="flat" cmpd="sng" algn="ctr">
            <a:gradFill flip="none" rotWithShape="1">
              <a:gsLst>
                <a:gs pos="0">
                  <a:srgbClr val="BF0103">
                    <a:lumMod val="40000"/>
                    <a:lumOff val="60000"/>
                  </a:srgbClr>
                </a:gs>
                <a:gs pos="100000">
                  <a:srgbClr val="BF0103">
                    <a:lumMod val="40000"/>
                    <a:lumOff val="60000"/>
                  </a:srgbClr>
                </a:gs>
                <a:gs pos="50000">
                  <a:srgbClr val="BF0103">
                    <a:lumMod val="20000"/>
                    <a:lumOff val="80000"/>
                  </a:srgbClr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kern="0" dirty="0">
                <a:solidFill>
                  <a:prstClr val="white"/>
                </a:solidFill>
                <a:latin typeface="Calibri"/>
              </a:rPr>
              <a:t>Design Sprints</a:t>
            </a:r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2133459" y="2071128"/>
            <a:ext cx="914400" cy="1588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0465" y="2007989"/>
            <a:ext cx="3166619" cy="237986"/>
          </a:xfrm>
          <a:prstGeom prst="roundRect">
            <a:avLst/>
          </a:prstGeom>
          <a:solidFill>
            <a:srgbClr val="00B050"/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kern="0" dirty="0">
                <a:solidFill>
                  <a:prstClr val="white"/>
                </a:solidFill>
                <a:latin typeface="Calibri"/>
              </a:rPr>
              <a:t>Development Sprints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477838" y="1096408"/>
            <a:ext cx="0" cy="880993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3651385" y="1019615"/>
            <a:ext cx="7538" cy="2882494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 rot="16200000">
            <a:off x="-1108429" y="3547527"/>
            <a:ext cx="2632893" cy="278657"/>
          </a:xfrm>
          <a:prstGeom prst="roundRect">
            <a:avLst/>
          </a:prstGeom>
          <a:solidFill>
            <a:srgbClr val="ED7D31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914378"/>
            <a:r>
              <a:rPr lang="en-US" sz="1200" b="1" kern="0" dirty="0">
                <a:solidFill>
                  <a:prstClr val="white"/>
                </a:solidFill>
                <a:latin typeface="Calibri"/>
              </a:rPr>
              <a:t>Phase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21970" y="2285369"/>
            <a:ext cx="1948431" cy="4257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Implementation</a:t>
            </a:r>
          </a:p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PH1 Modules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0770" y="2314056"/>
            <a:ext cx="1062848" cy="4301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defTabSz="914378">
              <a:defRPr/>
            </a:pPr>
            <a:r>
              <a:rPr lang="en-US" sz="1050" kern="0" dirty="0">
                <a:latin typeface="Calibri"/>
              </a:rPr>
              <a:t>Requirements Documentation</a:t>
            </a:r>
          </a:p>
        </p:txBody>
      </p:sp>
      <p:cxnSp>
        <p:nvCxnSpPr>
          <p:cNvPr id="34" name="Straight Connector 33"/>
          <p:cNvCxnSpPr>
            <a:endCxn id="30" idx="1"/>
          </p:cNvCxnSpPr>
          <p:nvPr/>
        </p:nvCxnSpPr>
        <p:spPr>
          <a:xfrm flipH="1">
            <a:off x="1521970" y="-161996"/>
            <a:ext cx="11894" cy="2660264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cxnSpLocks/>
          </p:cNvCxnSpPr>
          <p:nvPr/>
        </p:nvCxnSpPr>
        <p:spPr>
          <a:xfrm>
            <a:off x="747272" y="1040859"/>
            <a:ext cx="0" cy="66167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70464" y="1314809"/>
            <a:ext cx="311313" cy="2077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 defTabSz="914378"/>
            <a:r>
              <a:rPr lang="en-GB" sz="900" b="1" dirty="0">
                <a:solidFill>
                  <a:srgbClr val="BF0103"/>
                </a:solidFill>
                <a:latin typeface="Rockwell" pitchFamily="18" charset="0"/>
              </a:rPr>
              <a:t>S0</a:t>
            </a:r>
          </a:p>
        </p:txBody>
      </p:sp>
      <p:sp>
        <p:nvSpPr>
          <p:cNvPr id="40" name="Rounded Rectangle 39"/>
          <p:cNvSpPr/>
          <p:nvPr/>
        </p:nvSpPr>
        <p:spPr>
          <a:xfrm rot="16200000">
            <a:off x="-296068" y="1641954"/>
            <a:ext cx="1008176" cy="278657"/>
          </a:xfrm>
          <a:prstGeom prst="roundRect">
            <a:avLst/>
          </a:prstGeom>
          <a:solidFill>
            <a:srgbClr val="ED7D31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b="1" kern="0" dirty="0">
                <a:solidFill>
                  <a:prstClr val="white"/>
                </a:solidFill>
                <a:latin typeface="Calibri"/>
              </a:rPr>
              <a:t>Sprints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F241E29-8B09-49F2-A7A2-A33F49D19B46}"/>
              </a:ext>
            </a:extLst>
          </p:cNvPr>
          <p:cNvGrpSpPr/>
          <p:nvPr/>
        </p:nvGrpSpPr>
        <p:grpSpPr>
          <a:xfrm>
            <a:off x="641453" y="1309432"/>
            <a:ext cx="3186315" cy="211382"/>
            <a:chOff x="648690" y="1025034"/>
            <a:chExt cx="3186315" cy="211382"/>
          </a:xfrm>
        </p:grpSpPr>
        <p:sp>
          <p:nvSpPr>
            <p:cNvPr id="37" name="TextBox 36"/>
            <p:cNvSpPr txBox="1"/>
            <p:nvPr/>
          </p:nvSpPr>
          <p:spPr>
            <a:xfrm>
              <a:off x="648690" y="1025034"/>
              <a:ext cx="314150" cy="21138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399555" y="1025034"/>
              <a:ext cx="314150" cy="21138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492530" y="1025034"/>
              <a:ext cx="314150" cy="21138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S3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520855" y="1025034"/>
              <a:ext cx="314150" cy="21138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S4</a:t>
              </a:r>
            </a:p>
          </p:txBody>
        </p:sp>
      </p:grpSp>
      <p:sp>
        <p:nvSpPr>
          <p:cNvPr id="104" name="Right Arrow 103"/>
          <p:cNvSpPr/>
          <p:nvPr/>
        </p:nvSpPr>
        <p:spPr bwMode="auto">
          <a:xfrm>
            <a:off x="7866667" y="1052122"/>
            <a:ext cx="1306082" cy="35183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6350" cap="flat" cmpd="sng" algn="ctr">
            <a:solidFill>
              <a:schemeClr val="tx1"/>
            </a:solidFill>
            <a:prstDash val="dashDot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/>
            <a:r>
              <a:rPr lang="en-US" sz="1050" kern="0" dirty="0">
                <a:latin typeface="Segoe UI" panose="020B0502040204020203" pitchFamily="34" charset="0"/>
                <a:cs typeface="Segoe UI" panose="020B0502040204020203" pitchFamily="34" charset="0"/>
              </a:rPr>
              <a:t>Future Phases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E719DC-D9E6-4917-99F6-0C880425CB7F}"/>
              </a:ext>
            </a:extLst>
          </p:cNvPr>
          <p:cNvGrpSpPr/>
          <p:nvPr/>
        </p:nvGrpSpPr>
        <p:grpSpPr>
          <a:xfrm>
            <a:off x="1514705" y="2875180"/>
            <a:ext cx="1472827" cy="2112513"/>
            <a:chOff x="347347" y="2649682"/>
            <a:chExt cx="1472827" cy="2112513"/>
          </a:xfrm>
        </p:grpSpPr>
        <p:sp>
          <p:nvSpPr>
            <p:cNvPr id="61" name="Line Callout 2 (Accent Bar) 60"/>
            <p:cNvSpPr/>
            <p:nvPr/>
          </p:nvSpPr>
          <p:spPr bwMode="auto">
            <a:xfrm>
              <a:off x="347347" y="3078747"/>
              <a:ext cx="1294897" cy="1683448"/>
            </a:xfrm>
            <a:prstGeom prst="accentCallout2">
              <a:avLst>
                <a:gd name="adj1" fmla="val -605"/>
                <a:gd name="adj2" fmla="val 5299"/>
                <a:gd name="adj3" fmla="val -19126"/>
                <a:gd name="adj4" fmla="val 31953"/>
                <a:gd name="adj5" fmla="val -19749"/>
                <a:gd name="adj6" fmla="val 32141"/>
              </a:avLst>
            </a:prstGeom>
            <a:solidFill>
              <a:srgbClr val="FFFFFF"/>
            </a:solidFill>
            <a:ln w="6350" cap="flat" cmpd="sng" algn="ctr">
              <a:solidFill>
                <a:schemeClr val="accent5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Activities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Implement PH1 Modules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Deployment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User Guide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Artifacts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PH1 Modules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User Guide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771964" y="2649682"/>
              <a:ext cx="1048210" cy="3537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gradFill flip="none" rotWithShape="1">
                <a:gsLst>
                  <a:gs pos="0">
                    <a:srgbClr val="70AD46">
                      <a:lumMod val="60000"/>
                      <a:lumOff val="40000"/>
                    </a:srgbClr>
                  </a:gs>
                  <a:gs pos="50000">
                    <a:srgbClr val="70AD46">
                      <a:lumMod val="20000"/>
                      <a:lumOff val="80000"/>
                    </a:srgbClr>
                  </a:gs>
                  <a:gs pos="100000">
                    <a:srgbClr val="70AD46">
                      <a:lumMod val="60000"/>
                      <a:lumOff val="40000"/>
                    </a:srgbClr>
                  </a:gs>
                </a:gsLst>
                <a:lin ang="0" scaled="1"/>
                <a:tileRect/>
              </a:gradFill>
              <a:prstDash val="dashDot"/>
            </a:ln>
            <a:effectLst/>
          </p:spPr>
          <p:txBody>
            <a:bodyPr lIns="68580" tIns="34290" rIns="68580" bIns="34290" rtlCol="0" anchor="ctr"/>
            <a:lstStyle/>
            <a:p>
              <a:pPr defTabSz="914378">
                <a:defRPr/>
              </a:pPr>
              <a:r>
                <a:rPr lang="en-US" sz="1050" kern="0" dirty="0">
                  <a:latin typeface="Calibri"/>
                </a:rPr>
                <a:t>Implementation</a:t>
              </a:r>
            </a:p>
          </p:txBody>
        </p:sp>
      </p:grpSp>
      <p:cxnSp>
        <p:nvCxnSpPr>
          <p:cNvPr id="107" name="Straight Connector 106"/>
          <p:cNvCxnSpPr/>
          <p:nvPr/>
        </p:nvCxnSpPr>
        <p:spPr>
          <a:xfrm rot="5400000">
            <a:off x="4377995" y="2066772"/>
            <a:ext cx="914400" cy="1588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3775433" y="1990602"/>
            <a:ext cx="2939407" cy="244948"/>
          </a:xfrm>
          <a:prstGeom prst="roundRect">
            <a:avLst/>
          </a:prstGeom>
          <a:solidFill>
            <a:srgbClr val="00B050"/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kern="0" dirty="0">
                <a:solidFill>
                  <a:prstClr val="white"/>
                </a:solidFill>
                <a:latin typeface="Calibri"/>
              </a:rPr>
              <a:t>Development Sprints</a:t>
            </a:r>
          </a:p>
        </p:txBody>
      </p:sp>
      <p:cxnSp>
        <p:nvCxnSpPr>
          <p:cNvPr id="109" name="Straight Connector 108"/>
          <p:cNvCxnSpPr/>
          <p:nvPr/>
        </p:nvCxnSpPr>
        <p:spPr>
          <a:xfrm flipH="1">
            <a:off x="4834400" y="1036503"/>
            <a:ext cx="7538" cy="2882494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3800691" y="2326802"/>
            <a:ext cx="2897871" cy="4257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Implementation</a:t>
            </a:r>
          </a:p>
          <a:p>
            <a:pPr algn="ctr" defTabSz="914378">
              <a:defRPr/>
            </a:pPr>
            <a:r>
              <a:rPr lang="en-US" sz="1000" kern="0" dirty="0">
                <a:latin typeface="Calibri"/>
              </a:rPr>
              <a:t>PH2 Modules 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28016" y="2295883"/>
            <a:ext cx="1948431" cy="4301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dashDot"/>
          </a:ln>
          <a:effectLst/>
        </p:spPr>
        <p:txBody>
          <a:bodyPr lIns="68580" tIns="34290" rIns="68580" bIns="34290" rtlCol="0" anchor="ctr"/>
          <a:lstStyle/>
          <a:p>
            <a:pPr defTabSz="914378">
              <a:defRPr/>
            </a:pPr>
            <a:r>
              <a:rPr lang="en-US" sz="1050" kern="0" dirty="0">
                <a:latin typeface="Calibri"/>
              </a:rPr>
              <a:t>Environment Setup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18E3E95-EBAD-4C8C-AF3F-D46BB4481281}"/>
              </a:ext>
            </a:extLst>
          </p:cNvPr>
          <p:cNvGrpSpPr/>
          <p:nvPr/>
        </p:nvGrpSpPr>
        <p:grpSpPr>
          <a:xfrm>
            <a:off x="4783191" y="1261913"/>
            <a:ext cx="3186315" cy="225083"/>
            <a:chOff x="648690" y="1011333"/>
            <a:chExt cx="3186315" cy="22508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DDCF040-323F-4EA6-B19C-AC4405BB8C6B}"/>
                </a:ext>
              </a:extLst>
            </p:cNvPr>
            <p:cNvSpPr txBox="1"/>
            <p:nvPr/>
          </p:nvSpPr>
          <p:spPr>
            <a:xfrm>
              <a:off x="648690" y="1025034"/>
              <a:ext cx="314150" cy="21138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4C9591B-C6B6-4A7E-8A66-2CEAE290FFF2}"/>
                </a:ext>
              </a:extLst>
            </p:cNvPr>
            <p:cNvSpPr txBox="1"/>
            <p:nvPr/>
          </p:nvSpPr>
          <p:spPr>
            <a:xfrm>
              <a:off x="1548789" y="1011333"/>
              <a:ext cx="314150" cy="21138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S6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7C6D08C-0F72-4B4D-BC67-50CEEF766542}"/>
                </a:ext>
              </a:extLst>
            </p:cNvPr>
            <p:cNvSpPr txBox="1"/>
            <p:nvPr/>
          </p:nvSpPr>
          <p:spPr>
            <a:xfrm>
              <a:off x="2492530" y="1025034"/>
              <a:ext cx="314150" cy="21138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S7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C7CCE66-6DAF-49C1-84D4-18F455AE4AAF}"/>
                </a:ext>
              </a:extLst>
            </p:cNvPr>
            <p:cNvSpPr txBox="1"/>
            <p:nvPr/>
          </p:nvSpPr>
          <p:spPr>
            <a:xfrm>
              <a:off x="3520855" y="1025034"/>
              <a:ext cx="314150" cy="21138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 defTabSz="914378"/>
              <a:r>
                <a:rPr lang="en-GB" sz="900" b="1" dirty="0">
                  <a:solidFill>
                    <a:srgbClr val="BF0103"/>
                  </a:solidFill>
                  <a:latin typeface="Rockwell" pitchFamily="18" charset="0"/>
                </a:rPr>
                <a:t>S8</a:t>
              </a:r>
            </a:p>
          </p:txBody>
        </p:sp>
      </p:grpSp>
      <p:sp>
        <p:nvSpPr>
          <p:cNvPr id="78" name="Rounded Rectangle 27">
            <a:extLst>
              <a:ext uri="{FF2B5EF4-FFF2-40B4-BE49-F238E27FC236}">
                <a16:creationId xmlns:a16="http://schemas.microsoft.com/office/drawing/2014/main" id="{82F321D2-799D-43C8-894A-60FDC879806D}"/>
              </a:ext>
            </a:extLst>
          </p:cNvPr>
          <p:cNvSpPr/>
          <p:nvPr/>
        </p:nvSpPr>
        <p:spPr>
          <a:xfrm rot="16200000">
            <a:off x="2349277" y="3474565"/>
            <a:ext cx="2632893" cy="278657"/>
          </a:xfrm>
          <a:prstGeom prst="roundRect">
            <a:avLst/>
          </a:prstGeom>
          <a:solidFill>
            <a:srgbClr val="ED7D31"/>
          </a:solidFill>
          <a:ln w="9525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914378"/>
            <a:r>
              <a:rPr lang="en-US" sz="1200" b="1" kern="0" dirty="0">
                <a:solidFill>
                  <a:prstClr val="white"/>
                </a:solidFill>
                <a:latin typeface="Calibri"/>
              </a:rPr>
              <a:t>Phase 2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387798F-5730-4D41-82A2-21D10F0F693C}"/>
              </a:ext>
            </a:extLst>
          </p:cNvPr>
          <p:cNvGrpSpPr/>
          <p:nvPr/>
        </p:nvGrpSpPr>
        <p:grpSpPr>
          <a:xfrm>
            <a:off x="318682" y="2863517"/>
            <a:ext cx="1214631" cy="2112513"/>
            <a:chOff x="347347" y="2649682"/>
            <a:chExt cx="1472827" cy="2112513"/>
          </a:xfrm>
        </p:grpSpPr>
        <p:sp>
          <p:nvSpPr>
            <p:cNvPr id="82" name="Line Callout 2 (Accent Bar) 60">
              <a:extLst>
                <a:ext uri="{FF2B5EF4-FFF2-40B4-BE49-F238E27FC236}">
                  <a16:creationId xmlns:a16="http://schemas.microsoft.com/office/drawing/2014/main" id="{02BFBEB7-23B3-4889-B571-BD899F8AF2E6}"/>
                </a:ext>
              </a:extLst>
            </p:cNvPr>
            <p:cNvSpPr/>
            <p:nvPr/>
          </p:nvSpPr>
          <p:spPr bwMode="auto">
            <a:xfrm>
              <a:off x="347347" y="3078747"/>
              <a:ext cx="1294897" cy="1683448"/>
            </a:xfrm>
            <a:prstGeom prst="accentCallout2">
              <a:avLst>
                <a:gd name="adj1" fmla="val -605"/>
                <a:gd name="adj2" fmla="val 5299"/>
                <a:gd name="adj3" fmla="val -19126"/>
                <a:gd name="adj4" fmla="val 31953"/>
                <a:gd name="adj5" fmla="val -19749"/>
                <a:gd name="adj6" fmla="val 32141"/>
              </a:avLst>
            </a:prstGeom>
            <a:solidFill>
              <a:srgbClr val="FFFFFF"/>
            </a:solidFill>
            <a:ln w="6350" cap="flat" cmpd="sng" algn="ctr">
              <a:solidFill>
                <a:schemeClr val="accent5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Activities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Complete Workflow, Ticketing spec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Artifacts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Requirement Spec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3" name="Rounded Rectangle 88">
              <a:extLst>
                <a:ext uri="{FF2B5EF4-FFF2-40B4-BE49-F238E27FC236}">
                  <a16:creationId xmlns:a16="http://schemas.microsoft.com/office/drawing/2014/main" id="{43DA025D-8219-4CD7-8B54-B3FB006C73E4}"/>
                </a:ext>
              </a:extLst>
            </p:cNvPr>
            <p:cNvSpPr/>
            <p:nvPr/>
          </p:nvSpPr>
          <p:spPr>
            <a:xfrm>
              <a:off x="771964" y="2649682"/>
              <a:ext cx="1048210" cy="3537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dashDot"/>
            </a:ln>
            <a:effectLst/>
          </p:spPr>
          <p:txBody>
            <a:bodyPr lIns="68580" tIns="34290" rIns="68580" bIns="34290" rtlCol="0" anchor="ctr"/>
            <a:lstStyle/>
            <a:p>
              <a:pPr defTabSz="914378">
                <a:defRPr/>
              </a:pPr>
              <a:r>
                <a:rPr lang="en-US" sz="1050" kern="0" dirty="0">
                  <a:latin typeface="Calibri"/>
                </a:rPr>
                <a:t>Docs</a:t>
              </a:r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7000C3A-4156-4239-A4E7-817A4539E179}"/>
              </a:ext>
            </a:extLst>
          </p:cNvPr>
          <p:cNvCxnSpPr/>
          <p:nvPr/>
        </p:nvCxnSpPr>
        <p:spPr>
          <a:xfrm flipH="1">
            <a:off x="6729915" y="1010242"/>
            <a:ext cx="7538" cy="2882494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C76C885-9CF3-4412-8557-961353DBF59E}"/>
              </a:ext>
            </a:extLst>
          </p:cNvPr>
          <p:cNvGrpSpPr/>
          <p:nvPr/>
        </p:nvGrpSpPr>
        <p:grpSpPr>
          <a:xfrm>
            <a:off x="4155963" y="2862740"/>
            <a:ext cx="1988003" cy="2112513"/>
            <a:chOff x="347347" y="2649682"/>
            <a:chExt cx="1472827" cy="2112513"/>
          </a:xfrm>
        </p:grpSpPr>
        <p:sp>
          <p:nvSpPr>
            <p:cNvPr id="86" name="Line Callout 2 (Accent Bar) 60">
              <a:extLst>
                <a:ext uri="{FF2B5EF4-FFF2-40B4-BE49-F238E27FC236}">
                  <a16:creationId xmlns:a16="http://schemas.microsoft.com/office/drawing/2014/main" id="{CA4A72D3-CFAB-41F4-A430-E49C018F1FF3}"/>
                </a:ext>
              </a:extLst>
            </p:cNvPr>
            <p:cNvSpPr/>
            <p:nvPr/>
          </p:nvSpPr>
          <p:spPr bwMode="auto">
            <a:xfrm>
              <a:off x="347347" y="3078747"/>
              <a:ext cx="1294897" cy="1683448"/>
            </a:xfrm>
            <a:prstGeom prst="accentCallout2">
              <a:avLst>
                <a:gd name="adj1" fmla="val -605"/>
                <a:gd name="adj2" fmla="val 5299"/>
                <a:gd name="adj3" fmla="val -19126"/>
                <a:gd name="adj4" fmla="val 31953"/>
                <a:gd name="adj5" fmla="val -19749"/>
                <a:gd name="adj6" fmla="val 32141"/>
              </a:avLst>
            </a:prstGeom>
            <a:solidFill>
              <a:srgbClr val="FFFFFF"/>
            </a:solidFill>
            <a:ln w="6350" cap="flat" cmpd="sng" algn="ctr">
              <a:solidFill>
                <a:schemeClr val="accent5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Activities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Implement PH1 Modules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Feed Back / Changes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User Guide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Artifacts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PH2 Modules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User Guide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7" name="Rounded Rectangle 88">
              <a:extLst>
                <a:ext uri="{FF2B5EF4-FFF2-40B4-BE49-F238E27FC236}">
                  <a16:creationId xmlns:a16="http://schemas.microsoft.com/office/drawing/2014/main" id="{F71F5EDA-05A7-4405-9884-D4A6B71FAB43}"/>
                </a:ext>
              </a:extLst>
            </p:cNvPr>
            <p:cNvSpPr/>
            <p:nvPr/>
          </p:nvSpPr>
          <p:spPr>
            <a:xfrm>
              <a:off x="771964" y="2649682"/>
              <a:ext cx="1048210" cy="3537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dashDot"/>
            </a:ln>
            <a:effectLst/>
          </p:spPr>
          <p:txBody>
            <a:bodyPr lIns="68580" tIns="34290" rIns="68580" bIns="34290" rtlCol="0" anchor="ctr"/>
            <a:lstStyle/>
            <a:p>
              <a:pPr defTabSz="914378">
                <a:defRPr/>
              </a:pPr>
              <a:r>
                <a:rPr lang="en-US" sz="1050" kern="0" dirty="0">
                  <a:latin typeface="Calibri"/>
                </a:rPr>
                <a:t>Implementation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7B3F88A-A8E7-4579-9A96-1617E633434F}"/>
              </a:ext>
            </a:extLst>
          </p:cNvPr>
          <p:cNvGrpSpPr/>
          <p:nvPr/>
        </p:nvGrpSpPr>
        <p:grpSpPr>
          <a:xfrm>
            <a:off x="6582235" y="2877517"/>
            <a:ext cx="1474838" cy="2112513"/>
            <a:chOff x="347347" y="2649682"/>
            <a:chExt cx="1472827" cy="2112513"/>
          </a:xfrm>
        </p:grpSpPr>
        <p:sp>
          <p:nvSpPr>
            <p:cNvPr id="90" name="Line Callout 2 (Accent Bar) 60">
              <a:extLst>
                <a:ext uri="{FF2B5EF4-FFF2-40B4-BE49-F238E27FC236}">
                  <a16:creationId xmlns:a16="http://schemas.microsoft.com/office/drawing/2014/main" id="{79664944-14D3-4591-8A64-67D94831D1D3}"/>
                </a:ext>
              </a:extLst>
            </p:cNvPr>
            <p:cNvSpPr/>
            <p:nvPr/>
          </p:nvSpPr>
          <p:spPr bwMode="auto">
            <a:xfrm>
              <a:off x="347347" y="3078747"/>
              <a:ext cx="1294897" cy="1683448"/>
            </a:xfrm>
            <a:prstGeom prst="accentCallout2">
              <a:avLst>
                <a:gd name="adj1" fmla="val -605"/>
                <a:gd name="adj2" fmla="val 5299"/>
                <a:gd name="adj3" fmla="val -19126"/>
                <a:gd name="adj4" fmla="val 31953"/>
                <a:gd name="adj5" fmla="val -19749"/>
                <a:gd name="adj6" fmla="val 32141"/>
              </a:avLst>
            </a:prstGeom>
            <a:solidFill>
              <a:srgbClr val="FFFFFF"/>
            </a:solidFill>
            <a:ln w="6350" cap="flat" cmpd="sng" algn="ctr">
              <a:solidFill>
                <a:schemeClr val="accent5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Activities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Implement PH3 Modules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Feed Back / Changes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User Guide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Artifacts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PH2 Modules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User Guide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1" name="Rounded Rectangle 88">
              <a:extLst>
                <a:ext uri="{FF2B5EF4-FFF2-40B4-BE49-F238E27FC236}">
                  <a16:creationId xmlns:a16="http://schemas.microsoft.com/office/drawing/2014/main" id="{D8C10DEA-4B08-448F-BB8D-4EB2C2EFEA95}"/>
                </a:ext>
              </a:extLst>
            </p:cNvPr>
            <p:cNvSpPr/>
            <p:nvPr/>
          </p:nvSpPr>
          <p:spPr>
            <a:xfrm>
              <a:off x="771964" y="2649682"/>
              <a:ext cx="1048210" cy="3537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gradFill flip="none" rotWithShape="1">
                <a:gsLst>
                  <a:gs pos="0">
                    <a:srgbClr val="70AD46">
                      <a:lumMod val="60000"/>
                      <a:lumOff val="40000"/>
                    </a:srgbClr>
                  </a:gs>
                  <a:gs pos="50000">
                    <a:srgbClr val="70AD46">
                      <a:lumMod val="20000"/>
                      <a:lumOff val="80000"/>
                    </a:srgbClr>
                  </a:gs>
                  <a:gs pos="100000">
                    <a:srgbClr val="70AD46">
                      <a:lumMod val="60000"/>
                      <a:lumOff val="40000"/>
                    </a:srgbClr>
                  </a:gs>
                </a:gsLst>
                <a:lin ang="0" scaled="1"/>
                <a:tileRect/>
              </a:gradFill>
              <a:prstDash val="dashDot"/>
            </a:ln>
            <a:effectLst/>
          </p:spPr>
          <p:txBody>
            <a:bodyPr lIns="68580" tIns="34290" rIns="68580" bIns="34290" rtlCol="0" anchor="ctr"/>
            <a:lstStyle/>
            <a:p>
              <a:pPr defTabSz="914378">
                <a:defRPr/>
              </a:pPr>
              <a:r>
                <a:rPr lang="en-US" sz="1050" kern="0" dirty="0">
                  <a:latin typeface="Calibri"/>
                </a:rPr>
                <a:t>Implementation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6B8B4F1-9F30-46C4-83C8-370586282716}"/>
              </a:ext>
            </a:extLst>
          </p:cNvPr>
          <p:cNvGrpSpPr/>
          <p:nvPr/>
        </p:nvGrpSpPr>
        <p:grpSpPr>
          <a:xfrm>
            <a:off x="7812431" y="3035001"/>
            <a:ext cx="1214631" cy="2112513"/>
            <a:chOff x="347347" y="2649682"/>
            <a:chExt cx="1472827" cy="2112513"/>
          </a:xfrm>
        </p:grpSpPr>
        <p:sp>
          <p:nvSpPr>
            <p:cNvPr id="102" name="Line Callout 2 (Accent Bar) 60">
              <a:extLst>
                <a:ext uri="{FF2B5EF4-FFF2-40B4-BE49-F238E27FC236}">
                  <a16:creationId xmlns:a16="http://schemas.microsoft.com/office/drawing/2014/main" id="{EA10423D-6195-40BD-9D77-BF4368F94492}"/>
                </a:ext>
              </a:extLst>
            </p:cNvPr>
            <p:cNvSpPr/>
            <p:nvPr/>
          </p:nvSpPr>
          <p:spPr bwMode="auto">
            <a:xfrm>
              <a:off x="347347" y="3078747"/>
              <a:ext cx="1294897" cy="1683448"/>
            </a:xfrm>
            <a:prstGeom prst="accentCallout2">
              <a:avLst>
                <a:gd name="adj1" fmla="val -605"/>
                <a:gd name="adj2" fmla="val 5299"/>
                <a:gd name="adj3" fmla="val -19126"/>
                <a:gd name="adj4" fmla="val 31953"/>
                <a:gd name="adj5" fmla="val -19749"/>
                <a:gd name="adj6" fmla="val 32141"/>
              </a:avLst>
            </a:prstGeom>
            <a:solidFill>
              <a:srgbClr val="FFFFFF"/>
            </a:solidFill>
            <a:ln w="6350" cap="flat" cmpd="sng" algn="ctr">
              <a:solidFill>
                <a:schemeClr val="accent5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Activities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Test / Change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defTabSz="914378"/>
              <a:r>
                <a:rPr lang="en-US" sz="800" b="1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Artifacts</a:t>
              </a:r>
            </a:p>
            <a:p>
              <a:pPr marL="112713" indent="-112713" defTabSz="914378">
                <a:buFont typeface="Arial" panose="020B0604020202020204" pitchFamily="34" charset="0"/>
                <a:buChar char="•"/>
              </a:pPr>
              <a:r>
                <a:rPr lang="en-US" sz="800" kern="0" dirty="0">
                  <a:latin typeface="Segoe UI" panose="020B0502040204020203" pitchFamily="34" charset="0"/>
                  <a:cs typeface="Segoe UI" panose="020B0502040204020203" pitchFamily="34" charset="0"/>
                </a:rPr>
                <a:t>ATP results</a:t>
              </a:r>
            </a:p>
            <a:p>
              <a:pPr defTabSz="914378"/>
              <a:endParaRPr lang="en-US" sz="800" kern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Rounded Rectangle 88">
              <a:extLst>
                <a:ext uri="{FF2B5EF4-FFF2-40B4-BE49-F238E27FC236}">
                  <a16:creationId xmlns:a16="http://schemas.microsoft.com/office/drawing/2014/main" id="{26B1373C-169A-42A0-B251-A50A5461773F}"/>
                </a:ext>
              </a:extLst>
            </p:cNvPr>
            <p:cNvSpPr/>
            <p:nvPr/>
          </p:nvSpPr>
          <p:spPr>
            <a:xfrm>
              <a:off x="771964" y="2649682"/>
              <a:ext cx="1048210" cy="3537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gradFill flip="none" rotWithShape="1">
                <a:gsLst>
                  <a:gs pos="0">
                    <a:srgbClr val="70AD46">
                      <a:lumMod val="60000"/>
                      <a:lumOff val="40000"/>
                    </a:srgbClr>
                  </a:gs>
                  <a:gs pos="50000">
                    <a:srgbClr val="70AD46">
                      <a:lumMod val="20000"/>
                      <a:lumOff val="80000"/>
                    </a:srgbClr>
                  </a:gs>
                  <a:gs pos="100000">
                    <a:srgbClr val="70AD46">
                      <a:lumMod val="60000"/>
                      <a:lumOff val="40000"/>
                    </a:srgbClr>
                  </a:gs>
                </a:gsLst>
                <a:lin ang="0" scaled="1"/>
                <a:tileRect/>
              </a:gradFill>
              <a:prstDash val="dashDot"/>
            </a:ln>
            <a:effectLst/>
          </p:spPr>
          <p:txBody>
            <a:bodyPr lIns="68580" tIns="34290" rIns="68580" bIns="34290" rtlCol="0" anchor="ctr"/>
            <a:lstStyle/>
            <a:p>
              <a:pPr defTabSz="914378">
                <a:defRPr/>
              </a:pPr>
              <a:r>
                <a:rPr lang="en-US" sz="1050" kern="0" dirty="0">
                  <a:latin typeface="Calibri"/>
                </a:rPr>
                <a:t>Verification</a:t>
              </a:r>
            </a:p>
          </p:txBody>
        </p:sp>
      </p:grpSp>
      <p:sp>
        <p:nvSpPr>
          <p:cNvPr id="113" name="Rounded Rectangle 107">
            <a:extLst>
              <a:ext uri="{FF2B5EF4-FFF2-40B4-BE49-F238E27FC236}">
                <a16:creationId xmlns:a16="http://schemas.microsoft.com/office/drawing/2014/main" id="{03CA7CD7-8973-47C4-906F-F9371556C4EF}"/>
              </a:ext>
            </a:extLst>
          </p:cNvPr>
          <p:cNvSpPr/>
          <p:nvPr/>
        </p:nvSpPr>
        <p:spPr>
          <a:xfrm>
            <a:off x="6746193" y="1984522"/>
            <a:ext cx="1481681" cy="251027"/>
          </a:xfrm>
          <a:prstGeom prst="roundRect">
            <a:avLst/>
          </a:prstGeom>
          <a:solidFill>
            <a:srgbClr val="00B050"/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kern="0" dirty="0">
                <a:solidFill>
                  <a:prstClr val="white"/>
                </a:solidFill>
                <a:latin typeface="Calibri"/>
              </a:rPr>
              <a:t>Development Sprints</a:t>
            </a:r>
          </a:p>
        </p:txBody>
      </p:sp>
      <p:sp>
        <p:nvSpPr>
          <p:cNvPr id="114" name="Rounded Rectangle 107">
            <a:extLst>
              <a:ext uri="{FF2B5EF4-FFF2-40B4-BE49-F238E27FC236}">
                <a16:creationId xmlns:a16="http://schemas.microsoft.com/office/drawing/2014/main" id="{F39BC78B-72E3-4B85-9119-864319AD6897}"/>
              </a:ext>
            </a:extLst>
          </p:cNvPr>
          <p:cNvSpPr/>
          <p:nvPr/>
        </p:nvSpPr>
        <p:spPr>
          <a:xfrm>
            <a:off x="6733684" y="1682952"/>
            <a:ext cx="2439065" cy="274986"/>
          </a:xfrm>
          <a:prstGeom prst="roundRect">
            <a:avLst/>
          </a:prstGeom>
          <a:solidFill>
            <a:srgbClr val="00B050"/>
          </a:solidFill>
          <a:ln w="9525" cap="flat" cmpd="sng" algn="ctr">
            <a:gradFill flip="none" rotWithShape="1">
              <a:gsLst>
                <a:gs pos="0">
                  <a:srgbClr val="70AD46">
                    <a:lumMod val="60000"/>
                    <a:lumOff val="40000"/>
                  </a:srgbClr>
                </a:gs>
                <a:gs pos="50000">
                  <a:srgbClr val="70AD46">
                    <a:lumMod val="20000"/>
                    <a:lumOff val="80000"/>
                  </a:srgbClr>
                </a:gs>
                <a:gs pos="100000">
                  <a:srgbClr val="70AD46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r>
              <a:rPr lang="en-US" sz="1200" kern="0" dirty="0">
                <a:solidFill>
                  <a:prstClr val="white"/>
                </a:solidFill>
                <a:latin typeface="Calibri"/>
              </a:rPr>
              <a:t>Production Movement Sprints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FAE5F2E-302D-413C-A3D4-415807BD77F1}"/>
              </a:ext>
            </a:extLst>
          </p:cNvPr>
          <p:cNvSpPr/>
          <p:nvPr/>
        </p:nvSpPr>
        <p:spPr>
          <a:xfrm>
            <a:off x="1788913" y="286954"/>
            <a:ext cx="5572020" cy="43088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Raleway SemiBold" panose="020B0503030101060003" pitchFamily="34" charset="77"/>
              </a:rPr>
              <a:t>Proposed </a:t>
            </a:r>
            <a:r>
              <a:rPr lang="en-US" sz="22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Raleway SemiBold" panose="020B0503030101060003" pitchFamily="34" charset="77"/>
              </a:rPr>
              <a:t>Project Timeline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8EDD76-93A4-402E-BC09-AB4F9E9B84D2}"/>
              </a:ext>
            </a:extLst>
          </p:cNvPr>
          <p:cNvSpPr txBox="1"/>
          <p:nvPr/>
        </p:nvSpPr>
        <p:spPr>
          <a:xfrm>
            <a:off x="3494638" y="69247"/>
            <a:ext cx="215472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Raleway Medium" panose="020B0503030101060003" pitchFamily="34" charset="77"/>
                <a:ea typeface="Roboto" panose="02000000000000000000" pitchFamily="2" charset="0"/>
                <a:cs typeface="Open Sans" panose="020B0606030504020204" pitchFamily="34" charset="0"/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4194157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5">
            <a:extLst>
              <a:ext uri="{FF2B5EF4-FFF2-40B4-BE49-F238E27FC236}">
                <a16:creationId xmlns:a16="http://schemas.microsoft.com/office/drawing/2014/main" id="{0ADD3505-D816-4666-AAAA-42EC992FA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B4269A41-C387-4555-A18D-F1B4E366C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5810" y="3156110"/>
            <a:ext cx="254344" cy="159137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911C1882-1ABB-473F-836B-DE0066AB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6554" y="3073749"/>
            <a:ext cx="151393" cy="154185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336533B6-75CC-4F87-B044-A8241FBF7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2286" y="3073750"/>
            <a:ext cx="6699764" cy="1470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2E3A0A-6F35-43AB-B772-C37D42F1CF9D}"/>
              </a:ext>
            </a:extLst>
          </p:cNvPr>
          <p:cNvSpPr txBox="1"/>
          <p:nvPr/>
        </p:nvSpPr>
        <p:spPr>
          <a:xfrm>
            <a:off x="596506" y="3200873"/>
            <a:ext cx="5978177" cy="803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Performed Activity</a:t>
            </a:r>
          </a:p>
        </p:txBody>
      </p:sp>
      <p:sp>
        <p:nvSpPr>
          <p:cNvPr id="30" name="Rectangle 8">
            <a:extLst>
              <a:ext uri="{FF2B5EF4-FFF2-40B4-BE49-F238E27FC236}">
                <a16:creationId xmlns:a16="http://schemas.microsoft.com/office/drawing/2014/main" id="{77EAB586-FBDB-4496-82AC-22F18563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800850" y="3282950"/>
            <a:ext cx="2340864" cy="14645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B828E56-8DEA-4C59-95CA-ACEE85022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372478"/>
              </p:ext>
            </p:extLst>
          </p:nvPr>
        </p:nvGraphicFramePr>
        <p:xfrm>
          <a:off x="596507" y="506655"/>
          <a:ext cx="6101441" cy="226964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21735">
                  <a:extLst>
                    <a:ext uri="{9D8B030D-6E8A-4147-A177-3AD203B41FA5}">
                      <a16:colId xmlns:a16="http://schemas.microsoft.com/office/drawing/2014/main" val="2675258483"/>
                    </a:ext>
                  </a:extLst>
                </a:gridCol>
                <a:gridCol w="1733293">
                  <a:extLst>
                    <a:ext uri="{9D8B030D-6E8A-4147-A177-3AD203B41FA5}">
                      <a16:colId xmlns:a16="http://schemas.microsoft.com/office/drawing/2014/main" val="3845430013"/>
                    </a:ext>
                  </a:extLst>
                </a:gridCol>
                <a:gridCol w="1446413">
                  <a:extLst>
                    <a:ext uri="{9D8B030D-6E8A-4147-A177-3AD203B41FA5}">
                      <a16:colId xmlns:a16="http://schemas.microsoft.com/office/drawing/2014/main" val="685999859"/>
                    </a:ext>
                  </a:extLst>
                </a:gridCol>
              </a:tblGrid>
              <a:tr h="45392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kern="1200">
                          <a:solidFill>
                            <a:schemeClr val="lt1"/>
                          </a:solidFill>
                          <a:effectLst/>
                        </a:rPr>
                        <a:t>Task Name</a:t>
                      </a:r>
                      <a:endParaRPr lang="en-US" sz="1900" b="1" i="0" kern="1200">
                        <a:solidFill>
                          <a:schemeClr val="lt1"/>
                        </a:solidFill>
                        <a:effectLst/>
                        <a:latin typeface="Montserrat" panose="00000500000000000000" pitchFamily="50" charset="0"/>
                        <a:ea typeface="+mn-ea"/>
                        <a:cs typeface="+mn-cs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Role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Effort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extLst>
                  <a:ext uri="{0D108BD9-81ED-4DB2-BD59-A6C34878D82A}">
                    <a16:rowId xmlns:a16="http://schemas.microsoft.com/office/drawing/2014/main" val="2492251223"/>
                  </a:ext>
                </a:extLst>
              </a:tr>
              <a:tr h="45392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0" kern="1200">
                          <a:solidFill>
                            <a:schemeClr val="dk1"/>
                          </a:solidFill>
                          <a:effectLst/>
                        </a:rPr>
                        <a:t>Requirement Gathering</a:t>
                      </a:r>
                      <a:endParaRPr lang="en-US" sz="1900" b="0" i="0" kern="1200">
                        <a:solidFill>
                          <a:schemeClr val="dk1"/>
                        </a:solidFill>
                        <a:effectLst/>
                        <a:latin typeface="Montserrat" panose="00000500000000000000" pitchFamily="50" charset="0"/>
                        <a:ea typeface="+mn-ea"/>
                        <a:cs typeface="+mn-cs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Architect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32 Hours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extLst>
                  <a:ext uri="{0D108BD9-81ED-4DB2-BD59-A6C34878D82A}">
                    <a16:rowId xmlns:a16="http://schemas.microsoft.com/office/drawing/2014/main" val="1090474765"/>
                  </a:ext>
                </a:extLst>
              </a:tr>
              <a:tr h="45392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0" kern="1200">
                          <a:solidFill>
                            <a:schemeClr val="dk1"/>
                          </a:solidFill>
                          <a:effectLst/>
                        </a:rPr>
                        <a:t>Architecture &amp; RoadMap</a:t>
                      </a:r>
                      <a:endParaRPr lang="en-US" sz="1900" b="0" i="0" kern="1200">
                        <a:solidFill>
                          <a:schemeClr val="dk1"/>
                        </a:solidFill>
                        <a:effectLst/>
                        <a:latin typeface="Montserrat" panose="00000500000000000000" pitchFamily="50" charset="0"/>
                        <a:ea typeface="+mn-ea"/>
                        <a:cs typeface="+mn-cs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Architect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08 Hours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extLst>
                  <a:ext uri="{0D108BD9-81ED-4DB2-BD59-A6C34878D82A}">
                    <a16:rowId xmlns:a16="http://schemas.microsoft.com/office/drawing/2014/main" val="1264196510"/>
                  </a:ext>
                </a:extLst>
              </a:tr>
              <a:tr h="453929"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UX Design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UX Designer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100 Hours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extLst>
                  <a:ext uri="{0D108BD9-81ED-4DB2-BD59-A6C34878D82A}">
                    <a16:rowId xmlns:a16="http://schemas.microsoft.com/office/drawing/2014/main" val="2876385234"/>
                  </a:ext>
                </a:extLst>
              </a:tr>
              <a:tr h="453929"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UI Development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UI Developer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/>
                        <a:t>80 Hours</a:t>
                      </a:r>
                      <a:endParaRPr lang="en-US" sz="1900">
                        <a:latin typeface="Montserrat" panose="00000500000000000000" pitchFamily="50" charset="0"/>
                      </a:endParaRPr>
                    </a:p>
                  </a:txBody>
                  <a:tcPr marL="128095" marR="128095" marT="64048" marB="64048"/>
                </a:tc>
                <a:extLst>
                  <a:ext uri="{0D108BD9-81ED-4DB2-BD59-A6C34878D82A}">
                    <a16:rowId xmlns:a16="http://schemas.microsoft.com/office/drawing/2014/main" val="468417609"/>
                  </a:ext>
                </a:extLst>
              </a:tr>
            </a:tbl>
          </a:graphicData>
        </a:graphic>
      </p:graphicFrame>
      <p:sp>
        <p:nvSpPr>
          <p:cNvPr id="35" name="Graphic 5">
            <a:extLst>
              <a:ext uri="{FF2B5EF4-FFF2-40B4-BE49-F238E27FC236}">
                <a16:creationId xmlns:a16="http://schemas.microsoft.com/office/drawing/2014/main" id="{EE8208B9-9262-4F51-B0F5-90ADB3900F27}"/>
              </a:ext>
            </a:extLst>
          </p:cNvPr>
          <p:cNvSpPr>
            <a:spLocks noChangeAspect="1"/>
          </p:cNvSpPr>
          <p:nvPr/>
        </p:nvSpPr>
        <p:spPr>
          <a:xfrm>
            <a:off x="3079321" y="1"/>
            <a:ext cx="2985359" cy="290786"/>
          </a:xfrm>
          <a:custGeom>
            <a:avLst/>
            <a:gdLst>
              <a:gd name="connsiteX0" fmla="*/ 5298019 w 5298018"/>
              <a:gd name="connsiteY0" fmla="*/ 0 h 475749"/>
              <a:gd name="connsiteX1" fmla="*/ 4792594 w 5298018"/>
              <a:gd name="connsiteY1" fmla="*/ 475749 h 475749"/>
              <a:gd name="connsiteX2" fmla="*/ 505473 w 5298018"/>
              <a:gd name="connsiteY2" fmla="*/ 475749 h 475749"/>
              <a:gd name="connsiteX3" fmla="*/ 0 w 5298018"/>
              <a:gd name="connsiteY3" fmla="*/ 0 h 475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8018" h="475749">
                <a:moveTo>
                  <a:pt x="5298019" y="0"/>
                </a:moveTo>
                <a:cubicBezTo>
                  <a:pt x="4930695" y="172726"/>
                  <a:pt x="5133304" y="475749"/>
                  <a:pt x="4792594" y="475749"/>
                </a:cubicBezTo>
                <a:lnTo>
                  <a:pt x="505473" y="475749"/>
                </a:lnTo>
                <a:cubicBezTo>
                  <a:pt x="164763" y="475749"/>
                  <a:pt x="367324" y="17272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881" cap="flat">
            <a:noFill/>
            <a:prstDash val="solid"/>
            <a:miter/>
          </a:ln>
        </p:spPr>
        <p:txBody>
          <a:bodyPr rtlCol="0" anchor="ctr"/>
          <a:lstStyle/>
          <a:p>
            <a:endParaRPr lang="en-EG" sz="135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2FCD10-DA02-4D55-B283-1225D1AF3794}"/>
              </a:ext>
            </a:extLst>
          </p:cNvPr>
          <p:cNvSpPr txBox="1"/>
          <p:nvPr/>
        </p:nvSpPr>
        <p:spPr>
          <a:xfrm>
            <a:off x="3494638" y="69247"/>
            <a:ext cx="215472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Raleway Medium" panose="020B0503030101060003" pitchFamily="34" charset="77"/>
                <a:ea typeface="Roboto" panose="02000000000000000000" pitchFamily="2" charset="0"/>
                <a:cs typeface="Open Sans" panose="020B0606030504020204" pitchFamily="34" charset="0"/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566572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purl.org/dc/terms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D7F38BFD-FFEB-4E06-BE49-1E43856112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290</Words>
  <Application>Microsoft Office PowerPoint</Application>
  <PresentationFormat>On-screen Show (16:9)</PresentationFormat>
  <Paragraphs>156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Arial</vt:lpstr>
      <vt:lpstr>Calibri</vt:lpstr>
      <vt:lpstr>Calibri Light</vt:lpstr>
      <vt:lpstr>Montserrat</vt:lpstr>
      <vt:lpstr>Raleway</vt:lpstr>
      <vt:lpstr>Raleway Medium</vt:lpstr>
      <vt:lpstr>Raleway SemiBold</vt:lpstr>
      <vt:lpstr>Rockwell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High-level future state road map</dc:title>
  <dc:creator>Akbar Khan</dc:creator>
  <cp:lastModifiedBy>Akbar Khan</cp:lastModifiedBy>
  <cp:revision>32</cp:revision>
  <dcterms:created xsi:type="dcterms:W3CDTF">2020-06-25T11:39:16Z</dcterms:created>
  <dcterms:modified xsi:type="dcterms:W3CDTF">2020-06-25T13:06:59Z</dcterms:modified>
</cp:coreProperties>
</file>