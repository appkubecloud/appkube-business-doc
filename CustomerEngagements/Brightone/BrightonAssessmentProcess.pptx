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3.xml" ContentType="application/vnd.openxmlformats-officedocument.presentationml.slideLayout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2" r:id="rId2"/>
    <p:sldId id="336" r:id="rId3"/>
    <p:sldId id="358" r:id="rId4"/>
    <p:sldId id="350" r:id="rId5"/>
    <p:sldId id="357" r:id="rId6"/>
    <p:sldId id="333" r:id="rId7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B96"/>
    <a:srgbClr val="666699"/>
    <a:srgbClr val="FFCCFF"/>
    <a:srgbClr val="FFEDD3"/>
    <a:srgbClr val="FFC000"/>
    <a:srgbClr val="3D97CF"/>
    <a:srgbClr val="EE853E"/>
    <a:srgbClr val="5A6F8C"/>
    <a:srgbClr val="2B2B2B"/>
    <a:srgbClr val="2E2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3730" autoAdjust="0"/>
  </p:normalViewPr>
  <p:slideViewPr>
    <p:cSldViewPr snapToGrid="0">
      <p:cViewPr varScale="1">
        <p:scale>
          <a:sx n="73" d="100"/>
          <a:sy n="73" d="100"/>
        </p:scale>
        <p:origin x="194" y="82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09.03.2020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098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09.03.2020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09.03.2020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09.03.2020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09.03.2020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65760"/>
            <a:ext cx="8644128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04800" y="975360"/>
            <a:ext cx="8644128" cy="6096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4665" y="6440923"/>
            <a:ext cx="30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306917" y="6480256"/>
            <a:ext cx="57912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33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81371" y="74173"/>
            <a:ext cx="1569064" cy="18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3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09.03.2020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  <p:sldLayoutId id="2147483827" r:id="rId3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4665" y="6440923"/>
            <a:ext cx="304800" cy="3048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9053208" y="570688"/>
            <a:ext cx="3138792" cy="4777911"/>
          </a:xfrm>
          <a:prstGeom prst="rect">
            <a:avLst/>
          </a:prstGeom>
        </p:spPr>
        <p:txBody>
          <a:bodyPr vert="horz" wrap="square" lIns="121920" tIns="60960" rIns="121920" bIns="6096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40" lvl="1" indent="0" fontAlgn="auto"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en-US" sz="1867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33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867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74640" lvl="1" indent="0" fontAlgn="auto">
              <a:spcBef>
                <a:spcPts val="800"/>
              </a:spcBef>
              <a:spcAft>
                <a:spcPts val="0"/>
              </a:spcAft>
              <a:buNone/>
              <a:defRPr/>
            </a:pPr>
            <a:endParaRPr lang="en-US" sz="1867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74640" lvl="1" indent="0" fontAlgn="auto"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en-US" sz="1867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33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33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33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33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9183" y="-122199"/>
            <a:ext cx="698230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latin typeface="Raleway ExtraBold" panose="020B0903030101060003" pitchFamily="34" charset="0"/>
              </a:rPr>
              <a:t>Platform Architecture </a:t>
            </a:r>
            <a:endParaRPr lang="ru-RU" altLang="ru-RU" sz="32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F29CD-9B9C-4288-BD3F-A8AFFC02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3694"/>
            <a:ext cx="12192000" cy="601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F2754C-8E29-45C0-AFA4-6776250BAB74}"/>
              </a:ext>
            </a:extLst>
          </p:cNvPr>
          <p:cNvSpPr/>
          <p:nvPr/>
        </p:nvSpPr>
        <p:spPr>
          <a:xfrm>
            <a:off x="0" y="0"/>
            <a:ext cx="12192000" cy="1454151"/>
          </a:xfrm>
          <a:prstGeom prst="rect">
            <a:avLst/>
          </a:prstGeom>
          <a:solidFill>
            <a:srgbClr val="E23936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541EA-47B0-44A7-B970-AE3DFAFC0C6C}"/>
              </a:ext>
            </a:extLst>
          </p:cNvPr>
          <p:cNvSpPr txBox="1"/>
          <p:nvPr/>
        </p:nvSpPr>
        <p:spPr>
          <a:xfrm>
            <a:off x="1011168" y="167608"/>
            <a:ext cx="10169663" cy="1496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Tooling Discovery /Assessment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</a:rPr>
              <a:t>4 Phased – 6 Days 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B096D65-8194-4B29-8B5A-1DE42CC7553D}"/>
              </a:ext>
            </a:extLst>
          </p:cNvPr>
          <p:cNvSpPr/>
          <p:nvPr/>
        </p:nvSpPr>
        <p:spPr>
          <a:xfrm>
            <a:off x="-1" y="1430800"/>
            <a:ext cx="12192000" cy="2092071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585B6816-9023-418D-B610-9A25D1B6CAE1}"/>
              </a:ext>
            </a:extLst>
          </p:cNvPr>
          <p:cNvSpPr txBox="1">
            <a:spLocks/>
          </p:cNvSpPr>
          <p:nvPr/>
        </p:nvSpPr>
        <p:spPr>
          <a:xfrm>
            <a:off x="94947" y="3880019"/>
            <a:ext cx="2718782" cy="27939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500" spc="150" dirty="0">
                <a:latin typeface="Raleway ExtraBold" panose="020B0903030101060003" pitchFamily="34" charset="-52"/>
              </a:rPr>
              <a:t>Initial Meetings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Meeting with decision-makers to get an insight on client current pain-points and desired-future-state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000" kern="0" dirty="0">
              <a:latin typeface="Arial" panose="020B0604020202020204" pitchFamily="34" charset="0"/>
              <a:ea typeface="Karla" pitchFamily="2" charset="0"/>
              <a:cs typeface="Arial" panose="020B0604020202020204" pitchFamily="34" charset="0"/>
            </a:endParaRP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Kick-off meeting with  assessment stakeholders, clarification on assessment process and tooling.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kern="0" dirty="0"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</p:txBody>
      </p:sp>
      <p:graphicFrame>
        <p:nvGraphicFramePr>
          <p:cNvPr id="73736" name="Диаграмма 3">
            <a:extLst>
              <a:ext uri="{FF2B5EF4-FFF2-40B4-BE49-F238E27FC236}">
                <a16:creationId xmlns:a16="http://schemas.microsoft.com/office/drawing/2014/main" id="{B01D4B3C-B160-4E00-AED2-B7A3FF3FF5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07724"/>
              </p:ext>
            </p:extLst>
          </p:nvPr>
        </p:nvGraphicFramePr>
        <p:xfrm>
          <a:off x="852922" y="1505591"/>
          <a:ext cx="19050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" name="Диаграмма" r:id="rId3" imgW="1914310" imgH="1322947" progId="Excel.Chart.8">
                  <p:embed/>
                </p:oleObj>
              </mc:Choice>
              <mc:Fallback>
                <p:oleObj name="Диаграмма" r:id="rId3" imgW="1914310" imgH="1322947" progId="Excel.Chart.8">
                  <p:embed/>
                  <p:pic>
                    <p:nvPicPr>
                      <p:cNvPr id="73736" name="Диаграмма 3">
                        <a:extLst>
                          <a:ext uri="{FF2B5EF4-FFF2-40B4-BE49-F238E27FC236}">
                            <a16:creationId xmlns:a16="http://schemas.microsoft.com/office/drawing/2014/main" id="{B01D4B3C-B160-4E00-AED2-B7A3FF3FF5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22" y="1505591"/>
                        <a:ext cx="1905000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52CDE67D-D434-4506-8F3F-D4BAB8B13839}"/>
              </a:ext>
            </a:extLst>
          </p:cNvPr>
          <p:cNvSpPr txBox="1">
            <a:spLocks/>
          </p:cNvSpPr>
          <p:nvPr/>
        </p:nvSpPr>
        <p:spPr>
          <a:xfrm>
            <a:off x="665735" y="2621821"/>
            <a:ext cx="2224024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1/2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Project Kick-off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9C2A20-7E46-492E-9AFE-C8558AE7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291" y="1990048"/>
            <a:ext cx="32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solidFill>
                  <a:schemeClr val="bg1"/>
                </a:solidFill>
                <a:latin typeface="Raleway Medium" panose="020B0603030101060003" pitchFamily="34" charset="0"/>
              </a:rPr>
              <a:t>1</a:t>
            </a:r>
            <a:endParaRPr lang="ru-RU" altLang="ru-RU" sz="2400" dirty="0"/>
          </a:p>
        </p:txBody>
      </p:sp>
      <p:graphicFrame>
        <p:nvGraphicFramePr>
          <p:cNvPr id="73739" name="Диаграмма 19">
            <a:extLst>
              <a:ext uri="{FF2B5EF4-FFF2-40B4-BE49-F238E27FC236}">
                <a16:creationId xmlns:a16="http://schemas.microsoft.com/office/drawing/2014/main" id="{72310FF6-999C-4E84-9CBD-DA0DC8DB1B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444134"/>
              </p:ext>
            </p:extLst>
          </p:nvPr>
        </p:nvGraphicFramePr>
        <p:xfrm>
          <a:off x="3961618" y="1503115"/>
          <a:ext cx="1906587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" name="Диаграмма" r:id="rId5" imgW="1914310" imgH="1322947" progId="Excel.Chart.8">
                  <p:embed/>
                </p:oleObj>
              </mc:Choice>
              <mc:Fallback>
                <p:oleObj name="Диаграмма" r:id="rId5" imgW="1914310" imgH="1322947" progId="Excel.Chart.8">
                  <p:embed/>
                  <p:pic>
                    <p:nvPicPr>
                      <p:cNvPr id="73739" name="Диаграмма 19">
                        <a:extLst>
                          <a:ext uri="{FF2B5EF4-FFF2-40B4-BE49-F238E27FC236}">
                            <a16:creationId xmlns:a16="http://schemas.microsoft.com/office/drawing/2014/main" id="{72310FF6-999C-4E84-9CBD-DA0DC8DB1BA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1618" y="1503115"/>
                        <a:ext cx="1906587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EC4505A9-9B87-4E84-8614-45A29D9F2516}"/>
              </a:ext>
            </a:extLst>
          </p:cNvPr>
          <p:cNvSpPr txBox="1">
            <a:spLocks/>
          </p:cNvSpPr>
          <p:nvPr/>
        </p:nvSpPr>
        <p:spPr>
          <a:xfrm>
            <a:off x="3934419" y="2658549"/>
            <a:ext cx="2020887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4.5 Days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Requirement Gathering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226F0B1-ACC5-487A-BA0F-D776FBEB5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018" y="1925390"/>
            <a:ext cx="350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2</a:t>
            </a:r>
            <a:endParaRPr lang="ru-RU" altLang="ru-RU" sz="2400"/>
          </a:p>
        </p:txBody>
      </p:sp>
      <p:graphicFrame>
        <p:nvGraphicFramePr>
          <p:cNvPr id="73742" name="Диаграмма 23">
            <a:extLst>
              <a:ext uri="{FF2B5EF4-FFF2-40B4-BE49-F238E27FC236}">
                <a16:creationId xmlns:a16="http://schemas.microsoft.com/office/drawing/2014/main" id="{5F2212B5-A3FB-4819-AEF6-E248F9FC3C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479436"/>
              </p:ext>
            </p:extLst>
          </p:nvPr>
        </p:nvGraphicFramePr>
        <p:xfrm>
          <a:off x="6939276" y="1485138"/>
          <a:ext cx="1906588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" name="Диаграмма" r:id="rId7" imgW="1914310" imgH="1322947" progId="Excel.Chart.8">
                  <p:embed/>
                </p:oleObj>
              </mc:Choice>
              <mc:Fallback>
                <p:oleObj name="Диаграмма" r:id="rId7" imgW="1914310" imgH="1322947" progId="Excel.Chart.8">
                  <p:embed/>
                  <p:pic>
                    <p:nvPicPr>
                      <p:cNvPr id="73742" name="Диаграмма 23">
                        <a:extLst>
                          <a:ext uri="{FF2B5EF4-FFF2-40B4-BE49-F238E27FC236}">
                            <a16:creationId xmlns:a16="http://schemas.microsoft.com/office/drawing/2014/main" id="{5F2212B5-A3FB-4819-AEF6-E248F9FC3C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9276" y="1485138"/>
                        <a:ext cx="1906588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1E0BB1B7-E6A9-48B2-BA02-85EA65545936}"/>
              </a:ext>
            </a:extLst>
          </p:cNvPr>
          <p:cNvSpPr txBox="1">
            <a:spLocks/>
          </p:cNvSpPr>
          <p:nvPr/>
        </p:nvSpPr>
        <p:spPr>
          <a:xfrm>
            <a:off x="6922600" y="2634573"/>
            <a:ext cx="2020888" cy="80717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 /2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Plan/Report Preparation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961421F-0E35-4670-9A95-E1AA9C11E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676" y="1880426"/>
            <a:ext cx="350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solidFill>
                  <a:schemeClr val="bg1"/>
                </a:solidFill>
                <a:latin typeface="Raleway Medium" panose="020B0603030101060003" pitchFamily="34" charset="0"/>
              </a:rPr>
              <a:t>3</a:t>
            </a:r>
            <a:endParaRPr lang="ru-RU" altLang="ru-RU" sz="2400" dirty="0"/>
          </a:p>
        </p:txBody>
      </p:sp>
      <p:graphicFrame>
        <p:nvGraphicFramePr>
          <p:cNvPr id="73745" name="Диаграмма 27">
            <a:extLst>
              <a:ext uri="{FF2B5EF4-FFF2-40B4-BE49-F238E27FC236}">
                <a16:creationId xmlns:a16="http://schemas.microsoft.com/office/drawing/2014/main" id="{BEF1D1D8-A6D3-49C2-AB9E-F096FD0BC0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0209249"/>
              </p:ext>
            </p:extLst>
          </p:nvPr>
        </p:nvGraphicFramePr>
        <p:xfrm>
          <a:off x="9400581" y="1512105"/>
          <a:ext cx="19050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" name="Диаграмма" r:id="rId9" imgW="1914310" imgH="1322947" progId="Excel.Chart.8">
                  <p:embed/>
                </p:oleObj>
              </mc:Choice>
              <mc:Fallback>
                <p:oleObj name="Диаграмма" r:id="rId9" imgW="1914310" imgH="1322947" progId="Excel.Chart.8">
                  <p:embed/>
                  <p:pic>
                    <p:nvPicPr>
                      <p:cNvPr id="73745" name="Диаграмма 27">
                        <a:extLst>
                          <a:ext uri="{FF2B5EF4-FFF2-40B4-BE49-F238E27FC236}">
                            <a16:creationId xmlns:a16="http://schemas.microsoft.com/office/drawing/2014/main" id="{BEF1D1D8-A6D3-49C2-AB9E-F096FD0BC0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0581" y="1512105"/>
                        <a:ext cx="1905000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1961AB2E-5997-45EF-8C03-2259FAB329EF}"/>
              </a:ext>
            </a:extLst>
          </p:cNvPr>
          <p:cNvSpPr txBox="1">
            <a:spLocks/>
          </p:cNvSpPr>
          <p:nvPr/>
        </p:nvSpPr>
        <p:spPr>
          <a:xfrm>
            <a:off x="9319778" y="2589005"/>
            <a:ext cx="2019300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1/2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Presentation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9D9A127-0220-479D-99C4-D3F8ADE9F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3694" y="1907393"/>
            <a:ext cx="35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4</a:t>
            </a:r>
            <a:endParaRPr lang="ru-RU" altLang="ru-RU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8962851" y="6622210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8" name="Подзаголовок 2">
            <a:extLst>
              <a:ext uri="{FF2B5EF4-FFF2-40B4-BE49-F238E27FC236}">
                <a16:creationId xmlns:a16="http://schemas.microsoft.com/office/drawing/2014/main" id="{107F8159-7265-48E5-86BC-A0950A1DC026}"/>
              </a:ext>
            </a:extLst>
          </p:cNvPr>
          <p:cNvSpPr txBox="1">
            <a:spLocks/>
          </p:cNvSpPr>
          <p:nvPr/>
        </p:nvSpPr>
        <p:spPr>
          <a:xfrm>
            <a:off x="3173933" y="3896490"/>
            <a:ext cx="3541858" cy="27939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100" spc="150" dirty="0">
                <a:latin typeface="FontAwesome" pitchFamily="2" charset="0"/>
              </a:rPr>
              <a:t> </a:t>
            </a:r>
            <a:r>
              <a:rPr lang="en-US" sz="1400" spc="150" dirty="0">
                <a:latin typeface="Raleway ExtraBold" panose="020B0903030101060003" pitchFamily="34" charset="-52"/>
              </a:rPr>
              <a:t>Requirement Spec Generation</a:t>
            </a:r>
          </a:p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Performance, Reliability, Logs , Security ,Compliance Monitoring, </a:t>
            </a:r>
          </a:p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Any data Model Capturing</a:t>
            </a:r>
          </a:p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Integration requirement  of Automation and Service Desk Management.  </a:t>
            </a:r>
          </a:p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Architecture review and Approval</a:t>
            </a:r>
          </a:p>
          <a:p>
            <a:pPr lvl="1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Services , Integration , Deployment </a:t>
            </a:r>
            <a:r>
              <a:rPr lang="en-US" sz="8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	</a:t>
            </a:r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AFA849F6-D030-4FE3-AE20-C07F7BF8AA49}"/>
              </a:ext>
            </a:extLst>
          </p:cNvPr>
          <p:cNvSpPr txBox="1">
            <a:spLocks/>
          </p:cNvSpPr>
          <p:nvPr/>
        </p:nvSpPr>
        <p:spPr>
          <a:xfrm>
            <a:off x="6715791" y="3875919"/>
            <a:ext cx="2718782" cy="19085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200" spc="150" dirty="0">
                <a:latin typeface="Raleway ExtraBold" panose="020B0903030101060003" pitchFamily="34" charset="-52"/>
              </a:rPr>
              <a:t>Planning &amp; Roadmap</a:t>
            </a:r>
            <a:endParaRPr lang="en-US" sz="1000" kern="0" dirty="0">
              <a:latin typeface="Arial" panose="020B0604020202020204" pitchFamily="34" charset="0"/>
              <a:ea typeface="Karla" pitchFamily="2" charset="0"/>
              <a:cs typeface="Arial" panose="020B0604020202020204" pitchFamily="34" charset="0"/>
            </a:endParaRP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Roadmap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Milestones &amp; Deliverables 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Risk Plans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ROI Analysis </a:t>
            </a:r>
          </a:p>
        </p:txBody>
      </p:sp>
      <p:sp>
        <p:nvSpPr>
          <p:cNvPr id="33" name="Подзаголовок 2">
            <a:extLst>
              <a:ext uri="{FF2B5EF4-FFF2-40B4-BE49-F238E27FC236}">
                <a16:creationId xmlns:a16="http://schemas.microsoft.com/office/drawing/2014/main" id="{741B9008-927D-4FD7-AE4D-F6DB64EBDE05}"/>
              </a:ext>
            </a:extLst>
          </p:cNvPr>
          <p:cNvSpPr txBox="1">
            <a:spLocks/>
          </p:cNvSpPr>
          <p:nvPr/>
        </p:nvSpPr>
        <p:spPr>
          <a:xfrm>
            <a:off x="9400581" y="3896490"/>
            <a:ext cx="2718782" cy="19085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200" spc="150" dirty="0">
                <a:latin typeface="Raleway ExtraBold" panose="020B0903030101060003" pitchFamily="34" charset="-52"/>
              </a:rPr>
              <a:t>Presentation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0" dirty="0"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Presentation of the report and plans to stakeholders.</a:t>
            </a:r>
          </a:p>
        </p:txBody>
      </p:sp>
    </p:spTree>
    <p:extLst>
      <p:ext uri="{BB962C8B-B14F-4D97-AF65-F5344CB8AC3E}">
        <p14:creationId xmlns:p14="http://schemas.microsoft.com/office/powerpoint/2010/main" val="4212198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9" grpId="0"/>
      <p:bldP spid="18" grpId="0"/>
      <p:bldP spid="5" grpId="0"/>
      <p:bldP spid="21" grpId="0"/>
      <p:bldP spid="22" grpId="0"/>
      <p:bldP spid="25" grpId="0"/>
      <p:bldP spid="26" grpId="0"/>
      <p:bldP spid="29" grpId="0"/>
      <p:bldP spid="30" grpId="0"/>
      <p:bldP spid="28" grpId="0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Key Consideration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328225"/>
              </p:ext>
            </p:extLst>
          </p:nvPr>
        </p:nvGraphicFramePr>
        <p:xfrm>
          <a:off x="-16330" y="624578"/>
          <a:ext cx="12208329" cy="6233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08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Need 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Performance, Site Reliability, Jobs , Logs , Security ,Compliance Monitoring – Phase – wise - requirement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Automation Need 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Existing  Backup / Recovery / Snapshot / Patch Management  / Audit 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 Cleaning / Space provisioning  / Diagnostics 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Automation Tooling Need 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Containerized Jenkins Jobs /  Serverless on Kubernetes Platform Using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Tekton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/  Aws Lambda Driven  / AWS Step Jobs / Apache NIFI Dataflow Engine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Job Automation Framework 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Microservices framework that gives better visibility  , resilience and change management ability ? Integration with ITSM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 / Authentication &amp; RBAC Framework?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Authentication ?  AD/ MFA 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Remote worker access via access gateway / VPN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 Control – Read Only /  Admin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Integration Framework 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Alerting Framework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Tools  Integration with ITSM  and Automation Framework – Ticket Generation , Remediation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ITSM integration with Automation Framework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Deployment  Framework  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/ Test / Stage  / Prod platform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to deploy in Dev / Prod?  Dev in single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kube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microk8s , prod in cluster?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8672245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Operations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986942"/>
              </p:ext>
            </p:extLst>
          </p:nvPr>
        </p:nvGraphicFramePr>
        <p:xfrm>
          <a:off x="0" y="624578"/>
          <a:ext cx="12160577" cy="6233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monitoring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Tool in place which can monitor the following from single window 	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 cluster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services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availability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 balancer statistics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Network traffic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Physical server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Virtual Server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Storage performance 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practices scale to manage more modern distributed and microservices-style architectures with many new languages and data stores and potentially thousands of services to support?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Teams can visually depict changes in application environments to quickly identify when and where changes occurred, together with the resulting impact on performance?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your monitoring able to distinguish the most critical and recurrent problems and how they impact business services, without lengthy configuration and baselining?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Has your organization been effective in moving monitoring into development and test - making it an established element of the process in those areas to prevent defects from getting into production?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you have complete end-to-end visibility into all business services and transactions - from customer engagement via mobile devices and apps, through middleware and databases to back-end systems-of-record.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effective are your teams in monitoring information and analytics on mobile app behavior and usage to not only resolve problems, but also drive development improvements?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your teams monitor complete business services that link end-user experience, end-to-end transactions and applications to infrastructure and pinpoint root cause and potential impact?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able to quickly correlate and analyze multiple application performance metrics to solve complex emerging problems before they impact end-user experience?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teams have visibility into system capacity in order to understand the impact of increased system workloads?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aware of third-party dependencies to ensure reliable service delivery?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teams have a unified view that enables them to quickly pinpoint and triage problems?	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log analysis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 Log collection and search tool is present and team is trained on that.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log analysis tools present that continuously gives insights to application services reliability &amp; performance.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log analysis tools are integrated with ITSM tool to raise alerts depending on log analysis results.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9235960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Operations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124950"/>
              </p:ext>
            </p:extLst>
          </p:nvPr>
        </p:nvGraphicFramePr>
        <p:xfrm>
          <a:off x="0" y="624578"/>
          <a:ext cx="12160577" cy="6233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ITSM process capability?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 central ITSM tool and Operation SLA’s defined and different teams in operation address different tickets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do resource provisioning manually through ITSM tickets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tools that does automated ticket remediation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resource provisioning is entirely automatics , the architecture guarantee automated elastic provisioning of cluster , services , and associated resources.</a:t>
                      </a:r>
                    </a:p>
                    <a:p>
                      <a:pPr marL="457200" lvl="1" indent="0"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log analysis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 Log collection and search tool is present, and team is trained on that.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log analysis tools present that continuously gives insights to application services reliability &amp; performance.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log analysis tools are integrated with ITSM tool to raise alerts depending on log analysis results.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audit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tools and scripts in place to do regular application and infrastructure  security audits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audit trails tools present to perform audit trailing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continuous security and continuous compliance system in place that gives you real time visibility on security and compliance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centralized tools for auditing different environments (dev/stage/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/tests) , products deployed across clouds in real time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resilience 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mostly troubleshot from you log analysis or  monitoring tool and restore the services manually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diagnostics scripts available that you run to troubleshoot failure and restore services manually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support resiliency through resilience architecture (circuit breaker sort of)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Automation scripts are present which does regular and preventive maintenance in response to system nature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operation maturity in adopting advanced technologies?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automated ticker remediation and workflows that caters your 60% tickets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provision your infrastructure with automated tools that seamlessly does hyper scaling cluster and cloud provisioning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centralized tool to monitor different product , environments , services and clouds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continuous security , billing , compliance mechanism in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568978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-8526" y="-869185"/>
            <a:ext cx="6217920" cy="5987231"/>
          </a:xfrm>
          <a:prstGeom prst="arc">
            <a:avLst>
              <a:gd name="adj1" fmla="val 12937448"/>
              <a:gd name="adj2" fmla="val 3225711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58"/>
            <a:ext cx="6096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solidFill>
                  <a:srgbClr val="E23936"/>
                </a:solidFill>
                <a:latin typeface="Raleway ExtraBold" panose="020B0903030101060003" pitchFamily="34" charset="0"/>
              </a:rPr>
              <a:t>Centralized Job Runner Framework</a:t>
            </a:r>
            <a:endParaRPr lang="en-US" altLang="ru-RU" sz="24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Real Time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513" y="5465763"/>
            <a:ext cx="53732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Resilient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51169" cy="5113787"/>
            <a:chOff x="7132200" y="1581718"/>
            <a:chExt cx="3961661" cy="42735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7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Manage all types of jobs from 1 console in 1 pool 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VS  </a:t>
              </a:r>
              <a:r>
                <a:rPr lang="en-US" sz="1400" b="1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N+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jobs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in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M 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different edge nodes,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U+ </a:t>
              </a:r>
              <a:r>
                <a:rPr lang="en-US" sz="1400" dirty="0">
                  <a:latin typeface="+mn-lt"/>
                  <a:cs typeface="Arial" panose="020B0604020202020204" pitchFamily="34" charset="0"/>
                </a:rPr>
                <a:t>upgrade process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77516" y="2514957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 Scheduling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Realtime visibility + Diagnostics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Resilience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Reliability / Manageability / Extension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Agility </a:t>
              </a:r>
            </a:p>
          </p:txBody>
        </p:sp>
      </p:grpSp>
      <p:sp>
        <p:nvSpPr>
          <p:cNvPr id="82" name="Прямоугольник 4">
            <a:extLst>
              <a:ext uri="{FF2B5EF4-FFF2-40B4-BE49-F238E27FC236}">
                <a16:creationId xmlns:a16="http://schemas.microsoft.com/office/drawing/2014/main" id="{4C3CA418-C445-43A4-B60D-5A3590420967}"/>
              </a:ext>
            </a:extLst>
          </p:cNvPr>
          <p:cNvSpPr/>
          <p:nvPr/>
        </p:nvSpPr>
        <p:spPr>
          <a:xfrm>
            <a:off x="2766516" y="1994613"/>
            <a:ext cx="78098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D</a:t>
            </a:r>
            <a:r>
              <a:rPr lang="en-US" sz="1200" kern="0" dirty="0" err="1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Master</a:t>
            </a: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gn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concept</a:t>
            </a:r>
          </a:p>
        </p:txBody>
      </p:sp>
      <p:sp>
        <p:nvSpPr>
          <p:cNvPr id="84" name="Прямоугольник 7">
            <a:extLst>
              <a:ext uri="{FF2B5EF4-FFF2-40B4-BE49-F238E27FC236}">
                <a16:creationId xmlns:a16="http://schemas.microsoft.com/office/drawing/2014/main" id="{502E9AE8-1346-419F-848B-D57A7359AF93}"/>
              </a:ext>
            </a:extLst>
          </p:cNvPr>
          <p:cNvSpPr/>
          <p:nvPr/>
        </p:nvSpPr>
        <p:spPr>
          <a:xfrm>
            <a:off x="3933294" y="1519137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Batch4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g</a:t>
            </a:r>
          </a:p>
        </p:txBody>
      </p:sp>
      <p:sp>
        <p:nvSpPr>
          <p:cNvPr id="87" name="Прямоугольник 10">
            <a:extLst>
              <a:ext uri="{FF2B5EF4-FFF2-40B4-BE49-F238E27FC236}">
                <a16:creationId xmlns:a16="http://schemas.microsoft.com/office/drawing/2014/main" id="{A51810F5-A6F9-4DF6-B162-FC0287FE8E9A}"/>
              </a:ext>
            </a:extLst>
          </p:cNvPr>
          <p:cNvSpPr/>
          <p:nvPr/>
        </p:nvSpPr>
        <p:spPr>
          <a:xfrm>
            <a:off x="4241039" y="3543991"/>
            <a:ext cx="1527249" cy="3200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Time Series DB</a:t>
            </a:r>
          </a:p>
        </p:txBody>
      </p:sp>
      <p:cxnSp>
        <p:nvCxnSpPr>
          <p:cNvPr id="88" name="Прямая соединительная линия 11">
            <a:extLst>
              <a:ext uri="{FF2B5EF4-FFF2-40B4-BE49-F238E27FC236}">
                <a16:creationId xmlns:a16="http://schemas.microsoft.com/office/drawing/2014/main" id="{9C33D6D9-23FD-461E-AC96-C2CD79D04618}"/>
              </a:ext>
            </a:extLst>
          </p:cNvPr>
          <p:cNvCxnSpPr/>
          <p:nvPr/>
        </p:nvCxnSpPr>
        <p:spPr>
          <a:xfrm flipH="1" flipV="1">
            <a:off x="2150879" y="1646613"/>
            <a:ext cx="542230" cy="35736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Скругленный прямоугольник 12">
            <a:extLst>
              <a:ext uri="{FF2B5EF4-FFF2-40B4-BE49-F238E27FC236}">
                <a16:creationId xmlns:a16="http://schemas.microsoft.com/office/drawing/2014/main" id="{77CF96A0-7D49-48CE-8E02-FFB81BD3F1D5}"/>
              </a:ext>
            </a:extLst>
          </p:cNvPr>
          <p:cNvSpPr/>
          <p:nvPr/>
        </p:nvSpPr>
        <p:spPr>
          <a:xfrm>
            <a:off x="622692" y="1451586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0" name="Прямоугольник 13">
            <a:extLst>
              <a:ext uri="{FF2B5EF4-FFF2-40B4-BE49-F238E27FC236}">
                <a16:creationId xmlns:a16="http://schemas.microsoft.com/office/drawing/2014/main" id="{8514021A-D7D2-4A65-9E25-ECE3E43E3AB3}"/>
              </a:ext>
            </a:extLst>
          </p:cNvPr>
          <p:cNvSpPr/>
          <p:nvPr/>
        </p:nvSpPr>
        <p:spPr>
          <a:xfrm>
            <a:off x="622692" y="1519137"/>
            <a:ext cx="1528187" cy="6052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Batch3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Project featured</a:t>
            </a:r>
          </a:p>
        </p:txBody>
      </p:sp>
      <p:cxnSp>
        <p:nvCxnSpPr>
          <p:cNvPr id="91" name="Прямая соединительная линия 14">
            <a:extLst>
              <a:ext uri="{FF2B5EF4-FFF2-40B4-BE49-F238E27FC236}">
                <a16:creationId xmlns:a16="http://schemas.microsoft.com/office/drawing/2014/main" id="{9997F3CB-34B0-4C07-AA93-CE5FABDA324C}"/>
              </a:ext>
            </a:extLst>
          </p:cNvPr>
          <p:cNvCxnSpPr>
            <a:endCxn id="92" idx="3"/>
          </p:cNvCxnSpPr>
          <p:nvPr/>
        </p:nvCxnSpPr>
        <p:spPr>
          <a:xfrm flipH="1">
            <a:off x="2138683" y="2285080"/>
            <a:ext cx="524406" cy="20810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Скругленный прямоугольник 15">
            <a:extLst>
              <a:ext uri="{FF2B5EF4-FFF2-40B4-BE49-F238E27FC236}">
                <a16:creationId xmlns:a16="http://schemas.microsoft.com/office/drawing/2014/main" id="{3AB08AF0-7F74-4C9C-8F43-3C32210A86E3}"/>
              </a:ext>
            </a:extLst>
          </p:cNvPr>
          <p:cNvSpPr/>
          <p:nvPr/>
        </p:nvSpPr>
        <p:spPr>
          <a:xfrm>
            <a:off x="611434" y="2306871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3" name="Прямоугольник 16">
            <a:extLst>
              <a:ext uri="{FF2B5EF4-FFF2-40B4-BE49-F238E27FC236}">
                <a16:creationId xmlns:a16="http://schemas.microsoft.com/office/drawing/2014/main" id="{6C09C95A-038F-4E07-8FAC-20A2DB6D3E31}"/>
              </a:ext>
            </a:extLst>
          </p:cNvPr>
          <p:cNvSpPr/>
          <p:nvPr/>
        </p:nvSpPr>
        <p:spPr>
          <a:xfrm>
            <a:off x="611434" y="2374422"/>
            <a:ext cx="1527249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Batch2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ather information</a:t>
            </a:r>
          </a:p>
        </p:txBody>
      </p:sp>
      <p:sp>
        <p:nvSpPr>
          <p:cNvPr id="94" name="Скругленный прямоугольник 20">
            <a:extLst>
              <a:ext uri="{FF2B5EF4-FFF2-40B4-BE49-F238E27FC236}">
                <a16:creationId xmlns:a16="http://schemas.microsoft.com/office/drawing/2014/main" id="{AE2AD000-A262-4AAD-A7CD-4733DF05ED83}"/>
              </a:ext>
            </a:extLst>
          </p:cNvPr>
          <p:cNvSpPr/>
          <p:nvPr/>
        </p:nvSpPr>
        <p:spPr>
          <a:xfrm>
            <a:off x="737348" y="2871794"/>
            <a:ext cx="152818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5" name="Прямоугольник 21">
            <a:extLst>
              <a:ext uri="{FF2B5EF4-FFF2-40B4-BE49-F238E27FC236}">
                <a16:creationId xmlns:a16="http://schemas.microsoft.com/office/drawing/2014/main" id="{AF2228B5-E046-405E-A40F-C26ADD617FE3}"/>
              </a:ext>
            </a:extLst>
          </p:cNvPr>
          <p:cNvSpPr/>
          <p:nvPr/>
        </p:nvSpPr>
        <p:spPr>
          <a:xfrm>
            <a:off x="890002" y="2866907"/>
            <a:ext cx="1528186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Batch1</a:t>
            </a:r>
            <a:r>
              <a:rPr lang="en-US" sz="120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4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Web development</a:t>
            </a:r>
          </a:p>
        </p:txBody>
      </p:sp>
      <p:cxnSp>
        <p:nvCxnSpPr>
          <p:cNvPr id="96" name="Прямая соединительная линия 23">
            <a:extLst>
              <a:ext uri="{FF2B5EF4-FFF2-40B4-BE49-F238E27FC236}">
                <a16:creationId xmlns:a16="http://schemas.microsoft.com/office/drawing/2014/main" id="{60DC4568-98C3-46FB-802B-EBC19CD05BCC}"/>
              </a:ext>
            </a:extLst>
          </p:cNvPr>
          <p:cNvCxnSpPr>
            <a:cxnSpLocks/>
            <a:stCxn id="106" idx="3"/>
            <a:endCxn id="94" idx="3"/>
          </p:cNvCxnSpPr>
          <p:nvPr/>
        </p:nvCxnSpPr>
        <p:spPr>
          <a:xfrm flipH="1">
            <a:off x="2265534" y="2525426"/>
            <a:ext cx="537394" cy="53267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Скругленный прямоугольник 32">
            <a:extLst>
              <a:ext uri="{FF2B5EF4-FFF2-40B4-BE49-F238E27FC236}">
                <a16:creationId xmlns:a16="http://schemas.microsoft.com/office/drawing/2014/main" id="{9125D98C-AE42-4A33-B609-21FA71BF38DB}"/>
              </a:ext>
            </a:extLst>
          </p:cNvPr>
          <p:cNvSpPr/>
          <p:nvPr/>
        </p:nvSpPr>
        <p:spPr>
          <a:xfrm>
            <a:off x="2277524" y="3179587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8" name="Прямоугольник 33">
            <a:extLst>
              <a:ext uri="{FF2B5EF4-FFF2-40B4-BE49-F238E27FC236}">
                <a16:creationId xmlns:a16="http://schemas.microsoft.com/office/drawing/2014/main" id="{B8C6EBD9-E1A4-40CC-BF7F-E199089733B7}"/>
              </a:ext>
            </a:extLst>
          </p:cNvPr>
          <p:cNvSpPr/>
          <p:nvPr/>
        </p:nvSpPr>
        <p:spPr>
          <a:xfrm>
            <a:off x="2266267" y="3252586"/>
            <a:ext cx="1411854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Batch6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sting product</a:t>
            </a:r>
          </a:p>
        </p:txBody>
      </p:sp>
      <p:cxnSp>
        <p:nvCxnSpPr>
          <p:cNvPr id="102" name="Прямая соединительная линия 49">
            <a:extLst>
              <a:ext uri="{FF2B5EF4-FFF2-40B4-BE49-F238E27FC236}">
                <a16:creationId xmlns:a16="http://schemas.microsoft.com/office/drawing/2014/main" id="{D2980EB4-5410-4D8A-8716-2C6EDD353B85}"/>
              </a:ext>
            </a:extLst>
          </p:cNvPr>
          <p:cNvCxnSpPr>
            <a:cxnSpLocks/>
            <a:stCxn id="104" idx="0"/>
            <a:endCxn id="106" idx="5"/>
          </p:cNvCxnSpPr>
          <p:nvPr/>
        </p:nvCxnSpPr>
        <p:spPr>
          <a:xfrm flipH="1" flipV="1">
            <a:off x="3527967" y="2525426"/>
            <a:ext cx="1143565" cy="44514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43">
            <a:extLst>
              <a:ext uri="{FF2B5EF4-FFF2-40B4-BE49-F238E27FC236}">
                <a16:creationId xmlns:a16="http://schemas.microsoft.com/office/drawing/2014/main" id="{DDBB0188-4D22-4B0B-A6C8-5AC7FE3A74BE}"/>
              </a:ext>
            </a:extLst>
          </p:cNvPr>
          <p:cNvCxnSpPr>
            <a:endCxn id="97" idx="0"/>
          </p:cNvCxnSpPr>
          <p:nvPr/>
        </p:nvCxnSpPr>
        <p:spPr>
          <a:xfrm>
            <a:off x="3042086" y="2677312"/>
            <a:ext cx="0" cy="502275"/>
          </a:xfrm>
          <a:prstGeom prst="line">
            <a:avLst/>
          </a:prstGeom>
          <a:ln w="19050">
            <a:solidFill>
              <a:srgbClr val="E2393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Скругленный прямоугольник 51">
            <a:extLst>
              <a:ext uri="{FF2B5EF4-FFF2-40B4-BE49-F238E27FC236}">
                <a16:creationId xmlns:a16="http://schemas.microsoft.com/office/drawing/2014/main" id="{97B1DCC1-210B-451C-A4B2-5714F52D9450}"/>
              </a:ext>
            </a:extLst>
          </p:cNvPr>
          <p:cNvSpPr/>
          <p:nvPr/>
        </p:nvSpPr>
        <p:spPr>
          <a:xfrm>
            <a:off x="3907438" y="2970573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5" name="Прямоугольник 52">
            <a:extLst>
              <a:ext uri="{FF2B5EF4-FFF2-40B4-BE49-F238E27FC236}">
                <a16:creationId xmlns:a16="http://schemas.microsoft.com/office/drawing/2014/main" id="{43183241-1043-437E-8804-D8722428C0C6}"/>
              </a:ext>
            </a:extLst>
          </p:cNvPr>
          <p:cNvSpPr/>
          <p:nvPr/>
        </p:nvSpPr>
        <p:spPr>
          <a:xfrm>
            <a:off x="4095211" y="3005180"/>
            <a:ext cx="1528187" cy="3488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Batch5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rking site</a:t>
            </a:r>
          </a:p>
        </p:txBody>
      </p:sp>
      <p:sp>
        <p:nvSpPr>
          <p:cNvPr id="106" name="Овал 3">
            <a:extLst>
              <a:ext uri="{FF2B5EF4-FFF2-40B4-BE49-F238E27FC236}">
                <a16:creationId xmlns:a16="http://schemas.microsoft.com/office/drawing/2014/main" id="{05171465-F387-42C4-A601-8D52BDAF4B12}"/>
              </a:ext>
            </a:extLst>
          </p:cNvPr>
          <p:cNvSpPr/>
          <p:nvPr/>
        </p:nvSpPr>
        <p:spPr>
          <a:xfrm>
            <a:off x="2652768" y="1754476"/>
            <a:ext cx="1025359" cy="903224"/>
          </a:xfrm>
          <a:prstGeom prst="ellipse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7" name="Скругленный прямоугольник 6">
            <a:extLst>
              <a:ext uri="{FF2B5EF4-FFF2-40B4-BE49-F238E27FC236}">
                <a16:creationId xmlns:a16="http://schemas.microsoft.com/office/drawing/2014/main" id="{29E7BAC1-3F4B-42EB-BDC0-B2CEAE59E70D}"/>
              </a:ext>
            </a:extLst>
          </p:cNvPr>
          <p:cNvSpPr/>
          <p:nvPr/>
        </p:nvSpPr>
        <p:spPr>
          <a:xfrm>
            <a:off x="3933294" y="1451586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356AF3-BB29-4D56-835C-76C67FDB7A27}"/>
              </a:ext>
            </a:extLst>
          </p:cNvPr>
          <p:cNvGrpSpPr/>
          <p:nvPr/>
        </p:nvGrpSpPr>
        <p:grpSpPr>
          <a:xfrm>
            <a:off x="701181" y="3467570"/>
            <a:ext cx="932891" cy="828018"/>
            <a:chOff x="2024678" y="2211388"/>
            <a:chExt cx="932891" cy="828018"/>
          </a:xfrm>
        </p:grpSpPr>
        <p:sp>
          <p:nvSpPr>
            <p:cNvPr id="108" name="Шестиугольник 5">
              <a:extLst>
                <a:ext uri="{FF2B5EF4-FFF2-40B4-BE49-F238E27FC236}">
                  <a16:creationId xmlns:a16="http://schemas.microsoft.com/office/drawing/2014/main" id="{50DA81FA-1DA6-485D-A885-55CC9F4FEF66}"/>
                </a:ext>
              </a:extLst>
            </p:cNvPr>
            <p:cNvSpPr/>
            <p:nvPr/>
          </p:nvSpPr>
          <p:spPr>
            <a:xfrm>
              <a:off x="2024678" y="22113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9" name="Шестиугольник 5">
              <a:extLst>
                <a:ext uri="{FF2B5EF4-FFF2-40B4-BE49-F238E27FC236}">
                  <a16:creationId xmlns:a16="http://schemas.microsoft.com/office/drawing/2014/main" id="{363E6ABB-B3CC-4DC6-8C23-B1D3ECF2B134}"/>
                </a:ext>
              </a:extLst>
            </p:cNvPr>
            <p:cNvSpPr/>
            <p:nvPr/>
          </p:nvSpPr>
          <p:spPr>
            <a:xfrm>
              <a:off x="2177078" y="23637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0" name="Шестиугольник 5">
              <a:extLst>
                <a:ext uri="{FF2B5EF4-FFF2-40B4-BE49-F238E27FC236}">
                  <a16:creationId xmlns:a16="http://schemas.microsoft.com/office/drawing/2014/main" id="{45BFB98E-2370-4DE1-AF4A-6E3669DE48F8}"/>
                </a:ext>
              </a:extLst>
            </p:cNvPr>
            <p:cNvSpPr/>
            <p:nvPr/>
          </p:nvSpPr>
          <p:spPr>
            <a:xfrm>
              <a:off x="2329478" y="25161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24729-F49B-460A-AFDB-1DC0ADCC65F4}"/>
              </a:ext>
            </a:extLst>
          </p:cNvPr>
          <p:cNvGrpSpPr/>
          <p:nvPr/>
        </p:nvGrpSpPr>
        <p:grpSpPr>
          <a:xfrm>
            <a:off x="2015143" y="3850421"/>
            <a:ext cx="1085291" cy="980418"/>
            <a:chOff x="3177620" y="1140291"/>
            <a:chExt cx="1085291" cy="980418"/>
          </a:xfrm>
        </p:grpSpPr>
        <p:sp>
          <p:nvSpPr>
            <p:cNvPr id="111" name="Шестиугольник 5">
              <a:extLst>
                <a:ext uri="{FF2B5EF4-FFF2-40B4-BE49-F238E27FC236}">
                  <a16:creationId xmlns:a16="http://schemas.microsoft.com/office/drawing/2014/main" id="{9CE6BCF2-FA9A-4EFB-814D-77735A7E71C9}"/>
                </a:ext>
              </a:extLst>
            </p:cNvPr>
            <p:cNvSpPr/>
            <p:nvPr/>
          </p:nvSpPr>
          <p:spPr>
            <a:xfrm>
              <a:off x="3177620" y="11402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2" name="Шестиугольник 5">
              <a:extLst>
                <a:ext uri="{FF2B5EF4-FFF2-40B4-BE49-F238E27FC236}">
                  <a16:creationId xmlns:a16="http://schemas.microsoft.com/office/drawing/2014/main" id="{17C9C42E-DEC6-4F2C-A9CA-5B4325C201CF}"/>
                </a:ext>
              </a:extLst>
            </p:cNvPr>
            <p:cNvSpPr/>
            <p:nvPr/>
          </p:nvSpPr>
          <p:spPr>
            <a:xfrm>
              <a:off x="3330020" y="12926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3" name="Шестиугольник 5">
              <a:extLst>
                <a:ext uri="{FF2B5EF4-FFF2-40B4-BE49-F238E27FC236}">
                  <a16:creationId xmlns:a16="http://schemas.microsoft.com/office/drawing/2014/main" id="{7339AEB1-AF52-49F3-BDFA-22014E9F2996}"/>
                </a:ext>
              </a:extLst>
            </p:cNvPr>
            <p:cNvSpPr/>
            <p:nvPr/>
          </p:nvSpPr>
          <p:spPr>
            <a:xfrm>
              <a:off x="3482420" y="14450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4" name="Шестиугольник 5">
              <a:extLst>
                <a:ext uri="{FF2B5EF4-FFF2-40B4-BE49-F238E27FC236}">
                  <a16:creationId xmlns:a16="http://schemas.microsoft.com/office/drawing/2014/main" id="{6463EE41-7C47-4905-A3AE-3EEE56A6DFF1}"/>
                </a:ext>
              </a:extLst>
            </p:cNvPr>
            <p:cNvSpPr/>
            <p:nvPr/>
          </p:nvSpPr>
          <p:spPr>
            <a:xfrm>
              <a:off x="3634820" y="15974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cxnSp>
        <p:nvCxnSpPr>
          <p:cNvPr id="121" name="Прямая соединительная линия 49">
            <a:extLst>
              <a:ext uri="{FF2B5EF4-FFF2-40B4-BE49-F238E27FC236}">
                <a16:creationId xmlns:a16="http://schemas.microsoft.com/office/drawing/2014/main" id="{116ED0DE-2E3F-4C4B-9B30-27859AD95578}"/>
              </a:ext>
            </a:extLst>
          </p:cNvPr>
          <p:cNvCxnSpPr>
            <a:cxnSpLocks/>
            <a:stCxn id="113" idx="5"/>
          </p:cNvCxnSpPr>
          <p:nvPr/>
        </p:nvCxnSpPr>
        <p:spPr>
          <a:xfrm flipV="1">
            <a:off x="2817230" y="3577266"/>
            <a:ext cx="161109" cy="577955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49">
            <a:extLst>
              <a:ext uri="{FF2B5EF4-FFF2-40B4-BE49-F238E27FC236}">
                <a16:creationId xmlns:a16="http://schemas.microsoft.com/office/drawing/2014/main" id="{EA4A87F8-50D3-41A8-AC39-9D843B858A13}"/>
              </a:ext>
            </a:extLst>
          </p:cNvPr>
          <p:cNvCxnSpPr>
            <a:cxnSpLocks/>
          </p:cNvCxnSpPr>
          <p:nvPr/>
        </p:nvCxnSpPr>
        <p:spPr>
          <a:xfrm flipV="1">
            <a:off x="1352781" y="3249819"/>
            <a:ext cx="149852" cy="38515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919" name="Picture 37918">
            <a:extLst>
              <a:ext uri="{FF2B5EF4-FFF2-40B4-BE49-F238E27FC236}">
                <a16:creationId xmlns:a16="http://schemas.microsoft.com/office/drawing/2014/main" id="{78BC9530-4702-4DAC-9803-6633085D8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802" y="3693092"/>
            <a:ext cx="1123988" cy="1003400"/>
          </a:xfrm>
          <a:prstGeom prst="rect">
            <a:avLst/>
          </a:prstGeom>
        </p:spPr>
      </p:pic>
      <p:cxnSp>
        <p:nvCxnSpPr>
          <p:cNvPr id="149" name="Прямая соединительная линия 49">
            <a:extLst>
              <a:ext uri="{FF2B5EF4-FFF2-40B4-BE49-F238E27FC236}">
                <a16:creationId xmlns:a16="http://schemas.microsoft.com/office/drawing/2014/main" id="{C542AC07-C886-4FB0-B2B1-74935B76DE2B}"/>
              </a:ext>
            </a:extLst>
          </p:cNvPr>
          <p:cNvCxnSpPr>
            <a:cxnSpLocks/>
            <a:stCxn id="37919" idx="1"/>
            <a:endCxn id="114" idx="5"/>
          </p:cNvCxnSpPr>
          <p:nvPr/>
        </p:nvCxnSpPr>
        <p:spPr>
          <a:xfrm flipH="1">
            <a:off x="2969630" y="4194792"/>
            <a:ext cx="549172" cy="11282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61889" y="5504097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cxnSp>
        <p:nvCxnSpPr>
          <p:cNvPr id="59" name="Прямая соединительная линия 49">
            <a:extLst>
              <a:ext uri="{FF2B5EF4-FFF2-40B4-BE49-F238E27FC236}">
                <a16:creationId xmlns:a16="http://schemas.microsoft.com/office/drawing/2014/main" id="{5D6021AF-6F64-4ED8-9606-FEC2A8D5AE5D}"/>
              </a:ext>
            </a:extLst>
          </p:cNvPr>
          <p:cNvCxnSpPr>
            <a:cxnSpLocks/>
            <a:stCxn id="107" idx="1"/>
          </p:cNvCxnSpPr>
          <p:nvPr/>
        </p:nvCxnSpPr>
        <p:spPr>
          <a:xfrm flipH="1">
            <a:off x="3446536" y="1637897"/>
            <a:ext cx="486758" cy="16501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526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4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4EF011-1BB4-40E2-8200-6801731A42C7}"/>
</file>

<file path=customXml/itemProps2.xml><?xml version="1.0" encoding="utf-8"?>
<ds:datastoreItem xmlns:ds="http://schemas.openxmlformats.org/officeDocument/2006/customXml" ds:itemID="{14EFDD10-78AA-4CA6-AD86-A7795A943BED}"/>
</file>

<file path=customXml/itemProps3.xml><?xml version="1.0" encoding="utf-8"?>
<ds:datastoreItem xmlns:ds="http://schemas.openxmlformats.org/officeDocument/2006/customXml" ds:itemID="{C4A1541F-5FBF-4871-9D64-389555171DAA}"/>
</file>

<file path=docProps/app.xml><?xml version="1.0" encoding="utf-8"?>
<Properties xmlns="http://schemas.openxmlformats.org/officeDocument/2006/extended-properties" xmlns:vt="http://schemas.openxmlformats.org/officeDocument/2006/docPropsVTypes">
  <TotalTime>24221</TotalTime>
  <Words>1204</Words>
  <Application>Microsoft Office PowerPoint</Application>
  <PresentationFormat>Widescreen</PresentationFormat>
  <Paragraphs>158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Calibri</vt:lpstr>
      <vt:lpstr>Calibri Light</vt:lpstr>
      <vt:lpstr>FontAwesome</vt:lpstr>
      <vt:lpstr>Montserrat SemiBold</vt:lpstr>
      <vt:lpstr>Poppins</vt:lpstr>
      <vt:lpstr>Raleway ExtraBold</vt:lpstr>
      <vt:lpstr>Raleway Heavy</vt:lpstr>
      <vt:lpstr>Raleway Medium</vt:lpstr>
      <vt:lpstr>Raleway SemiBold</vt:lpstr>
      <vt:lpstr>Тема Office</vt:lpstr>
      <vt:lpstr>Диаграмма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Papu Bhattacharya</cp:lastModifiedBy>
  <cp:revision>633</cp:revision>
  <dcterms:created xsi:type="dcterms:W3CDTF">2016-11-15T05:15:01Z</dcterms:created>
  <dcterms:modified xsi:type="dcterms:W3CDTF">2020-03-11T12:30:09Z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