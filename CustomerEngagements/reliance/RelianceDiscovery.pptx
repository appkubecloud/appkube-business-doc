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2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3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327" r:id="rId3"/>
    <p:sldId id="350" r:id="rId4"/>
    <p:sldId id="328" r:id="rId5"/>
    <p:sldId id="330" r:id="rId6"/>
    <p:sldId id="329" r:id="rId7"/>
    <p:sldId id="331" r:id="rId8"/>
    <p:sldId id="333" r:id="rId9"/>
    <p:sldId id="334" r:id="rId10"/>
    <p:sldId id="335" r:id="rId11"/>
    <p:sldId id="336" r:id="rId12"/>
    <p:sldId id="338" r:id="rId13"/>
    <p:sldId id="337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</p:sldIdLst>
  <p:sldSz cx="12192000" cy="6858000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32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70"/>
    <a:srgbClr val="E23936"/>
    <a:srgbClr val="F29B96"/>
    <a:srgbClr val="EB64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92926" autoAdjust="0"/>
  </p:normalViewPr>
  <p:slideViewPr>
    <p:cSldViewPr snapToGrid="0">
      <p:cViewPr varScale="1">
        <p:scale>
          <a:sx n="63" d="100"/>
          <a:sy n="63" d="100"/>
        </p:scale>
        <p:origin x="744" y="56"/>
      </p:cViewPr>
      <p:guideLst>
        <p:guide pos="3840"/>
        <p:guide orient="horz" pos="324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711C8D9-35FB-4256-B7B4-7311814253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010164-668F-464C-B7B2-1730F6EED1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8A0DAC6-5924-43D2-9238-6A3A8FA5DAE7}" type="datetimeFigureOut">
              <a:rPr lang="ru-RU"/>
              <a:pPr>
                <a:defRPr/>
              </a:pPr>
              <a:t>11.05.2018</a:t>
            </a:fld>
            <a:endParaRPr lang="ru-RU" dirty="0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55D7B54E-1B69-461A-9760-B9A0B18B3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7E1E3FF1-3635-4414-8E43-095C316C4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432E30-D37F-4020-BD96-76D507996B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F17E46-5BB4-4DF6-81B8-FE420597A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D54283D-B617-4C0C-8B6C-DC7F41934E1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order to deliver these services today, most IT departments focus on things such as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Virtualization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Backups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Disaster Recovery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challenges that come with traditionally built infrastructure include: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Costly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Purchased for peaks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Difficult to manage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mean time to repair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Inconsistent end-user experience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tool and functionality overlap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Interoperability issues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676273-E6E4-2348-8D72-5310978DBAE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53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0981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854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7953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DA624-F32C-4240-A4F3-1FA43E0F5CE8}"/>
              </a:ext>
            </a:extLst>
          </p:cNvPr>
          <p:cNvSpPr txBox="1"/>
          <p:nvPr userDrawn="1"/>
        </p:nvSpPr>
        <p:spPr>
          <a:xfrm>
            <a:off x="3949856" y="6581001"/>
            <a:ext cx="4697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72914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1536700" y="1174049"/>
            <a:ext cx="1828800" cy="329565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6938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EF28CCA-ACB3-4A11-933F-7EBB3F7FB4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13B4B77-E309-4776-BDE2-F9F2DECBECA7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C664F10-4CBB-4938-BF70-C5B071D909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293963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6">
            <a:extLst>
              <a:ext uri="{FF2B5EF4-FFF2-40B4-BE49-F238E27FC236}">
                <a16:creationId xmlns:a16="http://schemas.microsoft.com/office/drawing/2014/main" id="{5CFBCA73-2F0C-4522-9A20-54B788A8FB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587E485-6DB0-4D55-8091-530723EB146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84C42049-9CF1-4C33-9D2B-63ABEFF35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1"/>
          </p:nvPr>
        </p:nvSpPr>
        <p:spPr>
          <a:xfrm>
            <a:off x="985962" y="1502796"/>
            <a:ext cx="2997641" cy="40154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644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0F6B3C34-BC18-4C25-AA33-07C5907A217C}"/>
              </a:ext>
            </a:extLst>
          </p:cNvPr>
          <p:cNvSpPr/>
          <p:nvPr userDrawn="1"/>
        </p:nvSpPr>
        <p:spPr>
          <a:xfrm>
            <a:off x="8478838" y="0"/>
            <a:ext cx="371316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2EA17AA2-7945-40FC-9355-4675866C87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7D08EDB-785C-43C0-BE23-041849E8AED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207AB24F-3E63-4B3A-B708-5619D6A83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6104228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698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737131DA-1213-4163-A8FA-F632AFB7687F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16C87B2-7FA1-40AE-B178-391CE67CD4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702089B-3E1A-40FF-A412-C72F92F51DDB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F5B8749F-A043-4820-904F-BE48A639B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3713583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022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31038639-2656-42E2-84FC-D33C9CF3FFD9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9A1224CE-F5FC-4868-BCED-83DCEE42FC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9060CB-6C2D-42FA-8FB2-ADE7815DDD8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B88CDA52-0771-4C8A-BE11-4D518238F9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Рисунок 11"/>
          <p:cNvSpPr>
            <a:spLocks noGrp="1"/>
          </p:cNvSpPr>
          <p:nvPr>
            <p:ph type="pic" sz="quarter" idx="10"/>
          </p:nvPr>
        </p:nvSpPr>
        <p:spPr>
          <a:xfrm>
            <a:off x="4717433" y="1558457"/>
            <a:ext cx="3009445" cy="40120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85295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8483481-277A-44ED-BA83-A15318FB0E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B866F7B-4554-47CE-B65B-4F558B942A30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3" name="Рисунок 7">
            <a:extLst>
              <a:ext uri="{FF2B5EF4-FFF2-40B4-BE49-F238E27FC236}">
                <a16:creationId xmlns:a16="http://schemas.microsoft.com/office/drawing/2014/main" id="{F5374EE4-7837-428C-8109-31A7696E1D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Группа 8">
            <a:extLst>
              <a:ext uri="{FF2B5EF4-FFF2-40B4-BE49-F238E27FC236}">
                <a16:creationId xmlns:a16="http://schemas.microsoft.com/office/drawing/2014/main" id="{A02CA39D-BC61-4D87-849D-B281F6FA812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5" name="Прямая соединительная линия 9">
              <a:extLst>
                <a:ext uri="{FF2B5EF4-FFF2-40B4-BE49-F238E27FC236}">
                  <a16:creationId xmlns:a16="http://schemas.microsoft.com/office/drawing/2014/main" id="{BF836C2C-F706-468E-9585-4A35D236C8F9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10">
              <a:extLst>
                <a:ext uri="{FF2B5EF4-FFF2-40B4-BE49-F238E27FC236}">
                  <a16:creationId xmlns:a16="http://schemas.microsoft.com/office/drawing/2014/main" id="{1B00C9D9-67B2-4DF6-AF63-923289935C13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1">
              <a:extLst>
                <a:ext uri="{FF2B5EF4-FFF2-40B4-BE49-F238E27FC236}">
                  <a16:creationId xmlns:a16="http://schemas.microsoft.com/office/drawing/2014/main" id="{8BFF6B67-ECA8-40FC-BF1B-0EEAEEF8F42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55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54B1EFD0-2E7C-43A1-8086-FBDCCC2C8D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45231EA1-A9D5-46AA-A27D-8D1446BCEB5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2683D06-F1E9-499E-B2B3-A75C78032E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2CF6A33C-93AF-4ABA-9796-F8076F8A15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CD1EEED7-AB68-4ADA-A3ED-2F04168FB98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2F3ED4C-CCBD-4FD2-934E-759BDCB5865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21895EFE-348C-4FEF-B3AF-732F1380986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8764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8473537-DC6C-445C-8F5A-7D6EA64E49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B59364-88A1-46CC-B23E-A480BB785429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E2B355A-513E-4159-8F89-08A4EB97A2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8D64607B-A57C-43ED-A5F2-DD4EAC1E8F0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23475647-5819-4916-9F92-47E69E2E406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B86F076A-737F-4181-BCAC-3D7F066502D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7F02FE5-C9D9-44FD-800C-D40FDF0CB7D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868063" y="1979875"/>
            <a:ext cx="4738977" cy="300559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861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26E22725-4763-46E8-AC41-683CE19092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B44EB110-F8B3-46CB-B985-F1E0D118AD3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BA3514D-CF02-44CD-834D-5A56935681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CEBD0EC7-2F92-4CC4-AE53-BA72F3696AD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36FA479B-F63E-4A75-A745-2B569E4601D8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DBE2DC1-5972-4C1F-95BD-6F292706B08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078E7D6-1B02-4CF4-B5D3-0571A369522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1512047" y="2542501"/>
            <a:ext cx="4141694" cy="26156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47915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417C6BF-9776-415B-8B77-E5996EB267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9D2824-1258-499F-993C-6333E7B243DC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DB7F5C48-94C2-4ED0-8C06-A793119028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4508B975-3C32-43CD-9C1F-4303AE0FA16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67170EA5-80C5-47A2-B3FA-AE59319F617F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D6A0DE13-6FFA-460E-96C6-5EC8A6F164F5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17D07CDF-8066-4430-9DD2-37FB464A518B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419225" y="2511016"/>
            <a:ext cx="1214823" cy="1214823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18958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E9DC02E-A816-4317-8C59-9EED72928E07}"/>
              </a:ext>
            </a:extLst>
          </p:cNvPr>
          <p:cNvSpPr/>
          <p:nvPr userDrawn="1"/>
        </p:nvSpPr>
        <p:spPr>
          <a:xfrm>
            <a:off x="0" y="0"/>
            <a:ext cx="54483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C9EC454-DF44-44D6-B711-A20DB42A7B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DD9EB26-DB88-4390-B3E8-4B4EC703884B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C89B8ED3-B14F-4640-9CA6-873DBD1F19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Рисунок 7"/>
          <p:cNvSpPr>
            <a:spLocks noGrp="1"/>
          </p:cNvSpPr>
          <p:nvPr>
            <p:ph type="pic" sz="quarter" idx="10"/>
          </p:nvPr>
        </p:nvSpPr>
        <p:spPr>
          <a:xfrm>
            <a:off x="5447721" y="0"/>
            <a:ext cx="674427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05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1FC0B1-B37B-4E0C-A673-085A70A7FFAA}"/>
              </a:ext>
            </a:extLst>
          </p:cNvPr>
          <p:cNvSpPr/>
          <p:nvPr userDrawn="1"/>
        </p:nvSpPr>
        <p:spPr>
          <a:xfrm>
            <a:off x="4776788" y="0"/>
            <a:ext cx="7415212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55964EA4-3D95-4889-B07F-FBA3D810E1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25F8569-E07D-47E8-91B6-BBBC916FEAA5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02EDD3C-6284-4715-9D47-120119D29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77671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30444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6D3917-6035-4860-977A-98FFBCD3D956}"/>
              </a:ext>
            </a:extLst>
          </p:cNvPr>
          <p:cNvSpPr/>
          <p:nvPr userDrawn="1"/>
        </p:nvSpPr>
        <p:spPr>
          <a:xfrm>
            <a:off x="5838825" y="0"/>
            <a:ext cx="6353175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880FC3A-143D-4B12-957E-CA8FDDFF92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1CD4E18-A744-4BDD-93AE-5F891D74183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E2333D48-8ACC-4154-AFCA-37EE696B46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5838825" cy="367886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5918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121119AA-F583-41D5-83EF-4C5C39DBB2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791080BF-311D-4D88-A06A-F17198E549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38830DB-1696-4888-983B-AA60A2989C81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8">
            <a:extLst>
              <a:ext uri="{FF2B5EF4-FFF2-40B4-BE49-F238E27FC236}">
                <a16:creationId xmlns:a16="http://schemas.microsoft.com/office/drawing/2014/main" id="{E273DE62-B604-41D3-94A5-A9B414632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9">
            <a:extLst>
              <a:ext uri="{FF2B5EF4-FFF2-40B4-BE49-F238E27FC236}">
                <a16:creationId xmlns:a16="http://schemas.microsoft.com/office/drawing/2014/main" id="{9A6B85F2-F1FF-46D7-8DF1-6630019359D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10">
              <a:extLst>
                <a:ext uri="{FF2B5EF4-FFF2-40B4-BE49-F238E27FC236}">
                  <a16:creationId xmlns:a16="http://schemas.microsoft.com/office/drawing/2014/main" id="{DF714C10-208E-431A-A022-E2F998DF533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1">
              <a:extLst>
                <a:ext uri="{FF2B5EF4-FFF2-40B4-BE49-F238E27FC236}">
                  <a16:creationId xmlns:a16="http://schemas.microsoft.com/office/drawing/2014/main" id="{2304D868-18B2-44E5-BA0F-828CA461A64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2">
              <a:extLst>
                <a:ext uri="{FF2B5EF4-FFF2-40B4-BE49-F238E27FC236}">
                  <a16:creationId xmlns:a16="http://schemas.microsoft.com/office/drawing/2014/main" id="{4DEBA1FB-047C-4B3E-93B9-5B1A297D2FDD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9559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AE18CC4-6CF9-40A0-A2B5-AD88AE119AB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A72A9B4-8B97-4110-B419-EB5C2BF302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5A094446-B3D0-4CFE-B794-5F688E87C7D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DFDF6D1-D685-4D08-A793-8884E239F4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Группа 9">
            <a:extLst>
              <a:ext uri="{FF2B5EF4-FFF2-40B4-BE49-F238E27FC236}">
                <a16:creationId xmlns:a16="http://schemas.microsoft.com/office/drawing/2014/main" id="{9D61B4B1-FDB5-472D-B980-9C6A9D7A0D2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6D77E667-E8FD-4507-B9D1-E3D51B64A836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728420EA-1BDD-404A-A9EF-101D5E45AEA0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2">
              <a:extLst>
                <a:ext uri="{FF2B5EF4-FFF2-40B4-BE49-F238E27FC236}">
                  <a16:creationId xmlns:a16="http://schemas.microsoft.com/office/drawing/2014/main" id="{4AA9FE46-4190-47B9-9E60-8AC27251D57F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51615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468630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68603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60BF317-1D87-4939-8579-56069438D6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7EE12B-1395-4D9B-B64A-8E00FE874F2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09BABB20-CD97-4DD4-A251-933CAD01D3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7448551" y="0"/>
            <a:ext cx="474345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1807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F9D52246-9969-4C90-9B70-0D7132EFE2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23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86155B8-B336-4538-B3F4-30F871BBB9CD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EBAF293-FFD7-48D7-A900-E42F253025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975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F8E14C0C-58A5-4618-84FA-6772DAEB3A9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461A876B-3285-4B45-A16E-285B5A201BD3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E7A5E2A5-650F-41B6-99A1-53A33EEFF02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4BAD4B13-C0AF-4B55-83D8-5B1742E2B11A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429904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94386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88E2142-B8AF-4D7D-B146-FDDCA8901E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58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263582A-CD3A-4932-A1C3-66345066D052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A35E877-83A6-49A3-B723-CDD3A317E3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3B35D16A-5A6E-4E28-8C21-5ABC5C79C4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F7021100-9BD7-43D1-9977-8E84C278509A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B32C908E-40EC-4A36-AFF8-95258C86DE8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D7AC1030-93A3-4283-B29B-ADA04CF17BC7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557852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51569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6">
            <a:extLst>
              <a:ext uri="{FF2B5EF4-FFF2-40B4-BE49-F238E27FC236}">
                <a16:creationId xmlns:a16="http://schemas.microsoft.com/office/drawing/2014/main" id="{E4F9663E-A864-4503-932E-6B6BCBE4EB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3838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Группа 7">
            <a:extLst>
              <a:ext uri="{FF2B5EF4-FFF2-40B4-BE49-F238E27FC236}">
                <a16:creationId xmlns:a16="http://schemas.microsoft.com/office/drawing/2014/main" id="{F57BD75B-F82B-4930-80B3-82F52AFDA93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5" name="Прямая соединительная линия 8">
              <a:extLst>
                <a:ext uri="{FF2B5EF4-FFF2-40B4-BE49-F238E27FC236}">
                  <a16:creationId xmlns:a16="http://schemas.microsoft.com/office/drawing/2014/main" id="{6E289A2D-B5EE-4111-BAA8-83657B1B1B9D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3AE67ADF-948F-4286-8DAE-074DD235BD6D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EC4BF913-1005-4564-8DB1-BF7940620FBB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719618"/>
            <a:ext cx="12192001" cy="51383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86114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970725"/>
            <a:ext cx="12192001" cy="29165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897567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828800"/>
            <a:ext cx="12192000" cy="50292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1"/>
          </p:nvPr>
        </p:nvSpPr>
        <p:spPr>
          <a:xfrm>
            <a:off x="1282274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9"/>
          <p:cNvSpPr>
            <a:spLocks noGrp="1"/>
          </p:cNvSpPr>
          <p:nvPr>
            <p:ph type="pic" sz="quarter" idx="12"/>
          </p:nvPr>
        </p:nvSpPr>
        <p:spPr>
          <a:xfrm>
            <a:off x="3331712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9"/>
          <p:cNvSpPr>
            <a:spLocks noGrp="1"/>
          </p:cNvSpPr>
          <p:nvPr>
            <p:ph type="pic" sz="quarter" idx="13"/>
          </p:nvPr>
        </p:nvSpPr>
        <p:spPr>
          <a:xfrm>
            <a:off x="5381150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4"/>
          </p:nvPr>
        </p:nvSpPr>
        <p:spPr>
          <a:xfrm>
            <a:off x="7430588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5"/>
          </p:nvPr>
        </p:nvSpPr>
        <p:spPr>
          <a:xfrm>
            <a:off x="9480026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38404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44BA8A57-DDF3-4213-9D64-1699FA7347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65888"/>
            <a:ext cx="349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4AE4DB1-4D64-4436-96E6-1B8B07C012E6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7" name="Рисунок 9"/>
          <p:cNvSpPr>
            <a:spLocks noGrp="1"/>
          </p:cNvSpPr>
          <p:nvPr>
            <p:ph type="pic" sz="quarter" idx="11"/>
          </p:nvPr>
        </p:nvSpPr>
        <p:spPr>
          <a:xfrm>
            <a:off x="1405106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2"/>
          </p:nvPr>
        </p:nvSpPr>
        <p:spPr>
          <a:xfrm>
            <a:off x="3931545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3"/>
          </p:nvPr>
        </p:nvSpPr>
        <p:spPr>
          <a:xfrm>
            <a:off x="6457984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9"/>
          <p:cNvSpPr>
            <a:spLocks noGrp="1"/>
          </p:cNvSpPr>
          <p:nvPr>
            <p:ph type="pic" sz="quarter" idx="14"/>
          </p:nvPr>
        </p:nvSpPr>
        <p:spPr>
          <a:xfrm>
            <a:off x="8984422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807223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2F1DABE9-3D45-49ED-98C7-A7400E550C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477261C-5C42-4FA0-8AD3-7C88DC280BF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54063" y="2647950"/>
            <a:ext cx="3084011" cy="34099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087813" y="2647949"/>
            <a:ext cx="2865437" cy="159919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3"/>
          </p:nvPr>
        </p:nvSpPr>
        <p:spPr>
          <a:xfrm>
            <a:off x="4087813" y="4463716"/>
            <a:ext cx="2865437" cy="159418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746377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1949032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3"/>
          </p:nvPr>
        </p:nvSpPr>
        <p:spPr>
          <a:xfrm>
            <a:off x="754063" y="4595061"/>
            <a:ext cx="3641474" cy="150795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311693"/>
            <a:ext cx="194903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311693"/>
            <a:ext cx="186485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563895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955630" y="3311694"/>
            <a:ext cx="2494465" cy="128336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955630" y="4819654"/>
            <a:ext cx="2494465" cy="12833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24838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6">
            <a:extLst>
              <a:ext uri="{FF2B5EF4-FFF2-40B4-BE49-F238E27FC236}">
                <a16:creationId xmlns:a16="http://schemas.microsoft.com/office/drawing/2014/main" id="{293C4529-8FEF-4743-B8C9-3AAAAE830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E328696D-B294-44A8-A140-0598694F8B8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13" name="Рисунок 7">
            <a:extLst>
              <a:ext uri="{FF2B5EF4-FFF2-40B4-BE49-F238E27FC236}">
                <a16:creationId xmlns:a16="http://schemas.microsoft.com/office/drawing/2014/main" id="{F3438E08-4F07-4A98-9D48-BF2AB7642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Группа 8">
            <a:extLst>
              <a:ext uri="{FF2B5EF4-FFF2-40B4-BE49-F238E27FC236}">
                <a16:creationId xmlns:a16="http://schemas.microsoft.com/office/drawing/2014/main" id="{7BEA9A08-BBC4-4E4F-86AF-3B01C139CDF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15" name="Прямая соединительная линия 9">
              <a:extLst>
                <a:ext uri="{FF2B5EF4-FFF2-40B4-BE49-F238E27FC236}">
                  <a16:creationId xmlns:a16="http://schemas.microsoft.com/office/drawing/2014/main" id="{2326FCEF-A3C6-4700-951D-6E10C19C448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0">
              <a:extLst>
                <a:ext uri="{FF2B5EF4-FFF2-40B4-BE49-F238E27FC236}">
                  <a16:creationId xmlns:a16="http://schemas.microsoft.com/office/drawing/2014/main" id="{10786441-64BF-4423-A792-8A2096F45872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1">
              <a:extLst>
                <a:ext uri="{FF2B5EF4-FFF2-40B4-BE49-F238E27FC236}">
                  <a16:creationId xmlns:a16="http://schemas.microsoft.com/office/drawing/2014/main" id="{CA7149C6-8C54-49B9-971D-D2E8CFD66E9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2107400" cy="302382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923414"/>
            <a:ext cx="2107400" cy="217960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168502"/>
            <a:ext cx="1864851" cy="293451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608054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797262" y="3168502"/>
            <a:ext cx="2652834" cy="14265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797262" y="4676462"/>
            <a:ext cx="2652834" cy="142655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013553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6"/>
          <p:cNvSpPr>
            <a:spLocks noGrp="1"/>
          </p:cNvSpPr>
          <p:nvPr>
            <p:ph type="pic" sz="quarter" idx="11"/>
          </p:nvPr>
        </p:nvSpPr>
        <p:spPr>
          <a:xfrm>
            <a:off x="3354978" y="713581"/>
            <a:ext cx="2374900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2"/>
          </p:nvPr>
        </p:nvSpPr>
        <p:spPr>
          <a:xfrm>
            <a:off x="3354978" y="2913145"/>
            <a:ext cx="2374900" cy="323127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3"/>
          </p:nvPr>
        </p:nvSpPr>
        <p:spPr>
          <a:xfrm>
            <a:off x="5936676" y="4266548"/>
            <a:ext cx="5377317" cy="18778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4"/>
          </p:nvPr>
        </p:nvSpPr>
        <p:spPr>
          <a:xfrm>
            <a:off x="5936676" y="713581"/>
            <a:ext cx="1760661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5"/>
          </p:nvPr>
        </p:nvSpPr>
        <p:spPr>
          <a:xfrm>
            <a:off x="5936675" y="2913145"/>
            <a:ext cx="1760661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6"/>
          <p:cNvSpPr>
            <a:spLocks noGrp="1"/>
          </p:cNvSpPr>
          <p:nvPr>
            <p:ph type="pic" sz="quarter" idx="16"/>
          </p:nvPr>
        </p:nvSpPr>
        <p:spPr>
          <a:xfrm>
            <a:off x="7876839" y="713581"/>
            <a:ext cx="3437154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6"/>
          <p:cNvSpPr>
            <a:spLocks noGrp="1"/>
          </p:cNvSpPr>
          <p:nvPr>
            <p:ph type="pic" sz="quarter" idx="17"/>
          </p:nvPr>
        </p:nvSpPr>
        <p:spPr>
          <a:xfrm>
            <a:off x="7876837" y="2913145"/>
            <a:ext cx="3437156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509556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2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3087322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7"/>
          </p:nvPr>
        </p:nvSpPr>
        <p:spPr>
          <a:xfrm>
            <a:off x="-1" y="2272570"/>
            <a:ext cx="3087323" cy="204424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8"/>
          </p:nvPr>
        </p:nvSpPr>
        <p:spPr>
          <a:xfrm>
            <a:off x="3080084" y="2261938"/>
            <a:ext cx="3023004" cy="205208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20"/>
          </p:nvPr>
        </p:nvSpPr>
        <p:spPr>
          <a:xfrm>
            <a:off x="9176084" y="2272570"/>
            <a:ext cx="3023004" cy="20386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21"/>
          </p:nvPr>
        </p:nvSpPr>
        <p:spPr>
          <a:xfrm>
            <a:off x="1956391" y="4303386"/>
            <a:ext cx="4139609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22"/>
          </p:nvPr>
        </p:nvSpPr>
        <p:spPr>
          <a:xfrm>
            <a:off x="0" y="4314019"/>
            <a:ext cx="1956391" cy="25439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24"/>
          </p:nvPr>
        </p:nvSpPr>
        <p:spPr>
          <a:xfrm>
            <a:off x="6096000" y="4303387"/>
            <a:ext cx="4089991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25"/>
          </p:nvPr>
        </p:nvSpPr>
        <p:spPr>
          <a:xfrm>
            <a:off x="3087322" y="7831"/>
            <a:ext cx="3008678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26"/>
          </p:nvPr>
        </p:nvSpPr>
        <p:spPr>
          <a:xfrm>
            <a:off x="6096001" y="0"/>
            <a:ext cx="6095848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7" name="Рисунок 12"/>
          <p:cNvSpPr>
            <a:spLocks noGrp="1"/>
          </p:cNvSpPr>
          <p:nvPr>
            <p:ph type="pic" sz="quarter" idx="27"/>
          </p:nvPr>
        </p:nvSpPr>
        <p:spPr>
          <a:xfrm>
            <a:off x="10185991" y="4303386"/>
            <a:ext cx="2013097" cy="25624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8" name="Рисунок 12"/>
          <p:cNvSpPr>
            <a:spLocks noGrp="1"/>
          </p:cNvSpPr>
          <p:nvPr>
            <p:ph type="pic" sz="quarter" idx="28"/>
          </p:nvPr>
        </p:nvSpPr>
        <p:spPr>
          <a:xfrm>
            <a:off x="6103088" y="2261937"/>
            <a:ext cx="3080084" cy="205208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52240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00288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7D3062E-25D7-48F7-B2FB-3EE1056B455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65888"/>
            <a:ext cx="349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D03E766-BB1A-495B-85A1-9499DB8CCC06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-16071"/>
            <a:ext cx="12192000" cy="312942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074"/>
              <a:gd name="connsiteX1" fmla="*/ 10000 w 10000"/>
              <a:gd name="connsiteY1" fmla="*/ 74 h 10074"/>
              <a:gd name="connsiteX2" fmla="*/ 10000 w 10000"/>
              <a:gd name="connsiteY2" fmla="*/ 10074 h 10074"/>
              <a:gd name="connsiteX3" fmla="*/ 0 w 10000"/>
              <a:gd name="connsiteY3" fmla="*/ 10074 h 10074"/>
              <a:gd name="connsiteX4" fmla="*/ 0 w 10000"/>
              <a:gd name="connsiteY4" fmla="*/ 0 h 10074"/>
              <a:gd name="connsiteX0" fmla="*/ 0 w 10000"/>
              <a:gd name="connsiteY0" fmla="*/ 0 h 14410"/>
              <a:gd name="connsiteX1" fmla="*/ 10000 w 10000"/>
              <a:gd name="connsiteY1" fmla="*/ 74 h 14410"/>
              <a:gd name="connsiteX2" fmla="*/ 10000 w 10000"/>
              <a:gd name="connsiteY2" fmla="*/ 10074 h 14410"/>
              <a:gd name="connsiteX3" fmla="*/ 11 w 10000"/>
              <a:gd name="connsiteY3" fmla="*/ 14410 h 14410"/>
              <a:gd name="connsiteX4" fmla="*/ 0 w 10000"/>
              <a:gd name="connsiteY4" fmla="*/ 0 h 1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4410">
                <a:moveTo>
                  <a:pt x="0" y="0"/>
                </a:moveTo>
                <a:lnTo>
                  <a:pt x="10000" y="74"/>
                </a:lnTo>
                <a:lnTo>
                  <a:pt x="10000" y="10074"/>
                </a:lnTo>
                <a:lnTo>
                  <a:pt x="11" y="14410"/>
                </a:lnTo>
                <a:cubicBezTo>
                  <a:pt x="7" y="9607"/>
                  <a:pt x="4" y="4803"/>
                  <a:pt x="0" y="0"/>
                </a:cubicBezTo>
                <a:close/>
              </a:path>
            </a:pathLst>
          </a:cu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1"/>
          </p:nvPr>
        </p:nvSpPr>
        <p:spPr>
          <a:xfrm>
            <a:off x="1446213" y="2033588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02238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3"/>
          </p:nvPr>
        </p:nvSpPr>
        <p:spPr>
          <a:xfrm>
            <a:off x="8958263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7397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03351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1"/>
          </p:nvPr>
        </p:nvSpPr>
        <p:spPr>
          <a:xfrm>
            <a:off x="859477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2"/>
          </p:nvPr>
        </p:nvSpPr>
        <p:spPr>
          <a:xfrm>
            <a:off x="4737716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3"/>
          </p:nvPr>
        </p:nvSpPr>
        <p:spPr>
          <a:xfrm>
            <a:off x="8615955" y="2797457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66620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E1CED023-E48A-48A5-A9FE-0EB2AC6C8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4A670-F01F-4597-B9B9-3E9EFEBB0F5D}" type="datetimeFigureOut">
              <a:rPr lang="ru-RU"/>
              <a:pPr>
                <a:defRPr/>
              </a:pPr>
              <a:t>11.05.2018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D4A30E9-EA30-42AC-A401-812C4B30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7D829AD-7540-466A-B05D-5DDBAEE2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82D6D-8F6F-45F9-8B3C-73D2BE8E0C1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23820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B9FF05E-2152-4EE6-956D-7FEB8FB8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01E88-D6DF-46B7-9675-CA16326E6DAA}" type="datetimeFigureOut">
              <a:rPr lang="ru-RU"/>
              <a:pPr>
                <a:defRPr/>
              </a:pPr>
              <a:t>11.05.2018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C4BA0540-AAA2-4616-B257-D7963FB0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EAA6ED0-9F9A-413E-9CE2-1C6FB05B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C7105-7262-4415-87C9-E28B1BA5BED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8882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C0B143-CE1C-48B1-8F69-B10A5B12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77C9A-E606-4F79-BA08-071BE6D088CE}" type="datetimeFigureOut">
              <a:rPr lang="ru-RU"/>
              <a:pPr>
                <a:defRPr/>
              </a:pPr>
              <a:t>11.05.2018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E9185-17EA-4A4F-9300-7E593260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90E49C-0276-458F-811F-7FDD619F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89E854-D948-4F93-87AA-D3B2F43A452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8389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6E2096-8F94-4807-B20F-57476A45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BFA4-46E4-4D5B-84C3-6C7587B7395D}" type="datetimeFigureOut">
              <a:rPr lang="ru-RU"/>
              <a:pPr>
                <a:defRPr/>
              </a:pPr>
              <a:t>11.05.2018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12AC90-ACFB-4344-98BD-C0329B39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EE1744-75E5-487E-BEC9-39EF894C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BC5F8-324B-48AD-B509-391C53341A1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5043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-Content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90118"/>
            <a:ext cx="11912793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784EB-906D-F147-8A83-51EA1EA20F74}" type="datetimeFigureOut">
              <a:rPr lang="en-US" smtClean="0"/>
              <a:t>5/11/2018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AF7A-AE55-524E-BC99-EC75BA83A40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6291" y="203832"/>
            <a:ext cx="9878060" cy="1143000"/>
          </a:xfrm>
        </p:spPr>
        <p:txBody>
          <a:bodyPr/>
          <a:lstStyle>
            <a:lvl1pPr algn="l">
              <a:defRPr b="0" i="0">
                <a:solidFill>
                  <a:srgbClr val="D90000"/>
                </a:solidFill>
                <a:latin typeface="Helvetica Light"/>
                <a:cs typeface="Helvetica Ligh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Helvetica Light"/>
                <a:cs typeface="Helvetica Light"/>
              </a:defRPr>
            </a:lvl1pPr>
            <a:lvl2pPr>
              <a:defRPr b="0" i="0">
                <a:latin typeface="Helvetica Light"/>
                <a:cs typeface="Helvetica Light"/>
              </a:defRPr>
            </a:lvl2pPr>
            <a:lvl3pPr>
              <a:defRPr b="0" i="0">
                <a:latin typeface="Helvetica Light"/>
                <a:cs typeface="Helvetica Light"/>
              </a:defRPr>
            </a:lvl3pPr>
            <a:lvl4pPr>
              <a:defRPr b="0" i="0">
                <a:latin typeface="Helvetica Light"/>
                <a:cs typeface="Helvetica Light"/>
              </a:defRPr>
            </a:lvl4pPr>
            <a:lvl5pPr>
              <a:defRPr b="0" i="0">
                <a:latin typeface="Helvetica Light"/>
                <a:cs typeface="Helvetica 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5254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2A709A2D-9E3D-4D9B-BCCB-BD26DDFCEC1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948B22B-96C8-413D-8708-45DB7D03DF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E9909B-5CA4-4825-9E05-943A339CF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88BA87E-D565-4C47-9BBF-B89BF0D34876}" type="datetimeFigureOut">
              <a:rPr lang="ru-RU"/>
              <a:pPr>
                <a:defRPr/>
              </a:pPr>
              <a:t>11.05.2018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F8945F-B136-43A9-B80C-6D99765C7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EF0BB-472A-4BB1-BBF9-1F52F5A9F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18E4574-86E1-45A5-9A6D-75719EA2283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5" r:id="rId22"/>
    <p:sldLayoutId id="2147483816" r:id="rId23"/>
    <p:sldLayoutId id="2147483817" r:id="rId24"/>
    <p:sldLayoutId id="2147483818" r:id="rId25"/>
    <p:sldLayoutId id="2147483819" r:id="rId26"/>
    <p:sldLayoutId id="2147483820" r:id="rId27"/>
    <p:sldLayoutId id="2147483821" r:id="rId28"/>
    <p:sldLayoutId id="2147483822" r:id="rId29"/>
    <p:sldLayoutId id="2147483823" r:id="rId30"/>
    <p:sldLayoutId id="2147483824" r:id="rId31"/>
    <p:sldLayoutId id="2147483825" r:id="rId32"/>
    <p:sldLayoutId id="2147483826" r:id="rId33"/>
    <p:sldLayoutId id="2147483790" r:id="rId34"/>
    <p:sldLayoutId id="2147483791" r:id="rId35"/>
    <p:sldLayoutId id="2147483792" r:id="rId36"/>
    <p:sldLayoutId id="2147483793" r:id="rId37"/>
    <p:sldLayoutId id="2147483827" r:id="rId3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1669" y="1065695"/>
            <a:ext cx="101203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600" dirty="0">
                <a:solidFill>
                  <a:schemeClr val="bg1"/>
                </a:solidFill>
                <a:latin typeface="Raleway Medium" panose="020B0603030101060003" pitchFamily="34" charset="0"/>
              </a:rPr>
              <a:t>Discovering </a:t>
            </a:r>
            <a:r>
              <a:rPr lang="en-US" altLang="ru-RU" sz="3600" dirty="0" err="1">
                <a:solidFill>
                  <a:srgbClr val="E23936"/>
                </a:solidFill>
                <a:latin typeface="Raleway ExtraBold" panose="020B0903030101060003" pitchFamily="34" charset="0"/>
              </a:rPr>
              <a:t>Jio</a:t>
            </a:r>
            <a:r>
              <a:rPr lang="en-US" altLang="ru-RU" sz="3600" dirty="0">
                <a:solidFill>
                  <a:srgbClr val="E23936"/>
                </a:solidFill>
                <a:latin typeface="Raleway ExtraBold" panose="020B0903030101060003" pitchFamily="34" charset="0"/>
              </a:rPr>
              <a:t> Transformation</a:t>
            </a:r>
            <a:endParaRPr lang="en-US" altLang="ru-RU" sz="36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591895" y="2381574"/>
            <a:ext cx="2380130" cy="4599595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9757619" y="-26894"/>
            <a:ext cx="914400" cy="30347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62" y="294623"/>
            <a:ext cx="1775713" cy="211302"/>
          </a:xfrm>
          <a:prstGeom prst="rect">
            <a:avLst/>
          </a:prstGeom>
        </p:spPr>
      </p:pic>
      <p:sp>
        <p:nvSpPr>
          <p:cNvPr id="36872" name="TextBox 36871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3563920" y="6642585"/>
            <a:ext cx="4697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8521501" y="5524290"/>
            <a:ext cx="2141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000" i="1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2000" i="1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5618747" y="4920916"/>
            <a:ext cx="1359569" cy="871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:wipe/>
      </p:transition>
    </mc:Choice>
    <mc:Fallback xmlns="">
      <p:transition spd="slow" advTm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Рисунок 1">
            <a:extLst>
              <a:ext uri="{FF2B5EF4-FFF2-40B4-BE49-F238E27FC236}">
                <a16:creationId xmlns:a16="http://schemas.microsoft.com/office/drawing/2014/main" id="{EB67C0D9-80C7-4697-87D0-B5AF657AE2BE}"/>
              </a:ext>
            </a:extLst>
          </p:cNvPr>
          <p:cNvSpPr>
            <a:spLocks noGrp="1" noTextEdit="1"/>
          </p:cNvSpPr>
          <p:nvPr>
            <p:ph type="pic" sz="quarter" idx="10"/>
          </p:nvPr>
        </p:nvSpPr>
        <p:spPr/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077F138-637B-4626-9A1F-A559CA9B57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575D8-E1B2-4384-BDAE-3D64D978B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754659"/>
            <a:ext cx="6140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chemeClr val="bg1"/>
                </a:solidFill>
                <a:latin typeface="Raleway ExtraBold" panose="020B0903030101060003" pitchFamily="34" charset="0"/>
              </a:rPr>
              <a:t> today</a:t>
            </a:r>
            <a:endParaRPr lang="en-US" altLang="ru-RU" sz="16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403B87-3640-4A12-85BC-A2AD4E0F21ED}"/>
              </a:ext>
            </a:extLst>
          </p:cNvPr>
          <p:cNvSpPr/>
          <p:nvPr/>
        </p:nvSpPr>
        <p:spPr>
          <a:xfrm>
            <a:off x="5119688" y="1562100"/>
            <a:ext cx="1701107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kern="0" spc="50" dirty="0">
                <a:solidFill>
                  <a:schemeClr val="bg1"/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SOME KEY FACTS TODAY</a:t>
            </a:r>
            <a:endParaRPr lang="en-US" sz="1050" spc="5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733E96E8-EB9F-44AB-94FA-4D4EDD50CB7D}"/>
              </a:ext>
            </a:extLst>
          </p:cNvPr>
          <p:cNvSpPr/>
          <p:nvPr/>
        </p:nvSpPr>
        <p:spPr>
          <a:xfrm>
            <a:off x="1104900" y="2592388"/>
            <a:ext cx="1666875" cy="1666875"/>
          </a:xfrm>
          <a:prstGeom prst="ellipse">
            <a:avLst/>
          </a:prstGeom>
          <a:noFill/>
          <a:ln w="381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CEF322C-60BE-4F3C-AF4C-BF64DFA6343D}"/>
              </a:ext>
            </a:extLst>
          </p:cNvPr>
          <p:cNvSpPr/>
          <p:nvPr/>
        </p:nvSpPr>
        <p:spPr>
          <a:xfrm>
            <a:off x="1104900" y="3351213"/>
            <a:ext cx="1666875" cy="3730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00" dirty="0">
                <a:solidFill>
                  <a:srgbClr val="E23936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3</a:t>
            </a:r>
          </a:p>
        </p:txBody>
      </p:sp>
      <p:grpSp>
        <p:nvGrpSpPr>
          <p:cNvPr id="43017" name="Группа 10">
            <a:extLst>
              <a:ext uri="{FF2B5EF4-FFF2-40B4-BE49-F238E27FC236}">
                <a16:creationId xmlns:a16="http://schemas.microsoft.com/office/drawing/2014/main" id="{989C564D-FF8B-483F-9DEA-4CB1CF933BA6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63538"/>
            <a:ext cx="241300" cy="165100"/>
            <a:chOff x="11345779" y="324853"/>
            <a:chExt cx="240632" cy="165462"/>
          </a:xfrm>
        </p:grpSpPr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21D9663A-98D3-4A12-9366-34BCDE353BC8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44595E12-0151-4D6D-ABC8-1A60C60CAEA9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E590F08C-D3B1-4464-AE9C-F21CBECE129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B4E274A-DC9E-48CD-AA8B-C41B075D58F6}"/>
              </a:ext>
            </a:extLst>
          </p:cNvPr>
          <p:cNvSpPr/>
          <p:nvPr/>
        </p:nvSpPr>
        <p:spPr>
          <a:xfrm>
            <a:off x="1223963" y="3638550"/>
            <a:ext cx="1430337" cy="261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chemeClr val="bg1"/>
                </a:solidFill>
                <a:latin typeface="Raleway" panose="020B0003030101060003" pitchFamily="34" charset="0"/>
              </a:rPr>
              <a:t>Workload Types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FD281356-0C0D-4EB5-B591-D7456F52CB10}"/>
              </a:ext>
            </a:extLst>
          </p:cNvPr>
          <p:cNvSpPr/>
          <p:nvPr/>
        </p:nvSpPr>
        <p:spPr>
          <a:xfrm>
            <a:off x="3876675" y="2592388"/>
            <a:ext cx="1666875" cy="1666875"/>
          </a:xfrm>
          <a:prstGeom prst="ellipse">
            <a:avLst/>
          </a:prstGeom>
          <a:noFill/>
          <a:ln w="381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14C6766-2B80-440F-BEA4-DB59805E3107}"/>
              </a:ext>
            </a:extLst>
          </p:cNvPr>
          <p:cNvSpPr/>
          <p:nvPr/>
        </p:nvSpPr>
        <p:spPr>
          <a:xfrm>
            <a:off x="3876675" y="3351213"/>
            <a:ext cx="1666875" cy="3730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00" dirty="0">
                <a:solidFill>
                  <a:srgbClr val="E23936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10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21E7570-0581-42E9-962C-99AFA02A216C}"/>
              </a:ext>
            </a:extLst>
          </p:cNvPr>
          <p:cNvSpPr/>
          <p:nvPr/>
        </p:nvSpPr>
        <p:spPr>
          <a:xfrm>
            <a:off x="3994150" y="3638550"/>
            <a:ext cx="1431925" cy="261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chemeClr val="bg1"/>
                </a:solidFill>
                <a:latin typeface="Raleway" panose="020B0003030101060003" pitchFamily="34" charset="0"/>
              </a:rPr>
              <a:t>Major Use Cases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53F326FC-D9E8-4EE8-B5A4-FDE9AFDA759D}"/>
              </a:ext>
            </a:extLst>
          </p:cNvPr>
          <p:cNvSpPr/>
          <p:nvPr/>
        </p:nvSpPr>
        <p:spPr>
          <a:xfrm>
            <a:off x="6648450" y="2592388"/>
            <a:ext cx="1666875" cy="1666875"/>
          </a:xfrm>
          <a:prstGeom prst="ellipse">
            <a:avLst/>
          </a:prstGeom>
          <a:noFill/>
          <a:ln w="381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2B03B02-6F61-46DE-96C5-CE655CCFD9F2}"/>
              </a:ext>
            </a:extLst>
          </p:cNvPr>
          <p:cNvSpPr/>
          <p:nvPr/>
        </p:nvSpPr>
        <p:spPr>
          <a:xfrm>
            <a:off x="6648450" y="3351213"/>
            <a:ext cx="1666875" cy="3730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00" dirty="0">
                <a:solidFill>
                  <a:srgbClr val="E23936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21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899CE56-9E07-434E-A249-1B931BF71CF0}"/>
              </a:ext>
            </a:extLst>
          </p:cNvPr>
          <p:cNvSpPr/>
          <p:nvPr/>
        </p:nvSpPr>
        <p:spPr>
          <a:xfrm>
            <a:off x="6765925" y="3638550"/>
            <a:ext cx="1431925" cy="261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chemeClr val="bg1"/>
                </a:solidFill>
                <a:latin typeface="Raleway" panose="020B0003030101060003" pitchFamily="34" charset="0"/>
              </a:rPr>
              <a:t>Server Sets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52F8E7D3-755C-4D26-867E-7B81BA1BADAB}"/>
              </a:ext>
            </a:extLst>
          </p:cNvPr>
          <p:cNvSpPr/>
          <p:nvPr/>
        </p:nvSpPr>
        <p:spPr>
          <a:xfrm>
            <a:off x="9420225" y="2592388"/>
            <a:ext cx="1666875" cy="1666875"/>
          </a:xfrm>
          <a:prstGeom prst="ellipse">
            <a:avLst/>
          </a:prstGeom>
          <a:noFill/>
          <a:ln w="381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23CDEA2-C3D8-4544-8895-777E7D2697E5}"/>
              </a:ext>
            </a:extLst>
          </p:cNvPr>
          <p:cNvSpPr/>
          <p:nvPr/>
        </p:nvSpPr>
        <p:spPr>
          <a:xfrm>
            <a:off x="9420225" y="3351213"/>
            <a:ext cx="1666875" cy="3730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00" dirty="0">
                <a:solidFill>
                  <a:srgbClr val="E23936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563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BF1ED1D-DB4D-49E5-978D-5D8F6A574462}"/>
              </a:ext>
            </a:extLst>
          </p:cNvPr>
          <p:cNvSpPr/>
          <p:nvPr/>
        </p:nvSpPr>
        <p:spPr>
          <a:xfrm>
            <a:off x="9537700" y="3638550"/>
            <a:ext cx="1430338" cy="261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chemeClr val="bg1"/>
                </a:solidFill>
                <a:latin typeface="Raleway" panose="020B0003030101060003" pitchFamily="34" charset="0"/>
              </a:rPr>
              <a:t>Servers</a:t>
            </a:r>
          </a:p>
        </p:txBody>
      </p:sp>
      <p:pic>
        <p:nvPicPr>
          <p:cNvPr id="43028" name="Рисунок 27">
            <a:extLst>
              <a:ext uri="{FF2B5EF4-FFF2-40B4-BE49-F238E27FC236}">
                <a16:creationId xmlns:a16="http://schemas.microsoft.com/office/drawing/2014/main" id="{0DC06706-947A-4A1F-97CE-D8BDF727C5E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667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80C8C75-27AC-4185-A6B3-EF87ED7F7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911475"/>
            <a:ext cx="349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solidFill>
                  <a:schemeClr val="bg1"/>
                </a:solidFill>
                <a:latin typeface="FontAwesome" pitchFamily="2" charset="0"/>
              </a:rPr>
              <a:t></a:t>
            </a:r>
            <a:endParaRPr lang="ru-RU" altLang="ru-RU" sz="1800" dirty="0">
              <a:solidFill>
                <a:schemeClr val="bg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4E46C2F-A3DA-4F8B-8B52-9DA5D0D47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9225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</a:t>
            </a: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A2499DE-36F5-4CFA-92ED-683485A4C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2338" y="2922588"/>
            <a:ext cx="419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600">
                <a:solidFill>
                  <a:schemeClr val="bg1"/>
                </a:solidFill>
                <a:latin typeface="FontAwesome" pitchFamily="2" charset="0"/>
              </a:rPr>
              <a:t></a:t>
            </a:r>
            <a:endParaRPr lang="ru-RU" altLang="ru-RU" sz="1600">
              <a:solidFill>
                <a:schemeClr val="bg1"/>
              </a:solidFill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2AA7716-7A10-44F7-9695-B303FF90F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5700" y="2913063"/>
            <a:ext cx="41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</a:t>
            </a: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DBAA58-C967-471B-A2E9-805C79549737}"/>
              </a:ext>
            </a:extLst>
          </p:cNvPr>
          <p:cNvSpPr txBox="1"/>
          <p:nvPr/>
        </p:nvSpPr>
        <p:spPr>
          <a:xfrm>
            <a:off x="4214876" y="6581001"/>
            <a:ext cx="4697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7474558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 animBg="1"/>
      <p:bldP spid="7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4" grpId="0" animBg="1"/>
      <p:bldP spid="25" grpId="0"/>
      <p:bldP spid="26" grpId="0"/>
      <p:bldP spid="29" grpId="0"/>
      <p:bldP spid="30" grpId="0"/>
      <p:bldP spid="31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2086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656" y="548810"/>
            <a:ext cx="4486364" cy="1143000"/>
          </a:xfrm>
        </p:spPr>
        <p:txBody>
          <a:bodyPr>
            <a:noAutofit/>
          </a:bodyPr>
          <a:lstStyle/>
          <a:p>
            <a:r>
              <a:rPr lang="en-US" sz="4000" dirty="0"/>
              <a:t>Current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0859" y="1680061"/>
            <a:ext cx="5371141" cy="5036049"/>
          </a:xfrm>
        </p:spPr>
        <p:txBody>
          <a:bodyPr>
            <a:noAutofit/>
          </a:bodyPr>
          <a:lstStyle/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Difficult to manage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Purchased for peaks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Inconsistent end-user experience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Long mean time to repair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Release</a:t>
            </a:r>
            <a:endParaRPr lang="en-US" sz="2800" dirty="0">
              <a:cs typeface="Helvetica"/>
            </a:endParaRP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Skillsets</a:t>
            </a:r>
            <a:endParaRPr lang="en-US" sz="2800" dirty="0">
              <a:cs typeface="Helvetica"/>
            </a:endParaRP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TCO</a:t>
            </a:r>
            <a:endParaRPr lang="en-US" sz="2800" dirty="0">
              <a:cs typeface="Helvetica"/>
            </a:endParaRP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Scale (TXN)</a:t>
            </a:r>
            <a:endParaRPr lang="en-US" sz="2800" dirty="0">
              <a:cs typeface="Helvetica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698296" y="548810"/>
            <a:ext cx="50734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rgbClr val="D90000"/>
                </a:solidFill>
                <a:latin typeface="Helvetica Light"/>
                <a:ea typeface="+mj-ea"/>
                <a:cs typeface="Helvetica Light"/>
              </a:defRPr>
            </a:lvl1pPr>
          </a:lstStyle>
          <a:p>
            <a:r>
              <a:rPr lang="en-US" sz="4000" dirty="0"/>
              <a:t> Challenges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95515" y="1691810"/>
            <a:ext cx="5371141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Servers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Heterogenous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n-tier monolith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Multiple Delivery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Agile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Private</a:t>
            </a:r>
          </a:p>
          <a:p>
            <a:pPr>
              <a:buClr>
                <a:srgbClr val="D90000"/>
              </a:buClr>
              <a:buFontTx/>
              <a:buChar char="+"/>
            </a:pPr>
            <a:endParaRPr lang="en-US" sz="2800" dirty="0">
              <a:cs typeface="Helvetic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5F74F1-36F8-4B91-8EFC-6DDBC8CDC869}"/>
              </a:ext>
            </a:extLst>
          </p:cNvPr>
          <p:cNvSpPr txBox="1"/>
          <p:nvPr/>
        </p:nvSpPr>
        <p:spPr>
          <a:xfrm>
            <a:off x="5145977" y="6620725"/>
            <a:ext cx="4697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80A0A4-A699-410C-86D9-1EA1C2AACC25}"/>
              </a:ext>
            </a:extLst>
          </p:cNvPr>
          <p:cNvSpPr txBox="1"/>
          <p:nvPr/>
        </p:nvSpPr>
        <p:spPr>
          <a:xfrm>
            <a:off x="203200" y="4823624"/>
            <a:ext cx="49427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21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Server Sets</a:t>
            </a:r>
          </a:p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563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servers &amp; </a:t>
            </a: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OS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Multiple </a:t>
            </a: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middleware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(web/app/j2ee,jse)</a:t>
            </a:r>
          </a:p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Multiple </a:t>
            </a: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Mgmt. Interface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(Ambari, middleware,  servers, databases)</a:t>
            </a:r>
          </a:p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Multiple </a:t>
            </a: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Databases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(HBase/mongo/oracle)</a:t>
            </a:r>
          </a:p>
        </p:txBody>
      </p:sp>
    </p:spTree>
    <p:extLst>
      <p:ext uri="{BB962C8B-B14F-4D97-AF65-F5344CB8AC3E}">
        <p14:creationId xmlns:p14="http://schemas.microsoft.com/office/powerpoint/2010/main" val="269915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971BD3-C310-46C9-A390-8DAB2BE0BC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D89CC-1619-4D81-9EBF-D292348CFA13}"/>
              </a:ext>
            </a:extLst>
          </p:cNvPr>
          <p:cNvSpPr txBox="1"/>
          <p:nvPr/>
        </p:nvSpPr>
        <p:spPr>
          <a:xfrm>
            <a:off x="2100263" y="835025"/>
            <a:ext cx="7970837" cy="1014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Key Transformation</a:t>
            </a: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>
                    <a:lumMod val="75000"/>
                  </a:schemeClr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SOME AREAS WE SEE A OPPURTUNITY TO IMPROVE </a:t>
            </a:r>
            <a:endParaRPr lang="en-US" sz="1200" spc="50" dirty="0">
              <a:solidFill>
                <a:schemeClr val="bg1">
                  <a:lumMod val="75000"/>
                </a:schemeClr>
              </a:solidFill>
              <a:latin typeface="Raleway ExtraBold" panose="020B0903030101060003" pitchFamily="34" charset="-52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BED113D-9975-4AAA-87CF-5B989169C80A}"/>
              </a:ext>
            </a:extLst>
          </p:cNvPr>
          <p:cNvCxnSpPr/>
          <p:nvPr/>
        </p:nvCxnSpPr>
        <p:spPr>
          <a:xfrm>
            <a:off x="1400175" y="2732088"/>
            <a:ext cx="9391650" cy="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4F6CCBA-211A-4493-8630-35383617DAF8}"/>
              </a:ext>
            </a:extLst>
          </p:cNvPr>
          <p:cNvCxnSpPr/>
          <p:nvPr/>
        </p:nvCxnSpPr>
        <p:spPr>
          <a:xfrm flipV="1">
            <a:off x="2100263" y="2732088"/>
            <a:ext cx="0" cy="7112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FB1D83B-4353-4DC7-8526-5248ED725C45}"/>
              </a:ext>
            </a:extLst>
          </p:cNvPr>
          <p:cNvSpPr/>
          <p:nvPr/>
        </p:nvSpPr>
        <p:spPr>
          <a:xfrm>
            <a:off x="1319213" y="2640013"/>
            <a:ext cx="1562100" cy="1825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F5ABCDCD-9B43-407B-A2F5-A5B9CEF90603}"/>
              </a:ext>
            </a:extLst>
          </p:cNvPr>
          <p:cNvSpPr/>
          <p:nvPr/>
        </p:nvSpPr>
        <p:spPr>
          <a:xfrm>
            <a:off x="1643063" y="3443288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BECF298-9AEB-43B0-906E-00875C721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3667125"/>
            <a:ext cx="534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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EE39DEF0-1915-4AA1-963F-72770F7C06E1}"/>
              </a:ext>
            </a:extLst>
          </p:cNvPr>
          <p:cNvSpPr txBox="1">
            <a:spLocks/>
          </p:cNvSpPr>
          <p:nvPr/>
        </p:nvSpPr>
        <p:spPr>
          <a:xfrm>
            <a:off x="1100138" y="4551363"/>
            <a:ext cx="2020887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Raleway Heavy" panose="020B0003030101060003" pitchFamily="34" charset="0"/>
              </a:rPr>
              <a:t>INFRA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900" kern="0" dirty="0">
                <a:solidFill>
                  <a:schemeClr val="bg1"/>
                </a:solidFill>
                <a:latin typeface="Raleway Medium" panose="020B0003030101060003" pitchFamily="34" charset="0"/>
              </a:rPr>
              <a:t>DISCRETE -&gt;AGGREGATE</a:t>
            </a:r>
            <a:endParaRPr lang="en-US" sz="9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C17ECB7-D4A7-4C8B-8A81-E68AA4EBA5E3}"/>
              </a:ext>
            </a:extLst>
          </p:cNvPr>
          <p:cNvCxnSpPr/>
          <p:nvPr/>
        </p:nvCxnSpPr>
        <p:spPr>
          <a:xfrm flipV="1">
            <a:off x="4756150" y="2732088"/>
            <a:ext cx="0" cy="7112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D354534-370D-4D5C-B9E3-1C185604F8B8}"/>
              </a:ext>
            </a:extLst>
          </p:cNvPr>
          <p:cNvSpPr/>
          <p:nvPr/>
        </p:nvSpPr>
        <p:spPr>
          <a:xfrm>
            <a:off x="3975100" y="2640013"/>
            <a:ext cx="1563688" cy="1825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8B9B682-FF98-4800-87E2-9ED0EAC8D57E}"/>
              </a:ext>
            </a:extLst>
          </p:cNvPr>
          <p:cNvSpPr/>
          <p:nvPr/>
        </p:nvSpPr>
        <p:spPr>
          <a:xfrm>
            <a:off x="4298950" y="3443288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7CBED68-C222-4507-AC45-9DBCF068B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3675063"/>
            <a:ext cx="469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2C68B5BF-D7C6-470E-B0AA-297E47099DD1}"/>
              </a:ext>
            </a:extLst>
          </p:cNvPr>
          <p:cNvSpPr txBox="1">
            <a:spLocks/>
          </p:cNvSpPr>
          <p:nvPr/>
        </p:nvSpPr>
        <p:spPr>
          <a:xfrm>
            <a:off x="3757613" y="4551363"/>
            <a:ext cx="2019300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Raleway Heavy" panose="020B0003030101060003" pitchFamily="34" charset="0"/>
              </a:rPr>
              <a:t>APP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90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MONOLITH-&gt;SOA</a:t>
            </a:r>
            <a:endParaRPr lang="en-US" sz="9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B9B160BE-1F13-4A0B-BC97-92812D452E08}"/>
              </a:ext>
            </a:extLst>
          </p:cNvPr>
          <p:cNvCxnSpPr/>
          <p:nvPr/>
        </p:nvCxnSpPr>
        <p:spPr>
          <a:xfrm flipV="1">
            <a:off x="7413625" y="2725738"/>
            <a:ext cx="0" cy="7112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875A27A-49B0-4385-81AD-A3892F4AD06A}"/>
              </a:ext>
            </a:extLst>
          </p:cNvPr>
          <p:cNvSpPr/>
          <p:nvPr/>
        </p:nvSpPr>
        <p:spPr>
          <a:xfrm>
            <a:off x="6632575" y="2635250"/>
            <a:ext cx="1562100" cy="1825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5F076934-8372-4DE6-B740-95F588F95301}"/>
              </a:ext>
            </a:extLst>
          </p:cNvPr>
          <p:cNvSpPr/>
          <p:nvPr/>
        </p:nvSpPr>
        <p:spPr>
          <a:xfrm>
            <a:off x="6956425" y="3436938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4128108-5F50-47E4-8C64-262DE9362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3665538"/>
            <a:ext cx="46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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30" name="Подзаголовок 2">
            <a:extLst>
              <a:ext uri="{FF2B5EF4-FFF2-40B4-BE49-F238E27FC236}">
                <a16:creationId xmlns:a16="http://schemas.microsoft.com/office/drawing/2014/main" id="{07138816-431A-49C3-90BF-EB330F5BF865}"/>
              </a:ext>
            </a:extLst>
          </p:cNvPr>
          <p:cNvSpPr txBox="1">
            <a:spLocks/>
          </p:cNvSpPr>
          <p:nvPr/>
        </p:nvSpPr>
        <p:spPr>
          <a:xfrm>
            <a:off x="6415088" y="4546600"/>
            <a:ext cx="2019300" cy="115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Raleway Heavy" panose="020B0003030101060003" pitchFamily="34" charset="0"/>
              </a:rPr>
              <a:t>OPERATION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90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HARDWARE-&gt;CLUSTER</a:t>
            </a:r>
            <a:endParaRPr lang="en-US" sz="9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8978AF6C-8F13-411A-B86C-8EABC42C09C9}"/>
              </a:ext>
            </a:extLst>
          </p:cNvPr>
          <p:cNvCxnSpPr/>
          <p:nvPr/>
        </p:nvCxnSpPr>
        <p:spPr>
          <a:xfrm flipV="1">
            <a:off x="10071100" y="2725738"/>
            <a:ext cx="0" cy="7112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BCB964F-EF4F-4E2F-A3B1-63EEC1F96A51}"/>
              </a:ext>
            </a:extLst>
          </p:cNvPr>
          <p:cNvSpPr/>
          <p:nvPr/>
        </p:nvSpPr>
        <p:spPr>
          <a:xfrm>
            <a:off x="9290050" y="2635250"/>
            <a:ext cx="1562100" cy="1825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44C37D21-1B42-419E-A4DE-72F5D77B245E}"/>
              </a:ext>
            </a:extLst>
          </p:cNvPr>
          <p:cNvSpPr/>
          <p:nvPr/>
        </p:nvSpPr>
        <p:spPr>
          <a:xfrm>
            <a:off x="9613900" y="3436938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25AFC13-28E4-4B2E-BEF6-C97904A8D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6150" y="3665538"/>
            <a:ext cx="46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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36" name="Подзаголовок 2">
            <a:extLst>
              <a:ext uri="{FF2B5EF4-FFF2-40B4-BE49-F238E27FC236}">
                <a16:creationId xmlns:a16="http://schemas.microsoft.com/office/drawing/2014/main" id="{CF1113EA-EC2A-43CB-A594-9324364999D8}"/>
              </a:ext>
            </a:extLst>
          </p:cNvPr>
          <p:cNvSpPr txBox="1">
            <a:spLocks/>
          </p:cNvSpPr>
          <p:nvPr/>
        </p:nvSpPr>
        <p:spPr>
          <a:xfrm>
            <a:off x="9070975" y="4546600"/>
            <a:ext cx="2020888" cy="115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Raleway Heavy" panose="020B0003030101060003" pitchFamily="34" charset="0"/>
              </a:rPr>
              <a:t>CULTURE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90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DEVOPS</a:t>
            </a:r>
            <a:endParaRPr lang="en-US" sz="9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grpSp>
        <p:nvGrpSpPr>
          <p:cNvPr id="44057" name="Группа 30">
            <a:extLst>
              <a:ext uri="{FF2B5EF4-FFF2-40B4-BE49-F238E27FC236}">
                <a16:creationId xmlns:a16="http://schemas.microsoft.com/office/drawing/2014/main" id="{4EE35D38-5386-4EC5-B5F8-F65E8B90ED14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85763"/>
            <a:ext cx="241300" cy="165100"/>
            <a:chOff x="11345779" y="324853"/>
            <a:chExt cx="240632" cy="165462"/>
          </a:xfrm>
        </p:grpSpPr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5522374D-18DE-4D7C-BB8F-86CFCF8F60E5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93F6E434-6958-429D-826C-6834227B72C2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B585EBEB-09BC-481E-9973-8F39758B6F4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068968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700"/>
                            </p:stCondLst>
                            <p:childTnLst>
                              <p:par>
                                <p:cTn id="4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800"/>
                            </p:stCondLst>
                            <p:childTnLst>
                              <p:par>
                                <p:cTn id="6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3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67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71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7900"/>
                            </p:stCondLst>
                            <p:childTnLst>
                              <p:par>
                                <p:cTn id="8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84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88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5" grpId="0" animBg="1"/>
      <p:bldP spid="16" grpId="0"/>
      <p:bldP spid="17" grpId="0"/>
      <p:bldP spid="21" grpId="0" animBg="1"/>
      <p:bldP spid="22" grpId="0" animBg="1"/>
      <p:bldP spid="23" grpId="0"/>
      <p:bldP spid="24" grpId="0"/>
      <p:bldP spid="27" grpId="0" animBg="1"/>
      <p:bldP spid="28" grpId="0" animBg="1"/>
      <p:bldP spid="29" grpId="0"/>
      <p:bldP spid="30" grpId="0"/>
      <p:bldP spid="33" grpId="0" animBg="1"/>
      <p:bldP spid="34" grpId="0" animBg="1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104" y="185025"/>
            <a:ext cx="549833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INFRA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CURRENT</a:t>
            </a:r>
            <a:r>
              <a:rPr lang="en-US" altLang="ru-RU" sz="16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904B6B-49B5-4A56-AEF3-F0FF0E1AD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187"/>
            <a:ext cx="12192000" cy="493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593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42BCE9-9CD1-420F-A93A-B690CDED5A3D}"/>
              </a:ext>
            </a:extLst>
          </p:cNvPr>
          <p:cNvSpPr/>
          <p:nvPr/>
        </p:nvSpPr>
        <p:spPr>
          <a:xfrm>
            <a:off x="6181725" y="0"/>
            <a:ext cx="2374900" cy="6858000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4BF31-E03A-4481-BAB3-BA7A72E4A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" y="379412"/>
            <a:ext cx="577430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INFRA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</a:t>
            </a:r>
            <a:endParaRPr lang="en-US" altLang="ru-RU" sz="1600" dirty="0">
              <a:latin typeface="Raleway ExtraBold" panose="020B0903030101060003" pitchFamily="34" charset="0"/>
            </a:endParaRP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ABE3499-829A-41DF-AAA2-26DA86F15DF2}"/>
              </a:ext>
            </a:extLst>
          </p:cNvPr>
          <p:cNvSpPr/>
          <p:nvPr/>
        </p:nvSpPr>
        <p:spPr>
          <a:xfrm>
            <a:off x="6845300" y="1162050"/>
            <a:ext cx="1047750" cy="1049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26A06C-2B67-4A9B-A7A0-EA935DA6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333500"/>
            <a:ext cx="536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E23936"/>
                </a:solidFill>
                <a:latin typeface="FontAwesome" pitchFamily="2" charset="0"/>
              </a:rPr>
              <a:t></a:t>
            </a:r>
            <a:endParaRPr lang="ru-RU" altLang="ru-RU" sz="2400">
              <a:solidFill>
                <a:srgbClr val="E23936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CB98DA-1476-4A69-BCCC-5C68037FA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4247" y="1800225"/>
            <a:ext cx="389851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rgbClr val="E23936"/>
                </a:solidFill>
                <a:latin typeface="Raleway Heavy" pitchFamily="34" charset="0"/>
              </a:rPr>
              <a:t>SDDC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F3E42A0-FEB7-4A0A-827B-39115830EA59}"/>
              </a:ext>
            </a:extLst>
          </p:cNvPr>
          <p:cNvSpPr/>
          <p:nvPr/>
        </p:nvSpPr>
        <p:spPr>
          <a:xfrm>
            <a:off x="6845300" y="298450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6E7E294-C59A-4643-BE7A-E31A5F381FCC}"/>
              </a:ext>
            </a:extLst>
          </p:cNvPr>
          <p:cNvSpPr/>
          <p:nvPr/>
        </p:nvSpPr>
        <p:spPr>
          <a:xfrm>
            <a:off x="6845300" y="480695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C15F737-7A5F-4662-B272-7D477962856A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>
            <a:off x="7369175" y="221138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DFD9F-98A2-4104-A185-23FCF088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0" y="3165475"/>
            <a:ext cx="42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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311F55-3034-4B55-BA2C-066B4345E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624263"/>
            <a:ext cx="10779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CONSOLIDATION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1AAEE5E-BFE8-4AA4-9A1E-92BF91481D7E}"/>
              </a:ext>
            </a:extLst>
          </p:cNvPr>
          <p:cNvCxnSpPr/>
          <p:nvPr/>
        </p:nvCxnSpPr>
        <p:spPr>
          <a:xfrm>
            <a:off x="7369175" y="403383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9D441E-7643-47E9-894B-4BB53714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49974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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9DC48B-BD31-4309-9AC0-B7D00965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366" y="5465763"/>
            <a:ext cx="47961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HYBRID</a:t>
            </a:r>
          </a:p>
        </p:txBody>
      </p:sp>
      <p:sp>
        <p:nvSpPr>
          <p:cNvPr id="28" name="Подзаголовок 2">
            <a:extLst>
              <a:ext uri="{FF2B5EF4-FFF2-40B4-BE49-F238E27FC236}">
                <a16:creationId xmlns:a16="http://schemas.microsoft.com/office/drawing/2014/main" id="{F6E95614-EDFA-4FBF-9196-A1417E517C73}"/>
              </a:ext>
            </a:extLst>
          </p:cNvPr>
          <p:cNvSpPr txBox="1">
            <a:spLocks/>
          </p:cNvSpPr>
          <p:nvPr/>
        </p:nvSpPr>
        <p:spPr>
          <a:xfrm>
            <a:off x="1455738" y="4292600"/>
            <a:ext cx="3857625" cy="914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Etiam vitae dui congue, semper quam vitae, luctus ligula. Sed posuere nunc in leo commod else cuprum less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. Etiam vitae dui congue, semper quam vitae, luctus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.</a:t>
            </a:r>
          </a:p>
        </p:txBody>
      </p:sp>
      <p:sp>
        <p:nvSpPr>
          <p:cNvPr id="37904" name="Рисунок 3">
            <a:extLst>
              <a:ext uri="{FF2B5EF4-FFF2-40B4-BE49-F238E27FC236}">
                <a16:creationId xmlns:a16="http://schemas.microsoft.com/office/drawing/2014/main" id="{668722C3-D8F7-4C90-9704-6A8DDC2C2F7F}"/>
              </a:ext>
            </a:extLst>
          </p:cNvPr>
          <p:cNvSpPr>
            <a:spLocks noGrp="1" noTextEdit="1"/>
          </p:cNvSpPr>
          <p:nvPr>
            <p:ph type="pic" sz="quarter" idx="10"/>
          </p:nvPr>
        </p:nvSpPr>
        <p:spPr/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3D9888-9C7B-4563-994D-693C8BE2F700}"/>
              </a:ext>
            </a:extLst>
          </p:cNvPr>
          <p:cNvGrpSpPr/>
          <p:nvPr/>
        </p:nvGrpSpPr>
        <p:grpSpPr>
          <a:xfrm>
            <a:off x="8679561" y="887243"/>
            <a:ext cx="3351169" cy="4898344"/>
            <a:chOff x="7132200" y="1581718"/>
            <a:chExt cx="3961661" cy="409346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7F553A-FB87-40F2-A325-733A839AA581}"/>
                </a:ext>
              </a:extLst>
            </p:cNvPr>
            <p:cNvSpPr txBox="1"/>
            <p:nvPr/>
          </p:nvSpPr>
          <p:spPr>
            <a:xfrm>
              <a:off x="7132200" y="1581718"/>
              <a:ext cx="3916345" cy="797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Manage 3 clusters from 1 console Vs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21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Server Sets,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563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servers,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563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OS,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Multiple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middleware,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Multiple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Mgmt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Interface,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Multiple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Databases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0B13FC-31CE-4893-BEAA-B4142AC08240}"/>
                </a:ext>
              </a:extLst>
            </p:cNvPr>
            <p:cNvSpPr txBox="1"/>
            <p:nvPr/>
          </p:nvSpPr>
          <p:spPr>
            <a:xfrm>
              <a:off x="7177516" y="2492783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Multi Cloud / Hybrid / Spans geographically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C48C34-28CA-4178-9A66-8158C841E66F}"/>
                </a:ext>
              </a:extLst>
            </p:cNvPr>
            <p:cNvSpPr txBox="1"/>
            <p:nvPr/>
          </p:nvSpPr>
          <p:spPr>
            <a:xfrm>
              <a:off x="7132200" y="3116222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1 unified way to deliver all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0254F7-4B1F-4200-94B0-BCA2BA56A4F2}"/>
                </a:ext>
              </a:extLst>
            </p:cNvPr>
            <p:cNvSpPr txBox="1"/>
            <p:nvPr/>
          </p:nvSpPr>
          <p:spPr>
            <a:xfrm>
              <a:off x="7132200" y="3883474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Everything software defined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2D5549-1CB1-45D5-A53C-1328ACDDB99A}"/>
                </a:ext>
              </a:extLst>
            </p:cNvPr>
            <p:cNvSpPr txBox="1"/>
            <p:nvPr/>
          </p:nvSpPr>
          <p:spPr>
            <a:xfrm>
              <a:off x="7132200" y="5417981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Elasticity @(cluster + Service)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065343-5621-4EA1-A0EF-69B2C8162992}"/>
                </a:ext>
              </a:extLst>
            </p:cNvPr>
            <p:cNvSpPr txBox="1"/>
            <p:nvPr/>
          </p:nvSpPr>
          <p:spPr>
            <a:xfrm>
              <a:off x="7132200" y="4650725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1 single skill set – python programming + Spring boot service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0EE424-09AC-40D6-BC45-3A0DEC966502}"/>
              </a:ext>
            </a:extLst>
          </p:cNvPr>
          <p:cNvGrpSpPr/>
          <p:nvPr/>
        </p:nvGrpSpPr>
        <p:grpSpPr>
          <a:xfrm>
            <a:off x="1226831" y="2451686"/>
            <a:ext cx="4161431" cy="3856659"/>
            <a:chOff x="273911" y="2153633"/>
            <a:chExt cx="4998297" cy="423141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5DCDACA-2A52-409B-98A3-260295305EA5}"/>
                </a:ext>
              </a:extLst>
            </p:cNvPr>
            <p:cNvSpPr/>
            <p:nvPr/>
          </p:nvSpPr>
          <p:spPr>
            <a:xfrm rot="21180000">
              <a:off x="382448" y="6144479"/>
              <a:ext cx="4869420" cy="24057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alpha val="52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3CE45C0-35FE-4E28-82B8-D7EFFC058624}"/>
                </a:ext>
              </a:extLst>
            </p:cNvPr>
            <p:cNvGrpSpPr/>
            <p:nvPr/>
          </p:nvGrpSpPr>
          <p:grpSpPr>
            <a:xfrm>
              <a:off x="273911" y="2153633"/>
              <a:ext cx="4998297" cy="4164384"/>
              <a:chOff x="3599815" y="1346809"/>
              <a:chExt cx="4998297" cy="4164384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A8A79965-165A-41B2-B7C7-DC4C62EC19DC}"/>
                  </a:ext>
                </a:extLst>
              </p:cNvPr>
              <p:cNvGrpSpPr/>
              <p:nvPr/>
            </p:nvGrpSpPr>
            <p:grpSpPr>
              <a:xfrm>
                <a:off x="3599815" y="1505709"/>
                <a:ext cx="4998297" cy="4005484"/>
                <a:chOff x="3599815" y="1505709"/>
                <a:chExt cx="4998297" cy="4005484"/>
              </a:xfrm>
              <a:scene3d>
                <a:camera prst="isometricOffAxis1Right">
                  <a:rot lat="900000" lon="20039998" rev="0"/>
                </a:camera>
                <a:lightRig rig="twoPt" dir="t"/>
              </a:scene3d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E0079125-F9C0-4CB2-A421-45D8C81B7C06}"/>
                    </a:ext>
                  </a:extLst>
                </p:cNvPr>
                <p:cNvSpPr/>
                <p:nvPr/>
              </p:nvSpPr>
              <p:spPr>
                <a:xfrm>
                  <a:off x="3599816" y="5101105"/>
                  <a:ext cx="4992368" cy="410088"/>
                </a:xfrm>
                <a:prstGeom prst="rect">
                  <a:avLst/>
                </a:prstGeom>
                <a:solidFill>
                  <a:srgbClr val="002B44"/>
                </a:solidFill>
                <a:ln>
                  <a:noFill/>
                </a:ln>
                <a:effectLst/>
                <a:sp3d extrusionH="31750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15057FAF-4CE4-4D64-8AA9-A69D98F01E87}"/>
                    </a:ext>
                  </a:extLst>
                </p:cNvPr>
                <p:cNvSpPr/>
                <p:nvPr/>
              </p:nvSpPr>
              <p:spPr>
                <a:xfrm>
                  <a:off x="3599816" y="3371560"/>
                  <a:ext cx="4992368" cy="410088"/>
                </a:xfrm>
                <a:prstGeom prst="rect">
                  <a:avLst/>
                </a:prstGeom>
                <a:solidFill>
                  <a:srgbClr val="6A8D9E"/>
                </a:solidFill>
                <a:ln>
                  <a:noFill/>
                </a:ln>
                <a:effectLst/>
                <a:sp3d extrusionH="31750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AAB6029D-FF17-49B5-99D8-EA3E8D401A7C}"/>
                    </a:ext>
                  </a:extLst>
                </p:cNvPr>
                <p:cNvGrpSpPr/>
                <p:nvPr/>
              </p:nvGrpSpPr>
              <p:grpSpPr>
                <a:xfrm>
                  <a:off x="3599815" y="3835723"/>
                  <a:ext cx="4998297" cy="1211309"/>
                  <a:chOff x="1898560" y="3934086"/>
                  <a:chExt cx="6507579" cy="1577075"/>
                </a:xfrm>
              </p:grpSpPr>
              <p:grpSp>
                <p:nvGrpSpPr>
                  <p:cNvPr id="76" name="Group 75">
                    <a:extLst>
                      <a:ext uri="{FF2B5EF4-FFF2-40B4-BE49-F238E27FC236}">
                        <a16:creationId xmlns:a16="http://schemas.microsoft.com/office/drawing/2014/main" id="{28E57F14-7B94-4DC6-AA41-5585F4C3781F}"/>
                      </a:ext>
                    </a:extLst>
                  </p:cNvPr>
                  <p:cNvGrpSpPr/>
                  <p:nvPr/>
                </p:nvGrpSpPr>
                <p:grpSpPr>
                  <a:xfrm>
                    <a:off x="1898560" y="3934086"/>
                    <a:ext cx="6507579" cy="1043161"/>
                    <a:chOff x="2857500" y="3261177"/>
                    <a:chExt cx="6961509" cy="1265467"/>
                  </a:xfrm>
                </p:grpSpPr>
                <p:sp>
                  <p:nvSpPr>
                    <p:cNvPr id="78" name="Rectangle 77">
                      <a:extLst>
                        <a:ext uri="{FF2B5EF4-FFF2-40B4-BE49-F238E27FC236}">
                          <a16:creationId xmlns:a16="http://schemas.microsoft.com/office/drawing/2014/main" id="{DB1211A0-9BD4-4B16-BB9E-98F94685F2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7500" y="3261179"/>
                      <a:ext cx="1668259" cy="1265465"/>
                    </a:xfrm>
                    <a:prstGeom prst="rect">
                      <a:avLst/>
                    </a:prstGeom>
                    <a:solidFill>
                      <a:srgbClr val="0071B0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9" name="Rectangle 78">
                      <a:extLst>
                        <a:ext uri="{FF2B5EF4-FFF2-40B4-BE49-F238E27FC236}">
                          <a16:creationId xmlns:a16="http://schemas.microsoft.com/office/drawing/2014/main" id="{D7096141-9736-433F-B23B-6E0F3118AB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16411" y="3261177"/>
                      <a:ext cx="1668259" cy="1265465"/>
                    </a:xfrm>
                    <a:prstGeom prst="rect">
                      <a:avLst/>
                    </a:prstGeom>
                    <a:solidFill>
                      <a:srgbClr val="0071B0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0" name="Rectangle 79">
                      <a:extLst>
                        <a:ext uri="{FF2B5EF4-FFF2-40B4-BE49-F238E27FC236}">
                          <a16:creationId xmlns:a16="http://schemas.microsoft.com/office/drawing/2014/main" id="{25F515F6-2915-4BF4-8F9A-15E66E2E9F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3580" y="3261179"/>
                      <a:ext cx="1668259" cy="1265465"/>
                    </a:xfrm>
                    <a:prstGeom prst="rect">
                      <a:avLst/>
                    </a:prstGeom>
                    <a:solidFill>
                      <a:srgbClr val="0071B0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Rectangle 80">
                      <a:extLst>
                        <a:ext uri="{FF2B5EF4-FFF2-40B4-BE49-F238E27FC236}">
                          <a16:creationId xmlns:a16="http://schemas.microsoft.com/office/drawing/2014/main" id="{9E4B9CF3-C730-4532-B4C5-C7D9B3B6F0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750" y="3261177"/>
                      <a:ext cx="1668259" cy="1265465"/>
                    </a:xfrm>
                    <a:prstGeom prst="rect">
                      <a:avLst/>
                    </a:prstGeom>
                    <a:solidFill>
                      <a:srgbClr val="0071B0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3AB13EC4-4E9F-43B5-B019-0F1DC452FE8B}"/>
                      </a:ext>
                    </a:extLst>
                  </p:cNvPr>
                  <p:cNvSpPr/>
                  <p:nvPr/>
                </p:nvSpPr>
                <p:spPr>
                  <a:xfrm>
                    <a:off x="1898561" y="4977243"/>
                    <a:ext cx="6499860" cy="533918"/>
                  </a:xfrm>
                  <a:prstGeom prst="rect">
                    <a:avLst/>
                  </a:prstGeom>
                  <a:solidFill>
                    <a:srgbClr val="004972"/>
                  </a:solidFill>
                  <a:ln>
                    <a:noFill/>
                  </a:ln>
                  <a:effectLst/>
                  <a:sp3d extrusionH="31750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F37417B-9949-4594-B88E-1D019965A3A3}"/>
                    </a:ext>
                  </a:extLst>
                </p:cNvPr>
                <p:cNvGrpSpPr/>
                <p:nvPr/>
              </p:nvGrpSpPr>
              <p:grpSpPr>
                <a:xfrm>
                  <a:off x="3599816" y="1505709"/>
                  <a:ext cx="4992368" cy="1811776"/>
                  <a:chOff x="3599816" y="1505709"/>
                  <a:chExt cx="4992368" cy="1811776"/>
                </a:xfrm>
              </p:grpSpPr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4D5BF713-98A5-4772-BC5F-92E657FEB5DA}"/>
                      </a:ext>
                    </a:extLst>
                  </p:cNvPr>
                  <p:cNvGrpSpPr/>
                  <p:nvPr/>
                </p:nvGrpSpPr>
                <p:grpSpPr>
                  <a:xfrm>
                    <a:off x="3599816" y="2907397"/>
                    <a:ext cx="4992368" cy="410088"/>
                    <a:chOff x="3599816" y="2907397"/>
                    <a:chExt cx="4992368" cy="410088"/>
                  </a:xfrm>
                </p:grpSpPr>
                <p:sp>
                  <p:nvSpPr>
                    <p:cNvPr id="74" name="Rectangle 73">
                      <a:extLst>
                        <a:ext uri="{FF2B5EF4-FFF2-40B4-BE49-F238E27FC236}">
                          <a16:creationId xmlns:a16="http://schemas.microsoft.com/office/drawing/2014/main" id="{18129BC9-55AC-4665-99FC-6486E2A152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99816" y="2907397"/>
                      <a:ext cx="2469778" cy="410088"/>
                    </a:xfrm>
                    <a:prstGeom prst="rect">
                      <a:avLst/>
                    </a:prstGeom>
                    <a:solidFill>
                      <a:srgbClr val="429A98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59170102-5394-4C31-9EDC-8782AA2112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2406" y="2907397"/>
                      <a:ext cx="2469778" cy="410088"/>
                    </a:xfrm>
                    <a:prstGeom prst="rect">
                      <a:avLst/>
                    </a:prstGeom>
                    <a:solidFill>
                      <a:srgbClr val="438BA5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5BCA4C23-2F85-48F1-800E-2F2767B92CEB}"/>
                      </a:ext>
                    </a:extLst>
                  </p:cNvPr>
                  <p:cNvGrpSpPr/>
                  <p:nvPr/>
                </p:nvGrpSpPr>
                <p:grpSpPr>
                  <a:xfrm>
                    <a:off x="3599816" y="1505709"/>
                    <a:ext cx="4992368" cy="1408362"/>
                    <a:chOff x="3599816" y="1505709"/>
                    <a:chExt cx="4992368" cy="1408362"/>
                  </a:xfrm>
                </p:grpSpPr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BDA89A92-6E16-4AA1-B40D-E0AA92F408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99816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3C5325A0-CB63-4A9E-BD39-9EDA9DE784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9047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127233D2-602E-4B8A-9B1E-416CA93379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86390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FF6C2E32-0B33-4A19-A0F2-E2874D708F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5062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6" name="Rectangle 65">
                      <a:extLst>
                        <a:ext uri="{FF2B5EF4-FFF2-40B4-BE49-F238E27FC236}">
                          <a16:creationId xmlns:a16="http://schemas.microsoft.com/office/drawing/2014/main" id="{7602DACE-14BA-4C5E-A046-CC704F64A3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3734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4FCF8E19-BA66-4E51-A9C0-32E76EE952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2406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8" name="Rectangle 67">
                      <a:extLst>
                        <a:ext uri="{FF2B5EF4-FFF2-40B4-BE49-F238E27FC236}">
                          <a16:creationId xmlns:a16="http://schemas.microsoft.com/office/drawing/2014/main" id="{3739BA2A-1B3D-4E88-BB74-B6FBEEB76F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06457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0BA5FF82-BB05-4E37-B431-0AEB099F63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63800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A05235FB-C90E-4910-85EE-F3E09C83A3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42472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EB4CD43D-D857-447F-8E1C-D9DC5E0D43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21144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9C030726-8697-4B57-91EC-AF66231861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07718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Rectangle 72">
                      <a:extLst>
                        <a:ext uri="{FF2B5EF4-FFF2-40B4-BE49-F238E27FC236}">
                          <a16:creationId xmlns:a16="http://schemas.microsoft.com/office/drawing/2014/main" id="{F4503911-6296-4F86-B936-EA13FBF938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85128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94939E65-CB45-4567-B6F6-C073B911ABE9}"/>
                  </a:ext>
                </a:extLst>
              </p:cNvPr>
              <p:cNvGrpSpPr/>
              <p:nvPr/>
            </p:nvGrpSpPr>
            <p:grpSpPr>
              <a:xfrm>
                <a:off x="3826301" y="1346809"/>
                <a:ext cx="4681308" cy="4046447"/>
                <a:chOff x="4195237" y="1826156"/>
                <a:chExt cx="4681308" cy="4046447"/>
              </a:xfrm>
            </p:grpSpPr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78E3FE3-43D2-4E0A-ABFC-B2EFF58D86DC}"/>
                    </a:ext>
                  </a:extLst>
                </p:cNvPr>
                <p:cNvSpPr txBox="1"/>
                <p:nvPr/>
              </p:nvSpPr>
              <p:spPr>
                <a:xfrm>
                  <a:off x="5816354" y="5534919"/>
                  <a:ext cx="1297167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MGMT 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E84EDF0-1B30-4FC7-875F-725D8DB040EB}"/>
                    </a:ext>
                  </a:extLst>
                </p:cNvPr>
                <p:cNvSpPr txBox="1"/>
                <p:nvPr/>
              </p:nvSpPr>
              <p:spPr>
                <a:xfrm>
                  <a:off x="5816354" y="5101210"/>
                  <a:ext cx="2005471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EDGE CLUSTER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8E0EB37-E3B4-407A-9CF3-48F7E8A40A4A}"/>
                    </a:ext>
                  </a:extLst>
                </p:cNvPr>
                <p:cNvSpPr txBox="1"/>
                <p:nvPr/>
              </p:nvSpPr>
              <p:spPr>
                <a:xfrm>
                  <a:off x="4381790" y="4616728"/>
                  <a:ext cx="1009360" cy="574062"/>
                </a:xfrm>
                <a:prstGeom prst="rect">
                  <a:avLst/>
                </a:prstGeom>
                <a:noFill/>
                <a:scene3d>
                  <a:camera prst="isometricRightUp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External</a:t>
                  </a:r>
                </a:p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API 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D25F1D1-0472-437B-8B57-EA19AF09E6E9}"/>
                    </a:ext>
                  </a:extLst>
                </p:cNvPr>
                <p:cNvSpPr txBox="1"/>
                <p:nvPr/>
              </p:nvSpPr>
              <p:spPr>
                <a:xfrm>
                  <a:off x="5246283" y="4521761"/>
                  <a:ext cx="1197794" cy="337684"/>
                </a:xfrm>
                <a:prstGeom prst="rect">
                  <a:avLst/>
                </a:prstGeom>
                <a:noFill/>
                <a:scene3d>
                  <a:camera prst="isometricRightUp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Producers 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3654328-A2BB-4F54-9DB3-F75A3CF830EE}"/>
                    </a:ext>
                  </a:extLst>
                </p:cNvPr>
                <p:cNvSpPr txBox="1"/>
                <p:nvPr/>
              </p:nvSpPr>
              <p:spPr>
                <a:xfrm>
                  <a:off x="6361950" y="4405576"/>
                  <a:ext cx="1364281" cy="574062"/>
                </a:xfrm>
                <a:prstGeom prst="rect">
                  <a:avLst/>
                </a:prstGeom>
                <a:noFill/>
                <a:scene3d>
                  <a:camera prst="isometricRightUp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Web</a:t>
                  </a:r>
                </a:p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Servers 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D96AC9E-BAF0-47C2-BCD5-DEA3D6E47688}"/>
                    </a:ext>
                  </a:extLst>
                </p:cNvPr>
                <p:cNvSpPr txBox="1"/>
                <p:nvPr/>
              </p:nvSpPr>
              <p:spPr>
                <a:xfrm>
                  <a:off x="7442397" y="4270019"/>
                  <a:ext cx="1424813" cy="574062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5751" lon="20355353" rev="97326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Micro</a:t>
                  </a:r>
                </a:p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Services 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1517E87-8819-4F1E-87B9-FDC78DE097B2}"/>
                    </a:ext>
                  </a:extLst>
                </p:cNvPr>
                <p:cNvSpPr txBox="1"/>
                <p:nvPr/>
              </p:nvSpPr>
              <p:spPr>
                <a:xfrm>
                  <a:off x="4794903" y="3579824"/>
                  <a:ext cx="1297167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ANALYTIC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7F94C59-1838-4DCE-BE6C-FC15B94FA4BF}"/>
                    </a:ext>
                  </a:extLst>
                </p:cNvPr>
                <p:cNvSpPr txBox="1"/>
                <p:nvPr/>
              </p:nvSpPr>
              <p:spPr>
                <a:xfrm>
                  <a:off x="6353141" y="3304171"/>
                  <a:ext cx="2523404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BATCH/TRANSACTION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C9415F4-E41D-4C50-9A3D-8D239B26E1E8}"/>
                    </a:ext>
                  </a:extLst>
                </p:cNvPr>
                <p:cNvSpPr txBox="1"/>
                <p:nvPr/>
              </p:nvSpPr>
              <p:spPr>
                <a:xfrm rot="16080000">
                  <a:off x="3731489" y="2824895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Hadoop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F896303-2C61-496E-9383-7935240292A1}"/>
                    </a:ext>
                  </a:extLst>
                </p:cNvPr>
                <p:cNvSpPr txBox="1"/>
                <p:nvPr/>
              </p:nvSpPr>
              <p:spPr>
                <a:xfrm rot="16080000">
                  <a:off x="4108962" y="2776261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Hbase</a:t>
                  </a:r>
                  <a:endParaRPr lang="en-US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6790569-AD67-4197-AE28-2C0750AACA89}"/>
                    </a:ext>
                  </a:extLst>
                </p:cNvPr>
                <p:cNvSpPr txBox="1"/>
                <p:nvPr/>
              </p:nvSpPr>
              <p:spPr>
                <a:xfrm rot="16080000">
                  <a:off x="4863909" y="2678991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Spark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7913688-7D4B-4B01-B029-CBC39D567EDE}"/>
                    </a:ext>
                  </a:extLst>
                </p:cNvPr>
                <p:cNvSpPr txBox="1"/>
                <p:nvPr/>
              </p:nvSpPr>
              <p:spPr>
                <a:xfrm rot="16080000">
                  <a:off x="5618856" y="2581718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Flume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DD277D1-CC65-4C78-9033-74E3DF2494C3}"/>
                    </a:ext>
                  </a:extLst>
                </p:cNvPr>
                <p:cNvSpPr txBox="1"/>
                <p:nvPr/>
              </p:nvSpPr>
              <p:spPr>
                <a:xfrm rot="16080000">
                  <a:off x="5996329" y="2533083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Ingestions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FE64F2C-8967-48B3-B0E3-843D71951BCE}"/>
                    </a:ext>
                  </a:extLst>
                </p:cNvPr>
                <p:cNvSpPr txBox="1"/>
                <p:nvPr/>
              </p:nvSpPr>
              <p:spPr>
                <a:xfrm rot="16080000">
                  <a:off x="6751274" y="2435811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App Service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5BA80F2-7DAA-4870-8ECE-613C64F1A275}"/>
                    </a:ext>
                  </a:extLst>
                </p:cNvPr>
                <p:cNvSpPr txBox="1"/>
                <p:nvPr/>
              </p:nvSpPr>
              <p:spPr>
                <a:xfrm rot="16080000">
                  <a:off x="7128748" y="2387174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Gateway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06C9C28-BD60-4616-9BE2-33C28A411DD9}"/>
                    </a:ext>
                  </a:extLst>
                </p:cNvPr>
                <p:cNvSpPr txBox="1"/>
                <p:nvPr/>
              </p:nvSpPr>
              <p:spPr>
                <a:xfrm rot="16080000">
                  <a:off x="7883687" y="2289904"/>
                  <a:ext cx="1297167" cy="369671"/>
                </a:xfrm>
                <a:prstGeom prst="rect">
                  <a:avLst/>
                </a:prstGeom>
                <a:noFill/>
                <a:scene3d>
                  <a:camera prst="orthographicFront"/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Internal </a:t>
                  </a:r>
                  <a:r>
                    <a:rPr lang="en-US" sz="14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Api</a:t>
                  </a:r>
                  <a:endParaRPr lang="en-US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E8F1BA9-90FC-4B54-AA9E-F02C981BFDB3}"/>
                    </a:ext>
                  </a:extLst>
                </p:cNvPr>
                <p:cNvSpPr txBox="1"/>
                <p:nvPr/>
              </p:nvSpPr>
              <p:spPr>
                <a:xfrm>
                  <a:off x="5816354" y="3884262"/>
                  <a:ext cx="1880782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MAINCLUSTER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C3B21E7-2684-4223-9109-10C89171D4EF}"/>
                    </a:ext>
                  </a:extLst>
                </p:cNvPr>
                <p:cNvSpPr txBox="1"/>
                <p:nvPr/>
              </p:nvSpPr>
              <p:spPr>
                <a:xfrm rot="16080000">
                  <a:off x="7506221" y="2338540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Reporting</a:t>
                  </a: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AA05429-ADF1-40EB-82ED-E760122FD0D1}"/>
                    </a:ext>
                  </a:extLst>
                </p:cNvPr>
                <p:cNvSpPr txBox="1"/>
                <p:nvPr/>
              </p:nvSpPr>
              <p:spPr>
                <a:xfrm rot="16080000">
                  <a:off x="6373801" y="2484447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Provisioning</a:t>
                  </a: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E487E7A-A476-43FC-A3DC-15861C6C6C8D}"/>
                    </a:ext>
                  </a:extLst>
                </p:cNvPr>
                <p:cNvSpPr txBox="1"/>
                <p:nvPr/>
              </p:nvSpPr>
              <p:spPr>
                <a:xfrm rot="16080000">
                  <a:off x="4486437" y="2727627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Mongo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13873FE0-4544-49D9-BB9D-93DE63B95062}"/>
                    </a:ext>
                  </a:extLst>
                </p:cNvPr>
                <p:cNvSpPr txBox="1"/>
                <p:nvPr/>
              </p:nvSpPr>
              <p:spPr>
                <a:xfrm rot="16080000">
                  <a:off x="5241382" y="2630355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Kafka</a:t>
                  </a:r>
                </a:p>
              </p:txBody>
            </p:sp>
          </p:grp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E8B5319-65C0-47A8-80C9-063C7ABDC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946" y="5856288"/>
            <a:ext cx="943630" cy="8059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B6F1C-500B-433E-A07B-289554319379}"/>
              </a:ext>
            </a:extLst>
          </p:cNvPr>
          <p:cNvSpPr txBox="1"/>
          <p:nvPr/>
        </p:nvSpPr>
        <p:spPr>
          <a:xfrm>
            <a:off x="5170946" y="6573228"/>
            <a:ext cx="986958" cy="276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Oracle RAC</a:t>
            </a:r>
          </a:p>
        </p:txBody>
      </p:sp>
    </p:spTree>
    <p:extLst>
      <p:ext uri="{BB962C8B-B14F-4D97-AF65-F5344CB8AC3E}">
        <p14:creationId xmlns:p14="http://schemas.microsoft.com/office/powerpoint/2010/main" val="19712170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85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2" grpId="0"/>
      <p:bldP spid="3" grpId="0"/>
      <p:bldP spid="13" grpId="0" animBg="1"/>
      <p:bldP spid="14" grpId="0" animBg="1"/>
      <p:bldP spid="17" grpId="0"/>
      <p:bldP spid="18" grpId="0"/>
      <p:bldP spid="21" grpId="0"/>
      <p:bldP spid="22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104" y="185025"/>
            <a:ext cx="54272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CURRENT</a:t>
            </a:r>
            <a:r>
              <a:rPr lang="en-US" altLang="ru-RU" sz="16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A462E7-0923-4C96-AA50-1533E16C8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3" y="875114"/>
            <a:ext cx="11850851" cy="559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946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8" name="Arc 37917">
            <a:extLst>
              <a:ext uri="{FF2B5EF4-FFF2-40B4-BE49-F238E27FC236}">
                <a16:creationId xmlns:a16="http://schemas.microsoft.com/office/drawing/2014/main" id="{F15F9690-A991-48D1-808A-D77D50F91089}"/>
              </a:ext>
            </a:extLst>
          </p:cNvPr>
          <p:cNvSpPr/>
          <p:nvPr/>
        </p:nvSpPr>
        <p:spPr>
          <a:xfrm rot="8142134">
            <a:off x="-8526" y="-869185"/>
            <a:ext cx="6217920" cy="5987231"/>
          </a:xfrm>
          <a:prstGeom prst="arc">
            <a:avLst>
              <a:gd name="adj1" fmla="val 12937448"/>
              <a:gd name="adj2" fmla="val 3225711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7620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42BCE9-9CD1-420F-A93A-B690CDED5A3D}"/>
              </a:ext>
            </a:extLst>
          </p:cNvPr>
          <p:cNvSpPr/>
          <p:nvPr/>
        </p:nvSpPr>
        <p:spPr>
          <a:xfrm>
            <a:off x="6181725" y="0"/>
            <a:ext cx="2374900" cy="6858000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4BF31-E03A-4481-BAB3-BA7A72E4A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58"/>
            <a:ext cx="6096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APPS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batch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proposed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ABE3499-829A-41DF-AAA2-26DA86F15DF2}"/>
              </a:ext>
            </a:extLst>
          </p:cNvPr>
          <p:cNvSpPr/>
          <p:nvPr/>
        </p:nvSpPr>
        <p:spPr>
          <a:xfrm>
            <a:off x="6845300" y="1162050"/>
            <a:ext cx="1047750" cy="1049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26A06C-2B67-4A9B-A7A0-EA935DA6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333500"/>
            <a:ext cx="536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E23936"/>
                </a:solidFill>
                <a:latin typeface="FontAwesome" pitchFamily="2" charset="0"/>
              </a:rPr>
              <a:t></a:t>
            </a:r>
            <a:endParaRPr lang="ru-RU" altLang="ru-RU" sz="2400">
              <a:solidFill>
                <a:srgbClr val="E23936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CB98DA-1476-4A69-BCCC-5C68037FA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4591" y="1800225"/>
            <a:ext cx="449162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rgbClr val="E23936"/>
                </a:solidFill>
                <a:latin typeface="Raleway Heavy" pitchFamily="34" charset="0"/>
              </a:rPr>
              <a:t>Elastic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F3E42A0-FEB7-4A0A-827B-39115830EA59}"/>
              </a:ext>
            </a:extLst>
          </p:cNvPr>
          <p:cNvSpPr/>
          <p:nvPr/>
        </p:nvSpPr>
        <p:spPr>
          <a:xfrm>
            <a:off x="6845300" y="298450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6E7E294-C59A-4643-BE7A-E31A5F381FCC}"/>
              </a:ext>
            </a:extLst>
          </p:cNvPr>
          <p:cNvSpPr/>
          <p:nvPr/>
        </p:nvSpPr>
        <p:spPr>
          <a:xfrm>
            <a:off x="6845300" y="480695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C15F737-7A5F-4662-B272-7D477962856A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>
            <a:off x="7369175" y="221138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DFD9F-98A2-4104-A185-23FCF088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0" y="3165475"/>
            <a:ext cx="42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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311F55-3034-4B55-BA2C-066B4345E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624263"/>
            <a:ext cx="10779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Real Time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1AAEE5E-BFE8-4AA4-9A1E-92BF91481D7E}"/>
              </a:ext>
            </a:extLst>
          </p:cNvPr>
          <p:cNvCxnSpPr/>
          <p:nvPr/>
        </p:nvCxnSpPr>
        <p:spPr>
          <a:xfrm>
            <a:off x="7369175" y="403383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9D441E-7643-47E9-894B-4BB53714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49974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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9DC48B-BD31-4309-9AC0-B7D00965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513" y="5465763"/>
            <a:ext cx="53732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Resilient</a:t>
            </a:r>
          </a:p>
        </p:txBody>
      </p:sp>
      <p:sp>
        <p:nvSpPr>
          <p:cNvPr id="37904" name="Рисунок 3">
            <a:extLst>
              <a:ext uri="{FF2B5EF4-FFF2-40B4-BE49-F238E27FC236}">
                <a16:creationId xmlns:a16="http://schemas.microsoft.com/office/drawing/2014/main" id="{668722C3-D8F7-4C90-9704-6A8DDC2C2F7F}"/>
              </a:ext>
            </a:extLst>
          </p:cNvPr>
          <p:cNvSpPr>
            <a:spLocks noGrp="1" noTextEdit="1"/>
          </p:cNvSpPr>
          <p:nvPr>
            <p:ph type="pic" sz="quarter" idx="10"/>
          </p:nvPr>
        </p:nvSpPr>
        <p:spPr/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3D9888-9C7B-4563-994D-693C8BE2F700}"/>
              </a:ext>
            </a:extLst>
          </p:cNvPr>
          <p:cNvGrpSpPr/>
          <p:nvPr/>
        </p:nvGrpSpPr>
        <p:grpSpPr>
          <a:xfrm>
            <a:off x="8679561" y="887243"/>
            <a:ext cx="3351169" cy="5113787"/>
            <a:chOff x="7132200" y="1581718"/>
            <a:chExt cx="3961661" cy="427350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7F553A-FB87-40F2-A325-733A839AA581}"/>
                </a:ext>
              </a:extLst>
            </p:cNvPr>
            <p:cNvSpPr txBox="1"/>
            <p:nvPr/>
          </p:nvSpPr>
          <p:spPr>
            <a:xfrm>
              <a:off x="7132200" y="1581718"/>
              <a:ext cx="3916345" cy="797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Manage all types of jobs from 1 console in 1 pool </a:t>
              </a:r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VS  </a:t>
              </a:r>
              <a:r>
                <a:rPr lang="en-US" sz="1400" b="1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10+</a:t>
              </a:r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 jobs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 in </a:t>
              </a:r>
              <a:r>
                <a:rPr lang="en-US" sz="1400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20 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different edge nodes, </a:t>
              </a:r>
              <a:r>
                <a:rPr lang="en-US" sz="1400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10+ </a:t>
              </a:r>
              <a:r>
                <a:rPr lang="en-US" sz="1400" dirty="0">
                  <a:latin typeface="+mn-lt"/>
                  <a:cs typeface="Arial" panose="020B0604020202020204" pitchFamily="34" charset="0"/>
                </a:rPr>
                <a:t>upgrade process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0B13FC-31CE-4893-BEAA-B4142AC08240}"/>
                </a:ext>
              </a:extLst>
            </p:cNvPr>
            <p:cNvSpPr txBox="1"/>
            <p:nvPr/>
          </p:nvSpPr>
          <p:spPr>
            <a:xfrm>
              <a:off x="7177516" y="2514957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Elastic Scheduling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C48C34-28CA-4178-9A66-8158C841E66F}"/>
                </a:ext>
              </a:extLst>
            </p:cNvPr>
            <p:cNvSpPr txBox="1"/>
            <p:nvPr/>
          </p:nvSpPr>
          <p:spPr>
            <a:xfrm>
              <a:off x="7132200" y="3116222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Realtime visibility + Diagnostics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0254F7-4B1F-4200-94B0-BCA2BA56A4F2}"/>
                </a:ext>
              </a:extLst>
            </p:cNvPr>
            <p:cNvSpPr txBox="1"/>
            <p:nvPr/>
          </p:nvSpPr>
          <p:spPr>
            <a:xfrm>
              <a:off x="7132200" y="3883474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Resilience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2D5549-1CB1-45D5-A53C-1328ACDDB99A}"/>
                </a:ext>
              </a:extLst>
            </p:cNvPr>
            <p:cNvSpPr txBox="1"/>
            <p:nvPr/>
          </p:nvSpPr>
          <p:spPr>
            <a:xfrm>
              <a:off x="7132200" y="5417981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Reliability / Manageability / Extension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065343-5621-4EA1-A0EF-69B2C8162992}"/>
                </a:ext>
              </a:extLst>
            </p:cNvPr>
            <p:cNvSpPr txBox="1"/>
            <p:nvPr/>
          </p:nvSpPr>
          <p:spPr>
            <a:xfrm>
              <a:off x="7132200" y="4650725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Agility </a:t>
              </a:r>
            </a:p>
          </p:txBody>
        </p:sp>
      </p:grpSp>
      <p:sp>
        <p:nvSpPr>
          <p:cNvPr id="82" name="Прямоугольник 4">
            <a:extLst>
              <a:ext uri="{FF2B5EF4-FFF2-40B4-BE49-F238E27FC236}">
                <a16:creationId xmlns:a16="http://schemas.microsoft.com/office/drawing/2014/main" id="{4C3CA418-C445-43A4-B60D-5A3590420967}"/>
              </a:ext>
            </a:extLst>
          </p:cNvPr>
          <p:cNvSpPr/>
          <p:nvPr/>
        </p:nvSpPr>
        <p:spPr>
          <a:xfrm>
            <a:off x="2766516" y="1994613"/>
            <a:ext cx="780983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 err="1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D</a:t>
            </a:r>
            <a:r>
              <a:rPr lang="en-US" sz="1200" kern="0" dirty="0" err="1"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Master</a:t>
            </a:r>
            <a:r>
              <a:rPr lang="en-US" sz="1200" kern="0" dirty="0"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</a:t>
            </a:r>
          </a:p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 err="1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gn</a:t>
            </a: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</a:t>
            </a:r>
          </a:p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concept</a:t>
            </a:r>
          </a:p>
        </p:txBody>
      </p:sp>
      <p:sp>
        <p:nvSpPr>
          <p:cNvPr id="84" name="Прямоугольник 7">
            <a:extLst>
              <a:ext uri="{FF2B5EF4-FFF2-40B4-BE49-F238E27FC236}">
                <a16:creationId xmlns:a16="http://schemas.microsoft.com/office/drawing/2014/main" id="{502E9AE8-1346-419F-848B-D57A7359AF93}"/>
              </a:ext>
            </a:extLst>
          </p:cNvPr>
          <p:cNvSpPr/>
          <p:nvPr/>
        </p:nvSpPr>
        <p:spPr>
          <a:xfrm>
            <a:off x="3933294" y="1519137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Batch4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g</a:t>
            </a:r>
          </a:p>
        </p:txBody>
      </p:sp>
      <p:sp>
        <p:nvSpPr>
          <p:cNvPr id="87" name="Прямоугольник 10">
            <a:extLst>
              <a:ext uri="{FF2B5EF4-FFF2-40B4-BE49-F238E27FC236}">
                <a16:creationId xmlns:a16="http://schemas.microsoft.com/office/drawing/2014/main" id="{A51810F5-A6F9-4DF6-B162-FC0287FE8E9A}"/>
              </a:ext>
            </a:extLst>
          </p:cNvPr>
          <p:cNvSpPr/>
          <p:nvPr/>
        </p:nvSpPr>
        <p:spPr>
          <a:xfrm>
            <a:off x="4241039" y="3543991"/>
            <a:ext cx="1527249" cy="3200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rPr>
              <a:t>Time Series DB</a:t>
            </a:r>
          </a:p>
        </p:txBody>
      </p:sp>
      <p:cxnSp>
        <p:nvCxnSpPr>
          <p:cNvPr id="88" name="Прямая соединительная линия 11">
            <a:extLst>
              <a:ext uri="{FF2B5EF4-FFF2-40B4-BE49-F238E27FC236}">
                <a16:creationId xmlns:a16="http://schemas.microsoft.com/office/drawing/2014/main" id="{9C33D6D9-23FD-461E-AC96-C2CD79D04618}"/>
              </a:ext>
            </a:extLst>
          </p:cNvPr>
          <p:cNvCxnSpPr/>
          <p:nvPr/>
        </p:nvCxnSpPr>
        <p:spPr>
          <a:xfrm flipH="1" flipV="1">
            <a:off x="2150879" y="1646613"/>
            <a:ext cx="542230" cy="357367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Скругленный прямоугольник 12">
            <a:extLst>
              <a:ext uri="{FF2B5EF4-FFF2-40B4-BE49-F238E27FC236}">
                <a16:creationId xmlns:a16="http://schemas.microsoft.com/office/drawing/2014/main" id="{77CF96A0-7D49-48CE-8E02-FFB81BD3F1D5}"/>
              </a:ext>
            </a:extLst>
          </p:cNvPr>
          <p:cNvSpPr/>
          <p:nvPr/>
        </p:nvSpPr>
        <p:spPr>
          <a:xfrm>
            <a:off x="622692" y="1451586"/>
            <a:ext cx="152818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0" name="Прямоугольник 13">
            <a:extLst>
              <a:ext uri="{FF2B5EF4-FFF2-40B4-BE49-F238E27FC236}">
                <a16:creationId xmlns:a16="http://schemas.microsoft.com/office/drawing/2014/main" id="{8514021A-D7D2-4A65-9E25-ECE3E43E3AB3}"/>
              </a:ext>
            </a:extLst>
          </p:cNvPr>
          <p:cNvSpPr/>
          <p:nvPr/>
        </p:nvSpPr>
        <p:spPr>
          <a:xfrm>
            <a:off x="622692" y="1519137"/>
            <a:ext cx="1528187" cy="60529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Batch3</a:t>
            </a: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 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Project featured</a:t>
            </a:r>
          </a:p>
        </p:txBody>
      </p:sp>
      <p:cxnSp>
        <p:nvCxnSpPr>
          <p:cNvPr id="91" name="Прямая соединительная линия 14">
            <a:extLst>
              <a:ext uri="{FF2B5EF4-FFF2-40B4-BE49-F238E27FC236}">
                <a16:creationId xmlns:a16="http://schemas.microsoft.com/office/drawing/2014/main" id="{9997F3CB-34B0-4C07-AA93-CE5FABDA324C}"/>
              </a:ext>
            </a:extLst>
          </p:cNvPr>
          <p:cNvCxnSpPr>
            <a:endCxn id="92" idx="3"/>
          </p:cNvCxnSpPr>
          <p:nvPr/>
        </p:nvCxnSpPr>
        <p:spPr>
          <a:xfrm flipH="1">
            <a:off x="2138683" y="2285080"/>
            <a:ext cx="524406" cy="208101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Скругленный прямоугольник 15">
            <a:extLst>
              <a:ext uri="{FF2B5EF4-FFF2-40B4-BE49-F238E27FC236}">
                <a16:creationId xmlns:a16="http://schemas.microsoft.com/office/drawing/2014/main" id="{3AB08AF0-7F74-4C9C-8F43-3C32210A86E3}"/>
              </a:ext>
            </a:extLst>
          </p:cNvPr>
          <p:cNvSpPr/>
          <p:nvPr/>
        </p:nvSpPr>
        <p:spPr>
          <a:xfrm>
            <a:off x="611434" y="2306871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3" name="Прямоугольник 16">
            <a:extLst>
              <a:ext uri="{FF2B5EF4-FFF2-40B4-BE49-F238E27FC236}">
                <a16:creationId xmlns:a16="http://schemas.microsoft.com/office/drawing/2014/main" id="{6C09C95A-038F-4E07-8FAC-20A2DB6D3E31}"/>
              </a:ext>
            </a:extLst>
          </p:cNvPr>
          <p:cNvSpPr/>
          <p:nvPr/>
        </p:nvSpPr>
        <p:spPr>
          <a:xfrm>
            <a:off x="611434" y="2374422"/>
            <a:ext cx="1527249" cy="57650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Batch2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ather information</a:t>
            </a:r>
          </a:p>
        </p:txBody>
      </p:sp>
      <p:sp>
        <p:nvSpPr>
          <p:cNvPr id="94" name="Скругленный прямоугольник 20">
            <a:extLst>
              <a:ext uri="{FF2B5EF4-FFF2-40B4-BE49-F238E27FC236}">
                <a16:creationId xmlns:a16="http://schemas.microsoft.com/office/drawing/2014/main" id="{AE2AD000-A262-4AAD-A7CD-4733DF05ED83}"/>
              </a:ext>
            </a:extLst>
          </p:cNvPr>
          <p:cNvSpPr/>
          <p:nvPr/>
        </p:nvSpPr>
        <p:spPr>
          <a:xfrm>
            <a:off x="737348" y="2871794"/>
            <a:ext cx="1528186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5" name="Прямоугольник 21">
            <a:extLst>
              <a:ext uri="{FF2B5EF4-FFF2-40B4-BE49-F238E27FC236}">
                <a16:creationId xmlns:a16="http://schemas.microsoft.com/office/drawing/2014/main" id="{AF2228B5-E046-405E-A40F-C26ADD617FE3}"/>
              </a:ext>
            </a:extLst>
          </p:cNvPr>
          <p:cNvSpPr/>
          <p:nvPr/>
        </p:nvSpPr>
        <p:spPr>
          <a:xfrm>
            <a:off x="890002" y="2866907"/>
            <a:ext cx="1528186" cy="57650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Batch1</a:t>
            </a:r>
            <a:r>
              <a:rPr lang="en-US" sz="120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4</a:t>
            </a: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  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Web development</a:t>
            </a:r>
          </a:p>
        </p:txBody>
      </p:sp>
      <p:cxnSp>
        <p:nvCxnSpPr>
          <p:cNvPr id="96" name="Прямая соединительная линия 23">
            <a:extLst>
              <a:ext uri="{FF2B5EF4-FFF2-40B4-BE49-F238E27FC236}">
                <a16:creationId xmlns:a16="http://schemas.microsoft.com/office/drawing/2014/main" id="{60DC4568-98C3-46FB-802B-EBC19CD05BCC}"/>
              </a:ext>
            </a:extLst>
          </p:cNvPr>
          <p:cNvCxnSpPr>
            <a:cxnSpLocks/>
            <a:stCxn id="106" idx="3"/>
            <a:endCxn id="94" idx="3"/>
          </p:cNvCxnSpPr>
          <p:nvPr/>
        </p:nvCxnSpPr>
        <p:spPr>
          <a:xfrm flipH="1">
            <a:off x="2265534" y="2525426"/>
            <a:ext cx="537394" cy="532679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Скругленный прямоугольник 32">
            <a:extLst>
              <a:ext uri="{FF2B5EF4-FFF2-40B4-BE49-F238E27FC236}">
                <a16:creationId xmlns:a16="http://schemas.microsoft.com/office/drawing/2014/main" id="{9125D98C-AE42-4A33-B609-21FA71BF38DB}"/>
              </a:ext>
            </a:extLst>
          </p:cNvPr>
          <p:cNvSpPr/>
          <p:nvPr/>
        </p:nvSpPr>
        <p:spPr>
          <a:xfrm>
            <a:off x="2277524" y="3179587"/>
            <a:ext cx="152818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8" name="Прямоугольник 33">
            <a:extLst>
              <a:ext uri="{FF2B5EF4-FFF2-40B4-BE49-F238E27FC236}">
                <a16:creationId xmlns:a16="http://schemas.microsoft.com/office/drawing/2014/main" id="{B8C6EBD9-E1A4-40CC-BF7F-E199089733B7}"/>
              </a:ext>
            </a:extLst>
          </p:cNvPr>
          <p:cNvSpPr/>
          <p:nvPr/>
        </p:nvSpPr>
        <p:spPr>
          <a:xfrm>
            <a:off x="2266267" y="3252586"/>
            <a:ext cx="1411854" cy="60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rPr>
              <a:t>Batch6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sting product</a:t>
            </a:r>
          </a:p>
        </p:txBody>
      </p:sp>
      <p:cxnSp>
        <p:nvCxnSpPr>
          <p:cNvPr id="102" name="Прямая соединительная линия 49">
            <a:extLst>
              <a:ext uri="{FF2B5EF4-FFF2-40B4-BE49-F238E27FC236}">
                <a16:creationId xmlns:a16="http://schemas.microsoft.com/office/drawing/2014/main" id="{D2980EB4-5410-4D8A-8716-2C6EDD353B85}"/>
              </a:ext>
            </a:extLst>
          </p:cNvPr>
          <p:cNvCxnSpPr>
            <a:cxnSpLocks/>
            <a:stCxn id="104" idx="0"/>
            <a:endCxn id="106" idx="5"/>
          </p:cNvCxnSpPr>
          <p:nvPr/>
        </p:nvCxnSpPr>
        <p:spPr>
          <a:xfrm flipH="1" flipV="1">
            <a:off x="3527967" y="2525426"/>
            <a:ext cx="1143565" cy="445147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Прямая соединительная линия 43">
            <a:extLst>
              <a:ext uri="{FF2B5EF4-FFF2-40B4-BE49-F238E27FC236}">
                <a16:creationId xmlns:a16="http://schemas.microsoft.com/office/drawing/2014/main" id="{DDBB0188-4D22-4B0B-A6C8-5AC7FE3A74BE}"/>
              </a:ext>
            </a:extLst>
          </p:cNvPr>
          <p:cNvCxnSpPr>
            <a:endCxn id="97" idx="0"/>
          </p:cNvCxnSpPr>
          <p:nvPr/>
        </p:nvCxnSpPr>
        <p:spPr>
          <a:xfrm>
            <a:off x="3042086" y="2677312"/>
            <a:ext cx="0" cy="502275"/>
          </a:xfrm>
          <a:prstGeom prst="line">
            <a:avLst/>
          </a:prstGeom>
          <a:ln w="19050">
            <a:solidFill>
              <a:srgbClr val="E2393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Скругленный прямоугольник 51">
            <a:extLst>
              <a:ext uri="{FF2B5EF4-FFF2-40B4-BE49-F238E27FC236}">
                <a16:creationId xmlns:a16="http://schemas.microsoft.com/office/drawing/2014/main" id="{97B1DCC1-210B-451C-A4B2-5714F52D9450}"/>
              </a:ext>
            </a:extLst>
          </p:cNvPr>
          <p:cNvSpPr/>
          <p:nvPr/>
        </p:nvSpPr>
        <p:spPr>
          <a:xfrm>
            <a:off x="3907438" y="2970573"/>
            <a:ext cx="152818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05" name="Прямоугольник 52">
            <a:extLst>
              <a:ext uri="{FF2B5EF4-FFF2-40B4-BE49-F238E27FC236}">
                <a16:creationId xmlns:a16="http://schemas.microsoft.com/office/drawing/2014/main" id="{43183241-1043-437E-8804-D8722428C0C6}"/>
              </a:ext>
            </a:extLst>
          </p:cNvPr>
          <p:cNvSpPr/>
          <p:nvPr/>
        </p:nvSpPr>
        <p:spPr>
          <a:xfrm>
            <a:off x="4095211" y="3005180"/>
            <a:ext cx="1528187" cy="3488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rPr>
              <a:t>Batch5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rking site</a:t>
            </a:r>
          </a:p>
        </p:txBody>
      </p:sp>
      <p:sp>
        <p:nvSpPr>
          <p:cNvPr id="106" name="Овал 3">
            <a:extLst>
              <a:ext uri="{FF2B5EF4-FFF2-40B4-BE49-F238E27FC236}">
                <a16:creationId xmlns:a16="http://schemas.microsoft.com/office/drawing/2014/main" id="{05171465-F387-42C4-A601-8D52BDAF4B12}"/>
              </a:ext>
            </a:extLst>
          </p:cNvPr>
          <p:cNvSpPr/>
          <p:nvPr/>
        </p:nvSpPr>
        <p:spPr>
          <a:xfrm>
            <a:off x="2652768" y="1754476"/>
            <a:ext cx="1025359" cy="903224"/>
          </a:xfrm>
          <a:prstGeom prst="ellipse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07" name="Скругленный прямоугольник 6">
            <a:extLst>
              <a:ext uri="{FF2B5EF4-FFF2-40B4-BE49-F238E27FC236}">
                <a16:creationId xmlns:a16="http://schemas.microsoft.com/office/drawing/2014/main" id="{29E7BAC1-3F4B-42EB-BDC0-B2CEAE59E70D}"/>
              </a:ext>
            </a:extLst>
          </p:cNvPr>
          <p:cNvSpPr/>
          <p:nvPr/>
        </p:nvSpPr>
        <p:spPr>
          <a:xfrm>
            <a:off x="3933294" y="1451586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356AF3-BB29-4D56-835C-76C67FDB7A27}"/>
              </a:ext>
            </a:extLst>
          </p:cNvPr>
          <p:cNvGrpSpPr/>
          <p:nvPr/>
        </p:nvGrpSpPr>
        <p:grpSpPr>
          <a:xfrm>
            <a:off x="701181" y="3467570"/>
            <a:ext cx="932891" cy="828018"/>
            <a:chOff x="2024678" y="2211388"/>
            <a:chExt cx="932891" cy="828018"/>
          </a:xfrm>
        </p:grpSpPr>
        <p:sp>
          <p:nvSpPr>
            <p:cNvPr id="108" name="Шестиугольник 5">
              <a:extLst>
                <a:ext uri="{FF2B5EF4-FFF2-40B4-BE49-F238E27FC236}">
                  <a16:creationId xmlns:a16="http://schemas.microsoft.com/office/drawing/2014/main" id="{50DA81FA-1DA6-485D-A885-55CC9F4FEF66}"/>
                </a:ext>
              </a:extLst>
            </p:cNvPr>
            <p:cNvSpPr/>
            <p:nvPr/>
          </p:nvSpPr>
          <p:spPr>
            <a:xfrm>
              <a:off x="2024678" y="2211388"/>
              <a:ext cx="628091" cy="523218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09" name="Шестиугольник 5">
              <a:extLst>
                <a:ext uri="{FF2B5EF4-FFF2-40B4-BE49-F238E27FC236}">
                  <a16:creationId xmlns:a16="http://schemas.microsoft.com/office/drawing/2014/main" id="{363E6ABB-B3CC-4DC6-8C23-B1D3ECF2B134}"/>
                </a:ext>
              </a:extLst>
            </p:cNvPr>
            <p:cNvSpPr/>
            <p:nvPr/>
          </p:nvSpPr>
          <p:spPr>
            <a:xfrm>
              <a:off x="2177078" y="2363788"/>
              <a:ext cx="628091" cy="523218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0" name="Шестиугольник 5">
              <a:extLst>
                <a:ext uri="{FF2B5EF4-FFF2-40B4-BE49-F238E27FC236}">
                  <a16:creationId xmlns:a16="http://schemas.microsoft.com/office/drawing/2014/main" id="{45BFB98E-2370-4DE1-AF4A-6E3669DE48F8}"/>
                </a:ext>
              </a:extLst>
            </p:cNvPr>
            <p:cNvSpPr/>
            <p:nvPr/>
          </p:nvSpPr>
          <p:spPr>
            <a:xfrm>
              <a:off x="2329478" y="2516188"/>
              <a:ext cx="628091" cy="523218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024729-F49B-460A-AFDB-1DC0ADCC65F4}"/>
              </a:ext>
            </a:extLst>
          </p:cNvPr>
          <p:cNvGrpSpPr/>
          <p:nvPr/>
        </p:nvGrpSpPr>
        <p:grpSpPr>
          <a:xfrm>
            <a:off x="2015143" y="3850421"/>
            <a:ext cx="1085291" cy="980418"/>
            <a:chOff x="3177620" y="1140291"/>
            <a:chExt cx="1085291" cy="980418"/>
          </a:xfrm>
        </p:grpSpPr>
        <p:sp>
          <p:nvSpPr>
            <p:cNvPr id="111" name="Шестиугольник 5">
              <a:extLst>
                <a:ext uri="{FF2B5EF4-FFF2-40B4-BE49-F238E27FC236}">
                  <a16:creationId xmlns:a16="http://schemas.microsoft.com/office/drawing/2014/main" id="{9CE6BCF2-FA9A-4EFB-814D-77735A7E71C9}"/>
                </a:ext>
              </a:extLst>
            </p:cNvPr>
            <p:cNvSpPr/>
            <p:nvPr/>
          </p:nvSpPr>
          <p:spPr>
            <a:xfrm>
              <a:off x="3177620" y="11402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2" name="Шестиугольник 5">
              <a:extLst>
                <a:ext uri="{FF2B5EF4-FFF2-40B4-BE49-F238E27FC236}">
                  <a16:creationId xmlns:a16="http://schemas.microsoft.com/office/drawing/2014/main" id="{17C9C42E-DEC6-4F2C-A9CA-5B4325C201CF}"/>
                </a:ext>
              </a:extLst>
            </p:cNvPr>
            <p:cNvSpPr/>
            <p:nvPr/>
          </p:nvSpPr>
          <p:spPr>
            <a:xfrm>
              <a:off x="3330020" y="12926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3" name="Шестиугольник 5">
              <a:extLst>
                <a:ext uri="{FF2B5EF4-FFF2-40B4-BE49-F238E27FC236}">
                  <a16:creationId xmlns:a16="http://schemas.microsoft.com/office/drawing/2014/main" id="{7339AEB1-AF52-49F3-BDFA-22014E9F2996}"/>
                </a:ext>
              </a:extLst>
            </p:cNvPr>
            <p:cNvSpPr/>
            <p:nvPr/>
          </p:nvSpPr>
          <p:spPr>
            <a:xfrm>
              <a:off x="3482420" y="14450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4" name="Шестиугольник 5">
              <a:extLst>
                <a:ext uri="{FF2B5EF4-FFF2-40B4-BE49-F238E27FC236}">
                  <a16:creationId xmlns:a16="http://schemas.microsoft.com/office/drawing/2014/main" id="{6463EE41-7C47-4905-A3AE-3EEE56A6DFF1}"/>
                </a:ext>
              </a:extLst>
            </p:cNvPr>
            <p:cNvSpPr/>
            <p:nvPr/>
          </p:nvSpPr>
          <p:spPr>
            <a:xfrm>
              <a:off x="3634820" y="15974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</p:grpSp>
      <p:cxnSp>
        <p:nvCxnSpPr>
          <p:cNvPr id="121" name="Прямая соединительная линия 49">
            <a:extLst>
              <a:ext uri="{FF2B5EF4-FFF2-40B4-BE49-F238E27FC236}">
                <a16:creationId xmlns:a16="http://schemas.microsoft.com/office/drawing/2014/main" id="{116ED0DE-2E3F-4C4B-9B30-27859AD95578}"/>
              </a:ext>
            </a:extLst>
          </p:cNvPr>
          <p:cNvCxnSpPr>
            <a:cxnSpLocks/>
            <a:stCxn id="113" idx="5"/>
          </p:cNvCxnSpPr>
          <p:nvPr/>
        </p:nvCxnSpPr>
        <p:spPr>
          <a:xfrm flipV="1">
            <a:off x="2817230" y="3577266"/>
            <a:ext cx="161109" cy="577955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Прямая соединительная линия 49">
            <a:extLst>
              <a:ext uri="{FF2B5EF4-FFF2-40B4-BE49-F238E27FC236}">
                <a16:creationId xmlns:a16="http://schemas.microsoft.com/office/drawing/2014/main" id="{EA4A87F8-50D3-41A8-AC39-9D843B858A13}"/>
              </a:ext>
            </a:extLst>
          </p:cNvPr>
          <p:cNvCxnSpPr>
            <a:cxnSpLocks/>
          </p:cNvCxnSpPr>
          <p:nvPr/>
        </p:nvCxnSpPr>
        <p:spPr>
          <a:xfrm flipV="1">
            <a:off x="1352781" y="3249819"/>
            <a:ext cx="149852" cy="385159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919" name="Picture 37918">
            <a:extLst>
              <a:ext uri="{FF2B5EF4-FFF2-40B4-BE49-F238E27FC236}">
                <a16:creationId xmlns:a16="http://schemas.microsoft.com/office/drawing/2014/main" id="{78BC9530-4702-4DAC-9803-6633085D8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802" y="3693092"/>
            <a:ext cx="1123988" cy="1003400"/>
          </a:xfrm>
          <a:prstGeom prst="rect">
            <a:avLst/>
          </a:prstGeom>
        </p:spPr>
      </p:pic>
      <p:cxnSp>
        <p:nvCxnSpPr>
          <p:cNvPr id="149" name="Прямая соединительная линия 49">
            <a:extLst>
              <a:ext uri="{FF2B5EF4-FFF2-40B4-BE49-F238E27FC236}">
                <a16:creationId xmlns:a16="http://schemas.microsoft.com/office/drawing/2014/main" id="{C542AC07-C886-4FB0-B2B1-74935B76DE2B}"/>
              </a:ext>
            </a:extLst>
          </p:cNvPr>
          <p:cNvCxnSpPr>
            <a:cxnSpLocks/>
            <a:stCxn id="37919" idx="1"/>
            <a:endCxn id="114" idx="5"/>
          </p:cNvCxnSpPr>
          <p:nvPr/>
        </p:nvCxnSpPr>
        <p:spPr>
          <a:xfrm flipH="1">
            <a:off x="2969630" y="4194792"/>
            <a:ext cx="549172" cy="112829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Cube 116">
            <a:extLst>
              <a:ext uri="{FF2B5EF4-FFF2-40B4-BE49-F238E27FC236}">
                <a16:creationId xmlns:a16="http://schemas.microsoft.com/office/drawing/2014/main" id="{8E648D0A-2269-48D8-99C6-808E1E841195}"/>
              </a:ext>
            </a:extLst>
          </p:cNvPr>
          <p:cNvSpPr/>
          <p:nvPr/>
        </p:nvSpPr>
        <p:spPr>
          <a:xfrm>
            <a:off x="361889" y="5504097"/>
            <a:ext cx="5590236" cy="62674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MGMT(Visibility)</a:t>
            </a:r>
          </a:p>
        </p:txBody>
      </p:sp>
      <p:cxnSp>
        <p:nvCxnSpPr>
          <p:cNvPr id="59" name="Прямая соединительная линия 49">
            <a:extLst>
              <a:ext uri="{FF2B5EF4-FFF2-40B4-BE49-F238E27FC236}">
                <a16:creationId xmlns:a16="http://schemas.microsoft.com/office/drawing/2014/main" id="{5D6021AF-6F64-4ED8-9606-FEC2A8D5AE5D}"/>
              </a:ext>
            </a:extLst>
          </p:cNvPr>
          <p:cNvCxnSpPr>
            <a:cxnSpLocks/>
            <a:stCxn id="107" idx="1"/>
          </p:cNvCxnSpPr>
          <p:nvPr/>
        </p:nvCxnSpPr>
        <p:spPr>
          <a:xfrm flipH="1">
            <a:off x="3446536" y="1637897"/>
            <a:ext cx="486758" cy="165011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5263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25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75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475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825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225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75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2" grpId="0"/>
      <p:bldP spid="3" grpId="0"/>
      <p:bldP spid="13" grpId="0" animBg="1"/>
      <p:bldP spid="14" grpId="0" animBg="1"/>
      <p:bldP spid="17" grpId="0"/>
      <p:bldP spid="18" grpId="0"/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5D5719-4BB0-4CC6-A1D6-94DB4BE1ED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5534F4-A310-451B-86DE-FB057F905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8488" y="684709"/>
            <a:ext cx="675735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000" dirty="0">
                <a:solidFill>
                  <a:srgbClr val="C0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000" dirty="0">
                <a:solidFill>
                  <a:schemeClr val="bg1"/>
                </a:solidFill>
                <a:latin typeface="Raleway ExtraBold" panose="020B0903030101060003" pitchFamily="34" charset="0"/>
              </a:rPr>
              <a:t>Apps/batch/transform</a:t>
            </a: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E750B9-43D3-4F0E-8193-AC9D9CD85B96}"/>
              </a:ext>
            </a:extLst>
          </p:cNvPr>
          <p:cNvSpPr/>
          <p:nvPr/>
        </p:nvSpPr>
        <p:spPr>
          <a:xfrm>
            <a:off x="1427163" y="1246386"/>
            <a:ext cx="9334500" cy="4762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>
                    <a:lumMod val="75000"/>
                  </a:schemeClr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MAIN STEP OF PROCESS</a:t>
            </a:r>
            <a:endParaRPr lang="en-US" sz="1200" spc="50" dirty="0">
              <a:solidFill>
                <a:schemeClr val="bg1">
                  <a:lumMod val="75000"/>
                </a:schemeClr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8F7FEE6-25C4-4EA0-94B0-48C32E84CC51}"/>
              </a:ext>
            </a:extLst>
          </p:cNvPr>
          <p:cNvSpPr/>
          <p:nvPr/>
        </p:nvSpPr>
        <p:spPr>
          <a:xfrm>
            <a:off x="5638800" y="2368550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51CB93F-C32B-4C4F-ABDC-76DB7A15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568575"/>
            <a:ext cx="46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10A5BE40-A9B2-4464-9D50-A634058C018B}"/>
              </a:ext>
            </a:extLst>
          </p:cNvPr>
          <p:cNvSpPr txBox="1">
            <a:spLocks/>
          </p:cNvSpPr>
          <p:nvPr/>
        </p:nvSpPr>
        <p:spPr bwMode="auto">
          <a:xfrm>
            <a:off x="2689225" y="2368550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CLUSTER PROVISIONING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0F172601-B2F0-4C80-BB05-19FDF8EE67B6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2717800"/>
            <a:ext cx="1100137" cy="309563"/>
            <a:chOff x="2918410" y="2721049"/>
            <a:chExt cx="1100138" cy="310215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6ABF7590-E7FE-4C0F-A356-8FF47E059A1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172695A-02FC-436D-951D-71B68F7442AD}"/>
                </a:ext>
              </a:extLst>
            </p:cNvPr>
            <p:cNvSpPr/>
            <p:nvPr/>
          </p:nvSpPr>
          <p:spPr>
            <a:xfrm>
              <a:off x="3083510" y="2721049"/>
              <a:ext cx="784226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ONE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91C94059-DD1A-4161-8A5D-93F75F1E08AC}"/>
              </a:ext>
            </a:extLst>
          </p:cNvPr>
          <p:cNvSpPr txBox="1">
            <a:spLocks/>
          </p:cNvSpPr>
          <p:nvPr/>
        </p:nvSpPr>
        <p:spPr>
          <a:xfrm>
            <a:off x="2689225" y="3222625"/>
            <a:ext cx="2725738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Provision cluster with best practices of storage/ compute / network /security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3C9B49C-DE15-4884-91D6-5EBDCD899C40}"/>
              </a:ext>
            </a:extLst>
          </p:cNvPr>
          <p:cNvCxnSpPr/>
          <p:nvPr/>
        </p:nvCxnSpPr>
        <p:spPr>
          <a:xfrm flipV="1">
            <a:off x="6094413" y="3556000"/>
            <a:ext cx="0" cy="7112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04ECE23E-5CC4-447D-A8C0-A6BCBEE3282D}"/>
              </a:ext>
            </a:extLst>
          </p:cNvPr>
          <p:cNvSpPr/>
          <p:nvPr/>
        </p:nvSpPr>
        <p:spPr>
          <a:xfrm>
            <a:off x="5638800" y="45418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D454FEB-87CD-4A99-90F2-C40FFFE2F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47656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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D65C0770-C30F-4F07-9B87-BA16FB34D8EE}"/>
              </a:ext>
            </a:extLst>
          </p:cNvPr>
          <p:cNvSpPr txBox="1">
            <a:spLocks/>
          </p:cNvSpPr>
          <p:nvPr/>
        </p:nvSpPr>
        <p:spPr bwMode="auto">
          <a:xfrm>
            <a:off x="7016750" y="4541838"/>
            <a:ext cx="25558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AUTOMATION ENGINE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38F5A684-342A-4C7A-AE8C-2FE13CD12185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891088"/>
            <a:ext cx="1100138" cy="309562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516A6D61-E009-4FC8-B9E7-29A4866325DD}"/>
                </a:ext>
              </a:extLst>
            </p:cNvPr>
            <p:cNvSpPr/>
            <p:nvPr/>
          </p:nvSpPr>
          <p:spPr>
            <a:xfrm>
              <a:off x="2918410" y="2795818"/>
              <a:ext cx="1100138" cy="235446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C9678DF-F6BF-43A8-9E70-891DA23B8BFE}"/>
                </a:ext>
              </a:extLst>
            </p:cNvPr>
            <p:cNvSpPr/>
            <p:nvPr/>
          </p:nvSpPr>
          <p:spPr>
            <a:xfrm>
              <a:off x="3067635" y="2721049"/>
              <a:ext cx="81597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TWO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60567640-1BDC-4DB2-8E66-2B0F99D0F6C6}"/>
              </a:ext>
            </a:extLst>
          </p:cNvPr>
          <p:cNvSpPr txBox="1">
            <a:spLocks/>
          </p:cNvSpPr>
          <p:nvPr/>
        </p:nvSpPr>
        <p:spPr>
          <a:xfrm>
            <a:off x="7016750" y="5395913"/>
            <a:ext cx="2724150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Setup elastic automation engine into the cluster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A72C610-2DAB-42E7-8A60-44CBEB73C50F}"/>
              </a:ext>
            </a:extLst>
          </p:cNvPr>
          <p:cNvCxnSpPr>
            <a:stCxn id="10" idx="2"/>
          </p:cNvCxnSpPr>
          <p:nvPr/>
        </p:nvCxnSpPr>
        <p:spPr>
          <a:xfrm flipH="1" flipV="1">
            <a:off x="6094413" y="5707063"/>
            <a:ext cx="1587" cy="115093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457" name="Группа 30">
            <a:extLst>
              <a:ext uri="{FF2B5EF4-FFF2-40B4-BE49-F238E27FC236}">
                <a16:creationId xmlns:a16="http://schemas.microsoft.com/office/drawing/2014/main" id="{9B9A3229-1D92-4757-BE40-784AF6C133D8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63538"/>
            <a:ext cx="241300" cy="165100"/>
            <a:chOff x="11345779" y="324853"/>
            <a:chExt cx="240632" cy="165462"/>
          </a:xfrm>
        </p:grpSpPr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C2618C0-0709-4031-A719-ACE6CD8C25D2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4671D3D1-C090-49EF-8450-9F7703C0993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C029FF5A-F407-43AC-9BB4-791EED097B8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58" name="Рисунок 34">
            <a:extLst>
              <a:ext uri="{FF2B5EF4-FFF2-40B4-BE49-F238E27FC236}">
                <a16:creationId xmlns:a16="http://schemas.microsoft.com/office/drawing/2014/main" id="{F72B07BE-679C-48AF-AA88-20DB7DB234D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667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2671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16" grpId="0"/>
      <p:bldP spid="17" grpId="0"/>
      <p:bldP spid="21" grpId="0"/>
      <p:bldP spid="23" grpId="0" animBg="1"/>
      <p:bldP spid="24" grpId="0"/>
      <p:bldP spid="25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466AF6-5FB0-4CA1-84B2-D698D9E421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110F3A4-DD88-4CE8-A639-AA79B08A408C}"/>
              </a:ext>
            </a:extLst>
          </p:cNvPr>
          <p:cNvCxnSpPr/>
          <p:nvPr/>
        </p:nvCxnSpPr>
        <p:spPr>
          <a:xfrm flipH="1" flipV="1">
            <a:off x="6096000" y="0"/>
            <a:ext cx="0" cy="115093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>
            <a:extLst>
              <a:ext uri="{FF2B5EF4-FFF2-40B4-BE49-F238E27FC236}">
                <a16:creationId xmlns:a16="http://schemas.microsoft.com/office/drawing/2014/main" id="{9152FEDD-3B7C-4EBB-BF13-C7B79B7E0580}"/>
              </a:ext>
            </a:extLst>
          </p:cNvPr>
          <p:cNvSpPr/>
          <p:nvPr/>
        </p:nvSpPr>
        <p:spPr>
          <a:xfrm>
            <a:off x="5638800" y="15065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77986E-4BA4-4F89-8536-77AD4445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63" y="1739900"/>
            <a:ext cx="514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DE9D131C-8E7C-463A-9B3F-49C7E4F4A208}"/>
              </a:ext>
            </a:extLst>
          </p:cNvPr>
          <p:cNvSpPr txBox="1">
            <a:spLocks/>
          </p:cNvSpPr>
          <p:nvPr/>
        </p:nvSpPr>
        <p:spPr bwMode="auto">
          <a:xfrm>
            <a:off x="2689225" y="1506538"/>
            <a:ext cx="27574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TRANSFORMATION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350D28F-17F0-44B7-892D-6B970A588A0F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1855788"/>
            <a:ext cx="1100137" cy="311150"/>
            <a:chOff x="2918410" y="2721049"/>
            <a:chExt cx="1100138" cy="310215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3DFE80A-8544-44D6-B9D4-5CD1B4F35E95}"/>
                </a:ext>
              </a:extLst>
            </p:cNvPr>
            <p:cNvSpPr/>
            <p:nvPr/>
          </p:nvSpPr>
          <p:spPr>
            <a:xfrm>
              <a:off x="2918410" y="2795437"/>
              <a:ext cx="1100138" cy="235827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2E9FDCB0-70C0-4CB2-AA78-5BFE0900374B}"/>
                </a:ext>
              </a:extLst>
            </p:cNvPr>
            <p:cNvSpPr/>
            <p:nvPr/>
          </p:nvSpPr>
          <p:spPr>
            <a:xfrm>
              <a:off x="3012072" y="2721049"/>
              <a:ext cx="927101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THREE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8C5C6EA2-9130-427F-B9BC-CEDFBBCAF850}"/>
              </a:ext>
            </a:extLst>
          </p:cNvPr>
          <p:cNvSpPr txBox="1">
            <a:spLocks/>
          </p:cNvSpPr>
          <p:nvPr/>
        </p:nvSpPr>
        <p:spPr>
          <a:xfrm>
            <a:off x="2689225" y="2360613"/>
            <a:ext cx="2725738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Containerize existing jobs and hook into automation engine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C5EDA6E-08B1-4E1A-ACA0-D67524AF719B}"/>
              </a:ext>
            </a:extLst>
          </p:cNvPr>
          <p:cNvCxnSpPr/>
          <p:nvPr/>
        </p:nvCxnSpPr>
        <p:spPr>
          <a:xfrm flipV="1">
            <a:off x="6096000" y="2670175"/>
            <a:ext cx="0" cy="70961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51F8EA1C-1432-4BE5-AA94-B5143FB0298D}"/>
              </a:ext>
            </a:extLst>
          </p:cNvPr>
          <p:cNvSpPr/>
          <p:nvPr/>
        </p:nvSpPr>
        <p:spPr>
          <a:xfrm>
            <a:off x="5638800" y="3654425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1431A66-4120-4365-9EFD-AEB9E632C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38782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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5DEC6047-4BFD-43E9-9DE5-9CC29B83A633}"/>
              </a:ext>
            </a:extLst>
          </p:cNvPr>
          <p:cNvSpPr txBox="1">
            <a:spLocks/>
          </p:cNvSpPr>
          <p:nvPr/>
        </p:nvSpPr>
        <p:spPr bwMode="auto">
          <a:xfrm>
            <a:off x="7016750" y="3654425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ANALYTIC AND OPEARTIONS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602F7FB2-E18E-4E8D-A87A-2C7CC53CA984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003675"/>
            <a:ext cx="1100138" cy="309563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6CC2694F-E204-40C8-A7C9-CF92C37C79A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DF6E20ED-3D46-4B76-A878-AB9D400292F5}"/>
                </a:ext>
              </a:extLst>
            </p:cNvPr>
            <p:cNvSpPr/>
            <p:nvPr/>
          </p:nvSpPr>
          <p:spPr>
            <a:xfrm>
              <a:off x="3045410" y="2721049"/>
              <a:ext cx="86042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FOUR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7D8B5AA1-0BFC-404F-8DF1-B688EF829EAD}"/>
              </a:ext>
            </a:extLst>
          </p:cNvPr>
          <p:cNvSpPr txBox="1">
            <a:spLocks/>
          </p:cNvSpPr>
          <p:nvPr/>
        </p:nvSpPr>
        <p:spPr>
          <a:xfrm>
            <a:off x="7016750" y="4508500"/>
            <a:ext cx="2724150" cy="115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Establish real time monitoring , Continuous delivery mechanism, Diagnostics, Resilience 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5276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3" grpId="0"/>
      <p:bldP spid="23" grpId="0" animBg="1"/>
      <p:bldP spid="24" grpId="0"/>
      <p:bldP spid="25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64CB3-3A2C-46A5-8C4B-FB6A5503D255}"/>
              </a:ext>
            </a:extLst>
          </p:cNvPr>
          <p:cNvSpPr/>
          <p:nvPr/>
        </p:nvSpPr>
        <p:spPr>
          <a:xfrm>
            <a:off x="0" y="-19050"/>
            <a:ext cx="12192000" cy="3135313"/>
          </a:xfrm>
          <a:custGeom>
            <a:avLst/>
            <a:gdLst>
              <a:gd name="connsiteX0" fmla="*/ 0 w 12192000"/>
              <a:gd name="connsiteY0" fmla="*/ 0 h 2183642"/>
              <a:gd name="connsiteX1" fmla="*/ 12192000 w 12192000"/>
              <a:gd name="connsiteY1" fmla="*/ 0 h 2183642"/>
              <a:gd name="connsiteX2" fmla="*/ 12192000 w 12192000"/>
              <a:gd name="connsiteY2" fmla="*/ 2183642 h 2183642"/>
              <a:gd name="connsiteX3" fmla="*/ 0 w 12192000"/>
              <a:gd name="connsiteY3" fmla="*/ 2183642 h 2183642"/>
              <a:gd name="connsiteX4" fmla="*/ 0 w 12192000"/>
              <a:gd name="connsiteY4" fmla="*/ 0 h 2183642"/>
              <a:gd name="connsiteX0" fmla="*/ 0 w 12192000"/>
              <a:gd name="connsiteY0" fmla="*/ 0 h 3125337"/>
              <a:gd name="connsiteX1" fmla="*/ 12192000 w 12192000"/>
              <a:gd name="connsiteY1" fmla="*/ 0 h 3125337"/>
              <a:gd name="connsiteX2" fmla="*/ 12192000 w 12192000"/>
              <a:gd name="connsiteY2" fmla="*/ 2183642 h 3125337"/>
              <a:gd name="connsiteX3" fmla="*/ 27296 w 12192000"/>
              <a:gd name="connsiteY3" fmla="*/ 3125337 h 3125337"/>
              <a:gd name="connsiteX4" fmla="*/ 0 w 12192000"/>
              <a:gd name="connsiteY4" fmla="*/ 0 h 3125337"/>
              <a:gd name="connsiteX0" fmla="*/ 0 w 12192000"/>
              <a:gd name="connsiteY0" fmla="*/ 0 h 3135970"/>
              <a:gd name="connsiteX1" fmla="*/ 12192000 w 12192000"/>
              <a:gd name="connsiteY1" fmla="*/ 0 h 3135970"/>
              <a:gd name="connsiteX2" fmla="*/ 12192000 w 12192000"/>
              <a:gd name="connsiteY2" fmla="*/ 2183642 h 3135970"/>
              <a:gd name="connsiteX3" fmla="*/ 6031 w 12192000"/>
              <a:gd name="connsiteY3" fmla="*/ 3135970 h 3135970"/>
              <a:gd name="connsiteX4" fmla="*/ 0 w 12192000"/>
              <a:gd name="connsiteY4" fmla="*/ 0 h 313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3135970">
                <a:moveTo>
                  <a:pt x="0" y="0"/>
                </a:moveTo>
                <a:lnTo>
                  <a:pt x="12192000" y="0"/>
                </a:lnTo>
                <a:lnTo>
                  <a:pt x="12192000" y="2183642"/>
                </a:lnTo>
                <a:lnTo>
                  <a:pt x="6031" y="3135970"/>
                </a:lnTo>
                <a:cubicBezTo>
                  <a:pt x="4021" y="2090647"/>
                  <a:pt x="2010" y="1045323"/>
                  <a:pt x="0" y="0"/>
                </a:cubicBezTo>
                <a:close/>
              </a:path>
            </a:pathLst>
          </a:cu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7A429-38B1-48EE-9900-0CE58F8C4247}"/>
              </a:ext>
            </a:extLst>
          </p:cNvPr>
          <p:cNvSpPr txBox="1"/>
          <p:nvPr/>
        </p:nvSpPr>
        <p:spPr>
          <a:xfrm>
            <a:off x="2100263" y="754063"/>
            <a:ext cx="7970837" cy="1477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rgbClr val="C00000"/>
                </a:solidFill>
                <a:latin typeface="Raleway ExtraBold" panose="020B0903030101060003" pitchFamily="34" charset="-52"/>
              </a:rPr>
              <a:t>/</a:t>
            </a: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Apps</a:t>
            </a:r>
            <a:r>
              <a:rPr lang="en-US" sz="4400" dirty="0">
                <a:solidFill>
                  <a:srgbClr val="FF0000"/>
                </a:solidFill>
                <a:latin typeface="Raleway ExtraBold" panose="020B0903030101060003" pitchFamily="34" charset="-52"/>
              </a:rPr>
              <a:t>/</a:t>
            </a: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batch</a:t>
            </a:r>
            <a:r>
              <a:rPr lang="en-US" sz="4400" dirty="0">
                <a:solidFill>
                  <a:srgbClr val="FF0000"/>
                </a:solidFill>
                <a:latin typeface="Raleway ExtraBold" panose="020B0903030101060003" pitchFamily="34" charset="-52"/>
              </a:rPr>
              <a:t>/</a:t>
            </a: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challenges</a:t>
            </a: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/>
                </a:solidFill>
                <a:latin typeface="Raleway ExtraBold" panose="020B0903030101060003" pitchFamily="34" charset="-52"/>
              </a:rPr>
              <a:t>Key Challenges we may face</a:t>
            </a:r>
            <a:endParaRPr lang="en-US" sz="1200" spc="5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E61CE43B-11AB-4B82-8510-5CE5B533E9CC}"/>
              </a:ext>
            </a:extLst>
          </p:cNvPr>
          <p:cNvSpPr txBox="1">
            <a:spLocks/>
          </p:cNvSpPr>
          <p:nvPr/>
        </p:nvSpPr>
        <p:spPr>
          <a:xfrm>
            <a:off x="1065213" y="3981450"/>
            <a:ext cx="2619375" cy="17510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Raleway Heavy" panose="020B0003030101060003" pitchFamily="34" charset="0"/>
              </a:rPr>
              <a:t>Networking</a:t>
            </a:r>
            <a:br>
              <a:rPr lang="en-US" sz="1200" dirty="0"/>
            </a:b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Source -&gt;&gt;Dest1/Dest2 …Visibility</a:t>
            </a:r>
            <a:endParaRPr lang="pt-BR" sz="1100" kern="0" dirty="0">
              <a:solidFill>
                <a:schemeClr val="bg1">
                  <a:lumMod val="65000"/>
                </a:schemeClr>
              </a:solidFill>
              <a:latin typeface="Raleway Medium" panose="020B0003030101060003" pitchFamily="34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100" dirty="0">
              <a:solidFill>
                <a:schemeClr val="bg1">
                  <a:lumMod val="65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3186CA60-9173-4F3A-8125-0576704D6B31}"/>
              </a:ext>
            </a:extLst>
          </p:cNvPr>
          <p:cNvSpPr txBox="1">
            <a:spLocks/>
          </p:cNvSpPr>
          <p:nvPr/>
        </p:nvSpPr>
        <p:spPr>
          <a:xfrm>
            <a:off x="4816475" y="3975100"/>
            <a:ext cx="2538413" cy="1757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Raleway Heavy" panose="020B0003030101060003" pitchFamily="34" charset="0"/>
              </a:rPr>
              <a:t>Persistence</a:t>
            </a:r>
            <a:br>
              <a:rPr lang="en-US" sz="1200" dirty="0"/>
            </a:b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</a:rPr>
              <a:t>Local Storage of inbound data</a:t>
            </a:r>
            <a:endParaRPr lang="pt-BR" sz="1100" kern="0" dirty="0">
              <a:solidFill>
                <a:schemeClr val="bg1">
                  <a:lumMod val="65000"/>
                </a:schemeClr>
              </a:solidFill>
              <a:latin typeface="Raleway Medium" panose="020B0003030101060003" pitchFamily="34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050" dirty="0">
              <a:solidFill>
                <a:schemeClr val="bg1">
                  <a:lumMod val="65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51ECEF57-1CFD-4341-A1D3-02B276797BD2}"/>
              </a:ext>
            </a:extLst>
          </p:cNvPr>
          <p:cNvSpPr txBox="1">
            <a:spLocks/>
          </p:cNvSpPr>
          <p:nvPr/>
        </p:nvSpPr>
        <p:spPr>
          <a:xfrm>
            <a:off x="8594725" y="3975100"/>
            <a:ext cx="2557463" cy="1757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Raleway Heavy" panose="020B0003030101060003" pitchFamily="34" charset="0"/>
              </a:rPr>
              <a:t>OPERATION</a:t>
            </a:r>
            <a:br>
              <a:rPr lang="en-US" sz="1200" dirty="0"/>
            </a:b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DEVELOPERS TRAINING ON OPERATIONS -- DEVOPS</a:t>
            </a:r>
            <a:endParaRPr lang="pt-BR" sz="1100" kern="0" dirty="0">
              <a:solidFill>
                <a:schemeClr val="bg1">
                  <a:lumMod val="65000"/>
                </a:schemeClr>
              </a:solidFill>
              <a:latin typeface="Raleway Medium" panose="020B0003030101060003" pitchFamily="34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100" dirty="0">
              <a:solidFill>
                <a:schemeClr val="bg1">
                  <a:lumMod val="65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74268B8-0417-4B3E-9D20-8EB82A019C1F}"/>
              </a:ext>
            </a:extLst>
          </p:cNvPr>
          <p:cNvSpPr/>
          <p:nvPr/>
        </p:nvSpPr>
        <p:spPr>
          <a:xfrm>
            <a:off x="1951038" y="2552700"/>
            <a:ext cx="777875" cy="777875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2E99762-2B6B-4788-8EB7-2E8E75F69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138" y="2755900"/>
            <a:ext cx="447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</a:t>
            </a: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16991A1E-CA56-4686-B3A5-40609513F9B1}"/>
              </a:ext>
            </a:extLst>
          </p:cNvPr>
          <p:cNvSpPr/>
          <p:nvPr/>
        </p:nvSpPr>
        <p:spPr>
          <a:xfrm>
            <a:off x="5707063" y="2538413"/>
            <a:ext cx="777875" cy="777875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1AB5DEF-A9BD-4837-BC43-5A85CA4A9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5975" y="2743200"/>
            <a:ext cx="4000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28B598E9-EEBC-441A-A3F7-27D3E4724168}"/>
              </a:ext>
            </a:extLst>
          </p:cNvPr>
          <p:cNvSpPr/>
          <p:nvPr/>
        </p:nvSpPr>
        <p:spPr>
          <a:xfrm>
            <a:off x="9463088" y="2552700"/>
            <a:ext cx="777875" cy="777875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67BF5E2-9214-4FA2-B6F6-95E1D22B8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0" y="2752725"/>
            <a:ext cx="4000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</a:t>
            </a:r>
            <a:endParaRPr lang="ru-RU" altLang="ru-RU" sz="1800">
              <a:solidFill>
                <a:schemeClr val="bg1"/>
              </a:solidFill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59EE303-43BC-48C9-9DBA-AE14FEDBF628}"/>
              </a:ext>
            </a:extLst>
          </p:cNvPr>
          <p:cNvSpPr/>
          <p:nvPr/>
        </p:nvSpPr>
        <p:spPr>
          <a:xfrm>
            <a:off x="1816100" y="5753100"/>
            <a:ext cx="1100138" cy="23653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B151113-DDC4-4297-BAEE-EF70EC4E57D9}"/>
              </a:ext>
            </a:extLst>
          </p:cNvPr>
          <p:cNvSpPr/>
          <p:nvPr/>
        </p:nvSpPr>
        <p:spPr>
          <a:xfrm>
            <a:off x="2059772" y="5665788"/>
            <a:ext cx="625492" cy="310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1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Zoning</a:t>
            </a:r>
            <a:endParaRPr lang="en-US" sz="800" dirty="0">
              <a:solidFill>
                <a:schemeClr val="bg1"/>
              </a:solidFill>
              <a:latin typeface="Montserrat" panose="02000505000000020004" pitchFamily="2" charset="0"/>
              <a:cs typeface="Poppins" panose="02000000000000000000" pitchFamily="2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180E3DB-126F-4DFF-8E00-9F0A7ED6F15D}"/>
              </a:ext>
            </a:extLst>
          </p:cNvPr>
          <p:cNvSpPr/>
          <p:nvPr/>
        </p:nvSpPr>
        <p:spPr>
          <a:xfrm>
            <a:off x="5561013" y="5759450"/>
            <a:ext cx="1100137" cy="23653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512DB86-6993-4A4A-AF4C-1DC2241625D8}"/>
              </a:ext>
            </a:extLst>
          </p:cNvPr>
          <p:cNvSpPr/>
          <p:nvPr/>
        </p:nvSpPr>
        <p:spPr>
          <a:xfrm>
            <a:off x="5820706" y="5676900"/>
            <a:ext cx="595036" cy="310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1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CEPH?</a:t>
            </a:r>
            <a:endParaRPr lang="en-US" sz="800" dirty="0">
              <a:solidFill>
                <a:schemeClr val="bg1"/>
              </a:solidFill>
              <a:latin typeface="Montserrat" panose="02000505000000020004" pitchFamily="2" charset="0"/>
              <a:cs typeface="Poppins" panose="02000000000000000000" pitchFamily="2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4E18236-9D62-4A3F-9D25-8771892A33BF}"/>
              </a:ext>
            </a:extLst>
          </p:cNvPr>
          <p:cNvSpPr/>
          <p:nvPr/>
        </p:nvSpPr>
        <p:spPr>
          <a:xfrm>
            <a:off x="9382125" y="5753100"/>
            <a:ext cx="1100138" cy="23653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A5DAC184-0136-4F46-893C-C685801AED1B}"/>
              </a:ext>
            </a:extLst>
          </p:cNvPr>
          <p:cNvSpPr/>
          <p:nvPr/>
        </p:nvSpPr>
        <p:spPr>
          <a:xfrm>
            <a:off x="9490337" y="5678488"/>
            <a:ext cx="898003" cy="310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1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DevSecOps</a:t>
            </a:r>
            <a:endParaRPr lang="en-US" sz="800" dirty="0">
              <a:solidFill>
                <a:schemeClr val="bg1"/>
              </a:solidFill>
              <a:latin typeface="Montserrat" panose="02000505000000020004" pitchFamily="2" charset="0"/>
              <a:cs typeface="Poppins" panose="02000000000000000000" pitchFamily="2" charset="0"/>
            </a:endParaRPr>
          </a:p>
        </p:txBody>
      </p:sp>
      <p:pic>
        <p:nvPicPr>
          <p:cNvPr id="18" name="Picture Placeholder 17" descr="Network">
            <a:extLst>
              <a:ext uri="{FF2B5EF4-FFF2-40B4-BE49-F238E27FC236}">
                <a16:creationId xmlns:a16="http://schemas.microsoft.com/office/drawing/2014/main" id="{F4BEB2B6-7134-4F63-8CE3-7D53C48F8D9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6213" y="2033588"/>
            <a:ext cx="1787525" cy="1787525"/>
          </a:xfrm>
        </p:spPr>
      </p:pic>
      <p:pic>
        <p:nvPicPr>
          <p:cNvPr id="20" name="Picture Placeholder 19" descr="Database">
            <a:extLst>
              <a:ext uri="{FF2B5EF4-FFF2-40B4-BE49-F238E27FC236}">
                <a16:creationId xmlns:a16="http://schemas.microsoft.com/office/drawing/2014/main" id="{F629452A-DBD0-4401-B3DA-FAB89812ECC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4452" y="2448150"/>
            <a:ext cx="1562457" cy="989014"/>
          </a:xfrm>
        </p:spPr>
      </p:pic>
      <p:pic>
        <p:nvPicPr>
          <p:cNvPr id="26" name="Picture Placeholder 25" descr="Game controller">
            <a:extLst>
              <a:ext uri="{FF2B5EF4-FFF2-40B4-BE49-F238E27FC236}">
                <a16:creationId xmlns:a16="http://schemas.microsoft.com/office/drawing/2014/main" id="{B1A96E6E-A686-4CB7-8F18-EE8D7E1C4E3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8263" y="2033588"/>
            <a:ext cx="1787525" cy="1787525"/>
          </a:xfrm>
        </p:spPr>
      </p:pic>
      <p:pic>
        <p:nvPicPr>
          <p:cNvPr id="28" name="Picture Placeholder 27" descr="Walk">
            <a:extLst>
              <a:ext uri="{FF2B5EF4-FFF2-40B4-BE49-F238E27FC236}">
                <a16:creationId xmlns:a16="http://schemas.microsoft.com/office/drawing/2014/main" id="{9A575346-CB1C-48E1-95F5-50F7881226B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56575" y="1679575"/>
            <a:ext cx="808120" cy="552449"/>
          </a:xfrm>
          <a:custGeom>
            <a:avLst/>
            <a:gdLst>
              <a:gd name="T0" fmla="*/ 0 w 10000"/>
              <a:gd name="T1" fmla="*/ 0 h 14410"/>
              <a:gd name="T2" fmla="*/ 2147483646 w 10000"/>
              <a:gd name="T3" fmla="*/ 3489630 h 14410"/>
              <a:gd name="T4" fmla="*/ 2147483646 w 10000"/>
              <a:gd name="T5" fmla="*/ 475048890 h 14410"/>
              <a:gd name="T6" fmla="*/ 16350691 w 10000"/>
              <a:gd name="T7" fmla="*/ 679516960 h 14410"/>
              <a:gd name="T8" fmla="*/ 0 w 10000"/>
              <a:gd name="T9" fmla="*/ 0 h 14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000" h="14410">
                <a:moveTo>
                  <a:pt x="0" y="0"/>
                </a:moveTo>
                <a:lnTo>
                  <a:pt x="10000" y="74"/>
                </a:lnTo>
                <a:lnTo>
                  <a:pt x="10000" y="10074"/>
                </a:lnTo>
                <a:lnTo>
                  <a:pt x="11" y="14410"/>
                </a:lnTo>
                <a:cubicBezTo>
                  <a:pt x="7" y="9607"/>
                  <a:pt x="4" y="4803"/>
                  <a:pt x="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935291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45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15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445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485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  <p:bldP spid="15" grpId="0"/>
      <p:bldP spid="16" grpId="0" animBg="1"/>
      <p:bldP spid="17" grpId="0"/>
      <p:bldP spid="21" grpId="0" animBg="1"/>
      <p:bldP spid="22" grpId="0"/>
      <p:bldP spid="23" grpId="0" animBg="1"/>
      <p:bldP spid="24" grpId="0"/>
      <p:bldP spid="30" grpId="0" animBg="1"/>
      <p:bldP spid="31" grpId="0"/>
      <p:bldP spid="32" grpId="0" animBg="1"/>
      <p:bldP spid="33" grpId="0"/>
      <p:bldP spid="34" grpId="0" animBg="1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96" y="185025"/>
            <a:ext cx="726671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TXN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CURRENT</a:t>
            </a:r>
            <a:r>
              <a:rPr lang="en-US" altLang="ru-RU" sz="16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39837A9-AC59-422A-BF1D-618D90C8357C}"/>
              </a:ext>
            </a:extLst>
          </p:cNvPr>
          <p:cNvCxnSpPr/>
          <p:nvPr/>
        </p:nvCxnSpPr>
        <p:spPr>
          <a:xfrm flipH="1">
            <a:off x="9754485" y="2192215"/>
            <a:ext cx="10838" cy="1251776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EA4A8C1-212A-469F-9B1F-36EF51E78CE3}"/>
              </a:ext>
            </a:extLst>
          </p:cNvPr>
          <p:cNvSpPr/>
          <p:nvPr/>
        </p:nvSpPr>
        <p:spPr>
          <a:xfrm>
            <a:off x="3841756" y="3426839"/>
            <a:ext cx="4625266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9BD2E0B-111E-4D4D-A31F-730F5DDA4476}"/>
              </a:ext>
            </a:extLst>
          </p:cNvPr>
          <p:cNvGrpSpPr/>
          <p:nvPr/>
        </p:nvGrpSpPr>
        <p:grpSpPr>
          <a:xfrm>
            <a:off x="10474852" y="4405933"/>
            <a:ext cx="587249" cy="373368"/>
            <a:chOff x="8269519" y="2198336"/>
            <a:chExt cx="816435" cy="37336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DA8236E-E8B3-4273-B7A6-B1775E1C3AC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49" name="Freeform 101">
              <a:extLst>
                <a:ext uri="{FF2B5EF4-FFF2-40B4-BE49-F238E27FC236}">
                  <a16:creationId xmlns:a16="http://schemas.microsoft.com/office/drawing/2014/main" id="{BC58B364-0D97-4F5B-A1EF-31500010914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2A3C269-A22D-4770-9213-460F8E1248C9}"/>
                </a:ext>
              </a:extLst>
            </p:cNvPr>
            <p:cNvSpPr txBox="1"/>
            <p:nvPr/>
          </p:nvSpPr>
          <p:spPr>
            <a:xfrm>
              <a:off x="8573309" y="2264561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Node1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26590D1-C376-40AF-A42A-82467CB6A389}"/>
              </a:ext>
            </a:extLst>
          </p:cNvPr>
          <p:cNvGrpSpPr/>
          <p:nvPr/>
        </p:nvGrpSpPr>
        <p:grpSpPr>
          <a:xfrm>
            <a:off x="11142521" y="4416347"/>
            <a:ext cx="692728" cy="373368"/>
            <a:chOff x="8269519" y="2198336"/>
            <a:chExt cx="816435" cy="373368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9583197-E055-41AA-963E-90A1F6EC5420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53" name="Freeform 101">
              <a:extLst>
                <a:ext uri="{FF2B5EF4-FFF2-40B4-BE49-F238E27FC236}">
                  <a16:creationId xmlns:a16="http://schemas.microsoft.com/office/drawing/2014/main" id="{633A1808-B01D-4FC0-9437-8A025C48485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383C6B8-C024-4DE9-9642-D35F9F1D0B92}"/>
                </a:ext>
              </a:extLst>
            </p:cNvPr>
            <p:cNvSpPr txBox="1"/>
            <p:nvPr/>
          </p:nvSpPr>
          <p:spPr>
            <a:xfrm>
              <a:off x="8564595" y="2267876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D3BBD97E-FEB8-4630-86AD-F82A9E73A4BC}"/>
              </a:ext>
            </a:extLst>
          </p:cNvPr>
          <p:cNvSpPr/>
          <p:nvPr/>
        </p:nvSpPr>
        <p:spPr>
          <a:xfrm>
            <a:off x="10365845" y="4367833"/>
            <a:ext cx="1484842" cy="41582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15F23C-EE16-4AE6-B792-8E3F7ECC196F}"/>
              </a:ext>
            </a:extLst>
          </p:cNvPr>
          <p:cNvSpPr txBox="1"/>
          <p:nvPr/>
        </p:nvSpPr>
        <p:spPr>
          <a:xfrm>
            <a:off x="10101365" y="4032622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Reporting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8FA334D-9B6D-4D5E-A93E-80DA0C455D71}"/>
              </a:ext>
            </a:extLst>
          </p:cNvPr>
          <p:cNvSpPr txBox="1"/>
          <p:nvPr/>
        </p:nvSpPr>
        <p:spPr>
          <a:xfrm>
            <a:off x="9398759" y="2781902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INTERNAL LAN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776575C-B2E3-4139-B81B-69B092CB0045}"/>
              </a:ext>
            </a:extLst>
          </p:cNvPr>
          <p:cNvSpPr txBox="1"/>
          <p:nvPr/>
        </p:nvSpPr>
        <p:spPr>
          <a:xfrm>
            <a:off x="2924590" y="1311888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6438D01-8611-40A0-A372-E6BFE1C637E3}"/>
              </a:ext>
            </a:extLst>
          </p:cNvPr>
          <p:cNvGrpSpPr/>
          <p:nvPr/>
        </p:nvGrpSpPr>
        <p:grpSpPr>
          <a:xfrm>
            <a:off x="8179319" y="1750708"/>
            <a:ext cx="816435" cy="356974"/>
            <a:chOff x="8269519" y="2177508"/>
            <a:chExt cx="816435" cy="394196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065174E-5B07-4598-B553-8065ED0F97EE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CAC3C189-06EB-42FB-A659-F17C3951CC7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D5E6FA8-742D-437B-95B2-8927E2E6C4A1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1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734A36A-DA28-4E8E-A29F-72392566F5C8}"/>
              </a:ext>
            </a:extLst>
          </p:cNvPr>
          <p:cNvGrpSpPr/>
          <p:nvPr/>
        </p:nvGrpSpPr>
        <p:grpSpPr>
          <a:xfrm>
            <a:off x="9571863" y="1750708"/>
            <a:ext cx="816435" cy="356974"/>
            <a:chOff x="8269519" y="2177508"/>
            <a:chExt cx="816435" cy="394196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A422472-39C3-4895-AFAF-1210B2ADA98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06" name="Freeform 101">
              <a:extLst>
                <a:ext uri="{FF2B5EF4-FFF2-40B4-BE49-F238E27FC236}">
                  <a16:creationId xmlns:a16="http://schemas.microsoft.com/office/drawing/2014/main" id="{CB64A0CA-9349-4DB7-BCE2-9739C666728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64F08C7-262E-4B87-8D4E-8C7DA64F4249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2</a:t>
              </a:r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586162F-00DE-4323-9437-0ACBEDA1AEAA}"/>
              </a:ext>
            </a:extLst>
          </p:cNvPr>
          <p:cNvSpPr/>
          <p:nvPr/>
        </p:nvSpPr>
        <p:spPr>
          <a:xfrm>
            <a:off x="8068348" y="1699273"/>
            <a:ext cx="2487538" cy="48116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94B382F-3235-42BF-80FD-B0DCDE112195}"/>
              </a:ext>
            </a:extLst>
          </p:cNvPr>
          <p:cNvSpPr/>
          <p:nvPr/>
        </p:nvSpPr>
        <p:spPr>
          <a:xfrm>
            <a:off x="1367414" y="1591343"/>
            <a:ext cx="9427834" cy="1037545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ADE3F37-055D-45EB-A2B1-3CAE811662FB}"/>
              </a:ext>
            </a:extLst>
          </p:cNvPr>
          <p:cNvSpPr txBox="1"/>
          <p:nvPr/>
        </p:nvSpPr>
        <p:spPr>
          <a:xfrm>
            <a:off x="8214551" y="2389953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DMZ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AD72BF5-1063-4F30-A29D-422337CA1FEC}"/>
              </a:ext>
            </a:extLst>
          </p:cNvPr>
          <p:cNvSpPr txBox="1"/>
          <p:nvPr/>
        </p:nvSpPr>
        <p:spPr>
          <a:xfrm>
            <a:off x="6710029" y="2072603"/>
            <a:ext cx="1644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Web UI Exposure</a:t>
            </a:r>
          </a:p>
          <a:p>
            <a:pPr algn="ctr"/>
            <a:r>
              <a:rPr lang="en-US" sz="1000" b="1" dirty="0"/>
              <a:t>Fore Sight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Web server = 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7AB72E9-B98D-4E39-A036-0649888DEC0B}"/>
              </a:ext>
            </a:extLst>
          </p:cNvPr>
          <p:cNvSpPr txBox="1"/>
          <p:nvPr/>
        </p:nvSpPr>
        <p:spPr>
          <a:xfrm>
            <a:off x="2915714" y="1356275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FA3371D-0FB3-4CC1-BD59-73C82300AE25}"/>
              </a:ext>
            </a:extLst>
          </p:cNvPr>
          <p:cNvSpPr/>
          <p:nvPr/>
        </p:nvSpPr>
        <p:spPr>
          <a:xfrm>
            <a:off x="4790497" y="1138030"/>
            <a:ext cx="2958061" cy="1864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Load Balancers</a:t>
            </a:r>
          </a:p>
        </p:txBody>
      </p:sp>
      <p:cxnSp>
        <p:nvCxnSpPr>
          <p:cNvPr id="137" name="Elbow Connector 313">
            <a:extLst>
              <a:ext uri="{FF2B5EF4-FFF2-40B4-BE49-F238E27FC236}">
                <a16:creationId xmlns:a16="http://schemas.microsoft.com/office/drawing/2014/main" id="{2BA63BB5-DB8C-42C7-A5DA-1A61B3A71DBB}"/>
              </a:ext>
            </a:extLst>
          </p:cNvPr>
          <p:cNvCxnSpPr/>
          <p:nvPr/>
        </p:nvCxnSpPr>
        <p:spPr>
          <a:xfrm>
            <a:off x="6263576" y="1518082"/>
            <a:ext cx="2872825" cy="1811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Elbow Connector 314">
            <a:extLst>
              <a:ext uri="{FF2B5EF4-FFF2-40B4-BE49-F238E27FC236}">
                <a16:creationId xmlns:a16="http://schemas.microsoft.com/office/drawing/2014/main" id="{464AF239-4C4F-4F35-9956-A54585DD1519}"/>
              </a:ext>
            </a:extLst>
          </p:cNvPr>
          <p:cNvCxnSpPr>
            <a:cxnSpLocks/>
          </p:cNvCxnSpPr>
          <p:nvPr/>
        </p:nvCxnSpPr>
        <p:spPr>
          <a:xfrm rot="5400000">
            <a:off x="4875326" y="329655"/>
            <a:ext cx="399397" cy="23890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CE7EC0B-E623-4390-A47D-5CB1F3FC9996}"/>
              </a:ext>
            </a:extLst>
          </p:cNvPr>
          <p:cNvSpPr/>
          <p:nvPr/>
        </p:nvSpPr>
        <p:spPr>
          <a:xfrm>
            <a:off x="167858" y="2849730"/>
            <a:ext cx="11832060" cy="297401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3DF6C8E-DAD9-44C0-A05F-F7F48615D7D2}"/>
              </a:ext>
            </a:extLst>
          </p:cNvPr>
          <p:cNvGrpSpPr/>
          <p:nvPr/>
        </p:nvGrpSpPr>
        <p:grpSpPr>
          <a:xfrm>
            <a:off x="10464962" y="5228601"/>
            <a:ext cx="650696" cy="373368"/>
            <a:chOff x="8269519" y="2198336"/>
            <a:chExt cx="816435" cy="373368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F3E6E04C-1373-40BD-8AEA-9DA857D2A6DC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42" name="Freeform 101">
              <a:extLst>
                <a:ext uri="{FF2B5EF4-FFF2-40B4-BE49-F238E27FC236}">
                  <a16:creationId xmlns:a16="http://schemas.microsoft.com/office/drawing/2014/main" id="{72B0FCA6-B3B3-45CB-877F-D7455767282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7C74EA5-A3AD-40B6-BD23-6122649C9DA0}"/>
                </a:ext>
              </a:extLst>
            </p:cNvPr>
            <p:cNvSpPr txBox="1"/>
            <p:nvPr/>
          </p:nvSpPr>
          <p:spPr>
            <a:xfrm>
              <a:off x="8561750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8652B0D-5E0B-49B2-92AE-AC84975A8E05}"/>
              </a:ext>
            </a:extLst>
          </p:cNvPr>
          <p:cNvGrpSpPr/>
          <p:nvPr/>
        </p:nvGrpSpPr>
        <p:grpSpPr>
          <a:xfrm>
            <a:off x="11159383" y="5228601"/>
            <a:ext cx="639757" cy="373368"/>
            <a:chOff x="8269519" y="2198336"/>
            <a:chExt cx="816435" cy="373368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63360994-AAED-491E-9107-EDED497B79E6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46" name="Freeform 101">
              <a:extLst>
                <a:ext uri="{FF2B5EF4-FFF2-40B4-BE49-F238E27FC236}">
                  <a16:creationId xmlns:a16="http://schemas.microsoft.com/office/drawing/2014/main" id="{4B15309B-FAF1-42B8-986C-472DDA463D7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CB27422-F9E2-475B-840A-E1C3DC2EAADD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A6232CD-9384-43A8-B553-9509D32F991C}"/>
              </a:ext>
            </a:extLst>
          </p:cNvPr>
          <p:cNvSpPr/>
          <p:nvPr/>
        </p:nvSpPr>
        <p:spPr>
          <a:xfrm>
            <a:off x="10365098" y="5151664"/>
            <a:ext cx="1484842" cy="47675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D455B8D-2D16-48CD-A0BD-D84DEC0560CE}"/>
              </a:ext>
            </a:extLst>
          </p:cNvPr>
          <p:cNvSpPr txBox="1"/>
          <p:nvPr/>
        </p:nvSpPr>
        <p:spPr>
          <a:xfrm>
            <a:off x="10231898" y="4791522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Mongo DB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Mongo DB = 4</a:t>
            </a:r>
          </a:p>
        </p:txBody>
      </p:sp>
      <p:cxnSp>
        <p:nvCxnSpPr>
          <p:cNvPr id="150" name="Elbow Connector 326">
            <a:extLst>
              <a:ext uri="{FF2B5EF4-FFF2-40B4-BE49-F238E27FC236}">
                <a16:creationId xmlns:a16="http://schemas.microsoft.com/office/drawing/2014/main" id="{DF654770-3279-4B03-82A4-32BFCE27AB1C}"/>
              </a:ext>
            </a:extLst>
          </p:cNvPr>
          <p:cNvCxnSpPr>
            <a:cxnSpLocks/>
          </p:cNvCxnSpPr>
          <p:nvPr/>
        </p:nvCxnSpPr>
        <p:spPr>
          <a:xfrm rot="5400000">
            <a:off x="3524427" y="2712030"/>
            <a:ext cx="1182540" cy="19920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9CFD480D-49EB-4535-9351-D0BABDD63EE8}"/>
              </a:ext>
            </a:extLst>
          </p:cNvPr>
          <p:cNvGrpSpPr/>
          <p:nvPr/>
        </p:nvGrpSpPr>
        <p:grpSpPr>
          <a:xfrm>
            <a:off x="8785013" y="4423863"/>
            <a:ext cx="587249" cy="373368"/>
            <a:chOff x="8269519" y="2198336"/>
            <a:chExt cx="816435" cy="373368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750A1F3E-A5BA-482E-8804-BCA906DD0999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53" name="Freeform 101">
              <a:extLst>
                <a:ext uri="{FF2B5EF4-FFF2-40B4-BE49-F238E27FC236}">
                  <a16:creationId xmlns:a16="http://schemas.microsoft.com/office/drawing/2014/main" id="{6AE5B175-8473-41F6-9C01-EE70B1795C4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9F63D980-5D66-41DD-86E5-65F9734E088B}"/>
                </a:ext>
              </a:extLst>
            </p:cNvPr>
            <p:cNvSpPr txBox="1"/>
            <p:nvPr/>
          </p:nvSpPr>
          <p:spPr>
            <a:xfrm>
              <a:off x="8573309" y="2264561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Node1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7FB96F4-4437-452E-B2B9-7011B047F9EF}"/>
              </a:ext>
            </a:extLst>
          </p:cNvPr>
          <p:cNvGrpSpPr/>
          <p:nvPr/>
        </p:nvGrpSpPr>
        <p:grpSpPr>
          <a:xfrm>
            <a:off x="8788570" y="5211423"/>
            <a:ext cx="650696" cy="373368"/>
            <a:chOff x="8269519" y="2198336"/>
            <a:chExt cx="816435" cy="373368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0613B26-0FE8-4244-9567-8D5572221A1D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57" name="Freeform 101">
              <a:extLst>
                <a:ext uri="{FF2B5EF4-FFF2-40B4-BE49-F238E27FC236}">
                  <a16:creationId xmlns:a16="http://schemas.microsoft.com/office/drawing/2014/main" id="{6F07C742-9738-4B9D-87F6-918804ED2A0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7F1ECEF-66E5-49B6-9EA1-95A315A76E95}"/>
                </a:ext>
              </a:extLst>
            </p:cNvPr>
            <p:cNvSpPr txBox="1"/>
            <p:nvPr/>
          </p:nvSpPr>
          <p:spPr>
            <a:xfrm>
              <a:off x="8561750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CB699432-6984-48EF-8093-7DF85C07FD4B}"/>
              </a:ext>
            </a:extLst>
          </p:cNvPr>
          <p:cNvGrpSpPr/>
          <p:nvPr/>
        </p:nvGrpSpPr>
        <p:grpSpPr>
          <a:xfrm>
            <a:off x="9521091" y="5211423"/>
            <a:ext cx="639757" cy="373368"/>
            <a:chOff x="8269519" y="2198336"/>
            <a:chExt cx="816435" cy="373368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80CD1625-4809-4DEE-BE58-0B8199611499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61" name="Freeform 101">
              <a:extLst>
                <a:ext uri="{FF2B5EF4-FFF2-40B4-BE49-F238E27FC236}">
                  <a16:creationId xmlns:a16="http://schemas.microsoft.com/office/drawing/2014/main" id="{6C192514-A492-4869-9267-744B5B6182A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C70C7DD-6D39-455C-901C-277163B0C2A8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6C5908D-A061-4BBE-B87B-B9B39C0E6D1A}"/>
              </a:ext>
            </a:extLst>
          </p:cNvPr>
          <p:cNvGrpSpPr/>
          <p:nvPr/>
        </p:nvGrpSpPr>
        <p:grpSpPr>
          <a:xfrm>
            <a:off x="9452682" y="4434277"/>
            <a:ext cx="692728" cy="373368"/>
            <a:chOff x="8269519" y="2198336"/>
            <a:chExt cx="816435" cy="373368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14BA84F6-2A38-4C54-9181-9D41D097F064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65" name="Freeform 101">
              <a:extLst>
                <a:ext uri="{FF2B5EF4-FFF2-40B4-BE49-F238E27FC236}">
                  <a16:creationId xmlns:a16="http://schemas.microsoft.com/office/drawing/2014/main" id="{A5D4E8A1-9AF0-45C1-AA82-021E55CC804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E6173EC-57E3-4732-8018-FF03865A7D9A}"/>
                </a:ext>
              </a:extLst>
            </p:cNvPr>
            <p:cNvSpPr txBox="1"/>
            <p:nvPr/>
          </p:nvSpPr>
          <p:spPr>
            <a:xfrm>
              <a:off x="8564595" y="2267876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5267BC11-4B7A-4003-A351-2B70FFA08D3D}"/>
              </a:ext>
            </a:extLst>
          </p:cNvPr>
          <p:cNvSpPr/>
          <p:nvPr/>
        </p:nvSpPr>
        <p:spPr>
          <a:xfrm>
            <a:off x="8676006" y="4385763"/>
            <a:ext cx="1484842" cy="41582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89DA6F7E-B5D3-4F6C-956A-D93F954BED6B}"/>
              </a:ext>
            </a:extLst>
          </p:cNvPr>
          <p:cNvSpPr/>
          <p:nvPr/>
        </p:nvSpPr>
        <p:spPr>
          <a:xfrm>
            <a:off x="8676006" y="5134485"/>
            <a:ext cx="1484842" cy="48568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36DE5A3-D725-451F-909F-7B6B360709EA}"/>
              </a:ext>
            </a:extLst>
          </p:cNvPr>
          <p:cNvSpPr txBox="1"/>
          <p:nvPr/>
        </p:nvSpPr>
        <p:spPr>
          <a:xfrm>
            <a:off x="8506484" y="4038467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Gateway Servers</a:t>
            </a:r>
          </a:p>
          <a:p>
            <a:pPr algn="ctr"/>
            <a:r>
              <a:rPr lang="en-US" sz="1000" b="1" dirty="0"/>
              <a:t>Nodes = 4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D426D42-FD61-4D85-BC9E-43AB77689A64}"/>
              </a:ext>
            </a:extLst>
          </p:cNvPr>
          <p:cNvSpPr txBox="1"/>
          <p:nvPr/>
        </p:nvSpPr>
        <p:spPr>
          <a:xfrm>
            <a:off x="8558429" y="4786012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Oracle DBs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Oracle = 2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B3200BD-0903-4131-8046-913794F482C3}"/>
              </a:ext>
            </a:extLst>
          </p:cNvPr>
          <p:cNvGrpSpPr/>
          <p:nvPr/>
        </p:nvGrpSpPr>
        <p:grpSpPr>
          <a:xfrm>
            <a:off x="8635877" y="3530142"/>
            <a:ext cx="709937" cy="356974"/>
            <a:chOff x="8269519" y="2177508"/>
            <a:chExt cx="816435" cy="394196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A01C10DA-2ED2-42DB-B315-4F2E5AF6630F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 101">
              <a:extLst>
                <a:ext uri="{FF2B5EF4-FFF2-40B4-BE49-F238E27FC236}">
                  <a16:creationId xmlns:a16="http://schemas.microsoft.com/office/drawing/2014/main" id="{E8522814-8398-4027-917B-1176928E6D8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B2F29239-0011-48D7-A159-95AC8D58DEF3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1</a:t>
              </a: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2AF5057-8BCF-44C6-A51A-52F6253F8BE2}"/>
              </a:ext>
            </a:extLst>
          </p:cNvPr>
          <p:cNvGrpSpPr/>
          <p:nvPr/>
        </p:nvGrpSpPr>
        <p:grpSpPr>
          <a:xfrm>
            <a:off x="9398759" y="3538425"/>
            <a:ext cx="762089" cy="356974"/>
            <a:chOff x="8269519" y="2177508"/>
            <a:chExt cx="816435" cy="394196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0B52C596-DF9B-4CFC-8D3A-70DBFD5B7CD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77" name="Freeform 101">
              <a:extLst>
                <a:ext uri="{FF2B5EF4-FFF2-40B4-BE49-F238E27FC236}">
                  <a16:creationId xmlns:a16="http://schemas.microsoft.com/office/drawing/2014/main" id="{37A450AE-06B3-4E84-8123-8EB2BF63924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6ECE820-6795-437F-86DD-6EDD1C45556B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037C864-671B-4DE5-8103-8D9EB6E4B6A2}"/>
              </a:ext>
            </a:extLst>
          </p:cNvPr>
          <p:cNvSpPr/>
          <p:nvPr/>
        </p:nvSpPr>
        <p:spPr>
          <a:xfrm>
            <a:off x="8630992" y="3467352"/>
            <a:ext cx="1529856" cy="48116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0C04623-BA57-49EA-8C87-5198B5BA801C}"/>
              </a:ext>
            </a:extLst>
          </p:cNvPr>
          <p:cNvSpPr txBox="1"/>
          <p:nvPr/>
        </p:nvSpPr>
        <p:spPr>
          <a:xfrm>
            <a:off x="8582565" y="3011911"/>
            <a:ext cx="1644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App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4</a:t>
            </a: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12A1660-F86C-45CF-81E6-936A3358C5AA}"/>
              </a:ext>
            </a:extLst>
          </p:cNvPr>
          <p:cNvGrpSpPr/>
          <p:nvPr/>
        </p:nvGrpSpPr>
        <p:grpSpPr>
          <a:xfrm>
            <a:off x="10291723" y="3546604"/>
            <a:ext cx="709937" cy="356974"/>
            <a:chOff x="8269519" y="2177508"/>
            <a:chExt cx="816435" cy="394196"/>
          </a:xfrm>
        </p:grpSpPr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07F55685-F1B2-4E06-AF9D-E38AA240DB64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83" name="Freeform 101">
              <a:extLst>
                <a:ext uri="{FF2B5EF4-FFF2-40B4-BE49-F238E27FC236}">
                  <a16:creationId xmlns:a16="http://schemas.microsoft.com/office/drawing/2014/main" id="{E8E8E7F7-DBE7-445B-A8DC-B8FE7A2BC5D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58C706AA-2C7C-45E2-9260-05582E54894D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1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1B754D71-794C-4106-A871-C92AB2844C68}"/>
              </a:ext>
            </a:extLst>
          </p:cNvPr>
          <p:cNvGrpSpPr/>
          <p:nvPr/>
        </p:nvGrpSpPr>
        <p:grpSpPr>
          <a:xfrm>
            <a:off x="11054605" y="3554887"/>
            <a:ext cx="762089" cy="356974"/>
            <a:chOff x="8269519" y="2177508"/>
            <a:chExt cx="816435" cy="394196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5E4F4181-C707-42C7-8708-F7C96E131747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87" name="Freeform 101">
              <a:extLst>
                <a:ext uri="{FF2B5EF4-FFF2-40B4-BE49-F238E27FC236}">
                  <a16:creationId xmlns:a16="http://schemas.microsoft.com/office/drawing/2014/main" id="{FC857A98-E415-4E6E-BBE6-B260CA42853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2D8E86D4-3E13-4B9D-ABB7-2BF98647CFB0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37A34B5-2AB2-4CE1-8666-9FA89DC0D2AA}"/>
              </a:ext>
            </a:extLst>
          </p:cNvPr>
          <p:cNvSpPr/>
          <p:nvPr/>
        </p:nvSpPr>
        <p:spPr>
          <a:xfrm>
            <a:off x="10286838" y="3483814"/>
            <a:ext cx="1529856" cy="48116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076CD5AE-F824-4351-AE26-3871C0B3CEF8}"/>
              </a:ext>
            </a:extLst>
          </p:cNvPr>
          <p:cNvSpPr txBox="1"/>
          <p:nvPr/>
        </p:nvSpPr>
        <p:spPr>
          <a:xfrm>
            <a:off x="10238411" y="3028373"/>
            <a:ext cx="1644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Novelvox App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3</a:t>
            </a:r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312ACD20-7DB0-49A5-BFBB-CCE1C5B33369}"/>
              </a:ext>
            </a:extLst>
          </p:cNvPr>
          <p:cNvCxnSpPr/>
          <p:nvPr/>
        </p:nvCxnSpPr>
        <p:spPr>
          <a:xfrm flipH="1">
            <a:off x="10386482" y="2204510"/>
            <a:ext cx="1816" cy="123948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A1718DA0-D52A-499B-8251-7C616ABBB3BD}"/>
              </a:ext>
            </a:extLst>
          </p:cNvPr>
          <p:cNvGrpSpPr/>
          <p:nvPr/>
        </p:nvGrpSpPr>
        <p:grpSpPr>
          <a:xfrm>
            <a:off x="4086285" y="1763143"/>
            <a:ext cx="816435" cy="356974"/>
            <a:chOff x="8269519" y="2177508"/>
            <a:chExt cx="816435" cy="394196"/>
          </a:xfrm>
        </p:grpSpPr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CD378935-666D-4915-9870-ADC3E90F4586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101">
              <a:extLst>
                <a:ext uri="{FF2B5EF4-FFF2-40B4-BE49-F238E27FC236}">
                  <a16:creationId xmlns:a16="http://schemas.microsoft.com/office/drawing/2014/main" id="{673B3219-1A23-46F2-8638-CC4F6FFD536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779E68FF-E184-4356-BA8D-5E2945428881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1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08E2849E-80BD-4F10-A2E0-4D6E68EE1C36}"/>
              </a:ext>
            </a:extLst>
          </p:cNvPr>
          <p:cNvGrpSpPr/>
          <p:nvPr/>
        </p:nvGrpSpPr>
        <p:grpSpPr>
          <a:xfrm>
            <a:off x="5478833" y="1763143"/>
            <a:ext cx="816435" cy="356974"/>
            <a:chOff x="8269519" y="2177508"/>
            <a:chExt cx="816435" cy="394196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62FFF0B0-A2B2-466F-B3A8-02632B94EBA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101">
              <a:extLst>
                <a:ext uri="{FF2B5EF4-FFF2-40B4-BE49-F238E27FC236}">
                  <a16:creationId xmlns:a16="http://schemas.microsoft.com/office/drawing/2014/main" id="{E042A4FF-03FB-40A1-916E-57EBCBE563E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6CBC24FB-3A9D-47C5-982B-7CF17B209804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2</a:t>
              </a: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5758D905-B5F2-469A-9927-31B4E5A67F32}"/>
              </a:ext>
            </a:extLst>
          </p:cNvPr>
          <p:cNvGrpSpPr/>
          <p:nvPr/>
        </p:nvGrpSpPr>
        <p:grpSpPr>
          <a:xfrm>
            <a:off x="2969724" y="1784909"/>
            <a:ext cx="816435" cy="356974"/>
            <a:chOff x="8269519" y="2177508"/>
            <a:chExt cx="816435" cy="394196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09DB8B5B-57D5-4715-AA97-10F10E7E0CB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101">
              <a:extLst>
                <a:ext uri="{FF2B5EF4-FFF2-40B4-BE49-F238E27FC236}">
                  <a16:creationId xmlns:a16="http://schemas.microsoft.com/office/drawing/2014/main" id="{DF982509-71CA-4931-B454-E18B4B1430A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9AE504CC-D096-4EBF-B95F-D330321AE325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1</a:t>
              </a:r>
            </a:p>
          </p:txBody>
        </p:sp>
      </p:grpSp>
      <p:sp>
        <p:nvSpPr>
          <p:cNvPr id="204" name="Rectangle 203">
            <a:extLst>
              <a:ext uri="{FF2B5EF4-FFF2-40B4-BE49-F238E27FC236}">
                <a16:creationId xmlns:a16="http://schemas.microsoft.com/office/drawing/2014/main" id="{67DF6B22-5A4F-4F99-8ECB-DD9E650BACB4}"/>
              </a:ext>
            </a:extLst>
          </p:cNvPr>
          <p:cNvSpPr/>
          <p:nvPr/>
        </p:nvSpPr>
        <p:spPr>
          <a:xfrm>
            <a:off x="2816775" y="1712585"/>
            <a:ext cx="3666288" cy="48116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71260215-3746-4547-88C2-816F3356DB63}"/>
              </a:ext>
            </a:extLst>
          </p:cNvPr>
          <p:cNvGrpSpPr/>
          <p:nvPr/>
        </p:nvGrpSpPr>
        <p:grpSpPr>
          <a:xfrm>
            <a:off x="4010992" y="3635887"/>
            <a:ext cx="709937" cy="356974"/>
            <a:chOff x="8269519" y="2177508"/>
            <a:chExt cx="816435" cy="394196"/>
          </a:xfrm>
        </p:grpSpPr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51ED04DC-7C9D-4762-9A9B-A401F47D61B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101">
              <a:extLst>
                <a:ext uri="{FF2B5EF4-FFF2-40B4-BE49-F238E27FC236}">
                  <a16:creationId xmlns:a16="http://schemas.microsoft.com/office/drawing/2014/main" id="{90798518-E941-4B3A-845A-D12F625BEEA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7BBFD836-2D97-406B-8A5D-D1B371CFEBC1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1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3D21A150-F503-4D34-88A5-968A26F602A0}"/>
              </a:ext>
            </a:extLst>
          </p:cNvPr>
          <p:cNvGrpSpPr/>
          <p:nvPr/>
        </p:nvGrpSpPr>
        <p:grpSpPr>
          <a:xfrm>
            <a:off x="4773874" y="3644170"/>
            <a:ext cx="762089" cy="356974"/>
            <a:chOff x="8269519" y="2177508"/>
            <a:chExt cx="816435" cy="394196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454317D4-AEA2-4F68-A39D-AF583A56EBC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101">
              <a:extLst>
                <a:ext uri="{FF2B5EF4-FFF2-40B4-BE49-F238E27FC236}">
                  <a16:creationId xmlns:a16="http://schemas.microsoft.com/office/drawing/2014/main" id="{0697F0A0-197B-4A51-91B2-00CA83CB702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7D122E6D-4209-4A33-AA88-6D824D7B6F25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7154074-5792-4818-B5F1-D4847B141551}"/>
              </a:ext>
            </a:extLst>
          </p:cNvPr>
          <p:cNvGrpSpPr/>
          <p:nvPr/>
        </p:nvGrpSpPr>
        <p:grpSpPr>
          <a:xfrm>
            <a:off x="5666838" y="3652349"/>
            <a:ext cx="709937" cy="356974"/>
            <a:chOff x="8269519" y="2177508"/>
            <a:chExt cx="816435" cy="394196"/>
          </a:xfrm>
        </p:grpSpPr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9FBD3DF2-150B-4132-939F-D6CFDF3B53CF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101">
              <a:extLst>
                <a:ext uri="{FF2B5EF4-FFF2-40B4-BE49-F238E27FC236}">
                  <a16:creationId xmlns:a16="http://schemas.microsoft.com/office/drawing/2014/main" id="{C26965B3-0F22-4A86-B538-B9AE60FF027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39A91711-50B0-4342-B279-08747F45DE33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1</a:t>
              </a:r>
            </a:p>
          </p:txBody>
        </p: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A8ED01B6-D0A5-42C4-B6F7-20429DD8E6ED}"/>
              </a:ext>
            </a:extLst>
          </p:cNvPr>
          <p:cNvGrpSpPr/>
          <p:nvPr/>
        </p:nvGrpSpPr>
        <p:grpSpPr>
          <a:xfrm>
            <a:off x="6429720" y="3660632"/>
            <a:ext cx="762089" cy="356974"/>
            <a:chOff x="8269519" y="2177508"/>
            <a:chExt cx="816435" cy="394196"/>
          </a:xfrm>
        </p:grpSpPr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4ECFFA49-A613-4E42-A8E2-38FDEFA8B8D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101">
              <a:extLst>
                <a:ext uri="{FF2B5EF4-FFF2-40B4-BE49-F238E27FC236}">
                  <a16:creationId xmlns:a16="http://schemas.microsoft.com/office/drawing/2014/main" id="{566661D7-02C4-4BF8-B728-0423F851CA6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2D305466-8C85-4CAD-B392-ACA0F09BA634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024FE3-98EC-4B2F-8347-1EF75B15C0EC}"/>
              </a:ext>
            </a:extLst>
          </p:cNvPr>
          <p:cNvGrpSpPr/>
          <p:nvPr/>
        </p:nvGrpSpPr>
        <p:grpSpPr>
          <a:xfrm>
            <a:off x="7453595" y="3635444"/>
            <a:ext cx="762089" cy="356974"/>
            <a:chOff x="8269519" y="2177508"/>
            <a:chExt cx="816435" cy="394196"/>
          </a:xfrm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C75ED249-C27A-40AA-8AD5-EED17F7F3197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101">
              <a:extLst>
                <a:ext uri="{FF2B5EF4-FFF2-40B4-BE49-F238E27FC236}">
                  <a16:creationId xmlns:a16="http://schemas.microsoft.com/office/drawing/2014/main" id="{092EC445-BB94-4099-BF58-FB0552BF2F9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01FF61ED-8032-4EFD-B324-DFBEAB38E77C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20C029D2-CCD3-49DC-AB88-012D1EFEBE11}"/>
              </a:ext>
            </a:extLst>
          </p:cNvPr>
          <p:cNvSpPr txBox="1"/>
          <p:nvPr/>
        </p:nvSpPr>
        <p:spPr>
          <a:xfrm>
            <a:off x="1244814" y="1881091"/>
            <a:ext cx="1644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Web UI Exposure</a:t>
            </a:r>
          </a:p>
          <a:p>
            <a:pPr algn="ctr"/>
            <a:r>
              <a:rPr lang="en-US" sz="1000" b="1" dirty="0"/>
              <a:t>Site Forge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Web server = 4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04828955-C09A-4429-8DE2-2051BBC68C2C}"/>
              </a:ext>
            </a:extLst>
          </p:cNvPr>
          <p:cNvGrpSpPr/>
          <p:nvPr/>
        </p:nvGrpSpPr>
        <p:grpSpPr>
          <a:xfrm>
            <a:off x="4250260" y="4811885"/>
            <a:ext cx="650696" cy="373368"/>
            <a:chOff x="8269519" y="2198336"/>
            <a:chExt cx="816435" cy="373368"/>
          </a:xfrm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92F689F2-B56F-4C49-B93C-63E4DFEB04AE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101">
              <a:extLst>
                <a:ext uri="{FF2B5EF4-FFF2-40B4-BE49-F238E27FC236}">
                  <a16:creationId xmlns:a16="http://schemas.microsoft.com/office/drawing/2014/main" id="{239146AD-103B-4B35-AC89-A07477B4CDB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A2E64683-EDD7-40A4-B2DE-DDF9167BEFFD}"/>
                </a:ext>
              </a:extLst>
            </p:cNvPr>
            <p:cNvSpPr txBox="1"/>
            <p:nvPr/>
          </p:nvSpPr>
          <p:spPr>
            <a:xfrm>
              <a:off x="8561750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B0BD766-36B9-4A54-96BD-4CC990B05E49}"/>
              </a:ext>
            </a:extLst>
          </p:cNvPr>
          <p:cNvGrpSpPr/>
          <p:nvPr/>
        </p:nvGrpSpPr>
        <p:grpSpPr>
          <a:xfrm>
            <a:off x="5251062" y="4776295"/>
            <a:ext cx="639757" cy="373368"/>
            <a:chOff x="8269519" y="2198336"/>
            <a:chExt cx="816435" cy="373368"/>
          </a:xfrm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270CC981-C06B-481A-9D73-CA1812510265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34" name="Freeform 101">
              <a:extLst>
                <a:ext uri="{FF2B5EF4-FFF2-40B4-BE49-F238E27FC236}">
                  <a16:creationId xmlns:a16="http://schemas.microsoft.com/office/drawing/2014/main" id="{FBF6745A-F6CF-48FF-AA99-9802A130687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C73388B2-0B9C-40C7-80A5-9A704B6CB13F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61ADA28-5551-4941-897A-00F98D3DD7F1}"/>
              </a:ext>
            </a:extLst>
          </p:cNvPr>
          <p:cNvSpPr/>
          <p:nvPr/>
        </p:nvSpPr>
        <p:spPr>
          <a:xfrm>
            <a:off x="4086285" y="4745709"/>
            <a:ext cx="4138144" cy="48568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C74CEBA-9790-4311-8F1C-EB07A0D17B51}"/>
              </a:ext>
            </a:extLst>
          </p:cNvPr>
          <p:cNvSpPr txBox="1"/>
          <p:nvPr/>
        </p:nvSpPr>
        <p:spPr>
          <a:xfrm>
            <a:off x="4978583" y="4397236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Oracle RAC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Oracle = 5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85F20318-AB4D-4BC6-9602-1AB6DE85C4E0}"/>
              </a:ext>
            </a:extLst>
          </p:cNvPr>
          <p:cNvCxnSpPr>
            <a:cxnSpLocks/>
          </p:cNvCxnSpPr>
          <p:nvPr/>
        </p:nvCxnSpPr>
        <p:spPr>
          <a:xfrm>
            <a:off x="7567491" y="4085678"/>
            <a:ext cx="6532" cy="66754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F848EB88-E7CA-4551-8C13-581640A84F50}"/>
              </a:ext>
            </a:extLst>
          </p:cNvPr>
          <p:cNvCxnSpPr>
            <a:cxnSpLocks/>
          </p:cNvCxnSpPr>
          <p:nvPr/>
        </p:nvCxnSpPr>
        <p:spPr>
          <a:xfrm>
            <a:off x="4839468" y="4107574"/>
            <a:ext cx="6532" cy="66754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18FD1B0C-B269-4A82-81DB-0CF93AABC695}"/>
              </a:ext>
            </a:extLst>
          </p:cNvPr>
          <p:cNvGrpSpPr/>
          <p:nvPr/>
        </p:nvGrpSpPr>
        <p:grpSpPr>
          <a:xfrm>
            <a:off x="6057609" y="4797231"/>
            <a:ext cx="639757" cy="373368"/>
            <a:chOff x="8269519" y="2198336"/>
            <a:chExt cx="816435" cy="373368"/>
          </a:xfrm>
        </p:grpSpPr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6018DE7A-0128-4C14-9D4B-6CD0C43B0AE2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46" name="Freeform 101">
              <a:extLst>
                <a:ext uri="{FF2B5EF4-FFF2-40B4-BE49-F238E27FC236}">
                  <a16:creationId xmlns:a16="http://schemas.microsoft.com/office/drawing/2014/main" id="{92DAFF52-3511-41C1-BD15-A5420553262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97F3FD41-D29B-4119-A0CE-24472DE8DC19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323165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3</a:t>
              </a:r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9367F82C-C1A2-4678-B682-43FA11E1334F}"/>
              </a:ext>
            </a:extLst>
          </p:cNvPr>
          <p:cNvGrpSpPr/>
          <p:nvPr/>
        </p:nvGrpSpPr>
        <p:grpSpPr>
          <a:xfrm>
            <a:off x="6799988" y="4776295"/>
            <a:ext cx="639757" cy="373368"/>
            <a:chOff x="8269519" y="2198336"/>
            <a:chExt cx="816435" cy="373368"/>
          </a:xfrm>
        </p:grpSpPr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0BDD10F2-2749-466C-ABC0-178623F57BFC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50" name="Freeform 101">
              <a:extLst>
                <a:ext uri="{FF2B5EF4-FFF2-40B4-BE49-F238E27FC236}">
                  <a16:creationId xmlns:a16="http://schemas.microsoft.com/office/drawing/2014/main" id="{73D715A2-221B-4133-90C3-9EA76970097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69C9F496-6784-492A-85C2-CABD49166287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323165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4</a:t>
              </a:r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94F1782-C68E-4A6D-BFF1-688B043B10FF}"/>
              </a:ext>
            </a:extLst>
          </p:cNvPr>
          <p:cNvGrpSpPr/>
          <p:nvPr/>
        </p:nvGrpSpPr>
        <p:grpSpPr>
          <a:xfrm>
            <a:off x="7509310" y="4786012"/>
            <a:ext cx="639757" cy="373368"/>
            <a:chOff x="8269519" y="2198336"/>
            <a:chExt cx="816435" cy="373368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C7DFB140-8A22-43F0-BFC7-2B42F5CCE9B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54" name="Freeform 101">
              <a:extLst>
                <a:ext uri="{FF2B5EF4-FFF2-40B4-BE49-F238E27FC236}">
                  <a16:creationId xmlns:a16="http://schemas.microsoft.com/office/drawing/2014/main" id="{68D796C1-C497-42B9-89A1-19A8E52AD24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2935FB56-A991-45C7-84A1-A532F4CA39F0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323165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5</a:t>
              </a:r>
            </a:p>
          </p:txBody>
        </p:sp>
      </p:grpSp>
      <p:cxnSp>
        <p:nvCxnSpPr>
          <p:cNvPr id="256" name="Elbow Connector 326">
            <a:extLst>
              <a:ext uri="{FF2B5EF4-FFF2-40B4-BE49-F238E27FC236}">
                <a16:creationId xmlns:a16="http://schemas.microsoft.com/office/drawing/2014/main" id="{055FF495-80FF-41B7-9F5A-496D8AB2D4ED}"/>
              </a:ext>
            </a:extLst>
          </p:cNvPr>
          <p:cNvCxnSpPr>
            <a:cxnSpLocks/>
          </p:cNvCxnSpPr>
          <p:nvPr/>
        </p:nvCxnSpPr>
        <p:spPr>
          <a:xfrm rot="5400000">
            <a:off x="5168353" y="2678230"/>
            <a:ext cx="1182540" cy="19920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Rectangle 256">
            <a:extLst>
              <a:ext uri="{FF2B5EF4-FFF2-40B4-BE49-F238E27FC236}">
                <a16:creationId xmlns:a16="http://schemas.microsoft.com/office/drawing/2014/main" id="{8A1C71DE-07AD-4C87-8528-378A9A558727}"/>
              </a:ext>
            </a:extLst>
          </p:cNvPr>
          <p:cNvSpPr/>
          <p:nvPr/>
        </p:nvSpPr>
        <p:spPr>
          <a:xfrm>
            <a:off x="714658" y="3443991"/>
            <a:ext cx="872953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7F5CDFC8-3BF8-4A05-95A4-DF451EA024E5}"/>
              </a:ext>
            </a:extLst>
          </p:cNvPr>
          <p:cNvSpPr/>
          <p:nvPr/>
        </p:nvSpPr>
        <p:spPr>
          <a:xfrm>
            <a:off x="867058" y="3596391"/>
            <a:ext cx="872953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63B20367-9C90-4984-A8C9-B2DE30BCF162}"/>
              </a:ext>
            </a:extLst>
          </p:cNvPr>
          <p:cNvSpPr/>
          <p:nvPr/>
        </p:nvSpPr>
        <p:spPr>
          <a:xfrm>
            <a:off x="1019458" y="3748791"/>
            <a:ext cx="872953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8C9FFD42-DD74-4CB0-B86F-495E0B70B665}"/>
              </a:ext>
            </a:extLst>
          </p:cNvPr>
          <p:cNvSpPr/>
          <p:nvPr/>
        </p:nvSpPr>
        <p:spPr>
          <a:xfrm>
            <a:off x="1171858" y="3901191"/>
            <a:ext cx="872953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85CFF418-D5B3-4295-965A-8EEEBF3EB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445" y="4719141"/>
            <a:ext cx="548923" cy="657456"/>
          </a:xfrm>
          <a:prstGeom prst="rect">
            <a:avLst/>
          </a:prstGeom>
        </p:spPr>
      </p:pic>
      <p:pic>
        <p:nvPicPr>
          <p:cNvPr id="265" name="Picture 264">
            <a:extLst>
              <a:ext uri="{FF2B5EF4-FFF2-40B4-BE49-F238E27FC236}">
                <a16:creationId xmlns:a16="http://schemas.microsoft.com/office/drawing/2014/main" id="{E5770CF4-FF91-472B-A665-7F77FD8DD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845" y="4871541"/>
            <a:ext cx="548923" cy="657456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B6EC9FD8-FEA6-4B3B-A928-40A7B290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245" y="5023941"/>
            <a:ext cx="548923" cy="657456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DA9C0FC7-BAB4-49D0-99B2-5A5F42420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645" y="5176341"/>
            <a:ext cx="548923" cy="65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981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42BCE9-9CD1-420F-A93A-B690CDED5A3D}"/>
              </a:ext>
            </a:extLst>
          </p:cNvPr>
          <p:cNvSpPr/>
          <p:nvPr/>
        </p:nvSpPr>
        <p:spPr>
          <a:xfrm>
            <a:off x="6181725" y="0"/>
            <a:ext cx="2374900" cy="6858000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4BF31-E03A-4481-BAB3-BA7A72E4A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4658"/>
            <a:ext cx="61817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FSight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</a:t>
            </a:r>
            <a:endParaRPr lang="en-US" altLang="ru-RU" sz="1600" dirty="0">
              <a:latin typeface="Raleway ExtraBold" panose="020B0903030101060003" pitchFamily="34" charset="0"/>
            </a:endParaRP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ABE3499-829A-41DF-AAA2-26DA86F15DF2}"/>
              </a:ext>
            </a:extLst>
          </p:cNvPr>
          <p:cNvSpPr/>
          <p:nvPr/>
        </p:nvSpPr>
        <p:spPr>
          <a:xfrm>
            <a:off x="6845300" y="1162050"/>
            <a:ext cx="1047750" cy="1049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26A06C-2B67-4A9B-A7A0-EA935DA6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333500"/>
            <a:ext cx="536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E23936"/>
                </a:solidFill>
                <a:latin typeface="FontAwesome" pitchFamily="2" charset="0"/>
              </a:rPr>
              <a:t></a:t>
            </a:r>
            <a:endParaRPr lang="ru-RU" altLang="ru-RU" sz="2400">
              <a:solidFill>
                <a:srgbClr val="E23936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CB98DA-1476-4A69-BCCC-5C68037FA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4591" y="1800225"/>
            <a:ext cx="449162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rgbClr val="E23936"/>
                </a:solidFill>
                <a:latin typeface="Raleway Heavy" pitchFamily="34" charset="0"/>
              </a:rPr>
              <a:t>Elastic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F3E42A0-FEB7-4A0A-827B-39115830EA59}"/>
              </a:ext>
            </a:extLst>
          </p:cNvPr>
          <p:cNvSpPr/>
          <p:nvPr/>
        </p:nvSpPr>
        <p:spPr>
          <a:xfrm>
            <a:off x="6845300" y="298450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6E7E294-C59A-4643-BE7A-E31A5F381FCC}"/>
              </a:ext>
            </a:extLst>
          </p:cNvPr>
          <p:cNvSpPr/>
          <p:nvPr/>
        </p:nvSpPr>
        <p:spPr>
          <a:xfrm>
            <a:off x="6845300" y="480695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C15F737-7A5F-4662-B272-7D477962856A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>
            <a:off x="7369175" y="221138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DFD9F-98A2-4104-A185-23FCF088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0" y="3165475"/>
            <a:ext cx="42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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311F55-3034-4B55-BA2C-066B4345E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624263"/>
            <a:ext cx="10779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SOA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1AAEE5E-BFE8-4AA4-9A1E-92BF91481D7E}"/>
              </a:ext>
            </a:extLst>
          </p:cNvPr>
          <p:cNvCxnSpPr/>
          <p:nvPr/>
        </p:nvCxnSpPr>
        <p:spPr>
          <a:xfrm>
            <a:off x="7369175" y="403383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9D441E-7643-47E9-894B-4BB53714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49974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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9DC48B-BD31-4309-9AC0-B7D00965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482" y="5465763"/>
            <a:ext cx="56938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Scale Out</a:t>
            </a:r>
          </a:p>
        </p:txBody>
      </p:sp>
      <p:sp>
        <p:nvSpPr>
          <p:cNvPr id="37904" name="Рисунок 3">
            <a:extLst>
              <a:ext uri="{FF2B5EF4-FFF2-40B4-BE49-F238E27FC236}">
                <a16:creationId xmlns:a16="http://schemas.microsoft.com/office/drawing/2014/main" id="{668722C3-D8F7-4C90-9704-6A8DDC2C2F7F}"/>
              </a:ext>
            </a:extLst>
          </p:cNvPr>
          <p:cNvSpPr>
            <a:spLocks noGrp="1" noTextEdit="1"/>
          </p:cNvSpPr>
          <p:nvPr>
            <p:ph type="pic" sz="quarter" idx="10"/>
          </p:nvPr>
        </p:nvSpPr>
        <p:spPr/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3D9888-9C7B-4563-994D-693C8BE2F700}"/>
              </a:ext>
            </a:extLst>
          </p:cNvPr>
          <p:cNvGrpSpPr/>
          <p:nvPr/>
        </p:nvGrpSpPr>
        <p:grpSpPr>
          <a:xfrm>
            <a:off x="8679561" y="887243"/>
            <a:ext cx="3312836" cy="5113787"/>
            <a:chOff x="7132200" y="1581718"/>
            <a:chExt cx="3916345" cy="427350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7F553A-FB87-40F2-A325-733A839AA581}"/>
                </a:ext>
              </a:extLst>
            </p:cNvPr>
            <p:cNvSpPr txBox="1"/>
            <p:nvPr/>
          </p:nvSpPr>
          <p:spPr>
            <a:xfrm>
              <a:off x="7132200" y="1581718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Raw Naïve Go &amp; Plugin Based web UI</a:t>
              </a:r>
              <a:endParaRPr lang="en-US" sz="1400" dirty="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0B13FC-31CE-4893-BEAA-B4142AC08240}"/>
                </a:ext>
              </a:extLst>
            </p:cNvPr>
            <p:cNvSpPr txBox="1"/>
            <p:nvPr/>
          </p:nvSpPr>
          <p:spPr>
            <a:xfrm>
              <a:off x="7132200" y="2348969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SOA driven , independent services with their DB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C48C34-28CA-4178-9A66-8158C841E66F}"/>
                </a:ext>
              </a:extLst>
            </p:cNvPr>
            <p:cNvSpPr txBox="1"/>
            <p:nvPr/>
          </p:nvSpPr>
          <p:spPr>
            <a:xfrm>
              <a:off x="7132200" y="3116222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Elasticity &amp; Consolidation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0254F7-4B1F-4200-94B0-BCA2BA56A4F2}"/>
                </a:ext>
              </a:extLst>
            </p:cNvPr>
            <p:cNvSpPr txBox="1"/>
            <p:nvPr/>
          </p:nvSpPr>
          <p:spPr>
            <a:xfrm>
              <a:off x="7132200" y="3883474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Resilience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2D5549-1CB1-45D5-A53C-1328ACDDB99A}"/>
                </a:ext>
              </a:extLst>
            </p:cNvPr>
            <p:cNvSpPr txBox="1"/>
            <p:nvPr/>
          </p:nvSpPr>
          <p:spPr>
            <a:xfrm>
              <a:off x="7132200" y="5417981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Reliability / Manageability / Extension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065343-5621-4EA1-A0EF-69B2C8162992}"/>
                </a:ext>
              </a:extLst>
            </p:cNvPr>
            <p:cNvSpPr txBox="1"/>
            <p:nvPr/>
          </p:nvSpPr>
          <p:spPr>
            <a:xfrm>
              <a:off x="7132200" y="4650725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Agility </a:t>
              </a:r>
            </a:p>
          </p:txBody>
        </p:sp>
      </p:grpSp>
      <p:sp>
        <p:nvSpPr>
          <p:cNvPr id="37918" name="Arc 37917">
            <a:extLst>
              <a:ext uri="{FF2B5EF4-FFF2-40B4-BE49-F238E27FC236}">
                <a16:creationId xmlns:a16="http://schemas.microsoft.com/office/drawing/2014/main" id="{F15F9690-A991-48D1-808A-D77D50F91089}"/>
              </a:ext>
            </a:extLst>
          </p:cNvPr>
          <p:cNvSpPr/>
          <p:nvPr/>
        </p:nvSpPr>
        <p:spPr>
          <a:xfrm rot="8142134">
            <a:off x="-44899" y="-619869"/>
            <a:ext cx="6217920" cy="5987231"/>
          </a:xfrm>
          <a:prstGeom prst="arc">
            <a:avLst>
              <a:gd name="adj1" fmla="val 12937448"/>
              <a:gd name="adj2" fmla="val 3225711"/>
            </a:avLst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7620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Cube 116">
            <a:extLst>
              <a:ext uri="{FF2B5EF4-FFF2-40B4-BE49-F238E27FC236}">
                <a16:creationId xmlns:a16="http://schemas.microsoft.com/office/drawing/2014/main" id="{8E648D0A-2269-48D8-99C6-808E1E841195}"/>
              </a:ext>
            </a:extLst>
          </p:cNvPr>
          <p:cNvSpPr/>
          <p:nvPr/>
        </p:nvSpPr>
        <p:spPr>
          <a:xfrm>
            <a:off x="361889" y="5504097"/>
            <a:ext cx="5590236" cy="62674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MGMT(Visibility)</a:t>
            </a:r>
          </a:p>
        </p:txBody>
      </p:sp>
      <p:pic>
        <p:nvPicPr>
          <p:cNvPr id="98491" name="Picture 98490">
            <a:extLst>
              <a:ext uri="{FF2B5EF4-FFF2-40B4-BE49-F238E27FC236}">
                <a16:creationId xmlns:a16="http://schemas.microsoft.com/office/drawing/2014/main" id="{24610053-5D57-4937-B295-E3BB95C0B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23" y="2009387"/>
            <a:ext cx="1538858" cy="2233343"/>
          </a:xfrm>
          <a:prstGeom prst="rect">
            <a:avLst/>
          </a:prstGeom>
        </p:spPr>
      </p:pic>
      <p:sp>
        <p:nvSpPr>
          <p:cNvPr id="380" name="Cube 379">
            <a:extLst>
              <a:ext uri="{FF2B5EF4-FFF2-40B4-BE49-F238E27FC236}">
                <a16:creationId xmlns:a16="http://schemas.microsoft.com/office/drawing/2014/main" id="{0A624B57-2A37-4CFA-823D-098DECB49C70}"/>
              </a:ext>
            </a:extLst>
          </p:cNvPr>
          <p:cNvSpPr/>
          <p:nvPr/>
        </p:nvSpPr>
        <p:spPr>
          <a:xfrm>
            <a:off x="0" y="678625"/>
            <a:ext cx="6096000" cy="919496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8493" name="Picture 98492">
            <a:extLst>
              <a:ext uri="{FF2B5EF4-FFF2-40B4-BE49-F238E27FC236}">
                <a16:creationId xmlns:a16="http://schemas.microsoft.com/office/drawing/2014/main" id="{9C84CC0D-8233-48B1-8598-CEB764E05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18" y="988793"/>
            <a:ext cx="575068" cy="567337"/>
          </a:xfrm>
          <a:prstGeom prst="rect">
            <a:avLst/>
          </a:prstGeom>
        </p:spPr>
      </p:pic>
      <p:cxnSp>
        <p:nvCxnSpPr>
          <p:cNvPr id="98495" name="Straight Connector 98494">
            <a:extLst>
              <a:ext uri="{FF2B5EF4-FFF2-40B4-BE49-F238E27FC236}">
                <a16:creationId xmlns:a16="http://schemas.microsoft.com/office/drawing/2014/main" id="{5C841131-D4B2-4D28-854F-A79197361F88}"/>
              </a:ext>
            </a:extLst>
          </p:cNvPr>
          <p:cNvCxnSpPr>
            <a:cxnSpLocks/>
          </p:cNvCxnSpPr>
          <p:nvPr/>
        </p:nvCxnSpPr>
        <p:spPr>
          <a:xfrm flipV="1">
            <a:off x="0" y="1755307"/>
            <a:ext cx="6096000" cy="347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6" name="Picture 385">
            <a:extLst>
              <a:ext uri="{FF2B5EF4-FFF2-40B4-BE49-F238E27FC236}">
                <a16:creationId xmlns:a16="http://schemas.microsoft.com/office/drawing/2014/main" id="{A1A73A6B-E505-4303-8BA0-C8A953347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918" y="973630"/>
            <a:ext cx="575068" cy="567337"/>
          </a:xfrm>
          <a:prstGeom prst="rect">
            <a:avLst/>
          </a:prstGeom>
        </p:spPr>
      </p:pic>
      <p:pic>
        <p:nvPicPr>
          <p:cNvPr id="387" name="Picture 386">
            <a:extLst>
              <a:ext uri="{FF2B5EF4-FFF2-40B4-BE49-F238E27FC236}">
                <a16:creationId xmlns:a16="http://schemas.microsoft.com/office/drawing/2014/main" id="{193CDBBF-BB26-4626-B6F4-EF1C14A06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976" y="972506"/>
            <a:ext cx="575068" cy="567337"/>
          </a:xfrm>
          <a:prstGeom prst="rect">
            <a:avLst/>
          </a:prstGeom>
        </p:spPr>
      </p:pic>
      <p:pic>
        <p:nvPicPr>
          <p:cNvPr id="388" name="Picture 387">
            <a:extLst>
              <a:ext uri="{FF2B5EF4-FFF2-40B4-BE49-F238E27FC236}">
                <a16:creationId xmlns:a16="http://schemas.microsoft.com/office/drawing/2014/main" id="{F5FD243D-0DEC-452F-94B4-237B1FC7D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596" y="972506"/>
            <a:ext cx="575068" cy="567337"/>
          </a:xfrm>
          <a:prstGeom prst="rect">
            <a:avLst/>
          </a:prstGeom>
        </p:spPr>
      </p:pic>
      <p:pic>
        <p:nvPicPr>
          <p:cNvPr id="389" name="Picture 388">
            <a:extLst>
              <a:ext uri="{FF2B5EF4-FFF2-40B4-BE49-F238E27FC236}">
                <a16:creationId xmlns:a16="http://schemas.microsoft.com/office/drawing/2014/main" id="{4BC52708-C92C-4BC0-9EB9-E71E6DE26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311" y="975741"/>
            <a:ext cx="575068" cy="567337"/>
          </a:xfrm>
          <a:prstGeom prst="rect">
            <a:avLst/>
          </a:prstGeom>
        </p:spPr>
      </p:pic>
      <p:sp>
        <p:nvSpPr>
          <p:cNvPr id="390" name="Скругленный прямоугольник 6">
            <a:extLst>
              <a:ext uri="{FF2B5EF4-FFF2-40B4-BE49-F238E27FC236}">
                <a16:creationId xmlns:a16="http://schemas.microsoft.com/office/drawing/2014/main" id="{8131E17A-15EF-4205-A29C-97104EE19757}"/>
              </a:ext>
            </a:extLst>
          </p:cNvPr>
          <p:cNvSpPr/>
          <p:nvPr/>
        </p:nvSpPr>
        <p:spPr>
          <a:xfrm>
            <a:off x="1917881" y="2393978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91" name="Прямоугольник 7">
            <a:extLst>
              <a:ext uri="{FF2B5EF4-FFF2-40B4-BE49-F238E27FC236}">
                <a16:creationId xmlns:a16="http://schemas.microsoft.com/office/drawing/2014/main" id="{1A2DDF2F-00E6-4D1C-B48A-69F337EA41DD}"/>
              </a:ext>
            </a:extLst>
          </p:cNvPr>
          <p:cNvSpPr/>
          <p:nvPr/>
        </p:nvSpPr>
        <p:spPr>
          <a:xfrm>
            <a:off x="1846220" y="2383114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WORKFLOW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92" name="Скругленный прямоугольник 6">
            <a:extLst>
              <a:ext uri="{FF2B5EF4-FFF2-40B4-BE49-F238E27FC236}">
                <a16:creationId xmlns:a16="http://schemas.microsoft.com/office/drawing/2014/main" id="{3FD3CF9C-9F37-4E26-B6E1-23A9FA816C28}"/>
              </a:ext>
            </a:extLst>
          </p:cNvPr>
          <p:cNvSpPr/>
          <p:nvPr/>
        </p:nvSpPr>
        <p:spPr>
          <a:xfrm>
            <a:off x="2658110" y="2966251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93" name="Прямоугольник 7">
            <a:extLst>
              <a:ext uri="{FF2B5EF4-FFF2-40B4-BE49-F238E27FC236}">
                <a16:creationId xmlns:a16="http://schemas.microsoft.com/office/drawing/2014/main" id="{7BAD078B-F279-4216-99BB-A1BD10EA5F13}"/>
              </a:ext>
            </a:extLst>
          </p:cNvPr>
          <p:cNvSpPr/>
          <p:nvPr/>
        </p:nvSpPr>
        <p:spPr>
          <a:xfrm>
            <a:off x="2586449" y="2955387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BPMS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95" name="Скругленный прямоугольник 6">
            <a:extLst>
              <a:ext uri="{FF2B5EF4-FFF2-40B4-BE49-F238E27FC236}">
                <a16:creationId xmlns:a16="http://schemas.microsoft.com/office/drawing/2014/main" id="{3846F207-1333-4160-95CA-55CCE5012FE7}"/>
              </a:ext>
            </a:extLst>
          </p:cNvPr>
          <p:cNvSpPr/>
          <p:nvPr/>
        </p:nvSpPr>
        <p:spPr>
          <a:xfrm>
            <a:off x="2810510" y="3641168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96" name="Прямоугольник 7">
            <a:extLst>
              <a:ext uri="{FF2B5EF4-FFF2-40B4-BE49-F238E27FC236}">
                <a16:creationId xmlns:a16="http://schemas.microsoft.com/office/drawing/2014/main" id="{95A8EBBD-F932-46A7-B532-31CC687AB38C}"/>
              </a:ext>
            </a:extLst>
          </p:cNvPr>
          <p:cNvSpPr/>
          <p:nvPr/>
        </p:nvSpPr>
        <p:spPr>
          <a:xfrm>
            <a:off x="2738849" y="3630304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Task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98" name="Скругленный прямоугольник 6">
            <a:extLst>
              <a:ext uri="{FF2B5EF4-FFF2-40B4-BE49-F238E27FC236}">
                <a16:creationId xmlns:a16="http://schemas.microsoft.com/office/drawing/2014/main" id="{D82E3D8A-05A8-44CE-9618-142F64B3FC95}"/>
              </a:ext>
            </a:extLst>
          </p:cNvPr>
          <p:cNvSpPr/>
          <p:nvPr/>
        </p:nvSpPr>
        <p:spPr>
          <a:xfrm>
            <a:off x="4113685" y="2462399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99" name="Прямоугольник 7">
            <a:extLst>
              <a:ext uri="{FF2B5EF4-FFF2-40B4-BE49-F238E27FC236}">
                <a16:creationId xmlns:a16="http://schemas.microsoft.com/office/drawing/2014/main" id="{E13245DB-D656-4FCE-98EE-65A5D6B7094F}"/>
              </a:ext>
            </a:extLst>
          </p:cNvPr>
          <p:cNvSpPr/>
          <p:nvPr/>
        </p:nvSpPr>
        <p:spPr>
          <a:xfrm>
            <a:off x="4042024" y="2451535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GATEWAY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400" name="Скругленный прямоугольник 6">
            <a:extLst>
              <a:ext uri="{FF2B5EF4-FFF2-40B4-BE49-F238E27FC236}">
                <a16:creationId xmlns:a16="http://schemas.microsoft.com/office/drawing/2014/main" id="{E0BF5C25-099B-4F44-B2E2-9CED09E97709}"/>
              </a:ext>
            </a:extLst>
          </p:cNvPr>
          <p:cNvSpPr/>
          <p:nvPr/>
        </p:nvSpPr>
        <p:spPr>
          <a:xfrm>
            <a:off x="4284747" y="3211959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401" name="Прямоугольник 7">
            <a:extLst>
              <a:ext uri="{FF2B5EF4-FFF2-40B4-BE49-F238E27FC236}">
                <a16:creationId xmlns:a16="http://schemas.microsoft.com/office/drawing/2014/main" id="{7ACDCF58-C726-4B53-B20D-7CEE6E547F7F}"/>
              </a:ext>
            </a:extLst>
          </p:cNvPr>
          <p:cNvSpPr/>
          <p:nvPr/>
        </p:nvSpPr>
        <p:spPr>
          <a:xfrm>
            <a:off x="4213086" y="3201095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REPORT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8524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8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2" grpId="0"/>
      <p:bldP spid="3" grpId="0"/>
      <p:bldP spid="13" grpId="0" animBg="1"/>
      <p:bldP spid="14" grpId="0" animBg="1"/>
      <p:bldP spid="17" grpId="0"/>
      <p:bldP spid="18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5D5719-4BB0-4CC6-A1D6-94DB4BE1ED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5534F4-A310-451B-86DE-FB057F905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2" y="351929"/>
            <a:ext cx="673639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000" dirty="0">
                <a:solidFill>
                  <a:srgbClr val="C0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000" dirty="0">
                <a:solidFill>
                  <a:schemeClr val="bg1"/>
                </a:solidFill>
                <a:latin typeface="Raleway ExtraBold" panose="020B0903030101060003" pitchFamily="34" charset="0"/>
              </a:rPr>
              <a:t>Apps/FSight/transform</a:t>
            </a: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E750B9-43D3-4F0E-8193-AC9D9CD85B96}"/>
              </a:ext>
            </a:extLst>
          </p:cNvPr>
          <p:cNvSpPr/>
          <p:nvPr/>
        </p:nvSpPr>
        <p:spPr>
          <a:xfrm>
            <a:off x="1427163" y="1246386"/>
            <a:ext cx="9334500" cy="4762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>
                    <a:lumMod val="75000"/>
                  </a:schemeClr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MAIN STEP OF PROCESS</a:t>
            </a:r>
            <a:endParaRPr lang="en-US" sz="1200" spc="50" dirty="0">
              <a:solidFill>
                <a:schemeClr val="bg1">
                  <a:lumMod val="75000"/>
                </a:schemeClr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8F7FEE6-25C4-4EA0-94B0-48C32E84CC51}"/>
              </a:ext>
            </a:extLst>
          </p:cNvPr>
          <p:cNvSpPr/>
          <p:nvPr/>
        </p:nvSpPr>
        <p:spPr>
          <a:xfrm>
            <a:off x="5638800" y="2368550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51CB93F-C32B-4C4F-ABDC-76DB7A15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568575"/>
            <a:ext cx="46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10A5BE40-A9B2-4464-9D50-A634058C018B}"/>
              </a:ext>
            </a:extLst>
          </p:cNvPr>
          <p:cNvSpPr txBox="1">
            <a:spLocks/>
          </p:cNvSpPr>
          <p:nvPr/>
        </p:nvSpPr>
        <p:spPr bwMode="auto">
          <a:xfrm>
            <a:off x="2689225" y="2368550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AS-IS CONTAINERIZED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0F172601-B2F0-4C80-BB05-19FDF8EE67B6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2717800"/>
            <a:ext cx="1100137" cy="309563"/>
            <a:chOff x="2918410" y="2721049"/>
            <a:chExt cx="1100138" cy="310215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6ABF7590-E7FE-4C0F-A356-8FF47E059A1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172695A-02FC-436D-951D-71B68F7442AD}"/>
                </a:ext>
              </a:extLst>
            </p:cNvPr>
            <p:cNvSpPr/>
            <p:nvPr/>
          </p:nvSpPr>
          <p:spPr>
            <a:xfrm>
              <a:off x="3083510" y="2721049"/>
              <a:ext cx="784226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ONE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91C94059-DD1A-4161-8A5D-93F75F1E08AC}"/>
              </a:ext>
            </a:extLst>
          </p:cNvPr>
          <p:cNvSpPr txBox="1">
            <a:spLocks/>
          </p:cNvSpPr>
          <p:nvPr/>
        </p:nvSpPr>
        <p:spPr>
          <a:xfrm>
            <a:off x="2689225" y="3222625"/>
            <a:ext cx="2725738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Containerize As is the </a:t>
            </a:r>
            <a:r>
              <a:rPr lang="en-US" sz="1050" kern="0" dirty="0" err="1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Appserver</a:t>
            </a: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 / Gateway / Reporting and deploy in cluster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3C9B49C-DE15-4884-91D6-5EBDCD899C40}"/>
              </a:ext>
            </a:extLst>
          </p:cNvPr>
          <p:cNvCxnSpPr/>
          <p:nvPr/>
        </p:nvCxnSpPr>
        <p:spPr>
          <a:xfrm flipV="1">
            <a:off x="6094413" y="3556000"/>
            <a:ext cx="0" cy="7112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04ECE23E-5CC4-447D-A8C0-A6BCBEE3282D}"/>
              </a:ext>
            </a:extLst>
          </p:cNvPr>
          <p:cNvSpPr/>
          <p:nvPr/>
        </p:nvSpPr>
        <p:spPr>
          <a:xfrm>
            <a:off x="5638800" y="45418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D454FEB-87CD-4A99-90F2-C40FFFE2F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47656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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D65C0770-C30F-4F07-9B87-BA16FB34D8EE}"/>
              </a:ext>
            </a:extLst>
          </p:cNvPr>
          <p:cNvSpPr txBox="1">
            <a:spLocks/>
          </p:cNvSpPr>
          <p:nvPr/>
        </p:nvSpPr>
        <p:spPr bwMode="auto">
          <a:xfrm>
            <a:off x="7016750" y="4541838"/>
            <a:ext cx="25558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SERVICE REFACTORING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38F5A684-342A-4C7A-AE8C-2FE13CD12185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891088"/>
            <a:ext cx="1100138" cy="309562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516A6D61-E009-4FC8-B9E7-29A4866325DD}"/>
                </a:ext>
              </a:extLst>
            </p:cNvPr>
            <p:cNvSpPr/>
            <p:nvPr/>
          </p:nvSpPr>
          <p:spPr>
            <a:xfrm>
              <a:off x="2918410" y="2795818"/>
              <a:ext cx="1100138" cy="235446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C9678DF-F6BF-43A8-9E70-891DA23B8BFE}"/>
                </a:ext>
              </a:extLst>
            </p:cNvPr>
            <p:cNvSpPr/>
            <p:nvPr/>
          </p:nvSpPr>
          <p:spPr>
            <a:xfrm>
              <a:off x="3067635" y="2721049"/>
              <a:ext cx="81597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TWO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60567640-1BDC-4DB2-8E66-2B0F99D0F6C6}"/>
              </a:ext>
            </a:extLst>
          </p:cNvPr>
          <p:cNvSpPr txBox="1">
            <a:spLocks/>
          </p:cNvSpPr>
          <p:nvPr/>
        </p:nvSpPr>
        <p:spPr>
          <a:xfrm>
            <a:off x="7016750" y="5395913"/>
            <a:ext cx="2724150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Refactor Services with independent microservices layer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A72C610-2DAB-42E7-8A60-44CBEB73C50F}"/>
              </a:ext>
            </a:extLst>
          </p:cNvPr>
          <p:cNvCxnSpPr>
            <a:stCxn id="10" idx="2"/>
          </p:cNvCxnSpPr>
          <p:nvPr/>
        </p:nvCxnSpPr>
        <p:spPr>
          <a:xfrm flipH="1" flipV="1">
            <a:off x="6094413" y="5707063"/>
            <a:ext cx="1587" cy="115093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457" name="Группа 30">
            <a:extLst>
              <a:ext uri="{FF2B5EF4-FFF2-40B4-BE49-F238E27FC236}">
                <a16:creationId xmlns:a16="http://schemas.microsoft.com/office/drawing/2014/main" id="{9B9A3229-1D92-4757-BE40-784AF6C133D8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63538"/>
            <a:ext cx="241300" cy="165100"/>
            <a:chOff x="11345779" y="324853"/>
            <a:chExt cx="240632" cy="165462"/>
          </a:xfrm>
        </p:grpSpPr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C2618C0-0709-4031-A719-ACE6CD8C25D2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4671D3D1-C090-49EF-8450-9F7703C0993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C029FF5A-F407-43AC-9BB4-791EED097B8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58" name="Рисунок 34">
            <a:extLst>
              <a:ext uri="{FF2B5EF4-FFF2-40B4-BE49-F238E27FC236}">
                <a16:creationId xmlns:a16="http://schemas.microsoft.com/office/drawing/2014/main" id="{F72B07BE-679C-48AF-AA88-20DB7DB234D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667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93645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16" grpId="0"/>
      <p:bldP spid="17" grpId="0"/>
      <p:bldP spid="21" grpId="0"/>
      <p:bldP spid="23" grpId="0" animBg="1"/>
      <p:bldP spid="24" grpId="0"/>
      <p:bldP spid="25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466AF6-5FB0-4CA1-84B2-D698D9E421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110F3A4-DD88-4CE8-A639-AA79B08A408C}"/>
              </a:ext>
            </a:extLst>
          </p:cNvPr>
          <p:cNvCxnSpPr/>
          <p:nvPr/>
        </p:nvCxnSpPr>
        <p:spPr>
          <a:xfrm flipH="1" flipV="1">
            <a:off x="6096000" y="0"/>
            <a:ext cx="0" cy="115093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>
            <a:extLst>
              <a:ext uri="{FF2B5EF4-FFF2-40B4-BE49-F238E27FC236}">
                <a16:creationId xmlns:a16="http://schemas.microsoft.com/office/drawing/2014/main" id="{9152FEDD-3B7C-4EBB-BF13-C7B79B7E0580}"/>
              </a:ext>
            </a:extLst>
          </p:cNvPr>
          <p:cNvSpPr/>
          <p:nvPr/>
        </p:nvSpPr>
        <p:spPr>
          <a:xfrm>
            <a:off x="5638800" y="15065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77986E-4BA4-4F89-8536-77AD4445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63" y="1739900"/>
            <a:ext cx="514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DE9D131C-8E7C-463A-9B3F-49C7E4F4A208}"/>
              </a:ext>
            </a:extLst>
          </p:cNvPr>
          <p:cNvSpPr txBox="1">
            <a:spLocks/>
          </p:cNvSpPr>
          <p:nvPr/>
        </p:nvSpPr>
        <p:spPr bwMode="auto">
          <a:xfrm>
            <a:off x="2689225" y="1506538"/>
            <a:ext cx="27574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CONTINOUS DELIVERY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350D28F-17F0-44B7-892D-6B970A588A0F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1855788"/>
            <a:ext cx="1100137" cy="311150"/>
            <a:chOff x="2918410" y="2721049"/>
            <a:chExt cx="1100138" cy="310215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3DFE80A-8544-44D6-B9D4-5CD1B4F35E95}"/>
                </a:ext>
              </a:extLst>
            </p:cNvPr>
            <p:cNvSpPr/>
            <p:nvPr/>
          </p:nvSpPr>
          <p:spPr>
            <a:xfrm>
              <a:off x="2918410" y="2795437"/>
              <a:ext cx="1100138" cy="235827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2E9FDCB0-70C0-4CB2-AA78-5BFE0900374B}"/>
                </a:ext>
              </a:extLst>
            </p:cNvPr>
            <p:cNvSpPr/>
            <p:nvPr/>
          </p:nvSpPr>
          <p:spPr>
            <a:xfrm>
              <a:off x="3012072" y="2721049"/>
              <a:ext cx="927101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THREE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8C5C6EA2-9130-427F-B9BC-CEDFBBCAF850}"/>
              </a:ext>
            </a:extLst>
          </p:cNvPr>
          <p:cNvSpPr txBox="1">
            <a:spLocks/>
          </p:cNvSpPr>
          <p:nvPr/>
        </p:nvSpPr>
        <p:spPr>
          <a:xfrm>
            <a:off x="2689225" y="2360613"/>
            <a:ext cx="2725738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Put continuous delivery &amp; quality gates in place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C5EDA6E-08B1-4E1A-ACA0-D67524AF719B}"/>
              </a:ext>
            </a:extLst>
          </p:cNvPr>
          <p:cNvCxnSpPr/>
          <p:nvPr/>
        </p:nvCxnSpPr>
        <p:spPr>
          <a:xfrm flipV="1">
            <a:off x="6096000" y="2670175"/>
            <a:ext cx="0" cy="70961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51F8EA1C-1432-4BE5-AA94-B5143FB0298D}"/>
              </a:ext>
            </a:extLst>
          </p:cNvPr>
          <p:cNvSpPr/>
          <p:nvPr/>
        </p:nvSpPr>
        <p:spPr>
          <a:xfrm>
            <a:off x="5638800" y="3654425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1431A66-4120-4365-9EFD-AEB9E632C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38782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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5DEC6047-4BFD-43E9-9DE5-9CC29B83A633}"/>
              </a:ext>
            </a:extLst>
          </p:cNvPr>
          <p:cNvSpPr txBox="1">
            <a:spLocks/>
          </p:cNvSpPr>
          <p:nvPr/>
        </p:nvSpPr>
        <p:spPr bwMode="auto">
          <a:xfrm>
            <a:off x="7016750" y="3654425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WEB LAYER TRANSFORMATION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602F7FB2-E18E-4E8D-A87A-2C7CC53CA984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003675"/>
            <a:ext cx="1100138" cy="309563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6CC2694F-E204-40C8-A7C9-CF92C37C79A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DF6E20ED-3D46-4B76-A878-AB9D400292F5}"/>
                </a:ext>
              </a:extLst>
            </p:cNvPr>
            <p:cNvSpPr/>
            <p:nvPr/>
          </p:nvSpPr>
          <p:spPr>
            <a:xfrm>
              <a:off x="3045410" y="2721049"/>
              <a:ext cx="86042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FOUR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7D8B5AA1-0BFC-404F-8DF1-B688EF829EAD}"/>
              </a:ext>
            </a:extLst>
          </p:cNvPr>
          <p:cNvSpPr txBox="1">
            <a:spLocks/>
          </p:cNvSpPr>
          <p:nvPr/>
        </p:nvSpPr>
        <p:spPr>
          <a:xfrm>
            <a:off x="7016750" y="4508500"/>
            <a:ext cx="2724150" cy="115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Put a modern webserver agnostic fast go based web layer with existing web assets in place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1575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3" grpId="0"/>
      <p:bldP spid="23" grpId="0" animBg="1"/>
      <p:bldP spid="24" grpId="0"/>
      <p:bldP spid="25" grpId="0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42BCE9-9CD1-420F-A93A-B690CDED5A3D}"/>
              </a:ext>
            </a:extLst>
          </p:cNvPr>
          <p:cNvSpPr/>
          <p:nvPr/>
        </p:nvSpPr>
        <p:spPr>
          <a:xfrm>
            <a:off x="6181725" y="0"/>
            <a:ext cx="2374900" cy="6858000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4BF31-E03A-4481-BAB3-BA7A72E4A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4658"/>
            <a:ext cx="61817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SFORGE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</a:t>
            </a:r>
            <a:endParaRPr lang="en-US" altLang="ru-RU" sz="1600" dirty="0">
              <a:latin typeface="Raleway ExtraBold" panose="020B0903030101060003" pitchFamily="34" charset="0"/>
            </a:endParaRP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ABE3499-829A-41DF-AAA2-26DA86F15DF2}"/>
              </a:ext>
            </a:extLst>
          </p:cNvPr>
          <p:cNvSpPr/>
          <p:nvPr/>
        </p:nvSpPr>
        <p:spPr>
          <a:xfrm>
            <a:off x="6845300" y="1162050"/>
            <a:ext cx="1047750" cy="1049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26A06C-2B67-4A9B-A7A0-EA935DA6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333500"/>
            <a:ext cx="536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E23936"/>
                </a:solidFill>
                <a:latin typeface="FontAwesome" pitchFamily="2" charset="0"/>
              </a:rPr>
              <a:t></a:t>
            </a:r>
            <a:endParaRPr lang="ru-RU" altLang="ru-RU" sz="2400">
              <a:solidFill>
                <a:srgbClr val="E23936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CB98DA-1476-4A69-BCCC-5C68037FA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4591" y="1800225"/>
            <a:ext cx="449162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rgbClr val="E23936"/>
                </a:solidFill>
                <a:latin typeface="Raleway Heavy" pitchFamily="34" charset="0"/>
              </a:rPr>
              <a:t>Elastic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F3E42A0-FEB7-4A0A-827B-39115830EA59}"/>
              </a:ext>
            </a:extLst>
          </p:cNvPr>
          <p:cNvSpPr/>
          <p:nvPr/>
        </p:nvSpPr>
        <p:spPr>
          <a:xfrm>
            <a:off x="6845300" y="298450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6E7E294-C59A-4643-BE7A-E31A5F381FCC}"/>
              </a:ext>
            </a:extLst>
          </p:cNvPr>
          <p:cNvSpPr/>
          <p:nvPr/>
        </p:nvSpPr>
        <p:spPr>
          <a:xfrm>
            <a:off x="6845300" y="480695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C15F737-7A5F-4662-B272-7D477962856A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>
            <a:off x="7369175" y="221138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DFD9F-98A2-4104-A185-23FCF088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0" y="3165475"/>
            <a:ext cx="42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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311F55-3034-4B55-BA2C-066B4345E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624263"/>
            <a:ext cx="10779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CONTENTS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1AAEE5E-BFE8-4AA4-9A1E-92BF91481D7E}"/>
              </a:ext>
            </a:extLst>
          </p:cNvPr>
          <p:cNvCxnSpPr/>
          <p:nvPr/>
        </p:nvCxnSpPr>
        <p:spPr>
          <a:xfrm>
            <a:off x="7369175" y="403383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9D441E-7643-47E9-894B-4BB53714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49974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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9DC48B-BD31-4309-9AC0-B7D00965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051" y="5465763"/>
            <a:ext cx="38824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TXNS</a:t>
            </a:r>
          </a:p>
        </p:txBody>
      </p:sp>
      <p:sp>
        <p:nvSpPr>
          <p:cNvPr id="37904" name="Рисунок 3">
            <a:extLst>
              <a:ext uri="{FF2B5EF4-FFF2-40B4-BE49-F238E27FC236}">
                <a16:creationId xmlns:a16="http://schemas.microsoft.com/office/drawing/2014/main" id="{668722C3-D8F7-4C90-9704-6A8DDC2C2F7F}"/>
              </a:ext>
            </a:extLst>
          </p:cNvPr>
          <p:cNvSpPr>
            <a:spLocks noGrp="1" noTextEdit="1"/>
          </p:cNvSpPr>
          <p:nvPr>
            <p:ph type="pic" sz="quarter" idx="10"/>
          </p:nvPr>
        </p:nvSpPr>
        <p:spPr/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3D9888-9C7B-4563-994D-693C8BE2F700}"/>
              </a:ext>
            </a:extLst>
          </p:cNvPr>
          <p:cNvGrpSpPr/>
          <p:nvPr/>
        </p:nvGrpSpPr>
        <p:grpSpPr>
          <a:xfrm>
            <a:off x="8679561" y="887243"/>
            <a:ext cx="3312836" cy="3031338"/>
            <a:chOff x="7132200" y="1581718"/>
            <a:chExt cx="3916345" cy="253324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7F553A-FB87-40F2-A325-733A839AA581}"/>
                </a:ext>
              </a:extLst>
            </p:cNvPr>
            <p:cNvSpPr txBox="1"/>
            <p:nvPr/>
          </p:nvSpPr>
          <p:spPr>
            <a:xfrm>
              <a:off x="7132200" y="1581718"/>
              <a:ext cx="3916345" cy="385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Cater Heavy Transactions &amp; Massive Contents driven application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0B13FC-31CE-4893-BEAA-B4142AC08240}"/>
                </a:ext>
              </a:extLst>
            </p:cNvPr>
            <p:cNvSpPr txBox="1"/>
            <p:nvPr/>
          </p:nvSpPr>
          <p:spPr>
            <a:xfrm>
              <a:off x="7132200" y="2348969"/>
              <a:ext cx="3916345" cy="2314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De-facto standard use case for Reliance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C48C34-28CA-4178-9A66-8158C841E66F}"/>
                </a:ext>
              </a:extLst>
            </p:cNvPr>
            <p:cNvSpPr txBox="1"/>
            <p:nvPr/>
          </p:nvSpPr>
          <p:spPr>
            <a:xfrm>
              <a:off x="7132200" y="3116222"/>
              <a:ext cx="3916345" cy="385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Bigdata / Graphs / TXN @ same layer simplify management &amp; Integration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0254F7-4B1F-4200-94B0-BCA2BA56A4F2}"/>
                </a:ext>
              </a:extLst>
            </p:cNvPr>
            <p:cNvSpPr txBox="1"/>
            <p:nvPr/>
          </p:nvSpPr>
          <p:spPr>
            <a:xfrm>
              <a:off x="7132200" y="3883474"/>
              <a:ext cx="3916345" cy="2314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endPara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918" name="Arc 37917">
            <a:extLst>
              <a:ext uri="{FF2B5EF4-FFF2-40B4-BE49-F238E27FC236}">
                <a16:creationId xmlns:a16="http://schemas.microsoft.com/office/drawing/2014/main" id="{F15F9690-A991-48D1-808A-D77D50F91089}"/>
              </a:ext>
            </a:extLst>
          </p:cNvPr>
          <p:cNvSpPr/>
          <p:nvPr/>
        </p:nvSpPr>
        <p:spPr>
          <a:xfrm rot="8142134">
            <a:off x="159269" y="-103557"/>
            <a:ext cx="5757603" cy="5931052"/>
          </a:xfrm>
          <a:prstGeom prst="arc">
            <a:avLst>
              <a:gd name="adj1" fmla="val 12937448"/>
              <a:gd name="adj2" fmla="val 322571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7620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Cube 116">
            <a:extLst>
              <a:ext uri="{FF2B5EF4-FFF2-40B4-BE49-F238E27FC236}">
                <a16:creationId xmlns:a16="http://schemas.microsoft.com/office/drawing/2014/main" id="{8E648D0A-2269-48D8-99C6-808E1E841195}"/>
              </a:ext>
            </a:extLst>
          </p:cNvPr>
          <p:cNvSpPr/>
          <p:nvPr/>
        </p:nvSpPr>
        <p:spPr>
          <a:xfrm>
            <a:off x="341134" y="5858240"/>
            <a:ext cx="5590236" cy="62674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MGMT(Visibility)</a:t>
            </a:r>
          </a:p>
        </p:txBody>
      </p:sp>
      <p:sp>
        <p:nvSpPr>
          <p:cNvPr id="380" name="Cube 379">
            <a:extLst>
              <a:ext uri="{FF2B5EF4-FFF2-40B4-BE49-F238E27FC236}">
                <a16:creationId xmlns:a16="http://schemas.microsoft.com/office/drawing/2014/main" id="{0A624B57-2A37-4CFA-823D-098DECB49C70}"/>
              </a:ext>
            </a:extLst>
          </p:cNvPr>
          <p:cNvSpPr/>
          <p:nvPr/>
        </p:nvSpPr>
        <p:spPr>
          <a:xfrm>
            <a:off x="278193" y="678625"/>
            <a:ext cx="5590236" cy="91949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8493" name="Picture 98492">
            <a:extLst>
              <a:ext uri="{FF2B5EF4-FFF2-40B4-BE49-F238E27FC236}">
                <a16:creationId xmlns:a16="http://schemas.microsoft.com/office/drawing/2014/main" id="{9C84CC0D-8233-48B1-8598-CEB764E05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18" y="988793"/>
            <a:ext cx="575068" cy="567337"/>
          </a:xfrm>
          <a:prstGeom prst="rect">
            <a:avLst/>
          </a:prstGeom>
        </p:spPr>
      </p:pic>
      <p:cxnSp>
        <p:nvCxnSpPr>
          <p:cNvPr id="98495" name="Straight Connector 98494">
            <a:extLst>
              <a:ext uri="{FF2B5EF4-FFF2-40B4-BE49-F238E27FC236}">
                <a16:creationId xmlns:a16="http://schemas.microsoft.com/office/drawing/2014/main" id="{5C841131-D4B2-4D28-854F-A79197361F88}"/>
              </a:ext>
            </a:extLst>
          </p:cNvPr>
          <p:cNvCxnSpPr>
            <a:cxnSpLocks/>
          </p:cNvCxnSpPr>
          <p:nvPr/>
        </p:nvCxnSpPr>
        <p:spPr>
          <a:xfrm flipV="1">
            <a:off x="0" y="1755307"/>
            <a:ext cx="6096000" cy="347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6" name="Picture 385">
            <a:extLst>
              <a:ext uri="{FF2B5EF4-FFF2-40B4-BE49-F238E27FC236}">
                <a16:creationId xmlns:a16="http://schemas.microsoft.com/office/drawing/2014/main" id="{A1A73A6B-E505-4303-8BA0-C8A953347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918" y="973630"/>
            <a:ext cx="575068" cy="567337"/>
          </a:xfrm>
          <a:prstGeom prst="rect">
            <a:avLst/>
          </a:prstGeom>
        </p:spPr>
      </p:pic>
      <p:pic>
        <p:nvPicPr>
          <p:cNvPr id="387" name="Picture 386">
            <a:extLst>
              <a:ext uri="{FF2B5EF4-FFF2-40B4-BE49-F238E27FC236}">
                <a16:creationId xmlns:a16="http://schemas.microsoft.com/office/drawing/2014/main" id="{193CDBBF-BB26-4626-B6F4-EF1C14A06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976" y="972506"/>
            <a:ext cx="575068" cy="567337"/>
          </a:xfrm>
          <a:prstGeom prst="rect">
            <a:avLst/>
          </a:prstGeom>
        </p:spPr>
      </p:pic>
      <p:pic>
        <p:nvPicPr>
          <p:cNvPr id="388" name="Picture 387">
            <a:extLst>
              <a:ext uri="{FF2B5EF4-FFF2-40B4-BE49-F238E27FC236}">
                <a16:creationId xmlns:a16="http://schemas.microsoft.com/office/drawing/2014/main" id="{F5FD243D-0DEC-452F-94B4-237B1FC7D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96" y="972506"/>
            <a:ext cx="575068" cy="567337"/>
          </a:xfrm>
          <a:prstGeom prst="rect">
            <a:avLst/>
          </a:prstGeom>
        </p:spPr>
      </p:pic>
      <p:pic>
        <p:nvPicPr>
          <p:cNvPr id="389" name="Picture 388">
            <a:extLst>
              <a:ext uri="{FF2B5EF4-FFF2-40B4-BE49-F238E27FC236}">
                <a16:creationId xmlns:a16="http://schemas.microsoft.com/office/drawing/2014/main" id="{4BC52708-C92C-4BC0-9EB9-E71E6DE26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311" y="975741"/>
            <a:ext cx="575068" cy="567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322E38-9AE3-4514-A606-14BC74C38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85" y="1823314"/>
            <a:ext cx="4649075" cy="273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76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25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375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725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125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475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2" grpId="0"/>
      <p:bldP spid="3" grpId="0"/>
      <p:bldP spid="13" grpId="0" animBg="1"/>
      <p:bldP spid="14" grpId="0" animBg="1"/>
      <p:bldP spid="17" grpId="0"/>
      <p:bldP spid="18" grpId="0"/>
      <p:bldP spid="21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0" y="-85238"/>
            <a:ext cx="83882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BIGD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CURRENT</a:t>
            </a:r>
            <a:r>
              <a:rPr lang="en-US" altLang="ru-RU" sz="16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036A46F-3C7F-4E5E-817C-363EE007641D}"/>
              </a:ext>
            </a:extLst>
          </p:cNvPr>
          <p:cNvSpPr/>
          <p:nvPr/>
        </p:nvSpPr>
        <p:spPr bwMode="gray">
          <a:xfrm>
            <a:off x="4046337" y="3570074"/>
            <a:ext cx="1025289" cy="196432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4B7BEAE-892B-40BC-9C6D-B1B1CE51CC73}"/>
              </a:ext>
            </a:extLst>
          </p:cNvPr>
          <p:cNvSpPr/>
          <p:nvPr/>
        </p:nvSpPr>
        <p:spPr bwMode="gray">
          <a:xfrm>
            <a:off x="4329623" y="4361861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D3850398-B4F1-4DC1-A5C2-DDA8C7545016}"/>
              </a:ext>
            </a:extLst>
          </p:cNvPr>
          <p:cNvSpPr/>
          <p:nvPr/>
        </p:nvSpPr>
        <p:spPr bwMode="gray">
          <a:xfrm>
            <a:off x="4329623" y="5016450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FAF0E05D-0392-4F7A-86FE-E285468B7529}"/>
              </a:ext>
            </a:extLst>
          </p:cNvPr>
          <p:cNvSpPr/>
          <p:nvPr/>
        </p:nvSpPr>
        <p:spPr bwMode="gray">
          <a:xfrm>
            <a:off x="4329623" y="3706826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9872BEA-95C7-404D-8F14-0540678464D2}"/>
              </a:ext>
            </a:extLst>
          </p:cNvPr>
          <p:cNvSpPr/>
          <p:nvPr/>
        </p:nvSpPr>
        <p:spPr bwMode="gray">
          <a:xfrm>
            <a:off x="5117381" y="3570074"/>
            <a:ext cx="1025289" cy="196432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FED7348-8261-4946-8C5F-503050EB1AC2}"/>
              </a:ext>
            </a:extLst>
          </p:cNvPr>
          <p:cNvSpPr/>
          <p:nvPr/>
        </p:nvSpPr>
        <p:spPr bwMode="gray">
          <a:xfrm>
            <a:off x="6188426" y="3570074"/>
            <a:ext cx="1025289" cy="196432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C57A900D-6FF3-4B07-9AB4-B7B8E85D222E}"/>
              </a:ext>
            </a:extLst>
          </p:cNvPr>
          <p:cNvSpPr/>
          <p:nvPr/>
        </p:nvSpPr>
        <p:spPr bwMode="gray">
          <a:xfrm>
            <a:off x="7275985" y="3570074"/>
            <a:ext cx="1025289" cy="195707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4" name="Freeform 101">
            <a:extLst>
              <a:ext uri="{FF2B5EF4-FFF2-40B4-BE49-F238E27FC236}">
                <a16:creationId xmlns:a16="http://schemas.microsoft.com/office/drawing/2014/main" id="{4E6CB91A-091F-43C1-841A-8C6999B9EF7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53" y="370766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68" name="Freeform 101">
            <a:extLst>
              <a:ext uri="{FF2B5EF4-FFF2-40B4-BE49-F238E27FC236}">
                <a16:creationId xmlns:a16="http://schemas.microsoft.com/office/drawing/2014/main" id="{BFFEEDD4-40F0-4FB2-B4CD-E3196BE761E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49" y="4366352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69" name="Freeform 101">
            <a:extLst>
              <a:ext uri="{FF2B5EF4-FFF2-40B4-BE49-F238E27FC236}">
                <a16:creationId xmlns:a16="http://schemas.microsoft.com/office/drawing/2014/main" id="{20C92A6A-E560-469C-9181-736D4C3CE36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50" y="5025044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C8BD539-CDD7-4198-A4B3-BCC62368D408}"/>
              </a:ext>
            </a:extLst>
          </p:cNvPr>
          <p:cNvSpPr/>
          <p:nvPr/>
        </p:nvSpPr>
        <p:spPr bwMode="gray">
          <a:xfrm>
            <a:off x="5403733" y="4369580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AB389380-CCB9-4803-B756-3F9CCC509DC6}"/>
              </a:ext>
            </a:extLst>
          </p:cNvPr>
          <p:cNvSpPr/>
          <p:nvPr/>
        </p:nvSpPr>
        <p:spPr bwMode="gray">
          <a:xfrm>
            <a:off x="5403733" y="5024168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738B7C85-7962-4C95-92E3-51EC26037F46}"/>
              </a:ext>
            </a:extLst>
          </p:cNvPr>
          <p:cNvSpPr/>
          <p:nvPr/>
        </p:nvSpPr>
        <p:spPr bwMode="gray">
          <a:xfrm>
            <a:off x="5403733" y="3714544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3" name="Freeform 101">
            <a:extLst>
              <a:ext uri="{FF2B5EF4-FFF2-40B4-BE49-F238E27FC236}">
                <a16:creationId xmlns:a16="http://schemas.microsoft.com/office/drawing/2014/main" id="{FB09BE80-15AE-437B-98F4-8C201499C1D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61" y="3715379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4" name="Freeform 101">
            <a:extLst>
              <a:ext uri="{FF2B5EF4-FFF2-40B4-BE49-F238E27FC236}">
                <a16:creationId xmlns:a16="http://schemas.microsoft.com/office/drawing/2014/main" id="{8A660D8D-FF3D-4632-A53E-521FEC6BD9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59" y="437407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5" name="Freeform 101">
            <a:extLst>
              <a:ext uri="{FF2B5EF4-FFF2-40B4-BE49-F238E27FC236}">
                <a16:creationId xmlns:a16="http://schemas.microsoft.com/office/drawing/2014/main" id="{EDCF27F8-13ED-4BB6-9A74-AD64791E5FE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60" y="5032762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9FB51DA9-193A-4D48-89EB-881D9586EA5E}"/>
              </a:ext>
            </a:extLst>
          </p:cNvPr>
          <p:cNvSpPr/>
          <p:nvPr/>
        </p:nvSpPr>
        <p:spPr bwMode="gray">
          <a:xfrm>
            <a:off x="6477845" y="4377299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04978497-E989-480A-8D62-35713DF512C8}"/>
              </a:ext>
            </a:extLst>
          </p:cNvPr>
          <p:cNvSpPr/>
          <p:nvPr/>
        </p:nvSpPr>
        <p:spPr bwMode="gray">
          <a:xfrm>
            <a:off x="6477845" y="5031888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8706C92A-18E1-4C76-BE22-910F3F64DD27}"/>
              </a:ext>
            </a:extLst>
          </p:cNvPr>
          <p:cNvSpPr/>
          <p:nvPr/>
        </p:nvSpPr>
        <p:spPr bwMode="gray">
          <a:xfrm>
            <a:off x="6477845" y="3722263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9" name="Freeform 101">
            <a:extLst>
              <a:ext uri="{FF2B5EF4-FFF2-40B4-BE49-F238E27FC236}">
                <a16:creationId xmlns:a16="http://schemas.microsoft.com/office/drawing/2014/main" id="{8ED4E401-BC31-4D71-A97F-AF3F1AFA4A7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4" y="3723098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0" name="Freeform 101">
            <a:extLst>
              <a:ext uri="{FF2B5EF4-FFF2-40B4-BE49-F238E27FC236}">
                <a16:creationId xmlns:a16="http://schemas.microsoft.com/office/drawing/2014/main" id="{B9B47092-EDB3-4FA5-8930-B18A2CD046F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0" y="438179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1" name="Freeform 101">
            <a:extLst>
              <a:ext uri="{FF2B5EF4-FFF2-40B4-BE49-F238E27FC236}">
                <a16:creationId xmlns:a16="http://schemas.microsoft.com/office/drawing/2014/main" id="{3C9F7D75-F870-42A6-BD96-7CBA0D17623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2" y="5040481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3442515F-87E7-403E-999B-150B9097ECCB}"/>
              </a:ext>
            </a:extLst>
          </p:cNvPr>
          <p:cNvSpPr/>
          <p:nvPr/>
        </p:nvSpPr>
        <p:spPr bwMode="gray">
          <a:xfrm>
            <a:off x="7527548" y="4377297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9F28B93E-D184-4385-93CA-042CDC702FD4}"/>
              </a:ext>
            </a:extLst>
          </p:cNvPr>
          <p:cNvSpPr/>
          <p:nvPr/>
        </p:nvSpPr>
        <p:spPr bwMode="gray">
          <a:xfrm>
            <a:off x="7527548" y="5031886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071520CD-037B-47A8-82A0-0CB8BDC4E1C3}"/>
              </a:ext>
            </a:extLst>
          </p:cNvPr>
          <p:cNvSpPr/>
          <p:nvPr/>
        </p:nvSpPr>
        <p:spPr bwMode="gray">
          <a:xfrm>
            <a:off x="7527548" y="3722261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5" name="Freeform 101">
            <a:extLst>
              <a:ext uri="{FF2B5EF4-FFF2-40B4-BE49-F238E27FC236}">
                <a16:creationId xmlns:a16="http://schemas.microsoft.com/office/drawing/2014/main" id="{D36B0261-6690-4E04-B643-B3E6FE4DCA9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6" y="3723096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6" name="Freeform 101">
            <a:extLst>
              <a:ext uri="{FF2B5EF4-FFF2-40B4-BE49-F238E27FC236}">
                <a16:creationId xmlns:a16="http://schemas.microsoft.com/office/drawing/2014/main" id="{D0D7EF3D-5281-4FB2-A05D-2972221FCCE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4" y="4381788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7" name="Freeform 101">
            <a:extLst>
              <a:ext uri="{FF2B5EF4-FFF2-40B4-BE49-F238E27FC236}">
                <a16:creationId xmlns:a16="http://schemas.microsoft.com/office/drawing/2014/main" id="{497F15C5-C4E6-42E4-9A43-A79848E36DF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5" y="504048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DFA418BC-925C-4514-BA0A-D14676573EC3}"/>
              </a:ext>
            </a:extLst>
          </p:cNvPr>
          <p:cNvSpPr txBox="1"/>
          <p:nvPr/>
        </p:nvSpPr>
        <p:spPr>
          <a:xfrm>
            <a:off x="4467303" y="3699100"/>
            <a:ext cx="446116" cy="323165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Master Node 1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7E3E8AEC-55C0-4F4C-8BC9-B8E1F6C86F18}"/>
              </a:ext>
            </a:extLst>
          </p:cNvPr>
          <p:cNvSpPr txBox="1"/>
          <p:nvPr/>
        </p:nvSpPr>
        <p:spPr>
          <a:xfrm>
            <a:off x="4423682" y="4339915"/>
            <a:ext cx="610290" cy="361637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Master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 Node 2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0863F557-8CB1-452D-8DA9-5A21FF0D2D2E}"/>
              </a:ext>
            </a:extLst>
          </p:cNvPr>
          <p:cNvSpPr txBox="1"/>
          <p:nvPr/>
        </p:nvSpPr>
        <p:spPr>
          <a:xfrm>
            <a:off x="4387780" y="5011045"/>
            <a:ext cx="610290" cy="361637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Edge 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 1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09DF7505-DDF9-4505-8973-DF80A62354E2}"/>
              </a:ext>
            </a:extLst>
          </p:cNvPr>
          <p:cNvSpPr txBox="1"/>
          <p:nvPr/>
        </p:nvSpPr>
        <p:spPr>
          <a:xfrm>
            <a:off x="5531185" y="3701386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09BEDF8F-9C86-4689-9E23-CD7C581BC7B7}"/>
              </a:ext>
            </a:extLst>
          </p:cNvPr>
          <p:cNvSpPr txBox="1"/>
          <p:nvPr/>
        </p:nvSpPr>
        <p:spPr>
          <a:xfrm>
            <a:off x="5519416" y="4357218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4573577D-A893-478D-AD38-E90390481816}"/>
              </a:ext>
            </a:extLst>
          </p:cNvPr>
          <p:cNvSpPr txBox="1"/>
          <p:nvPr/>
        </p:nvSpPr>
        <p:spPr>
          <a:xfrm>
            <a:off x="5519416" y="5020194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756B494E-F2F0-4049-8995-D9BB76E21809}"/>
              </a:ext>
            </a:extLst>
          </p:cNvPr>
          <p:cNvSpPr txBox="1"/>
          <p:nvPr/>
        </p:nvSpPr>
        <p:spPr>
          <a:xfrm>
            <a:off x="6607506" y="3706827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6AE429A0-2A0D-4972-8CD1-941BD61D0D39}"/>
              </a:ext>
            </a:extLst>
          </p:cNvPr>
          <p:cNvSpPr txBox="1"/>
          <p:nvPr/>
        </p:nvSpPr>
        <p:spPr>
          <a:xfrm>
            <a:off x="6617660" y="4356471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3D5D5C78-30B9-442F-A123-BDA7FB3FA6B3}"/>
              </a:ext>
            </a:extLst>
          </p:cNvPr>
          <p:cNvSpPr txBox="1"/>
          <p:nvPr/>
        </p:nvSpPr>
        <p:spPr>
          <a:xfrm>
            <a:off x="6609458" y="5029783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3184A26A-7AFD-427B-B747-1B47ED054B0E}"/>
              </a:ext>
            </a:extLst>
          </p:cNvPr>
          <p:cNvSpPr txBox="1"/>
          <p:nvPr/>
        </p:nvSpPr>
        <p:spPr>
          <a:xfrm>
            <a:off x="7640937" y="3706824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BC8A95EE-3659-4F0C-ACF3-156F07DA007A}"/>
              </a:ext>
            </a:extLst>
          </p:cNvPr>
          <p:cNvSpPr txBox="1"/>
          <p:nvPr/>
        </p:nvSpPr>
        <p:spPr>
          <a:xfrm>
            <a:off x="7651093" y="4356470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807EA039-197E-4ECE-BBBE-9513E295D3C5}"/>
              </a:ext>
            </a:extLst>
          </p:cNvPr>
          <p:cNvSpPr txBox="1"/>
          <p:nvPr/>
        </p:nvSpPr>
        <p:spPr>
          <a:xfrm>
            <a:off x="7642891" y="5029782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E41907BB-11EE-4D6A-B26D-46C7B19474EA}"/>
              </a:ext>
            </a:extLst>
          </p:cNvPr>
          <p:cNvSpPr/>
          <p:nvPr/>
        </p:nvSpPr>
        <p:spPr bwMode="gray">
          <a:xfrm>
            <a:off x="5203018" y="3667711"/>
            <a:ext cx="3033953" cy="460129"/>
          </a:xfrm>
          <a:prstGeom prst="rect">
            <a:avLst/>
          </a:prstGeom>
          <a:noFill/>
          <a:ln w="19050" algn="ctr">
            <a:solidFill>
              <a:srgbClr val="0070C0"/>
            </a:solidFill>
            <a:prstDash val="dash"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9FF84A8-08CA-4908-AF82-4D43E262F53D}"/>
              </a:ext>
            </a:extLst>
          </p:cNvPr>
          <p:cNvSpPr/>
          <p:nvPr/>
        </p:nvSpPr>
        <p:spPr>
          <a:xfrm>
            <a:off x="3841756" y="3426839"/>
            <a:ext cx="4625266" cy="221065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60E14BC9-FC67-484F-9D02-4F930B6891E9}"/>
              </a:ext>
            </a:extLst>
          </p:cNvPr>
          <p:cNvSpPr txBox="1"/>
          <p:nvPr/>
        </p:nvSpPr>
        <p:spPr>
          <a:xfrm>
            <a:off x="5076731" y="2971365"/>
            <a:ext cx="207308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Hadoop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Master = 4, Worker = 297, Edge = 4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D777B3ED-EB21-4BE6-9324-A967A5537EA9}"/>
              </a:ext>
            </a:extLst>
          </p:cNvPr>
          <p:cNvSpPr txBox="1"/>
          <p:nvPr/>
        </p:nvSpPr>
        <p:spPr>
          <a:xfrm>
            <a:off x="1747788" y="2933681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Kafka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Zookeeper = 3, Broker = 6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6E746F5-71CF-4D83-860A-780206A2F40F}"/>
              </a:ext>
            </a:extLst>
          </p:cNvPr>
          <p:cNvSpPr txBox="1"/>
          <p:nvPr/>
        </p:nvSpPr>
        <p:spPr>
          <a:xfrm>
            <a:off x="201136" y="2942487"/>
            <a:ext cx="146285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Flume Internal Agents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Flume Agent = 2</a:t>
            </a:r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BE6FBD7E-3018-407A-A841-599D28120ED8}"/>
              </a:ext>
            </a:extLst>
          </p:cNvPr>
          <p:cNvGrpSpPr/>
          <p:nvPr/>
        </p:nvGrpSpPr>
        <p:grpSpPr>
          <a:xfrm>
            <a:off x="2642027" y="5035584"/>
            <a:ext cx="816435" cy="410705"/>
            <a:chOff x="8269519" y="2198336"/>
            <a:chExt cx="816435" cy="373368"/>
          </a:xfrm>
        </p:grpSpPr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FBFC15D7-AA38-43CA-99DC-17BFFDF76617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17" name="Freeform 101">
              <a:extLst>
                <a:ext uri="{FF2B5EF4-FFF2-40B4-BE49-F238E27FC236}">
                  <a16:creationId xmlns:a16="http://schemas.microsoft.com/office/drawing/2014/main" id="{4D13B530-C4FF-43A0-A04D-8312B525468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33AD5625-6068-4F10-9A1D-1A4F61B0D6FB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AD45C16D-FD2F-453B-93B5-5558F1E2852B}"/>
              </a:ext>
            </a:extLst>
          </p:cNvPr>
          <p:cNvGrpSpPr/>
          <p:nvPr/>
        </p:nvGrpSpPr>
        <p:grpSpPr>
          <a:xfrm>
            <a:off x="2644087" y="4339088"/>
            <a:ext cx="816435" cy="410705"/>
            <a:chOff x="8269519" y="2198336"/>
            <a:chExt cx="816435" cy="373368"/>
          </a:xfrm>
        </p:grpSpPr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FD34534B-CF3C-4394-8E3C-E97153206F4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21" name="Freeform 101">
              <a:extLst>
                <a:ext uri="{FF2B5EF4-FFF2-40B4-BE49-F238E27FC236}">
                  <a16:creationId xmlns:a16="http://schemas.microsoft.com/office/drawing/2014/main" id="{9947FA8C-61F9-4F5C-AEBF-03837F27692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69D2B374-0C85-4312-A341-ED8BFCD5EF5D}"/>
                </a:ext>
              </a:extLst>
            </p:cNvPr>
            <p:cNvSpPr txBox="1"/>
            <p:nvPr/>
          </p:nvSpPr>
          <p:spPr>
            <a:xfrm>
              <a:off x="8557038" y="2256580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9AD97A33-636A-40F8-AFFE-C6A7E0D0E87E}"/>
              </a:ext>
            </a:extLst>
          </p:cNvPr>
          <p:cNvGrpSpPr/>
          <p:nvPr/>
        </p:nvGrpSpPr>
        <p:grpSpPr>
          <a:xfrm>
            <a:off x="2637406" y="3627676"/>
            <a:ext cx="816435" cy="410705"/>
            <a:chOff x="8269519" y="2198336"/>
            <a:chExt cx="816435" cy="373368"/>
          </a:xfrm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B6F10014-63D0-44F0-9E6F-F2DE0616EE4D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25" name="Freeform 101">
              <a:extLst>
                <a:ext uri="{FF2B5EF4-FFF2-40B4-BE49-F238E27FC236}">
                  <a16:creationId xmlns:a16="http://schemas.microsoft.com/office/drawing/2014/main" id="{2A63B22E-C7AA-4BB6-B7D5-51F857698FB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99AAAA11-4899-4B85-860A-EC3337E768C8}"/>
                </a:ext>
              </a:extLst>
            </p:cNvPr>
            <p:cNvSpPr txBox="1"/>
            <p:nvPr/>
          </p:nvSpPr>
          <p:spPr>
            <a:xfrm>
              <a:off x="8572571" y="2242453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7E594B1-0574-4D39-A050-F48EFFF80D3A}"/>
              </a:ext>
            </a:extLst>
          </p:cNvPr>
          <p:cNvSpPr/>
          <p:nvPr/>
        </p:nvSpPr>
        <p:spPr>
          <a:xfrm>
            <a:off x="1586862" y="3427950"/>
            <a:ext cx="2086039" cy="220954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F0DDC94F-02E3-4C93-825E-6F1C8637054D}"/>
              </a:ext>
            </a:extLst>
          </p:cNvPr>
          <p:cNvGrpSpPr/>
          <p:nvPr/>
        </p:nvGrpSpPr>
        <p:grpSpPr>
          <a:xfrm>
            <a:off x="1742507" y="4343691"/>
            <a:ext cx="816435" cy="373368"/>
            <a:chOff x="8269519" y="2198336"/>
            <a:chExt cx="816435" cy="373368"/>
          </a:xfrm>
        </p:grpSpPr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53687AF2-9762-4168-835B-4675CCCE783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0" name="Freeform 101">
              <a:extLst>
                <a:ext uri="{FF2B5EF4-FFF2-40B4-BE49-F238E27FC236}">
                  <a16:creationId xmlns:a16="http://schemas.microsoft.com/office/drawing/2014/main" id="{53041A97-C6FC-498B-9F9F-6A094383518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FF8F4BA4-4D10-4D91-9A28-218197A456D1}"/>
                </a:ext>
              </a:extLst>
            </p:cNvPr>
            <p:cNvSpPr txBox="1"/>
            <p:nvPr/>
          </p:nvSpPr>
          <p:spPr>
            <a:xfrm>
              <a:off x="8546909" y="2250594"/>
              <a:ext cx="533928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27D56F9C-8AF0-45E6-AD5B-53AB0C604290}"/>
              </a:ext>
            </a:extLst>
          </p:cNvPr>
          <p:cNvGrpSpPr/>
          <p:nvPr/>
        </p:nvGrpSpPr>
        <p:grpSpPr>
          <a:xfrm>
            <a:off x="1763896" y="5008735"/>
            <a:ext cx="835300" cy="373368"/>
            <a:chOff x="8269519" y="2198336"/>
            <a:chExt cx="835300" cy="373368"/>
          </a:xfrm>
        </p:grpSpPr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93CC8AFE-3862-49B9-B8BE-46294F19ADC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4" name="Freeform 101">
              <a:extLst>
                <a:ext uri="{FF2B5EF4-FFF2-40B4-BE49-F238E27FC236}">
                  <a16:creationId xmlns:a16="http://schemas.microsoft.com/office/drawing/2014/main" id="{31EBE097-69DF-49E9-97BE-8F35CFD4774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7B2C11AC-E7EA-4453-94DF-4921D49B4688}"/>
                </a:ext>
              </a:extLst>
            </p:cNvPr>
            <p:cNvSpPr txBox="1"/>
            <p:nvPr/>
          </p:nvSpPr>
          <p:spPr>
            <a:xfrm>
              <a:off x="8547049" y="2284520"/>
              <a:ext cx="557770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2962719E-A446-4781-97CA-112C57FEEA68}"/>
              </a:ext>
            </a:extLst>
          </p:cNvPr>
          <p:cNvGrpSpPr/>
          <p:nvPr/>
        </p:nvGrpSpPr>
        <p:grpSpPr>
          <a:xfrm>
            <a:off x="1750874" y="3641064"/>
            <a:ext cx="831606" cy="373368"/>
            <a:chOff x="8269519" y="2198336"/>
            <a:chExt cx="831606" cy="373368"/>
          </a:xfrm>
        </p:grpSpPr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D249AE95-EC62-4502-8C1D-10B14462DCB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8" name="Freeform 101">
              <a:extLst>
                <a:ext uri="{FF2B5EF4-FFF2-40B4-BE49-F238E27FC236}">
                  <a16:creationId xmlns:a16="http://schemas.microsoft.com/office/drawing/2014/main" id="{9E159523-186E-47BC-9D31-0A6F7CF4EB0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9836A08A-FB05-49BF-A656-ADF010064859}"/>
                </a:ext>
              </a:extLst>
            </p:cNvPr>
            <p:cNvSpPr txBox="1"/>
            <p:nvPr/>
          </p:nvSpPr>
          <p:spPr>
            <a:xfrm>
              <a:off x="8556812" y="2239560"/>
              <a:ext cx="544313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sp>
        <p:nvSpPr>
          <p:cNvPr id="340" name="Rectangle 339">
            <a:extLst>
              <a:ext uri="{FF2B5EF4-FFF2-40B4-BE49-F238E27FC236}">
                <a16:creationId xmlns:a16="http://schemas.microsoft.com/office/drawing/2014/main" id="{E7F9718B-A5B3-4740-B28E-3572F92D5B1C}"/>
              </a:ext>
            </a:extLst>
          </p:cNvPr>
          <p:cNvSpPr/>
          <p:nvPr/>
        </p:nvSpPr>
        <p:spPr>
          <a:xfrm>
            <a:off x="306146" y="3426224"/>
            <a:ext cx="1081043" cy="22194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F304957B-C2E0-4207-98DD-01AE6B686D69}"/>
              </a:ext>
            </a:extLst>
          </p:cNvPr>
          <p:cNvGrpSpPr/>
          <p:nvPr/>
        </p:nvGrpSpPr>
        <p:grpSpPr>
          <a:xfrm>
            <a:off x="488818" y="3911996"/>
            <a:ext cx="816435" cy="410705"/>
            <a:chOff x="8269519" y="2198336"/>
            <a:chExt cx="816435" cy="373368"/>
          </a:xfrm>
        </p:grpSpPr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A094841A-627E-46F3-AEE4-FB157C911B44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43" name="Freeform 101">
              <a:extLst>
                <a:ext uri="{FF2B5EF4-FFF2-40B4-BE49-F238E27FC236}">
                  <a16:creationId xmlns:a16="http://schemas.microsoft.com/office/drawing/2014/main" id="{D8E45C68-AF06-437A-8339-245B8613396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4D3E8A68-7341-4B45-8FF2-C04259A3B4BD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Flume Agent 1</a:t>
              </a: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7F8C0E53-CD03-433B-BCD1-F565824AD3FB}"/>
              </a:ext>
            </a:extLst>
          </p:cNvPr>
          <p:cNvGrpSpPr/>
          <p:nvPr/>
        </p:nvGrpSpPr>
        <p:grpSpPr>
          <a:xfrm>
            <a:off x="461579" y="4624661"/>
            <a:ext cx="816435" cy="410705"/>
            <a:chOff x="8269519" y="2198336"/>
            <a:chExt cx="816435" cy="373368"/>
          </a:xfrm>
        </p:grpSpPr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216C51EA-9915-4A8D-8F21-5F3CC5A2BB85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47" name="Freeform 101">
              <a:extLst>
                <a:ext uri="{FF2B5EF4-FFF2-40B4-BE49-F238E27FC236}">
                  <a16:creationId xmlns:a16="http://schemas.microsoft.com/office/drawing/2014/main" id="{E0471C04-9F67-4671-8E78-9EED7DCDEB3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AA36EA07-7B23-44C9-8E33-212868F21FB1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Flume Agent 2</a:t>
              </a:r>
            </a:p>
          </p:txBody>
        </p:sp>
      </p:grp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93E874CE-A2EB-425C-8222-35D84452CF2A}"/>
              </a:ext>
            </a:extLst>
          </p:cNvPr>
          <p:cNvCxnSpPr>
            <a:stCxn id="327" idx="3"/>
            <a:endCxn id="301" idx="1"/>
          </p:cNvCxnSpPr>
          <p:nvPr/>
        </p:nvCxnSpPr>
        <p:spPr>
          <a:xfrm flipV="1">
            <a:off x="3672901" y="4532168"/>
            <a:ext cx="168855" cy="5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B3725258-0521-4112-9897-7B573E506417}"/>
              </a:ext>
            </a:extLst>
          </p:cNvPr>
          <p:cNvCxnSpPr>
            <a:stCxn id="340" idx="3"/>
            <a:endCxn id="327" idx="1"/>
          </p:cNvCxnSpPr>
          <p:nvPr/>
        </p:nvCxnSpPr>
        <p:spPr>
          <a:xfrm flipV="1">
            <a:off x="1387189" y="4532723"/>
            <a:ext cx="199673" cy="32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377841B9-1D4B-4A66-8FF1-062EC1FBE10D}"/>
              </a:ext>
            </a:extLst>
          </p:cNvPr>
          <p:cNvSpPr txBox="1"/>
          <p:nvPr/>
        </p:nvSpPr>
        <p:spPr>
          <a:xfrm>
            <a:off x="9398759" y="2781902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INTERNAL LAN</a:t>
            </a:r>
          </a:p>
        </p:txBody>
      </p:sp>
      <p:cxnSp>
        <p:nvCxnSpPr>
          <p:cNvPr id="352" name="Elbow Connector 4">
            <a:extLst>
              <a:ext uri="{FF2B5EF4-FFF2-40B4-BE49-F238E27FC236}">
                <a16:creationId xmlns:a16="http://schemas.microsoft.com/office/drawing/2014/main" id="{7A459B1C-A882-466F-913D-4613D029EB74}"/>
              </a:ext>
            </a:extLst>
          </p:cNvPr>
          <p:cNvCxnSpPr/>
          <p:nvPr/>
        </p:nvCxnSpPr>
        <p:spPr>
          <a:xfrm rot="5400000">
            <a:off x="2371322" y="2744455"/>
            <a:ext cx="1198793" cy="15615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352">
            <a:extLst>
              <a:ext uri="{FF2B5EF4-FFF2-40B4-BE49-F238E27FC236}">
                <a16:creationId xmlns:a16="http://schemas.microsoft.com/office/drawing/2014/main" id="{4982145F-EDC7-43E2-878E-D51763CFE68B}"/>
              </a:ext>
            </a:extLst>
          </p:cNvPr>
          <p:cNvSpPr txBox="1"/>
          <p:nvPr/>
        </p:nvSpPr>
        <p:spPr>
          <a:xfrm>
            <a:off x="2924590" y="1311888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3C2A4E98-3126-42FC-BF92-00D8B4051342}"/>
              </a:ext>
            </a:extLst>
          </p:cNvPr>
          <p:cNvSpPr txBox="1"/>
          <p:nvPr/>
        </p:nvSpPr>
        <p:spPr>
          <a:xfrm>
            <a:off x="3136219" y="2227261"/>
            <a:ext cx="16440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REST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4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EBC6C54A-F3D0-4E91-BF1B-1EDCFCA2D357}"/>
              </a:ext>
            </a:extLst>
          </p:cNvPr>
          <p:cNvSpPr/>
          <p:nvPr/>
        </p:nvSpPr>
        <p:spPr>
          <a:xfrm>
            <a:off x="2636670" y="1591343"/>
            <a:ext cx="8158578" cy="1037545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7791696D-1316-4459-ACF0-0F5A5E06A7D4}"/>
              </a:ext>
            </a:extLst>
          </p:cNvPr>
          <p:cNvSpPr txBox="1"/>
          <p:nvPr/>
        </p:nvSpPr>
        <p:spPr>
          <a:xfrm>
            <a:off x="8214551" y="2389953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DMZ</a:t>
            </a:r>
          </a:p>
        </p:txBody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C331D60D-3462-4116-8EA1-7104242A6AC9}"/>
              </a:ext>
            </a:extLst>
          </p:cNvPr>
          <p:cNvGrpSpPr/>
          <p:nvPr/>
        </p:nvGrpSpPr>
        <p:grpSpPr>
          <a:xfrm>
            <a:off x="2993509" y="1779346"/>
            <a:ext cx="816435" cy="410705"/>
            <a:chOff x="8269519" y="2198336"/>
            <a:chExt cx="816435" cy="373368"/>
          </a:xfrm>
        </p:grpSpPr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9E54808D-D24B-41AB-A223-CD8E5DF56BE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68" name="Freeform 101">
              <a:extLst>
                <a:ext uri="{FF2B5EF4-FFF2-40B4-BE49-F238E27FC236}">
                  <a16:creationId xmlns:a16="http://schemas.microsoft.com/office/drawing/2014/main" id="{E5B31026-DA75-48E8-8A4D-C321717F948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81289FC6-3164-4AE7-A3AD-36C3DE504805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61327FCB-FFC2-4AAB-81E1-BBB8F9B3B60B}"/>
              </a:ext>
            </a:extLst>
          </p:cNvPr>
          <p:cNvGrpSpPr/>
          <p:nvPr/>
        </p:nvGrpSpPr>
        <p:grpSpPr>
          <a:xfrm>
            <a:off x="3928820" y="1793805"/>
            <a:ext cx="816435" cy="410705"/>
            <a:chOff x="8269519" y="2198336"/>
            <a:chExt cx="816435" cy="373368"/>
          </a:xfrm>
        </p:grpSpPr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E2C34BFC-02F3-47B7-96AD-307F90E4326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72" name="Freeform 101">
              <a:extLst>
                <a:ext uri="{FF2B5EF4-FFF2-40B4-BE49-F238E27FC236}">
                  <a16:creationId xmlns:a16="http://schemas.microsoft.com/office/drawing/2014/main" id="{0990441D-A3D4-44FE-9DF4-CD784E48B15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3A4AD35D-E64A-4957-A01D-C5DB5581B6F7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374" name="Rectangle 373">
            <a:extLst>
              <a:ext uri="{FF2B5EF4-FFF2-40B4-BE49-F238E27FC236}">
                <a16:creationId xmlns:a16="http://schemas.microsoft.com/office/drawing/2014/main" id="{B8F6BDCB-754A-44D1-951F-7414D3A6B5D3}"/>
              </a:ext>
            </a:extLst>
          </p:cNvPr>
          <p:cNvSpPr/>
          <p:nvPr/>
        </p:nvSpPr>
        <p:spPr>
          <a:xfrm>
            <a:off x="2882469" y="1697227"/>
            <a:ext cx="1996101" cy="5313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1D30FA6F-BEFF-49D2-A5BF-43A985844D59}"/>
              </a:ext>
            </a:extLst>
          </p:cNvPr>
          <p:cNvSpPr txBox="1"/>
          <p:nvPr/>
        </p:nvSpPr>
        <p:spPr>
          <a:xfrm>
            <a:off x="2915714" y="1356275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06436CB0-3289-4B01-B35E-2E7D59169280}"/>
              </a:ext>
            </a:extLst>
          </p:cNvPr>
          <p:cNvSpPr txBox="1"/>
          <p:nvPr/>
        </p:nvSpPr>
        <p:spPr>
          <a:xfrm>
            <a:off x="5709826" y="2212443"/>
            <a:ext cx="16440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Kafka External Adapters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Zookeeper = 3, Broker = 4</a:t>
            </a:r>
          </a:p>
        </p:txBody>
      </p: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9E6E387F-827E-4A22-9AF4-4DE5747940F2}"/>
              </a:ext>
            </a:extLst>
          </p:cNvPr>
          <p:cNvGrpSpPr/>
          <p:nvPr/>
        </p:nvGrpSpPr>
        <p:grpSpPr>
          <a:xfrm>
            <a:off x="5195122" y="1755019"/>
            <a:ext cx="816435" cy="410705"/>
            <a:chOff x="8269519" y="2198336"/>
            <a:chExt cx="816435" cy="373368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EF79C26C-C46F-445E-A733-177463422181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0" name="Freeform 101">
              <a:extLst>
                <a:ext uri="{FF2B5EF4-FFF2-40B4-BE49-F238E27FC236}">
                  <a16:creationId xmlns:a16="http://schemas.microsoft.com/office/drawing/2014/main" id="{F67F96E0-2364-4FCD-9194-B51FC3006DD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B3F20B44-39BC-4F87-A6F3-4042BB74EF51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1</a:t>
              </a:r>
            </a:p>
          </p:txBody>
        </p:sp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52FF63BB-9463-47FA-BE25-F6DF668ECA16}"/>
              </a:ext>
            </a:extLst>
          </p:cNvPr>
          <p:cNvGrpSpPr/>
          <p:nvPr/>
        </p:nvGrpSpPr>
        <p:grpSpPr>
          <a:xfrm>
            <a:off x="6068277" y="1760702"/>
            <a:ext cx="816435" cy="410705"/>
            <a:chOff x="8269519" y="2198336"/>
            <a:chExt cx="816435" cy="373368"/>
          </a:xfrm>
        </p:grpSpPr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A3B62382-0FC4-472C-BB54-60D5145961F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4" name="Freeform 101">
              <a:extLst>
                <a:ext uri="{FF2B5EF4-FFF2-40B4-BE49-F238E27FC236}">
                  <a16:creationId xmlns:a16="http://schemas.microsoft.com/office/drawing/2014/main" id="{E5EE94A6-6308-42F1-A91A-535C9B01EB2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44C7A5E-4CD6-4E79-9C58-4411AD597E39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2</a:t>
              </a:r>
            </a:p>
          </p:txBody>
        </p:sp>
      </p:grp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DB851A7-73AD-4145-BEC2-6C28883AE5E5}"/>
              </a:ext>
            </a:extLst>
          </p:cNvPr>
          <p:cNvSpPr/>
          <p:nvPr/>
        </p:nvSpPr>
        <p:spPr>
          <a:xfrm>
            <a:off x="5121423" y="1691802"/>
            <a:ext cx="2674898" cy="5313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4B5220AA-9C87-45A3-B050-6D5A45911708}"/>
              </a:ext>
            </a:extLst>
          </p:cNvPr>
          <p:cNvGrpSpPr/>
          <p:nvPr/>
        </p:nvGrpSpPr>
        <p:grpSpPr>
          <a:xfrm>
            <a:off x="6892462" y="1776138"/>
            <a:ext cx="816435" cy="410705"/>
            <a:chOff x="8269519" y="2198336"/>
            <a:chExt cx="816435" cy="373368"/>
          </a:xfrm>
        </p:grpSpPr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76486F74-E52D-4D3E-BC32-CDA61E511C6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9" name="Freeform 101">
              <a:extLst>
                <a:ext uri="{FF2B5EF4-FFF2-40B4-BE49-F238E27FC236}">
                  <a16:creationId xmlns:a16="http://schemas.microsoft.com/office/drawing/2014/main" id="{65D6E96A-ADC6-4005-ABA6-58970FFDFB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83A6401F-99E8-429E-83AA-D37AC2AD7F9A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3</a:t>
              </a:r>
            </a:p>
          </p:txBody>
        </p:sp>
      </p:grpSp>
      <p:sp>
        <p:nvSpPr>
          <p:cNvPr id="391" name="Rectangle 390">
            <a:extLst>
              <a:ext uri="{FF2B5EF4-FFF2-40B4-BE49-F238E27FC236}">
                <a16:creationId xmlns:a16="http://schemas.microsoft.com/office/drawing/2014/main" id="{3C29D268-A105-4488-BC3B-50900120F25F}"/>
              </a:ext>
            </a:extLst>
          </p:cNvPr>
          <p:cNvSpPr/>
          <p:nvPr/>
        </p:nvSpPr>
        <p:spPr>
          <a:xfrm>
            <a:off x="4790497" y="1138030"/>
            <a:ext cx="2958061" cy="1864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Load Balancers</a:t>
            </a:r>
          </a:p>
        </p:txBody>
      </p:sp>
      <p:cxnSp>
        <p:nvCxnSpPr>
          <p:cNvPr id="392" name="Elbow Connector 270">
            <a:extLst>
              <a:ext uri="{FF2B5EF4-FFF2-40B4-BE49-F238E27FC236}">
                <a16:creationId xmlns:a16="http://schemas.microsoft.com/office/drawing/2014/main" id="{39CBDF18-C79B-4549-9634-01A69FB5FBE2}"/>
              </a:ext>
            </a:extLst>
          </p:cNvPr>
          <p:cNvCxnSpPr>
            <a:cxnSpLocks/>
          </p:cNvCxnSpPr>
          <p:nvPr/>
        </p:nvCxnSpPr>
        <p:spPr>
          <a:xfrm rot="5400000">
            <a:off x="6115530" y="1556942"/>
            <a:ext cx="186907" cy="1091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Elbow Connector 271">
            <a:extLst>
              <a:ext uri="{FF2B5EF4-FFF2-40B4-BE49-F238E27FC236}">
                <a16:creationId xmlns:a16="http://schemas.microsoft.com/office/drawing/2014/main" id="{56E24CEB-3D79-4693-AE97-589586408AF5}"/>
              </a:ext>
            </a:extLst>
          </p:cNvPr>
          <p:cNvCxnSpPr/>
          <p:nvPr/>
        </p:nvCxnSpPr>
        <p:spPr>
          <a:xfrm rot="5400000">
            <a:off x="4875326" y="329655"/>
            <a:ext cx="399397" cy="23890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Rectangle 393">
            <a:extLst>
              <a:ext uri="{FF2B5EF4-FFF2-40B4-BE49-F238E27FC236}">
                <a16:creationId xmlns:a16="http://schemas.microsoft.com/office/drawing/2014/main" id="{8A082E13-A040-4990-9343-463AF0DDFBCC}"/>
              </a:ext>
            </a:extLst>
          </p:cNvPr>
          <p:cNvSpPr/>
          <p:nvPr/>
        </p:nvSpPr>
        <p:spPr>
          <a:xfrm>
            <a:off x="167858" y="2849730"/>
            <a:ext cx="11832060" cy="297401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5" name="Elbow Connector 28">
            <a:extLst>
              <a:ext uri="{FF2B5EF4-FFF2-40B4-BE49-F238E27FC236}">
                <a16:creationId xmlns:a16="http://schemas.microsoft.com/office/drawing/2014/main" id="{21BFF41C-875C-45F1-9BB8-B95DCB576D71}"/>
              </a:ext>
            </a:extLst>
          </p:cNvPr>
          <p:cNvCxnSpPr/>
          <p:nvPr/>
        </p:nvCxnSpPr>
        <p:spPr>
          <a:xfrm rot="5400000">
            <a:off x="4264425" y="2388741"/>
            <a:ext cx="1192449" cy="8739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C4A0B47-B665-45FE-BC9C-26112863B7D3}"/>
              </a:ext>
            </a:extLst>
          </p:cNvPr>
          <p:cNvSpPr/>
          <p:nvPr/>
        </p:nvSpPr>
        <p:spPr>
          <a:xfrm>
            <a:off x="8689114" y="33714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06F37615-9717-424A-A614-FD885ABA26D7}"/>
              </a:ext>
            </a:extLst>
          </p:cNvPr>
          <p:cNvSpPr/>
          <p:nvPr/>
        </p:nvSpPr>
        <p:spPr>
          <a:xfrm>
            <a:off x="8841514" y="35238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6F326107-8C8A-462D-9872-DEECA2D71917}"/>
              </a:ext>
            </a:extLst>
          </p:cNvPr>
          <p:cNvSpPr/>
          <p:nvPr/>
        </p:nvSpPr>
        <p:spPr>
          <a:xfrm>
            <a:off x="8993914" y="36762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1895E149-C260-40F8-B38D-D328586E1753}"/>
              </a:ext>
            </a:extLst>
          </p:cNvPr>
          <p:cNvSpPr/>
          <p:nvPr/>
        </p:nvSpPr>
        <p:spPr>
          <a:xfrm>
            <a:off x="9146314" y="38286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C1D99EFB-D895-4909-8128-1F498DE43E8F}"/>
              </a:ext>
            </a:extLst>
          </p:cNvPr>
          <p:cNvSpPr/>
          <p:nvPr/>
        </p:nvSpPr>
        <p:spPr>
          <a:xfrm>
            <a:off x="9298714" y="39810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359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5D9255B-2C24-4BBD-9402-19C357E8C010}"/>
              </a:ext>
            </a:extLst>
          </p:cNvPr>
          <p:cNvSpPr/>
          <p:nvPr/>
        </p:nvSpPr>
        <p:spPr>
          <a:xfrm>
            <a:off x="201136" y="2754471"/>
            <a:ext cx="12096611" cy="37862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2" y="-85238"/>
            <a:ext cx="119911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APPS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BIGD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PROPOSED1-Horton-Consolidate</a:t>
            </a: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3200" dirty="0">
              <a:latin typeface="Raleway ExtraBold" panose="020B0903030101060003" pitchFamily="34" charset="0"/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036A46F-3C7F-4E5E-817C-363EE007641D}"/>
              </a:ext>
            </a:extLst>
          </p:cNvPr>
          <p:cNvSpPr/>
          <p:nvPr/>
        </p:nvSpPr>
        <p:spPr bwMode="gray">
          <a:xfrm>
            <a:off x="4046337" y="3570074"/>
            <a:ext cx="1025289" cy="196432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4B7BEAE-892B-40BC-9C6D-B1B1CE51CC73}"/>
              </a:ext>
            </a:extLst>
          </p:cNvPr>
          <p:cNvSpPr/>
          <p:nvPr/>
        </p:nvSpPr>
        <p:spPr bwMode="gray">
          <a:xfrm>
            <a:off x="4329623" y="4361861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D3850398-B4F1-4DC1-A5C2-DDA8C7545016}"/>
              </a:ext>
            </a:extLst>
          </p:cNvPr>
          <p:cNvSpPr/>
          <p:nvPr/>
        </p:nvSpPr>
        <p:spPr bwMode="gray">
          <a:xfrm>
            <a:off x="4329623" y="5016450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FAF0E05D-0392-4F7A-86FE-E285468B7529}"/>
              </a:ext>
            </a:extLst>
          </p:cNvPr>
          <p:cNvSpPr/>
          <p:nvPr/>
        </p:nvSpPr>
        <p:spPr bwMode="gray">
          <a:xfrm>
            <a:off x="4329623" y="3706826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9872BEA-95C7-404D-8F14-0540678464D2}"/>
              </a:ext>
            </a:extLst>
          </p:cNvPr>
          <p:cNvSpPr/>
          <p:nvPr/>
        </p:nvSpPr>
        <p:spPr bwMode="gray">
          <a:xfrm>
            <a:off x="5117381" y="3570074"/>
            <a:ext cx="1025289" cy="196432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FED7348-8261-4946-8C5F-503050EB1AC2}"/>
              </a:ext>
            </a:extLst>
          </p:cNvPr>
          <p:cNvSpPr/>
          <p:nvPr/>
        </p:nvSpPr>
        <p:spPr bwMode="gray">
          <a:xfrm>
            <a:off x="6188426" y="3570074"/>
            <a:ext cx="1025289" cy="196432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C57A900D-6FF3-4B07-9AB4-B7B8E85D222E}"/>
              </a:ext>
            </a:extLst>
          </p:cNvPr>
          <p:cNvSpPr/>
          <p:nvPr/>
        </p:nvSpPr>
        <p:spPr bwMode="gray">
          <a:xfrm>
            <a:off x="7275985" y="3570074"/>
            <a:ext cx="1025289" cy="195707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4" name="Freeform 101">
            <a:extLst>
              <a:ext uri="{FF2B5EF4-FFF2-40B4-BE49-F238E27FC236}">
                <a16:creationId xmlns:a16="http://schemas.microsoft.com/office/drawing/2014/main" id="{4E6CB91A-091F-43C1-841A-8C6999B9EF7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53" y="370766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68" name="Freeform 101">
            <a:extLst>
              <a:ext uri="{FF2B5EF4-FFF2-40B4-BE49-F238E27FC236}">
                <a16:creationId xmlns:a16="http://schemas.microsoft.com/office/drawing/2014/main" id="{BFFEEDD4-40F0-4FB2-B4CD-E3196BE761E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49" y="4366352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69" name="Freeform 101">
            <a:extLst>
              <a:ext uri="{FF2B5EF4-FFF2-40B4-BE49-F238E27FC236}">
                <a16:creationId xmlns:a16="http://schemas.microsoft.com/office/drawing/2014/main" id="{20C92A6A-E560-469C-9181-736D4C3CE36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50" y="5025044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C8BD539-CDD7-4198-A4B3-BCC62368D408}"/>
              </a:ext>
            </a:extLst>
          </p:cNvPr>
          <p:cNvSpPr/>
          <p:nvPr/>
        </p:nvSpPr>
        <p:spPr bwMode="gray">
          <a:xfrm>
            <a:off x="5403733" y="4369580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AB389380-CCB9-4803-B756-3F9CCC509DC6}"/>
              </a:ext>
            </a:extLst>
          </p:cNvPr>
          <p:cNvSpPr/>
          <p:nvPr/>
        </p:nvSpPr>
        <p:spPr bwMode="gray">
          <a:xfrm>
            <a:off x="5403733" y="5024168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738B7C85-7962-4C95-92E3-51EC26037F46}"/>
              </a:ext>
            </a:extLst>
          </p:cNvPr>
          <p:cNvSpPr/>
          <p:nvPr/>
        </p:nvSpPr>
        <p:spPr bwMode="gray">
          <a:xfrm>
            <a:off x="5403733" y="3714544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3" name="Freeform 101">
            <a:extLst>
              <a:ext uri="{FF2B5EF4-FFF2-40B4-BE49-F238E27FC236}">
                <a16:creationId xmlns:a16="http://schemas.microsoft.com/office/drawing/2014/main" id="{FB09BE80-15AE-437B-98F4-8C201499C1D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61" y="3715379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4" name="Freeform 101">
            <a:extLst>
              <a:ext uri="{FF2B5EF4-FFF2-40B4-BE49-F238E27FC236}">
                <a16:creationId xmlns:a16="http://schemas.microsoft.com/office/drawing/2014/main" id="{8A660D8D-FF3D-4632-A53E-521FEC6BD9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59" y="437407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5" name="Freeform 101">
            <a:extLst>
              <a:ext uri="{FF2B5EF4-FFF2-40B4-BE49-F238E27FC236}">
                <a16:creationId xmlns:a16="http://schemas.microsoft.com/office/drawing/2014/main" id="{EDCF27F8-13ED-4BB6-9A74-AD64791E5FE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60" y="5032762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9FB51DA9-193A-4D48-89EB-881D9586EA5E}"/>
              </a:ext>
            </a:extLst>
          </p:cNvPr>
          <p:cNvSpPr/>
          <p:nvPr/>
        </p:nvSpPr>
        <p:spPr bwMode="gray">
          <a:xfrm>
            <a:off x="6477845" y="4377299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04978497-E989-480A-8D62-35713DF512C8}"/>
              </a:ext>
            </a:extLst>
          </p:cNvPr>
          <p:cNvSpPr/>
          <p:nvPr/>
        </p:nvSpPr>
        <p:spPr bwMode="gray">
          <a:xfrm>
            <a:off x="6477845" y="5031888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8706C92A-18E1-4C76-BE22-910F3F64DD27}"/>
              </a:ext>
            </a:extLst>
          </p:cNvPr>
          <p:cNvSpPr/>
          <p:nvPr/>
        </p:nvSpPr>
        <p:spPr bwMode="gray">
          <a:xfrm>
            <a:off x="6477845" y="3722263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9" name="Freeform 101">
            <a:extLst>
              <a:ext uri="{FF2B5EF4-FFF2-40B4-BE49-F238E27FC236}">
                <a16:creationId xmlns:a16="http://schemas.microsoft.com/office/drawing/2014/main" id="{8ED4E401-BC31-4D71-A97F-AF3F1AFA4A7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4" y="3723098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0" name="Freeform 101">
            <a:extLst>
              <a:ext uri="{FF2B5EF4-FFF2-40B4-BE49-F238E27FC236}">
                <a16:creationId xmlns:a16="http://schemas.microsoft.com/office/drawing/2014/main" id="{B9B47092-EDB3-4FA5-8930-B18A2CD046F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0" y="438179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1" name="Freeform 101">
            <a:extLst>
              <a:ext uri="{FF2B5EF4-FFF2-40B4-BE49-F238E27FC236}">
                <a16:creationId xmlns:a16="http://schemas.microsoft.com/office/drawing/2014/main" id="{3C9F7D75-F870-42A6-BD96-7CBA0D17623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2" y="5040481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3442515F-87E7-403E-999B-150B9097ECCB}"/>
              </a:ext>
            </a:extLst>
          </p:cNvPr>
          <p:cNvSpPr/>
          <p:nvPr/>
        </p:nvSpPr>
        <p:spPr bwMode="gray">
          <a:xfrm>
            <a:off x="7527548" y="4377297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9F28B93E-D184-4385-93CA-042CDC702FD4}"/>
              </a:ext>
            </a:extLst>
          </p:cNvPr>
          <p:cNvSpPr/>
          <p:nvPr/>
        </p:nvSpPr>
        <p:spPr bwMode="gray">
          <a:xfrm>
            <a:off x="7527548" y="5031886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071520CD-037B-47A8-82A0-0CB8BDC4E1C3}"/>
              </a:ext>
            </a:extLst>
          </p:cNvPr>
          <p:cNvSpPr/>
          <p:nvPr/>
        </p:nvSpPr>
        <p:spPr bwMode="gray">
          <a:xfrm>
            <a:off x="7527548" y="3722261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5" name="Freeform 101">
            <a:extLst>
              <a:ext uri="{FF2B5EF4-FFF2-40B4-BE49-F238E27FC236}">
                <a16:creationId xmlns:a16="http://schemas.microsoft.com/office/drawing/2014/main" id="{D36B0261-6690-4E04-B643-B3E6FE4DCA9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6" y="3723096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6" name="Freeform 101">
            <a:extLst>
              <a:ext uri="{FF2B5EF4-FFF2-40B4-BE49-F238E27FC236}">
                <a16:creationId xmlns:a16="http://schemas.microsoft.com/office/drawing/2014/main" id="{D0D7EF3D-5281-4FB2-A05D-2972221FCCE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4" y="4381788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7" name="Freeform 101">
            <a:extLst>
              <a:ext uri="{FF2B5EF4-FFF2-40B4-BE49-F238E27FC236}">
                <a16:creationId xmlns:a16="http://schemas.microsoft.com/office/drawing/2014/main" id="{497F15C5-C4E6-42E4-9A43-A79848E36DF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5" y="504048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DFA418BC-925C-4514-BA0A-D14676573EC3}"/>
              </a:ext>
            </a:extLst>
          </p:cNvPr>
          <p:cNvSpPr txBox="1"/>
          <p:nvPr/>
        </p:nvSpPr>
        <p:spPr>
          <a:xfrm>
            <a:off x="4467303" y="3699100"/>
            <a:ext cx="446116" cy="323165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Master Node 1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7E3E8AEC-55C0-4F4C-8BC9-B8E1F6C86F18}"/>
              </a:ext>
            </a:extLst>
          </p:cNvPr>
          <p:cNvSpPr txBox="1"/>
          <p:nvPr/>
        </p:nvSpPr>
        <p:spPr>
          <a:xfrm>
            <a:off x="4423682" y="4339915"/>
            <a:ext cx="610290" cy="361637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Master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 Node 2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0863F557-8CB1-452D-8DA9-5A21FF0D2D2E}"/>
              </a:ext>
            </a:extLst>
          </p:cNvPr>
          <p:cNvSpPr txBox="1"/>
          <p:nvPr/>
        </p:nvSpPr>
        <p:spPr>
          <a:xfrm>
            <a:off x="4387780" y="5011045"/>
            <a:ext cx="610290" cy="361637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Edge 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 1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09DF7505-DDF9-4505-8973-DF80A62354E2}"/>
              </a:ext>
            </a:extLst>
          </p:cNvPr>
          <p:cNvSpPr txBox="1"/>
          <p:nvPr/>
        </p:nvSpPr>
        <p:spPr>
          <a:xfrm>
            <a:off x="5531185" y="3701386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09BEDF8F-9C86-4689-9E23-CD7C581BC7B7}"/>
              </a:ext>
            </a:extLst>
          </p:cNvPr>
          <p:cNvSpPr txBox="1"/>
          <p:nvPr/>
        </p:nvSpPr>
        <p:spPr>
          <a:xfrm>
            <a:off x="5519416" y="4357218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4573577D-A893-478D-AD38-E90390481816}"/>
              </a:ext>
            </a:extLst>
          </p:cNvPr>
          <p:cNvSpPr txBox="1"/>
          <p:nvPr/>
        </p:nvSpPr>
        <p:spPr>
          <a:xfrm>
            <a:off x="5519416" y="5020194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756B494E-F2F0-4049-8995-D9BB76E21809}"/>
              </a:ext>
            </a:extLst>
          </p:cNvPr>
          <p:cNvSpPr txBox="1"/>
          <p:nvPr/>
        </p:nvSpPr>
        <p:spPr>
          <a:xfrm>
            <a:off x="6607506" y="3706827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6AE429A0-2A0D-4972-8CD1-941BD61D0D39}"/>
              </a:ext>
            </a:extLst>
          </p:cNvPr>
          <p:cNvSpPr txBox="1"/>
          <p:nvPr/>
        </p:nvSpPr>
        <p:spPr>
          <a:xfrm>
            <a:off x="6617660" y="4356471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3D5D5C78-30B9-442F-A123-BDA7FB3FA6B3}"/>
              </a:ext>
            </a:extLst>
          </p:cNvPr>
          <p:cNvSpPr txBox="1"/>
          <p:nvPr/>
        </p:nvSpPr>
        <p:spPr>
          <a:xfrm>
            <a:off x="6609458" y="5029783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3184A26A-7AFD-427B-B747-1B47ED054B0E}"/>
              </a:ext>
            </a:extLst>
          </p:cNvPr>
          <p:cNvSpPr txBox="1"/>
          <p:nvPr/>
        </p:nvSpPr>
        <p:spPr>
          <a:xfrm>
            <a:off x="7640937" y="3706824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BC8A95EE-3659-4F0C-ACF3-156F07DA007A}"/>
              </a:ext>
            </a:extLst>
          </p:cNvPr>
          <p:cNvSpPr txBox="1"/>
          <p:nvPr/>
        </p:nvSpPr>
        <p:spPr>
          <a:xfrm>
            <a:off x="7651093" y="4356470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807EA039-197E-4ECE-BBBE-9513E295D3C5}"/>
              </a:ext>
            </a:extLst>
          </p:cNvPr>
          <p:cNvSpPr txBox="1"/>
          <p:nvPr/>
        </p:nvSpPr>
        <p:spPr>
          <a:xfrm>
            <a:off x="7642891" y="5029782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E41907BB-11EE-4D6A-B26D-46C7B19474EA}"/>
              </a:ext>
            </a:extLst>
          </p:cNvPr>
          <p:cNvSpPr/>
          <p:nvPr/>
        </p:nvSpPr>
        <p:spPr bwMode="gray">
          <a:xfrm>
            <a:off x="5203018" y="3667711"/>
            <a:ext cx="3033953" cy="460129"/>
          </a:xfrm>
          <a:prstGeom prst="rect">
            <a:avLst/>
          </a:prstGeom>
          <a:noFill/>
          <a:ln w="19050" algn="ctr">
            <a:solidFill>
              <a:srgbClr val="0070C0"/>
            </a:solidFill>
            <a:prstDash val="dash"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9FF84A8-08CA-4908-AF82-4D43E262F53D}"/>
              </a:ext>
            </a:extLst>
          </p:cNvPr>
          <p:cNvSpPr/>
          <p:nvPr/>
        </p:nvSpPr>
        <p:spPr>
          <a:xfrm>
            <a:off x="3841756" y="3426839"/>
            <a:ext cx="4625266" cy="221065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60E14BC9-FC67-484F-9D02-4F930B6891E9}"/>
              </a:ext>
            </a:extLst>
          </p:cNvPr>
          <p:cNvSpPr txBox="1"/>
          <p:nvPr/>
        </p:nvSpPr>
        <p:spPr>
          <a:xfrm>
            <a:off x="5076731" y="2971365"/>
            <a:ext cx="207308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Hadoop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Master = 4, Worker = 297, Edge = 4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D777B3ED-EB21-4BE6-9324-A967A5537EA9}"/>
              </a:ext>
            </a:extLst>
          </p:cNvPr>
          <p:cNvSpPr txBox="1"/>
          <p:nvPr/>
        </p:nvSpPr>
        <p:spPr>
          <a:xfrm>
            <a:off x="1747788" y="2933681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Kafka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Zookeeper = 3, Broker = 6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6E746F5-71CF-4D83-860A-780206A2F40F}"/>
              </a:ext>
            </a:extLst>
          </p:cNvPr>
          <p:cNvSpPr txBox="1"/>
          <p:nvPr/>
        </p:nvSpPr>
        <p:spPr>
          <a:xfrm>
            <a:off x="201136" y="2942487"/>
            <a:ext cx="146285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Flume Internal Agents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Flume Agent = 2</a:t>
            </a:r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BE6FBD7E-3018-407A-A841-599D28120ED8}"/>
              </a:ext>
            </a:extLst>
          </p:cNvPr>
          <p:cNvGrpSpPr/>
          <p:nvPr/>
        </p:nvGrpSpPr>
        <p:grpSpPr>
          <a:xfrm>
            <a:off x="2642027" y="5035584"/>
            <a:ext cx="816435" cy="410705"/>
            <a:chOff x="8269519" y="2198336"/>
            <a:chExt cx="816435" cy="373368"/>
          </a:xfrm>
        </p:grpSpPr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FBFC15D7-AA38-43CA-99DC-17BFFDF76617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17" name="Freeform 101">
              <a:extLst>
                <a:ext uri="{FF2B5EF4-FFF2-40B4-BE49-F238E27FC236}">
                  <a16:creationId xmlns:a16="http://schemas.microsoft.com/office/drawing/2014/main" id="{4D13B530-C4FF-43A0-A04D-8312B525468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33AD5625-6068-4F10-9A1D-1A4F61B0D6FB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AD45C16D-FD2F-453B-93B5-5558F1E2852B}"/>
              </a:ext>
            </a:extLst>
          </p:cNvPr>
          <p:cNvGrpSpPr/>
          <p:nvPr/>
        </p:nvGrpSpPr>
        <p:grpSpPr>
          <a:xfrm>
            <a:off x="2644087" y="4339088"/>
            <a:ext cx="816435" cy="410705"/>
            <a:chOff x="8269519" y="2198336"/>
            <a:chExt cx="816435" cy="373368"/>
          </a:xfrm>
        </p:grpSpPr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FD34534B-CF3C-4394-8E3C-E97153206F4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21" name="Freeform 101">
              <a:extLst>
                <a:ext uri="{FF2B5EF4-FFF2-40B4-BE49-F238E27FC236}">
                  <a16:creationId xmlns:a16="http://schemas.microsoft.com/office/drawing/2014/main" id="{9947FA8C-61F9-4F5C-AEBF-03837F27692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69D2B374-0C85-4312-A341-ED8BFCD5EF5D}"/>
                </a:ext>
              </a:extLst>
            </p:cNvPr>
            <p:cNvSpPr txBox="1"/>
            <p:nvPr/>
          </p:nvSpPr>
          <p:spPr>
            <a:xfrm>
              <a:off x="8557038" y="2256580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9AD97A33-636A-40F8-AFFE-C6A7E0D0E87E}"/>
              </a:ext>
            </a:extLst>
          </p:cNvPr>
          <p:cNvGrpSpPr/>
          <p:nvPr/>
        </p:nvGrpSpPr>
        <p:grpSpPr>
          <a:xfrm>
            <a:off x="2637406" y="3627676"/>
            <a:ext cx="816435" cy="410705"/>
            <a:chOff x="8269519" y="2198336"/>
            <a:chExt cx="816435" cy="373368"/>
          </a:xfrm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B6F10014-63D0-44F0-9E6F-F2DE0616EE4D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25" name="Freeform 101">
              <a:extLst>
                <a:ext uri="{FF2B5EF4-FFF2-40B4-BE49-F238E27FC236}">
                  <a16:creationId xmlns:a16="http://schemas.microsoft.com/office/drawing/2014/main" id="{2A63B22E-C7AA-4BB6-B7D5-51F857698FB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99AAAA11-4899-4B85-860A-EC3337E768C8}"/>
                </a:ext>
              </a:extLst>
            </p:cNvPr>
            <p:cNvSpPr txBox="1"/>
            <p:nvPr/>
          </p:nvSpPr>
          <p:spPr>
            <a:xfrm>
              <a:off x="8572571" y="2242453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7E594B1-0574-4D39-A050-F48EFFF80D3A}"/>
              </a:ext>
            </a:extLst>
          </p:cNvPr>
          <p:cNvSpPr/>
          <p:nvPr/>
        </p:nvSpPr>
        <p:spPr>
          <a:xfrm>
            <a:off x="1586862" y="3427950"/>
            <a:ext cx="2086039" cy="220954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F0DDC94F-02E3-4C93-825E-6F1C8637054D}"/>
              </a:ext>
            </a:extLst>
          </p:cNvPr>
          <p:cNvGrpSpPr/>
          <p:nvPr/>
        </p:nvGrpSpPr>
        <p:grpSpPr>
          <a:xfrm>
            <a:off x="1742507" y="4343691"/>
            <a:ext cx="816435" cy="373368"/>
            <a:chOff x="8269519" y="2198336"/>
            <a:chExt cx="816435" cy="373368"/>
          </a:xfrm>
        </p:grpSpPr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53687AF2-9762-4168-835B-4675CCCE783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0" name="Freeform 101">
              <a:extLst>
                <a:ext uri="{FF2B5EF4-FFF2-40B4-BE49-F238E27FC236}">
                  <a16:creationId xmlns:a16="http://schemas.microsoft.com/office/drawing/2014/main" id="{53041A97-C6FC-498B-9F9F-6A094383518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FF8F4BA4-4D10-4D91-9A28-218197A456D1}"/>
                </a:ext>
              </a:extLst>
            </p:cNvPr>
            <p:cNvSpPr txBox="1"/>
            <p:nvPr/>
          </p:nvSpPr>
          <p:spPr>
            <a:xfrm>
              <a:off x="8546909" y="2250594"/>
              <a:ext cx="533928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27D56F9C-8AF0-45E6-AD5B-53AB0C604290}"/>
              </a:ext>
            </a:extLst>
          </p:cNvPr>
          <p:cNvGrpSpPr/>
          <p:nvPr/>
        </p:nvGrpSpPr>
        <p:grpSpPr>
          <a:xfrm>
            <a:off x="1763896" y="5008735"/>
            <a:ext cx="835300" cy="373368"/>
            <a:chOff x="8269519" y="2198336"/>
            <a:chExt cx="835300" cy="373368"/>
          </a:xfrm>
        </p:grpSpPr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93CC8AFE-3862-49B9-B8BE-46294F19ADC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4" name="Freeform 101">
              <a:extLst>
                <a:ext uri="{FF2B5EF4-FFF2-40B4-BE49-F238E27FC236}">
                  <a16:creationId xmlns:a16="http://schemas.microsoft.com/office/drawing/2014/main" id="{31EBE097-69DF-49E9-97BE-8F35CFD4774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7B2C11AC-E7EA-4453-94DF-4921D49B4688}"/>
                </a:ext>
              </a:extLst>
            </p:cNvPr>
            <p:cNvSpPr txBox="1"/>
            <p:nvPr/>
          </p:nvSpPr>
          <p:spPr>
            <a:xfrm>
              <a:off x="8547049" y="2284520"/>
              <a:ext cx="557770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2962719E-A446-4781-97CA-112C57FEEA68}"/>
              </a:ext>
            </a:extLst>
          </p:cNvPr>
          <p:cNvGrpSpPr/>
          <p:nvPr/>
        </p:nvGrpSpPr>
        <p:grpSpPr>
          <a:xfrm>
            <a:off x="1750874" y="3641064"/>
            <a:ext cx="831606" cy="373368"/>
            <a:chOff x="8269519" y="2198336"/>
            <a:chExt cx="831606" cy="373368"/>
          </a:xfrm>
        </p:grpSpPr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D249AE95-EC62-4502-8C1D-10B14462DCB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8" name="Freeform 101">
              <a:extLst>
                <a:ext uri="{FF2B5EF4-FFF2-40B4-BE49-F238E27FC236}">
                  <a16:creationId xmlns:a16="http://schemas.microsoft.com/office/drawing/2014/main" id="{9E159523-186E-47BC-9D31-0A6F7CF4EB0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9836A08A-FB05-49BF-A656-ADF010064859}"/>
                </a:ext>
              </a:extLst>
            </p:cNvPr>
            <p:cNvSpPr txBox="1"/>
            <p:nvPr/>
          </p:nvSpPr>
          <p:spPr>
            <a:xfrm>
              <a:off x="8556812" y="2239560"/>
              <a:ext cx="544313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sp>
        <p:nvSpPr>
          <p:cNvPr id="340" name="Rectangle 339">
            <a:extLst>
              <a:ext uri="{FF2B5EF4-FFF2-40B4-BE49-F238E27FC236}">
                <a16:creationId xmlns:a16="http://schemas.microsoft.com/office/drawing/2014/main" id="{E7F9718B-A5B3-4740-B28E-3572F92D5B1C}"/>
              </a:ext>
            </a:extLst>
          </p:cNvPr>
          <p:cNvSpPr/>
          <p:nvPr/>
        </p:nvSpPr>
        <p:spPr>
          <a:xfrm>
            <a:off x="306146" y="3426224"/>
            <a:ext cx="1081043" cy="22194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F304957B-C2E0-4207-98DD-01AE6B686D69}"/>
              </a:ext>
            </a:extLst>
          </p:cNvPr>
          <p:cNvGrpSpPr/>
          <p:nvPr/>
        </p:nvGrpSpPr>
        <p:grpSpPr>
          <a:xfrm>
            <a:off x="488818" y="3911996"/>
            <a:ext cx="816435" cy="410705"/>
            <a:chOff x="8269519" y="2198336"/>
            <a:chExt cx="816435" cy="373368"/>
          </a:xfrm>
        </p:grpSpPr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A094841A-627E-46F3-AEE4-FB157C911B44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43" name="Freeform 101">
              <a:extLst>
                <a:ext uri="{FF2B5EF4-FFF2-40B4-BE49-F238E27FC236}">
                  <a16:creationId xmlns:a16="http://schemas.microsoft.com/office/drawing/2014/main" id="{D8E45C68-AF06-437A-8339-245B8613396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4D3E8A68-7341-4B45-8FF2-C04259A3B4BD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Flume Agent 1</a:t>
              </a: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7F8C0E53-CD03-433B-BCD1-F565824AD3FB}"/>
              </a:ext>
            </a:extLst>
          </p:cNvPr>
          <p:cNvGrpSpPr/>
          <p:nvPr/>
        </p:nvGrpSpPr>
        <p:grpSpPr>
          <a:xfrm>
            <a:off x="461579" y="4624661"/>
            <a:ext cx="816435" cy="410705"/>
            <a:chOff x="8269519" y="2198336"/>
            <a:chExt cx="816435" cy="373368"/>
          </a:xfrm>
        </p:grpSpPr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216C51EA-9915-4A8D-8F21-5F3CC5A2BB85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47" name="Freeform 101">
              <a:extLst>
                <a:ext uri="{FF2B5EF4-FFF2-40B4-BE49-F238E27FC236}">
                  <a16:creationId xmlns:a16="http://schemas.microsoft.com/office/drawing/2014/main" id="{E0471C04-9F67-4671-8E78-9EED7DCDEB3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AA36EA07-7B23-44C9-8E33-212868F21FB1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Flume Agent 2</a:t>
              </a:r>
            </a:p>
          </p:txBody>
        </p:sp>
      </p:grp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93E874CE-A2EB-425C-8222-35D84452CF2A}"/>
              </a:ext>
            </a:extLst>
          </p:cNvPr>
          <p:cNvCxnSpPr>
            <a:stCxn id="327" idx="3"/>
            <a:endCxn id="301" idx="1"/>
          </p:cNvCxnSpPr>
          <p:nvPr/>
        </p:nvCxnSpPr>
        <p:spPr>
          <a:xfrm flipV="1">
            <a:off x="3672901" y="4532168"/>
            <a:ext cx="168855" cy="5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B3725258-0521-4112-9897-7B573E506417}"/>
              </a:ext>
            </a:extLst>
          </p:cNvPr>
          <p:cNvCxnSpPr>
            <a:stCxn id="340" idx="3"/>
            <a:endCxn id="327" idx="1"/>
          </p:cNvCxnSpPr>
          <p:nvPr/>
        </p:nvCxnSpPr>
        <p:spPr>
          <a:xfrm flipV="1">
            <a:off x="1387189" y="4532723"/>
            <a:ext cx="199673" cy="32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377841B9-1D4B-4A66-8FF1-062EC1FBE10D}"/>
              </a:ext>
            </a:extLst>
          </p:cNvPr>
          <p:cNvSpPr txBox="1"/>
          <p:nvPr/>
        </p:nvSpPr>
        <p:spPr>
          <a:xfrm>
            <a:off x="9398759" y="2781902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INTERNAL LAN</a:t>
            </a:r>
          </a:p>
        </p:txBody>
      </p:sp>
      <p:cxnSp>
        <p:nvCxnSpPr>
          <p:cNvPr id="352" name="Elbow Connector 4">
            <a:extLst>
              <a:ext uri="{FF2B5EF4-FFF2-40B4-BE49-F238E27FC236}">
                <a16:creationId xmlns:a16="http://schemas.microsoft.com/office/drawing/2014/main" id="{7A459B1C-A882-466F-913D-4613D029EB74}"/>
              </a:ext>
            </a:extLst>
          </p:cNvPr>
          <p:cNvCxnSpPr/>
          <p:nvPr/>
        </p:nvCxnSpPr>
        <p:spPr>
          <a:xfrm rot="5400000">
            <a:off x="2371322" y="2744455"/>
            <a:ext cx="1198793" cy="15615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352">
            <a:extLst>
              <a:ext uri="{FF2B5EF4-FFF2-40B4-BE49-F238E27FC236}">
                <a16:creationId xmlns:a16="http://schemas.microsoft.com/office/drawing/2014/main" id="{4982145F-EDC7-43E2-878E-D51763CFE68B}"/>
              </a:ext>
            </a:extLst>
          </p:cNvPr>
          <p:cNvSpPr txBox="1"/>
          <p:nvPr/>
        </p:nvSpPr>
        <p:spPr>
          <a:xfrm>
            <a:off x="2924590" y="1311888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3C2A4E98-3126-42FC-BF92-00D8B4051342}"/>
              </a:ext>
            </a:extLst>
          </p:cNvPr>
          <p:cNvSpPr txBox="1"/>
          <p:nvPr/>
        </p:nvSpPr>
        <p:spPr>
          <a:xfrm>
            <a:off x="3136219" y="2227261"/>
            <a:ext cx="16440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REST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4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EBC6C54A-F3D0-4E91-BF1B-1EDCFCA2D357}"/>
              </a:ext>
            </a:extLst>
          </p:cNvPr>
          <p:cNvSpPr/>
          <p:nvPr/>
        </p:nvSpPr>
        <p:spPr>
          <a:xfrm>
            <a:off x="2636670" y="1591343"/>
            <a:ext cx="8158578" cy="1037545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7791696D-1316-4459-ACF0-0F5A5E06A7D4}"/>
              </a:ext>
            </a:extLst>
          </p:cNvPr>
          <p:cNvSpPr txBox="1"/>
          <p:nvPr/>
        </p:nvSpPr>
        <p:spPr>
          <a:xfrm>
            <a:off x="8214551" y="2389953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DMZ</a:t>
            </a:r>
          </a:p>
        </p:txBody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C331D60D-3462-4116-8EA1-7104242A6AC9}"/>
              </a:ext>
            </a:extLst>
          </p:cNvPr>
          <p:cNvGrpSpPr/>
          <p:nvPr/>
        </p:nvGrpSpPr>
        <p:grpSpPr>
          <a:xfrm>
            <a:off x="2993509" y="1779346"/>
            <a:ext cx="816435" cy="410705"/>
            <a:chOff x="8269519" y="2198336"/>
            <a:chExt cx="816435" cy="373368"/>
          </a:xfrm>
        </p:grpSpPr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9E54808D-D24B-41AB-A223-CD8E5DF56BE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68" name="Freeform 101">
              <a:extLst>
                <a:ext uri="{FF2B5EF4-FFF2-40B4-BE49-F238E27FC236}">
                  <a16:creationId xmlns:a16="http://schemas.microsoft.com/office/drawing/2014/main" id="{E5B31026-DA75-48E8-8A4D-C321717F948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81289FC6-3164-4AE7-A3AD-36C3DE504805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61327FCB-FFC2-4AAB-81E1-BBB8F9B3B60B}"/>
              </a:ext>
            </a:extLst>
          </p:cNvPr>
          <p:cNvGrpSpPr/>
          <p:nvPr/>
        </p:nvGrpSpPr>
        <p:grpSpPr>
          <a:xfrm>
            <a:off x="3928820" y="1793805"/>
            <a:ext cx="816435" cy="410705"/>
            <a:chOff x="8269519" y="2198336"/>
            <a:chExt cx="816435" cy="373368"/>
          </a:xfrm>
        </p:grpSpPr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E2C34BFC-02F3-47B7-96AD-307F90E4326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72" name="Freeform 101">
              <a:extLst>
                <a:ext uri="{FF2B5EF4-FFF2-40B4-BE49-F238E27FC236}">
                  <a16:creationId xmlns:a16="http://schemas.microsoft.com/office/drawing/2014/main" id="{0990441D-A3D4-44FE-9DF4-CD784E48B15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3A4AD35D-E64A-4957-A01D-C5DB5581B6F7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374" name="Rectangle 373">
            <a:extLst>
              <a:ext uri="{FF2B5EF4-FFF2-40B4-BE49-F238E27FC236}">
                <a16:creationId xmlns:a16="http://schemas.microsoft.com/office/drawing/2014/main" id="{B8F6BDCB-754A-44D1-951F-7414D3A6B5D3}"/>
              </a:ext>
            </a:extLst>
          </p:cNvPr>
          <p:cNvSpPr/>
          <p:nvPr/>
        </p:nvSpPr>
        <p:spPr>
          <a:xfrm>
            <a:off x="2882469" y="1697227"/>
            <a:ext cx="1996101" cy="5313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1D30FA6F-BEFF-49D2-A5BF-43A985844D59}"/>
              </a:ext>
            </a:extLst>
          </p:cNvPr>
          <p:cNvSpPr txBox="1"/>
          <p:nvPr/>
        </p:nvSpPr>
        <p:spPr>
          <a:xfrm>
            <a:off x="2915714" y="1356275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06436CB0-3289-4B01-B35E-2E7D59169280}"/>
              </a:ext>
            </a:extLst>
          </p:cNvPr>
          <p:cNvSpPr txBox="1"/>
          <p:nvPr/>
        </p:nvSpPr>
        <p:spPr>
          <a:xfrm>
            <a:off x="5709826" y="2212443"/>
            <a:ext cx="16440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Kafka External Adapters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Zookeeper = 3, Broker = 4</a:t>
            </a:r>
          </a:p>
        </p:txBody>
      </p: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9E6E387F-827E-4A22-9AF4-4DE5747940F2}"/>
              </a:ext>
            </a:extLst>
          </p:cNvPr>
          <p:cNvGrpSpPr/>
          <p:nvPr/>
        </p:nvGrpSpPr>
        <p:grpSpPr>
          <a:xfrm>
            <a:off x="5195122" y="1755019"/>
            <a:ext cx="816435" cy="410705"/>
            <a:chOff x="8269519" y="2198336"/>
            <a:chExt cx="816435" cy="373368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EF79C26C-C46F-445E-A733-177463422181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0" name="Freeform 101">
              <a:extLst>
                <a:ext uri="{FF2B5EF4-FFF2-40B4-BE49-F238E27FC236}">
                  <a16:creationId xmlns:a16="http://schemas.microsoft.com/office/drawing/2014/main" id="{F67F96E0-2364-4FCD-9194-B51FC3006DD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B3F20B44-39BC-4F87-A6F3-4042BB74EF51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1</a:t>
              </a:r>
            </a:p>
          </p:txBody>
        </p:sp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52FF63BB-9463-47FA-BE25-F6DF668ECA16}"/>
              </a:ext>
            </a:extLst>
          </p:cNvPr>
          <p:cNvGrpSpPr/>
          <p:nvPr/>
        </p:nvGrpSpPr>
        <p:grpSpPr>
          <a:xfrm>
            <a:off x="6068277" y="1760702"/>
            <a:ext cx="816435" cy="410705"/>
            <a:chOff x="8269519" y="2198336"/>
            <a:chExt cx="816435" cy="373368"/>
          </a:xfrm>
        </p:grpSpPr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A3B62382-0FC4-472C-BB54-60D5145961F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4" name="Freeform 101">
              <a:extLst>
                <a:ext uri="{FF2B5EF4-FFF2-40B4-BE49-F238E27FC236}">
                  <a16:creationId xmlns:a16="http://schemas.microsoft.com/office/drawing/2014/main" id="{E5EE94A6-6308-42F1-A91A-535C9B01EB2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44C7A5E-4CD6-4E79-9C58-4411AD597E39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2</a:t>
              </a:r>
            </a:p>
          </p:txBody>
        </p:sp>
      </p:grp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DB851A7-73AD-4145-BEC2-6C28883AE5E5}"/>
              </a:ext>
            </a:extLst>
          </p:cNvPr>
          <p:cNvSpPr/>
          <p:nvPr/>
        </p:nvSpPr>
        <p:spPr>
          <a:xfrm>
            <a:off x="5121423" y="1691802"/>
            <a:ext cx="2674898" cy="5313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4B5220AA-9C87-45A3-B050-6D5A45911708}"/>
              </a:ext>
            </a:extLst>
          </p:cNvPr>
          <p:cNvGrpSpPr/>
          <p:nvPr/>
        </p:nvGrpSpPr>
        <p:grpSpPr>
          <a:xfrm>
            <a:off x="6892462" y="1776138"/>
            <a:ext cx="816435" cy="410705"/>
            <a:chOff x="8269519" y="2198336"/>
            <a:chExt cx="816435" cy="373368"/>
          </a:xfrm>
        </p:grpSpPr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76486F74-E52D-4D3E-BC32-CDA61E511C6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9" name="Freeform 101">
              <a:extLst>
                <a:ext uri="{FF2B5EF4-FFF2-40B4-BE49-F238E27FC236}">
                  <a16:creationId xmlns:a16="http://schemas.microsoft.com/office/drawing/2014/main" id="{65D6E96A-ADC6-4005-ABA6-58970FFDFB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83A6401F-99E8-429E-83AA-D37AC2AD7F9A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3</a:t>
              </a:r>
            </a:p>
          </p:txBody>
        </p:sp>
      </p:grpSp>
      <p:sp>
        <p:nvSpPr>
          <p:cNvPr id="391" name="Rectangle 390">
            <a:extLst>
              <a:ext uri="{FF2B5EF4-FFF2-40B4-BE49-F238E27FC236}">
                <a16:creationId xmlns:a16="http://schemas.microsoft.com/office/drawing/2014/main" id="{3C29D268-A105-4488-BC3B-50900120F25F}"/>
              </a:ext>
            </a:extLst>
          </p:cNvPr>
          <p:cNvSpPr/>
          <p:nvPr/>
        </p:nvSpPr>
        <p:spPr>
          <a:xfrm>
            <a:off x="4790497" y="1138030"/>
            <a:ext cx="2958061" cy="1864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Load Balancers</a:t>
            </a:r>
          </a:p>
        </p:txBody>
      </p:sp>
      <p:cxnSp>
        <p:nvCxnSpPr>
          <p:cNvPr id="392" name="Elbow Connector 270">
            <a:extLst>
              <a:ext uri="{FF2B5EF4-FFF2-40B4-BE49-F238E27FC236}">
                <a16:creationId xmlns:a16="http://schemas.microsoft.com/office/drawing/2014/main" id="{39CBDF18-C79B-4549-9634-01A69FB5FBE2}"/>
              </a:ext>
            </a:extLst>
          </p:cNvPr>
          <p:cNvCxnSpPr>
            <a:cxnSpLocks/>
          </p:cNvCxnSpPr>
          <p:nvPr/>
        </p:nvCxnSpPr>
        <p:spPr>
          <a:xfrm rot="5400000">
            <a:off x="6115530" y="1556942"/>
            <a:ext cx="186907" cy="1091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Elbow Connector 271">
            <a:extLst>
              <a:ext uri="{FF2B5EF4-FFF2-40B4-BE49-F238E27FC236}">
                <a16:creationId xmlns:a16="http://schemas.microsoft.com/office/drawing/2014/main" id="{56E24CEB-3D79-4693-AE97-589586408AF5}"/>
              </a:ext>
            </a:extLst>
          </p:cNvPr>
          <p:cNvCxnSpPr/>
          <p:nvPr/>
        </p:nvCxnSpPr>
        <p:spPr>
          <a:xfrm rot="5400000">
            <a:off x="4875326" y="329655"/>
            <a:ext cx="399397" cy="23890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Rectangle 393">
            <a:extLst>
              <a:ext uri="{FF2B5EF4-FFF2-40B4-BE49-F238E27FC236}">
                <a16:creationId xmlns:a16="http://schemas.microsoft.com/office/drawing/2014/main" id="{8A082E13-A040-4990-9343-463AF0DDFBCC}"/>
              </a:ext>
            </a:extLst>
          </p:cNvPr>
          <p:cNvSpPr/>
          <p:nvPr/>
        </p:nvSpPr>
        <p:spPr>
          <a:xfrm>
            <a:off x="167858" y="2849730"/>
            <a:ext cx="11832060" cy="297401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5" name="Elbow Connector 28">
            <a:extLst>
              <a:ext uri="{FF2B5EF4-FFF2-40B4-BE49-F238E27FC236}">
                <a16:creationId xmlns:a16="http://schemas.microsoft.com/office/drawing/2014/main" id="{21BFF41C-875C-45F1-9BB8-B95DCB576D71}"/>
              </a:ext>
            </a:extLst>
          </p:cNvPr>
          <p:cNvCxnSpPr/>
          <p:nvPr/>
        </p:nvCxnSpPr>
        <p:spPr>
          <a:xfrm rot="5400000">
            <a:off x="4264425" y="2388741"/>
            <a:ext cx="1192449" cy="8739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C4A0B47-B665-45FE-BC9C-26112863B7D3}"/>
              </a:ext>
            </a:extLst>
          </p:cNvPr>
          <p:cNvSpPr/>
          <p:nvPr/>
        </p:nvSpPr>
        <p:spPr>
          <a:xfrm>
            <a:off x="8689114" y="33714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06F37615-9717-424A-A614-FD885ABA26D7}"/>
              </a:ext>
            </a:extLst>
          </p:cNvPr>
          <p:cNvSpPr/>
          <p:nvPr/>
        </p:nvSpPr>
        <p:spPr>
          <a:xfrm>
            <a:off x="8841514" y="35238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6F326107-8C8A-462D-9872-DEECA2D71917}"/>
              </a:ext>
            </a:extLst>
          </p:cNvPr>
          <p:cNvSpPr/>
          <p:nvPr/>
        </p:nvSpPr>
        <p:spPr>
          <a:xfrm>
            <a:off x="8993914" y="36762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1895E149-C260-40F8-B38D-D328586E1753}"/>
              </a:ext>
            </a:extLst>
          </p:cNvPr>
          <p:cNvSpPr/>
          <p:nvPr/>
        </p:nvSpPr>
        <p:spPr>
          <a:xfrm>
            <a:off x="9146314" y="38286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C1D99EFB-D895-4909-8128-1F498DE43E8F}"/>
              </a:ext>
            </a:extLst>
          </p:cNvPr>
          <p:cNvSpPr/>
          <p:nvPr/>
        </p:nvSpPr>
        <p:spPr>
          <a:xfrm>
            <a:off x="9298714" y="39810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583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2" y="-85238"/>
            <a:ext cx="119911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APPS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BIGD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PROPOSED1+-Horton-Hybrid cloud</a:t>
            </a: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32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4560D-24D6-4FE5-BAA7-FDC7ABF8D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3" y="2687216"/>
            <a:ext cx="10106025" cy="4116312"/>
          </a:xfrm>
          <a:prstGeom prst="rect">
            <a:avLst/>
          </a:prstGeom>
        </p:spPr>
      </p:pic>
      <p:sp>
        <p:nvSpPr>
          <p:cNvPr id="5" name="Flowchart: Delay 4">
            <a:extLst>
              <a:ext uri="{FF2B5EF4-FFF2-40B4-BE49-F238E27FC236}">
                <a16:creationId xmlns:a16="http://schemas.microsoft.com/office/drawing/2014/main" id="{D6918727-32E2-4260-9A27-76E13905E86F}"/>
              </a:ext>
            </a:extLst>
          </p:cNvPr>
          <p:cNvSpPr/>
          <p:nvPr/>
        </p:nvSpPr>
        <p:spPr>
          <a:xfrm rot="5400000">
            <a:off x="489372" y="997598"/>
            <a:ext cx="1477346" cy="162352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Delay 127">
            <a:extLst>
              <a:ext uri="{FF2B5EF4-FFF2-40B4-BE49-F238E27FC236}">
                <a16:creationId xmlns:a16="http://schemas.microsoft.com/office/drawing/2014/main" id="{4BC332E2-3B38-4539-BE6B-4F7E7E01C26C}"/>
              </a:ext>
            </a:extLst>
          </p:cNvPr>
          <p:cNvSpPr/>
          <p:nvPr/>
        </p:nvSpPr>
        <p:spPr>
          <a:xfrm rot="5400000">
            <a:off x="6559424" y="997598"/>
            <a:ext cx="1477346" cy="162352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lowchart: Delay 128">
            <a:extLst>
              <a:ext uri="{FF2B5EF4-FFF2-40B4-BE49-F238E27FC236}">
                <a16:creationId xmlns:a16="http://schemas.microsoft.com/office/drawing/2014/main" id="{AD1BA555-2493-4BC4-A11A-DA8EA5D7AA8D}"/>
              </a:ext>
            </a:extLst>
          </p:cNvPr>
          <p:cNvSpPr/>
          <p:nvPr/>
        </p:nvSpPr>
        <p:spPr>
          <a:xfrm rot="5400000">
            <a:off x="8612159" y="997598"/>
            <a:ext cx="1477346" cy="162352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-Right-Up 6">
            <a:extLst>
              <a:ext uri="{FF2B5EF4-FFF2-40B4-BE49-F238E27FC236}">
                <a16:creationId xmlns:a16="http://schemas.microsoft.com/office/drawing/2014/main" id="{D2CCC5A0-6039-4EE7-A1F3-6CCF620AFD58}"/>
              </a:ext>
            </a:extLst>
          </p:cNvPr>
          <p:cNvSpPr/>
          <p:nvPr/>
        </p:nvSpPr>
        <p:spPr>
          <a:xfrm>
            <a:off x="2218648" y="1474237"/>
            <a:ext cx="4088846" cy="531845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123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13921" y="-97956"/>
            <a:ext cx="119911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APPS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BIGD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PROPOSED1+-Horton-Storage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4560D-24D6-4FE5-BAA7-FDC7ABF8D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3" y="2687216"/>
            <a:ext cx="10106025" cy="4116312"/>
          </a:xfrm>
          <a:prstGeom prst="rect">
            <a:avLst/>
          </a:prstGeom>
        </p:spPr>
      </p:pic>
      <p:sp>
        <p:nvSpPr>
          <p:cNvPr id="5" name="Flowchart: Delay 4">
            <a:extLst>
              <a:ext uri="{FF2B5EF4-FFF2-40B4-BE49-F238E27FC236}">
                <a16:creationId xmlns:a16="http://schemas.microsoft.com/office/drawing/2014/main" id="{D6918727-32E2-4260-9A27-76E13905E86F}"/>
              </a:ext>
            </a:extLst>
          </p:cNvPr>
          <p:cNvSpPr/>
          <p:nvPr/>
        </p:nvSpPr>
        <p:spPr>
          <a:xfrm rot="5400000">
            <a:off x="489372" y="997598"/>
            <a:ext cx="1477346" cy="162352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-Right-Up 6">
            <a:extLst>
              <a:ext uri="{FF2B5EF4-FFF2-40B4-BE49-F238E27FC236}">
                <a16:creationId xmlns:a16="http://schemas.microsoft.com/office/drawing/2014/main" id="{D2CCC5A0-6039-4EE7-A1F3-6CCF620AFD58}"/>
              </a:ext>
            </a:extLst>
          </p:cNvPr>
          <p:cNvSpPr/>
          <p:nvPr/>
        </p:nvSpPr>
        <p:spPr>
          <a:xfrm>
            <a:off x="2218648" y="1474237"/>
            <a:ext cx="4088846" cy="531845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6CA880-3A25-4DB4-BC1E-55B24C844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966" y="534998"/>
            <a:ext cx="2248532" cy="201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824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2" y="-85238"/>
            <a:ext cx="1199112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BIGD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PROPOSED2-DCOS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4560D-24D6-4FE5-BAA7-FDC7ABF8D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3" y="2687216"/>
            <a:ext cx="10106025" cy="4116312"/>
          </a:xfrm>
          <a:prstGeom prst="rect">
            <a:avLst/>
          </a:prstGeom>
        </p:spPr>
      </p:pic>
      <p:sp>
        <p:nvSpPr>
          <p:cNvPr id="7" name="Arrow: Left-Right-Up 6">
            <a:extLst>
              <a:ext uri="{FF2B5EF4-FFF2-40B4-BE49-F238E27FC236}">
                <a16:creationId xmlns:a16="http://schemas.microsoft.com/office/drawing/2014/main" id="{D2CCC5A0-6039-4EE7-A1F3-6CCF620AFD58}"/>
              </a:ext>
            </a:extLst>
          </p:cNvPr>
          <p:cNvSpPr/>
          <p:nvPr/>
        </p:nvSpPr>
        <p:spPr>
          <a:xfrm>
            <a:off x="2218648" y="1474237"/>
            <a:ext cx="4088846" cy="531845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D40064-89A7-44C6-938E-0BEEE3EB2528}"/>
              </a:ext>
            </a:extLst>
          </p:cNvPr>
          <p:cNvGrpSpPr/>
          <p:nvPr/>
        </p:nvGrpSpPr>
        <p:grpSpPr>
          <a:xfrm>
            <a:off x="566148" y="1020952"/>
            <a:ext cx="1623527" cy="1477346"/>
            <a:chOff x="566148" y="1020952"/>
            <a:chExt cx="1623527" cy="1477346"/>
          </a:xfrm>
        </p:grpSpPr>
        <p:sp>
          <p:nvSpPr>
            <p:cNvPr id="5" name="Flowchart: Delay 4">
              <a:extLst>
                <a:ext uri="{FF2B5EF4-FFF2-40B4-BE49-F238E27FC236}">
                  <a16:creationId xmlns:a16="http://schemas.microsoft.com/office/drawing/2014/main" id="{D6918727-32E2-4260-9A27-76E13905E86F}"/>
                </a:ext>
              </a:extLst>
            </p:cNvPr>
            <p:cNvSpPr/>
            <p:nvPr/>
          </p:nvSpPr>
          <p:spPr>
            <a:xfrm rot="5400000">
              <a:off x="639239" y="947861"/>
              <a:ext cx="1477346" cy="1623527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Скругленный прямоугольник 6">
              <a:extLst>
                <a:ext uri="{FF2B5EF4-FFF2-40B4-BE49-F238E27FC236}">
                  <a16:creationId xmlns:a16="http://schemas.microsoft.com/office/drawing/2014/main" id="{41CD77D7-CA75-4ADF-BF4C-591873D37907}"/>
                </a:ext>
              </a:extLst>
            </p:cNvPr>
            <p:cNvSpPr/>
            <p:nvPr/>
          </p:nvSpPr>
          <p:spPr>
            <a:xfrm>
              <a:off x="637810" y="1323005"/>
              <a:ext cx="87076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" name="Прямоугольник 7">
              <a:extLst>
                <a:ext uri="{FF2B5EF4-FFF2-40B4-BE49-F238E27FC236}">
                  <a16:creationId xmlns:a16="http://schemas.microsoft.com/office/drawing/2014/main" id="{9A4C7FF6-580D-4116-A981-249D712662BB}"/>
                </a:ext>
              </a:extLst>
            </p:cNvPr>
            <p:cNvSpPr/>
            <p:nvPr/>
          </p:nvSpPr>
          <p:spPr>
            <a:xfrm>
              <a:off x="737871" y="1312141"/>
              <a:ext cx="699043" cy="3488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TXN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12" name="Скругленный прямоугольник 6">
              <a:extLst>
                <a:ext uri="{FF2B5EF4-FFF2-40B4-BE49-F238E27FC236}">
                  <a16:creationId xmlns:a16="http://schemas.microsoft.com/office/drawing/2014/main" id="{50CF5541-F13E-4C4C-A9E2-5BD45597D375}"/>
                </a:ext>
              </a:extLst>
            </p:cNvPr>
            <p:cNvSpPr/>
            <p:nvPr/>
          </p:nvSpPr>
          <p:spPr>
            <a:xfrm>
              <a:off x="833758" y="1936759"/>
              <a:ext cx="870767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3" name="Прямоугольник 7">
              <a:extLst>
                <a:ext uri="{FF2B5EF4-FFF2-40B4-BE49-F238E27FC236}">
                  <a16:creationId xmlns:a16="http://schemas.microsoft.com/office/drawing/2014/main" id="{60B4BCF5-BC42-466C-9B8E-20F1E7E72DDE}"/>
                </a:ext>
              </a:extLst>
            </p:cNvPr>
            <p:cNvSpPr/>
            <p:nvPr/>
          </p:nvSpPr>
          <p:spPr>
            <a:xfrm>
              <a:off x="737872" y="1927522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BIGD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14" name="Скругленный прямоугольник 6">
              <a:extLst>
                <a:ext uri="{FF2B5EF4-FFF2-40B4-BE49-F238E27FC236}">
                  <a16:creationId xmlns:a16="http://schemas.microsoft.com/office/drawing/2014/main" id="{99F60B09-A378-4718-B77C-C4C9CF3A13BB}"/>
                </a:ext>
              </a:extLst>
            </p:cNvPr>
            <p:cNvSpPr/>
            <p:nvPr/>
          </p:nvSpPr>
          <p:spPr>
            <a:xfrm>
              <a:off x="1021348" y="1062401"/>
              <a:ext cx="106671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5" name="Прямоугольник 7">
              <a:extLst>
                <a:ext uri="{FF2B5EF4-FFF2-40B4-BE49-F238E27FC236}">
                  <a16:creationId xmlns:a16="http://schemas.microsoft.com/office/drawing/2014/main" id="{19010B4C-157B-4249-81B6-07999630DFD0}"/>
                </a:ext>
              </a:extLst>
            </p:cNvPr>
            <p:cNvSpPr/>
            <p:nvPr/>
          </p:nvSpPr>
          <p:spPr>
            <a:xfrm>
              <a:off x="1057790" y="1062010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BATCH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E3219C-F79B-495D-AF7A-9CE5FC39CAE5}"/>
              </a:ext>
            </a:extLst>
          </p:cNvPr>
          <p:cNvGrpSpPr/>
          <p:nvPr/>
        </p:nvGrpSpPr>
        <p:grpSpPr>
          <a:xfrm>
            <a:off x="6522189" y="1062010"/>
            <a:ext cx="1623527" cy="1477346"/>
            <a:chOff x="566148" y="1020952"/>
            <a:chExt cx="1623527" cy="1477346"/>
          </a:xfrm>
        </p:grpSpPr>
        <p:sp>
          <p:nvSpPr>
            <p:cNvPr id="18" name="Flowchart: Delay 17">
              <a:extLst>
                <a:ext uri="{FF2B5EF4-FFF2-40B4-BE49-F238E27FC236}">
                  <a16:creationId xmlns:a16="http://schemas.microsoft.com/office/drawing/2014/main" id="{D66D23D9-AEC5-4E96-BADB-DCECD0D8A820}"/>
                </a:ext>
              </a:extLst>
            </p:cNvPr>
            <p:cNvSpPr/>
            <p:nvPr/>
          </p:nvSpPr>
          <p:spPr>
            <a:xfrm rot="5400000">
              <a:off x="639239" y="947861"/>
              <a:ext cx="1477346" cy="1623527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Скругленный прямоугольник 6">
              <a:extLst>
                <a:ext uri="{FF2B5EF4-FFF2-40B4-BE49-F238E27FC236}">
                  <a16:creationId xmlns:a16="http://schemas.microsoft.com/office/drawing/2014/main" id="{BAF3A0BB-CCD8-48FE-9A19-DD8564B46834}"/>
                </a:ext>
              </a:extLst>
            </p:cNvPr>
            <p:cNvSpPr/>
            <p:nvPr/>
          </p:nvSpPr>
          <p:spPr>
            <a:xfrm>
              <a:off x="637810" y="1323005"/>
              <a:ext cx="87076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0" name="Прямоугольник 7">
              <a:extLst>
                <a:ext uri="{FF2B5EF4-FFF2-40B4-BE49-F238E27FC236}">
                  <a16:creationId xmlns:a16="http://schemas.microsoft.com/office/drawing/2014/main" id="{726229CD-F3B2-4E77-96F6-531220C809CA}"/>
                </a:ext>
              </a:extLst>
            </p:cNvPr>
            <p:cNvSpPr/>
            <p:nvPr/>
          </p:nvSpPr>
          <p:spPr>
            <a:xfrm>
              <a:off x="737871" y="1312141"/>
              <a:ext cx="699043" cy="3488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TXN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21" name="Скругленный прямоугольник 6">
              <a:extLst>
                <a:ext uri="{FF2B5EF4-FFF2-40B4-BE49-F238E27FC236}">
                  <a16:creationId xmlns:a16="http://schemas.microsoft.com/office/drawing/2014/main" id="{FF6F78B3-1727-4889-9485-851DBEE0386B}"/>
                </a:ext>
              </a:extLst>
            </p:cNvPr>
            <p:cNvSpPr/>
            <p:nvPr/>
          </p:nvSpPr>
          <p:spPr>
            <a:xfrm>
              <a:off x="833758" y="1936759"/>
              <a:ext cx="870767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2" name="Прямоугольник 7">
              <a:extLst>
                <a:ext uri="{FF2B5EF4-FFF2-40B4-BE49-F238E27FC236}">
                  <a16:creationId xmlns:a16="http://schemas.microsoft.com/office/drawing/2014/main" id="{A1CD48FC-46AA-4462-8A89-AA9BF6513435}"/>
                </a:ext>
              </a:extLst>
            </p:cNvPr>
            <p:cNvSpPr/>
            <p:nvPr/>
          </p:nvSpPr>
          <p:spPr>
            <a:xfrm>
              <a:off x="737872" y="1927522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BIGD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23" name="Скругленный прямоугольник 6">
              <a:extLst>
                <a:ext uri="{FF2B5EF4-FFF2-40B4-BE49-F238E27FC236}">
                  <a16:creationId xmlns:a16="http://schemas.microsoft.com/office/drawing/2014/main" id="{7BC0B066-A125-4CCF-ADFA-3FE0FA199F47}"/>
                </a:ext>
              </a:extLst>
            </p:cNvPr>
            <p:cNvSpPr/>
            <p:nvPr/>
          </p:nvSpPr>
          <p:spPr>
            <a:xfrm>
              <a:off x="1021348" y="1062401"/>
              <a:ext cx="106671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4" name="Прямоугольник 7">
              <a:extLst>
                <a:ext uri="{FF2B5EF4-FFF2-40B4-BE49-F238E27FC236}">
                  <a16:creationId xmlns:a16="http://schemas.microsoft.com/office/drawing/2014/main" id="{574FAE71-D35D-490D-A42F-2F1B0B88834F}"/>
                </a:ext>
              </a:extLst>
            </p:cNvPr>
            <p:cNvSpPr/>
            <p:nvPr/>
          </p:nvSpPr>
          <p:spPr>
            <a:xfrm>
              <a:off x="1057790" y="1062010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BATCH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D50E65-4FCA-4462-BAE9-3964F4E26AB2}"/>
              </a:ext>
            </a:extLst>
          </p:cNvPr>
          <p:cNvGrpSpPr/>
          <p:nvPr/>
        </p:nvGrpSpPr>
        <p:grpSpPr>
          <a:xfrm>
            <a:off x="8637359" y="1026368"/>
            <a:ext cx="1623527" cy="1477346"/>
            <a:chOff x="566148" y="1020952"/>
            <a:chExt cx="1623527" cy="1477346"/>
          </a:xfrm>
        </p:grpSpPr>
        <p:sp>
          <p:nvSpPr>
            <p:cNvPr id="26" name="Flowchart: Delay 25">
              <a:extLst>
                <a:ext uri="{FF2B5EF4-FFF2-40B4-BE49-F238E27FC236}">
                  <a16:creationId xmlns:a16="http://schemas.microsoft.com/office/drawing/2014/main" id="{382A4E6A-4AC2-4915-99B6-D62FF7460678}"/>
                </a:ext>
              </a:extLst>
            </p:cNvPr>
            <p:cNvSpPr/>
            <p:nvPr/>
          </p:nvSpPr>
          <p:spPr>
            <a:xfrm rot="5400000">
              <a:off x="639239" y="947861"/>
              <a:ext cx="1477346" cy="1623527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Скругленный прямоугольник 6">
              <a:extLst>
                <a:ext uri="{FF2B5EF4-FFF2-40B4-BE49-F238E27FC236}">
                  <a16:creationId xmlns:a16="http://schemas.microsoft.com/office/drawing/2014/main" id="{FD7BF0C0-93F1-45A9-B4BA-97704181C1CE}"/>
                </a:ext>
              </a:extLst>
            </p:cNvPr>
            <p:cNvSpPr/>
            <p:nvPr/>
          </p:nvSpPr>
          <p:spPr>
            <a:xfrm>
              <a:off x="637810" y="1323005"/>
              <a:ext cx="87076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8" name="Прямоугольник 7">
              <a:extLst>
                <a:ext uri="{FF2B5EF4-FFF2-40B4-BE49-F238E27FC236}">
                  <a16:creationId xmlns:a16="http://schemas.microsoft.com/office/drawing/2014/main" id="{ADBE4B45-7DC5-443F-8FDA-EFA13B83E0BB}"/>
                </a:ext>
              </a:extLst>
            </p:cNvPr>
            <p:cNvSpPr/>
            <p:nvPr/>
          </p:nvSpPr>
          <p:spPr>
            <a:xfrm>
              <a:off x="737871" y="1312141"/>
              <a:ext cx="699043" cy="3488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TXN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29" name="Скругленный прямоугольник 6">
              <a:extLst>
                <a:ext uri="{FF2B5EF4-FFF2-40B4-BE49-F238E27FC236}">
                  <a16:creationId xmlns:a16="http://schemas.microsoft.com/office/drawing/2014/main" id="{68DC34A7-8FD2-4216-9DE0-4A0BE757A439}"/>
                </a:ext>
              </a:extLst>
            </p:cNvPr>
            <p:cNvSpPr/>
            <p:nvPr/>
          </p:nvSpPr>
          <p:spPr>
            <a:xfrm>
              <a:off x="833758" y="1936759"/>
              <a:ext cx="870767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0" name="Прямоугольник 7">
              <a:extLst>
                <a:ext uri="{FF2B5EF4-FFF2-40B4-BE49-F238E27FC236}">
                  <a16:creationId xmlns:a16="http://schemas.microsoft.com/office/drawing/2014/main" id="{0B2CECFA-43F7-472B-9C6B-71CBC4366E0C}"/>
                </a:ext>
              </a:extLst>
            </p:cNvPr>
            <p:cNvSpPr/>
            <p:nvPr/>
          </p:nvSpPr>
          <p:spPr>
            <a:xfrm>
              <a:off x="737872" y="1927522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BIGD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31" name="Скругленный прямоугольник 6">
              <a:extLst>
                <a:ext uri="{FF2B5EF4-FFF2-40B4-BE49-F238E27FC236}">
                  <a16:creationId xmlns:a16="http://schemas.microsoft.com/office/drawing/2014/main" id="{268A1CDD-7E72-4116-B514-88FC508F7BA8}"/>
                </a:ext>
              </a:extLst>
            </p:cNvPr>
            <p:cNvSpPr/>
            <p:nvPr/>
          </p:nvSpPr>
          <p:spPr>
            <a:xfrm>
              <a:off x="1021348" y="1062401"/>
              <a:ext cx="106671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2" name="Прямоугольник 7">
              <a:extLst>
                <a:ext uri="{FF2B5EF4-FFF2-40B4-BE49-F238E27FC236}">
                  <a16:creationId xmlns:a16="http://schemas.microsoft.com/office/drawing/2014/main" id="{3988E4E4-9B74-44BF-B911-62EA68901CEF}"/>
                </a:ext>
              </a:extLst>
            </p:cNvPr>
            <p:cNvSpPr/>
            <p:nvPr/>
          </p:nvSpPr>
          <p:spPr>
            <a:xfrm>
              <a:off x="1057790" y="1062010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BATCH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74721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2" y="-85238"/>
            <a:ext cx="1199112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BIGD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PROPOSED2+-DCOS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4560D-24D6-4FE5-BAA7-FDC7ABF8D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3" y="2687216"/>
            <a:ext cx="10106025" cy="4116312"/>
          </a:xfrm>
          <a:prstGeom prst="rect">
            <a:avLst/>
          </a:prstGeom>
        </p:spPr>
      </p:pic>
      <p:sp>
        <p:nvSpPr>
          <p:cNvPr id="3" name="Flowchart: Delay 2">
            <a:extLst>
              <a:ext uri="{FF2B5EF4-FFF2-40B4-BE49-F238E27FC236}">
                <a16:creationId xmlns:a16="http://schemas.microsoft.com/office/drawing/2014/main" id="{315692D1-DBDF-41CC-A2D6-90DC678A6CC8}"/>
              </a:ext>
            </a:extLst>
          </p:cNvPr>
          <p:cNvSpPr/>
          <p:nvPr/>
        </p:nvSpPr>
        <p:spPr>
          <a:xfrm rot="5400000">
            <a:off x="4984345" y="-3472786"/>
            <a:ext cx="1054359" cy="9931369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Скругленный прямоугольник 6">
            <a:extLst>
              <a:ext uri="{FF2B5EF4-FFF2-40B4-BE49-F238E27FC236}">
                <a16:creationId xmlns:a16="http://schemas.microsoft.com/office/drawing/2014/main" id="{37C28593-3E41-4C62-B0CC-1EEAE2114523}"/>
              </a:ext>
            </a:extLst>
          </p:cNvPr>
          <p:cNvSpPr/>
          <p:nvPr/>
        </p:nvSpPr>
        <p:spPr>
          <a:xfrm>
            <a:off x="2186693" y="1323005"/>
            <a:ext cx="870766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6" name="Прямоугольник 7">
            <a:extLst>
              <a:ext uri="{FF2B5EF4-FFF2-40B4-BE49-F238E27FC236}">
                <a16:creationId xmlns:a16="http://schemas.microsoft.com/office/drawing/2014/main" id="{F1A5467C-5D31-4B22-BEB3-074D926B6F34}"/>
              </a:ext>
            </a:extLst>
          </p:cNvPr>
          <p:cNvSpPr/>
          <p:nvPr/>
        </p:nvSpPr>
        <p:spPr>
          <a:xfrm>
            <a:off x="2286754" y="1312141"/>
            <a:ext cx="699043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TXN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7" name="Скругленный прямоугольник 6">
            <a:extLst>
              <a:ext uri="{FF2B5EF4-FFF2-40B4-BE49-F238E27FC236}">
                <a16:creationId xmlns:a16="http://schemas.microsoft.com/office/drawing/2014/main" id="{16B0A93D-DF00-417D-B33B-1C2D496D2171}"/>
              </a:ext>
            </a:extLst>
          </p:cNvPr>
          <p:cNvSpPr/>
          <p:nvPr/>
        </p:nvSpPr>
        <p:spPr>
          <a:xfrm>
            <a:off x="6114881" y="1414244"/>
            <a:ext cx="87076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8" name="Прямоугольник 7">
            <a:extLst>
              <a:ext uri="{FF2B5EF4-FFF2-40B4-BE49-F238E27FC236}">
                <a16:creationId xmlns:a16="http://schemas.microsoft.com/office/drawing/2014/main" id="{F54B2B53-8145-4FD0-AE00-A7C5C6B9D0DD}"/>
              </a:ext>
            </a:extLst>
          </p:cNvPr>
          <p:cNvSpPr/>
          <p:nvPr/>
        </p:nvSpPr>
        <p:spPr>
          <a:xfrm>
            <a:off x="6018995" y="1405007"/>
            <a:ext cx="942427" cy="32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BIGD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9" name="Скругленный прямоугольник 6">
            <a:extLst>
              <a:ext uri="{FF2B5EF4-FFF2-40B4-BE49-F238E27FC236}">
                <a16:creationId xmlns:a16="http://schemas.microsoft.com/office/drawing/2014/main" id="{DB399FF5-B954-4CA9-A7BB-85BE439FC4B6}"/>
              </a:ext>
            </a:extLst>
          </p:cNvPr>
          <p:cNvSpPr/>
          <p:nvPr/>
        </p:nvSpPr>
        <p:spPr>
          <a:xfrm>
            <a:off x="3969821" y="1062401"/>
            <a:ext cx="1066716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40" name="Прямоугольник 7">
            <a:extLst>
              <a:ext uri="{FF2B5EF4-FFF2-40B4-BE49-F238E27FC236}">
                <a16:creationId xmlns:a16="http://schemas.microsoft.com/office/drawing/2014/main" id="{40C1F2EF-1D40-485E-ACE0-56CAACF990A9}"/>
              </a:ext>
            </a:extLst>
          </p:cNvPr>
          <p:cNvSpPr/>
          <p:nvPr/>
        </p:nvSpPr>
        <p:spPr>
          <a:xfrm>
            <a:off x="4006263" y="1062010"/>
            <a:ext cx="942427" cy="32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040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889" y="-85238"/>
            <a:ext cx="696063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OPERATION</a:t>
            </a: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Flexibility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FA0EA33A-13AF-48C6-B573-DC84D7BCD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90" y="648151"/>
            <a:ext cx="12196690" cy="620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975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75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2732C4D-B148-4064-B363-3C9B55A27B0D}"/>
              </a:ext>
            </a:extLst>
          </p:cNvPr>
          <p:cNvSpPr/>
          <p:nvPr/>
        </p:nvSpPr>
        <p:spPr>
          <a:xfrm>
            <a:off x="10239344" y="0"/>
            <a:ext cx="1952656" cy="6858000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F6D22-1ED5-409D-A135-41D9FCD9E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091" y="1640385"/>
            <a:ext cx="55102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solidFill>
                  <a:srgbClr val="C00000"/>
                </a:solidFill>
                <a:latin typeface="Raleway ExtraBold" panose="020B0903030101060003" pitchFamily="34" charset="0"/>
              </a:rPr>
              <a:t>TIME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solidFill>
                  <a:srgbClr val="C00000"/>
                </a:solidFill>
                <a:latin typeface="Raleway ExtraBold" panose="020B0903030101060003" pitchFamily="34" charset="0"/>
              </a:rPr>
              <a:t>FOR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solidFill>
                  <a:srgbClr val="C00000"/>
                </a:solidFill>
                <a:latin typeface="Raleway ExtraBold" panose="020B0903030101060003" pitchFamily="34" charset="0"/>
              </a:rPr>
              <a:t>BREAK 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D7786605-4A0D-4F0F-95BF-BD7D29B1DF72}"/>
              </a:ext>
            </a:extLst>
          </p:cNvPr>
          <p:cNvSpPr txBox="1">
            <a:spLocks/>
          </p:cNvSpPr>
          <p:nvPr/>
        </p:nvSpPr>
        <p:spPr bwMode="auto">
          <a:xfrm>
            <a:off x="4922254" y="1600637"/>
            <a:ext cx="623887" cy="182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7200">
                <a:solidFill>
                  <a:srgbClr val="C00000"/>
                </a:solidFill>
                <a:latin typeface="Raleway" panose="020B0503030101060003" pitchFamily="34" charset="0"/>
              </a:rPr>
              <a:t>+</a:t>
            </a:r>
            <a:endParaRPr lang="en-US" altLang="ru-RU" sz="4800">
              <a:solidFill>
                <a:srgbClr val="C00000"/>
              </a:solidFill>
              <a:latin typeface="Raleway" panose="020B0503030101060003" pitchFamily="34" charset="0"/>
              <a:cs typeface="Poppins" pitchFamily="2" charset="0"/>
            </a:endParaRPr>
          </a:p>
        </p:txBody>
      </p:sp>
      <p:pic>
        <p:nvPicPr>
          <p:cNvPr id="3" name="Picture Placeholder 2" descr="Champagne">
            <a:extLst>
              <a:ext uri="{FF2B5EF4-FFF2-40B4-BE49-F238E27FC236}">
                <a16:creationId xmlns:a16="http://schemas.microsoft.com/office/drawing/2014/main" id="{C82A52B6-38D5-4DA9-848C-B631108857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668" y="766565"/>
            <a:ext cx="8757057" cy="6266533"/>
          </a:xfrm>
        </p:spPr>
      </p:pic>
    </p:spTree>
    <p:extLst>
      <p:ext uri="{BB962C8B-B14F-4D97-AF65-F5344CB8AC3E}">
        <p14:creationId xmlns:p14="http://schemas.microsoft.com/office/powerpoint/2010/main" val="13587940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6">
      <a:majorFont>
        <a:latin typeface="Raleway SemiBold"/>
        <a:ea typeface=""/>
        <a:cs typeface=""/>
      </a:majorFont>
      <a:minorFont>
        <a:latin typeface="Raleway SemiBol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F7803AA-24F3-45BA-B48C-FABFC0A8E040}"/>
</file>

<file path=customXml/itemProps2.xml><?xml version="1.0" encoding="utf-8"?>
<ds:datastoreItem xmlns:ds="http://schemas.openxmlformats.org/officeDocument/2006/customXml" ds:itemID="{35126D7A-72A0-44EB-AA13-1DE6685418ED}"/>
</file>

<file path=customXml/itemProps3.xml><?xml version="1.0" encoding="utf-8"?>
<ds:datastoreItem xmlns:ds="http://schemas.openxmlformats.org/officeDocument/2006/customXml" ds:itemID="{9FDB4AEE-8BA2-4ADA-A45A-FB0320261B98}"/>
</file>

<file path=docProps/app.xml><?xml version="1.0" encoding="utf-8"?>
<Properties xmlns="http://schemas.openxmlformats.org/officeDocument/2006/extended-properties" xmlns:vt="http://schemas.openxmlformats.org/officeDocument/2006/docPropsVTypes">
  <TotalTime>7509</TotalTime>
  <Words>1085</Words>
  <Application>Microsoft Office PowerPoint</Application>
  <PresentationFormat>Widescreen</PresentationFormat>
  <Paragraphs>385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42" baseType="lpstr">
      <vt:lpstr>Arial</vt:lpstr>
      <vt:lpstr>Calibri</vt:lpstr>
      <vt:lpstr>FontAwesome</vt:lpstr>
      <vt:lpstr>Helvetica</vt:lpstr>
      <vt:lpstr>Helvetica Light</vt:lpstr>
      <vt:lpstr>Karla</vt:lpstr>
      <vt:lpstr>Lato</vt:lpstr>
      <vt:lpstr>Montserrat</vt:lpstr>
      <vt:lpstr>Montserrat SemiBold</vt:lpstr>
      <vt:lpstr>Poppins</vt:lpstr>
      <vt:lpstr>Poppins SemiBold</vt:lpstr>
      <vt:lpstr>Raleway</vt:lpstr>
      <vt:lpstr>Raleway ExtraBold</vt:lpstr>
      <vt:lpstr>Raleway Heavy</vt:lpstr>
      <vt:lpstr>Raleway Medium</vt:lpstr>
      <vt:lpstr>Raleway SemiBold</vt:lpstr>
      <vt:lpstr>Wingdings</vt:lpstr>
      <vt:lpstr>Тема Office</vt:lpstr>
      <vt:lpstr>PowerPoint Presentation</vt:lpstr>
      <vt:lpstr>PowerPoint Presentation</vt:lpstr>
      <vt:lpstr>Current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RePack by Diakov</dc:creator>
  <cp:lastModifiedBy>Papu Bhattacharya</cp:lastModifiedBy>
  <cp:revision>343</cp:revision>
  <dcterms:created xsi:type="dcterms:W3CDTF">2016-11-15T05:15:01Z</dcterms:created>
  <dcterms:modified xsi:type="dcterms:W3CDTF">2018-05-11T10:46:03Z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