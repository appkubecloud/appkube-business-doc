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413" r:id="rId3"/>
    <p:sldId id="415" r:id="rId4"/>
  </p:sldIdLst>
  <p:sldSz cx="12193588" cy="8280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6" d="100"/>
          <a:sy n="66" d="100"/>
        </p:scale>
        <p:origin x="6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19" y="1355149"/>
            <a:ext cx="10364550" cy="2882806"/>
          </a:xfrm>
        </p:spPr>
        <p:txBody>
          <a:bodyPr anchor="b"/>
          <a:lstStyle>
            <a:lvl1pPr algn="ctr">
              <a:defRPr sz="7244"/>
            </a:lvl1pPr>
          </a:lstStyle>
          <a:p>
            <a:r>
              <a:rPr lang="en-US"/>
              <a:t>Click to edit Master title style</a:t>
            </a:r>
            <a:endParaRPr lang="en-US" dirty="0"/>
          </a:p>
        </p:txBody>
      </p:sp>
      <p:sp>
        <p:nvSpPr>
          <p:cNvPr id="3" name="Subtitle 2"/>
          <p:cNvSpPr>
            <a:spLocks noGrp="1"/>
          </p:cNvSpPr>
          <p:nvPr>
            <p:ph type="subTitle" idx="1"/>
          </p:nvPr>
        </p:nvSpPr>
        <p:spPr>
          <a:xfrm>
            <a:off x="1524199" y="4349128"/>
            <a:ext cx="9145191" cy="1999179"/>
          </a:xfrm>
        </p:spPr>
        <p:txBody>
          <a:bodyPr/>
          <a:lstStyle>
            <a:lvl1pPr marL="0" indent="0" algn="ctr">
              <a:buNone/>
              <a:defRPr sz="2898"/>
            </a:lvl1pPr>
            <a:lvl2pPr marL="552023" indent="0" algn="ctr">
              <a:buNone/>
              <a:defRPr sz="2415"/>
            </a:lvl2pPr>
            <a:lvl3pPr marL="1104047" indent="0" algn="ctr">
              <a:buNone/>
              <a:defRPr sz="2173"/>
            </a:lvl3pPr>
            <a:lvl4pPr marL="1656070" indent="0" algn="ctr">
              <a:buNone/>
              <a:defRPr sz="1932"/>
            </a:lvl4pPr>
            <a:lvl5pPr marL="2208093" indent="0" algn="ctr">
              <a:buNone/>
              <a:defRPr sz="1932"/>
            </a:lvl5pPr>
            <a:lvl6pPr marL="2760116" indent="0" algn="ctr">
              <a:buNone/>
              <a:defRPr sz="1932"/>
            </a:lvl6pPr>
            <a:lvl7pPr marL="3312140" indent="0" algn="ctr">
              <a:buNone/>
              <a:defRPr sz="1932"/>
            </a:lvl7pPr>
            <a:lvl8pPr marL="3864163" indent="0" algn="ctr">
              <a:buNone/>
              <a:defRPr sz="1932"/>
            </a:lvl8pPr>
            <a:lvl9pPr marL="4416186" indent="0" algn="ctr">
              <a:buNone/>
              <a:defRPr sz="193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656864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08161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959" y="2064352"/>
            <a:ext cx="10516970" cy="3444416"/>
          </a:xfrm>
        </p:spPr>
        <p:txBody>
          <a:bodyPr anchor="b"/>
          <a:lstStyle>
            <a:lvl1pPr>
              <a:defRPr sz="7244"/>
            </a:lvl1pPr>
          </a:lstStyle>
          <a:p>
            <a:r>
              <a:rPr lang="en-US"/>
              <a:t>Click to edit Master title style</a:t>
            </a:r>
            <a:endParaRPr lang="en-US" dirty="0"/>
          </a:p>
        </p:txBody>
      </p:sp>
      <p:sp>
        <p:nvSpPr>
          <p:cNvPr id="3" name="Text Placeholder 2"/>
          <p:cNvSpPr>
            <a:spLocks noGrp="1"/>
          </p:cNvSpPr>
          <p:nvPr>
            <p:ph type="body" idx="1"/>
          </p:nvPr>
        </p:nvSpPr>
        <p:spPr>
          <a:xfrm>
            <a:off x="831959" y="5541353"/>
            <a:ext cx="10516970" cy="1811337"/>
          </a:xfrm>
        </p:spPr>
        <p:txBody>
          <a:bodyPr/>
          <a:lstStyle>
            <a:lvl1pPr marL="0" indent="0">
              <a:buNone/>
              <a:defRPr sz="2898">
                <a:solidFill>
                  <a:schemeClr val="tx1"/>
                </a:solidFill>
              </a:defRPr>
            </a:lvl1pPr>
            <a:lvl2pPr marL="552023" indent="0">
              <a:buNone/>
              <a:defRPr sz="2415">
                <a:solidFill>
                  <a:schemeClr val="tx1">
                    <a:tint val="75000"/>
                  </a:schemeClr>
                </a:solidFill>
              </a:defRPr>
            </a:lvl2pPr>
            <a:lvl3pPr marL="1104047" indent="0">
              <a:buNone/>
              <a:defRPr sz="2173">
                <a:solidFill>
                  <a:schemeClr val="tx1">
                    <a:tint val="75000"/>
                  </a:schemeClr>
                </a:solidFill>
              </a:defRPr>
            </a:lvl3pPr>
            <a:lvl4pPr marL="1656070" indent="0">
              <a:buNone/>
              <a:defRPr sz="1932">
                <a:solidFill>
                  <a:schemeClr val="tx1">
                    <a:tint val="75000"/>
                  </a:schemeClr>
                </a:solidFill>
              </a:defRPr>
            </a:lvl4pPr>
            <a:lvl5pPr marL="2208093" indent="0">
              <a:buNone/>
              <a:defRPr sz="1932">
                <a:solidFill>
                  <a:schemeClr val="tx1">
                    <a:tint val="75000"/>
                  </a:schemeClr>
                </a:solidFill>
              </a:defRPr>
            </a:lvl5pPr>
            <a:lvl6pPr marL="2760116" indent="0">
              <a:buNone/>
              <a:defRPr sz="1932">
                <a:solidFill>
                  <a:schemeClr val="tx1">
                    <a:tint val="75000"/>
                  </a:schemeClr>
                </a:solidFill>
              </a:defRPr>
            </a:lvl6pPr>
            <a:lvl7pPr marL="3312140" indent="0">
              <a:buNone/>
              <a:defRPr sz="1932">
                <a:solidFill>
                  <a:schemeClr val="tx1">
                    <a:tint val="75000"/>
                  </a:schemeClr>
                </a:solidFill>
              </a:defRPr>
            </a:lvl7pPr>
            <a:lvl8pPr marL="3864163" indent="0">
              <a:buNone/>
              <a:defRPr sz="1932">
                <a:solidFill>
                  <a:schemeClr val="tx1">
                    <a:tint val="75000"/>
                  </a:schemeClr>
                </a:solidFill>
              </a:defRPr>
            </a:lvl8pPr>
            <a:lvl9pPr marL="4416186" indent="0">
              <a:buNone/>
              <a:defRPr sz="19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51737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309"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004"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C079E0-A901-4333-8FD2-197B2445B707}" type="datetimeFigureOut">
              <a:rPr lang="en-IN" smtClean="0"/>
              <a:t>07-10-2021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76939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897" y="440856"/>
            <a:ext cx="10516970" cy="1600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899" y="2029849"/>
            <a:ext cx="5158458"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4" name="Content Placeholder 3"/>
          <p:cNvSpPr>
            <a:spLocks noGrp="1"/>
          </p:cNvSpPr>
          <p:nvPr>
            <p:ph sz="half" idx="2"/>
          </p:nvPr>
        </p:nvSpPr>
        <p:spPr>
          <a:xfrm>
            <a:off x="839899" y="3024646"/>
            <a:ext cx="5158458"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3005" y="2029849"/>
            <a:ext cx="5183863"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6" name="Content Placeholder 5"/>
          <p:cNvSpPr>
            <a:spLocks noGrp="1"/>
          </p:cNvSpPr>
          <p:nvPr>
            <p:ph sz="quarter" idx="4"/>
          </p:nvPr>
        </p:nvSpPr>
        <p:spPr>
          <a:xfrm>
            <a:off x="6173005" y="3024646"/>
            <a:ext cx="5183863"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C079E0-A901-4333-8FD2-197B2445B707}" type="datetimeFigureOut">
              <a:rPr lang="en-IN" smtClean="0"/>
              <a:t>07-10-2021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33146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C079E0-A901-4333-8FD2-197B2445B707}" type="datetimeFigureOut">
              <a:rPr lang="en-IN" smtClean="0"/>
              <a:t>07-10-2021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946701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079E0-A901-4333-8FD2-197B2445B707}" type="datetimeFigureOut">
              <a:rPr lang="en-IN" smtClean="0"/>
              <a:t>07-10-2021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6400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Content Placeholder 2"/>
          <p:cNvSpPr>
            <a:spLocks noGrp="1"/>
          </p:cNvSpPr>
          <p:nvPr>
            <p:ph idx="1"/>
          </p:nvPr>
        </p:nvSpPr>
        <p:spPr>
          <a:xfrm>
            <a:off x="5183863" y="1192226"/>
            <a:ext cx="6173004" cy="5884451"/>
          </a:xfrm>
        </p:spPr>
        <p:txBody>
          <a:bodyPr/>
          <a:lstStyle>
            <a:lvl1pPr>
              <a:defRPr sz="3864"/>
            </a:lvl1pPr>
            <a:lvl2pPr>
              <a:defRPr sz="3381"/>
            </a:lvl2pPr>
            <a:lvl3pPr>
              <a:defRPr sz="2898"/>
            </a:lvl3pPr>
            <a:lvl4pPr>
              <a:defRPr sz="2415"/>
            </a:lvl4pPr>
            <a:lvl5pPr>
              <a:defRPr sz="2415"/>
            </a:lvl5pPr>
            <a:lvl6pPr>
              <a:defRPr sz="2415"/>
            </a:lvl6pPr>
            <a:lvl7pPr>
              <a:defRPr sz="2415"/>
            </a:lvl7pPr>
            <a:lvl8pPr>
              <a:defRPr sz="2415"/>
            </a:lvl8pPr>
            <a:lvl9pPr>
              <a:defRPr sz="24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07-10-2021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18577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863" y="1192226"/>
            <a:ext cx="6173004" cy="5884451"/>
          </a:xfrm>
        </p:spPr>
        <p:txBody>
          <a:bodyPr anchor="t"/>
          <a:lstStyle>
            <a:lvl1pPr marL="0" indent="0">
              <a:buNone/>
              <a:defRPr sz="3864"/>
            </a:lvl1pPr>
            <a:lvl2pPr marL="552023" indent="0">
              <a:buNone/>
              <a:defRPr sz="3381"/>
            </a:lvl2pPr>
            <a:lvl3pPr marL="1104047" indent="0">
              <a:buNone/>
              <a:defRPr sz="2898"/>
            </a:lvl3pPr>
            <a:lvl4pPr marL="1656070" indent="0">
              <a:buNone/>
              <a:defRPr sz="2415"/>
            </a:lvl4pPr>
            <a:lvl5pPr marL="2208093" indent="0">
              <a:buNone/>
              <a:defRPr sz="2415"/>
            </a:lvl5pPr>
            <a:lvl6pPr marL="2760116" indent="0">
              <a:buNone/>
              <a:defRPr sz="2415"/>
            </a:lvl6pPr>
            <a:lvl7pPr marL="3312140" indent="0">
              <a:buNone/>
              <a:defRPr sz="2415"/>
            </a:lvl7pPr>
            <a:lvl8pPr marL="3864163" indent="0">
              <a:buNone/>
              <a:defRPr sz="2415"/>
            </a:lvl8pPr>
            <a:lvl9pPr marL="4416186" indent="0">
              <a:buNone/>
              <a:defRPr sz="2415"/>
            </a:lvl9pPr>
          </a:lstStyle>
          <a:p>
            <a:r>
              <a:rPr lang="en-US"/>
              <a:t>Click icon to add picture</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07-10-2021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83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37246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6037" y="440855"/>
            <a:ext cx="2629242" cy="70172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310" y="440855"/>
            <a:ext cx="7735307" cy="7017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07-10-2021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0202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09" y="440856"/>
            <a:ext cx="10516970" cy="1600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309" y="2204273"/>
            <a:ext cx="10516970" cy="52538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309" y="7674706"/>
            <a:ext cx="2743557" cy="440855"/>
          </a:xfrm>
          <a:prstGeom prst="rect">
            <a:avLst/>
          </a:prstGeom>
        </p:spPr>
        <p:txBody>
          <a:bodyPr vert="horz" lIns="91440" tIns="45720" rIns="91440" bIns="45720" rtlCol="0" anchor="ctr"/>
          <a:lstStyle>
            <a:lvl1pPr algn="l">
              <a:defRPr sz="1449">
                <a:solidFill>
                  <a:schemeClr val="tx1">
                    <a:tint val="75000"/>
                  </a:schemeClr>
                </a:solidFill>
              </a:defRPr>
            </a:lvl1pPr>
          </a:lstStyle>
          <a:p>
            <a:fld id="{99C079E0-A901-4333-8FD2-197B2445B707}" type="datetimeFigureOut">
              <a:rPr lang="en-IN" smtClean="0"/>
              <a:t>07-10-2021</a:t>
            </a:fld>
            <a:endParaRPr lang="en-IN"/>
          </a:p>
        </p:txBody>
      </p:sp>
      <p:sp>
        <p:nvSpPr>
          <p:cNvPr id="5" name="Footer Placeholder 4"/>
          <p:cNvSpPr>
            <a:spLocks noGrp="1"/>
          </p:cNvSpPr>
          <p:nvPr>
            <p:ph type="ftr" sz="quarter" idx="3"/>
          </p:nvPr>
        </p:nvSpPr>
        <p:spPr>
          <a:xfrm>
            <a:off x="4039126" y="7674706"/>
            <a:ext cx="4115336" cy="440855"/>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1722" y="7674706"/>
            <a:ext cx="2743557" cy="440855"/>
          </a:xfrm>
          <a:prstGeom prst="rect">
            <a:avLst/>
          </a:prstGeom>
        </p:spPr>
        <p:txBody>
          <a:bodyPr vert="horz" lIns="91440" tIns="45720" rIns="91440" bIns="45720" rtlCol="0" anchor="ctr"/>
          <a:lstStyle>
            <a:lvl1pPr algn="r">
              <a:defRPr sz="1449">
                <a:solidFill>
                  <a:schemeClr val="tx1">
                    <a:tint val="75000"/>
                  </a:schemeClr>
                </a:solidFill>
              </a:defRPr>
            </a:lvl1pPr>
          </a:lstStyle>
          <a:p>
            <a:fld id="{70F51414-827F-4D15-9469-924D8E48AE3D}" type="slidenum">
              <a:rPr lang="en-IN" smtClean="0"/>
              <a:t>‹#›</a:t>
            </a:fld>
            <a:endParaRPr lang="en-IN"/>
          </a:p>
        </p:txBody>
      </p:sp>
    </p:spTree>
    <p:extLst>
      <p:ext uri="{BB962C8B-B14F-4D97-AF65-F5344CB8AC3E}">
        <p14:creationId xmlns:p14="http://schemas.microsoft.com/office/powerpoint/2010/main" val="16640860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04047" rtl="0" eaLnBrk="1" latinLnBrk="0" hangingPunct="1">
        <a:lnSpc>
          <a:spcPct val="90000"/>
        </a:lnSpc>
        <a:spcBef>
          <a:spcPct val="0"/>
        </a:spcBef>
        <a:buNone/>
        <a:defRPr sz="5313" kern="1200">
          <a:solidFill>
            <a:schemeClr val="tx1"/>
          </a:solidFill>
          <a:latin typeface="+mj-lt"/>
          <a:ea typeface="+mj-ea"/>
          <a:cs typeface="+mj-cs"/>
        </a:defRPr>
      </a:lvl1pPr>
    </p:titleStyle>
    <p:bodyStyle>
      <a:lvl1pPr marL="276012" indent="-276012" algn="l" defTabSz="1104047" rtl="0" eaLnBrk="1" latinLnBrk="0" hangingPunct="1">
        <a:lnSpc>
          <a:spcPct val="90000"/>
        </a:lnSpc>
        <a:spcBef>
          <a:spcPts val="1207"/>
        </a:spcBef>
        <a:buFont typeface="Arial" panose="020B0604020202020204" pitchFamily="34" charset="0"/>
        <a:buChar char="•"/>
        <a:defRPr sz="3381" kern="1200">
          <a:solidFill>
            <a:schemeClr val="tx1"/>
          </a:solidFill>
          <a:latin typeface="+mn-lt"/>
          <a:ea typeface="+mn-ea"/>
          <a:cs typeface="+mn-cs"/>
        </a:defRPr>
      </a:lvl1pPr>
      <a:lvl2pPr marL="828035" indent="-276012" algn="l" defTabSz="1104047" rtl="0" eaLnBrk="1" latinLnBrk="0" hangingPunct="1">
        <a:lnSpc>
          <a:spcPct val="90000"/>
        </a:lnSpc>
        <a:spcBef>
          <a:spcPts val="604"/>
        </a:spcBef>
        <a:buFont typeface="Arial" panose="020B0604020202020204" pitchFamily="34" charset="0"/>
        <a:buChar char="•"/>
        <a:defRPr sz="2898" kern="1200">
          <a:solidFill>
            <a:schemeClr val="tx1"/>
          </a:solidFill>
          <a:latin typeface="+mn-lt"/>
          <a:ea typeface="+mn-ea"/>
          <a:cs typeface="+mn-cs"/>
        </a:defRPr>
      </a:lvl2pPr>
      <a:lvl3pPr marL="1380058" indent="-276012" algn="l" defTabSz="1104047" rtl="0" eaLnBrk="1" latinLnBrk="0" hangingPunct="1">
        <a:lnSpc>
          <a:spcPct val="90000"/>
        </a:lnSpc>
        <a:spcBef>
          <a:spcPts val="604"/>
        </a:spcBef>
        <a:buFont typeface="Arial" panose="020B0604020202020204" pitchFamily="34" charset="0"/>
        <a:buChar char="•"/>
        <a:defRPr sz="2415" kern="1200">
          <a:solidFill>
            <a:schemeClr val="tx1"/>
          </a:solidFill>
          <a:latin typeface="+mn-lt"/>
          <a:ea typeface="+mn-ea"/>
          <a:cs typeface="+mn-cs"/>
        </a:defRPr>
      </a:lvl3pPr>
      <a:lvl4pPr marL="193208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410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612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815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4017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219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4047" rtl="0" eaLnBrk="1" latinLnBrk="0" hangingPunct="1">
        <a:defRPr sz="2173" kern="1200">
          <a:solidFill>
            <a:schemeClr val="tx1"/>
          </a:solidFill>
          <a:latin typeface="+mn-lt"/>
          <a:ea typeface="+mn-ea"/>
          <a:cs typeface="+mn-cs"/>
        </a:defRPr>
      </a:lvl1pPr>
      <a:lvl2pPr marL="552023" algn="l" defTabSz="1104047" rtl="0" eaLnBrk="1" latinLnBrk="0" hangingPunct="1">
        <a:defRPr sz="2173" kern="1200">
          <a:solidFill>
            <a:schemeClr val="tx1"/>
          </a:solidFill>
          <a:latin typeface="+mn-lt"/>
          <a:ea typeface="+mn-ea"/>
          <a:cs typeface="+mn-cs"/>
        </a:defRPr>
      </a:lvl2pPr>
      <a:lvl3pPr marL="1104047" algn="l" defTabSz="1104047" rtl="0" eaLnBrk="1" latinLnBrk="0" hangingPunct="1">
        <a:defRPr sz="2173" kern="1200">
          <a:solidFill>
            <a:schemeClr val="tx1"/>
          </a:solidFill>
          <a:latin typeface="+mn-lt"/>
          <a:ea typeface="+mn-ea"/>
          <a:cs typeface="+mn-cs"/>
        </a:defRPr>
      </a:lvl3pPr>
      <a:lvl4pPr marL="1656070" algn="l" defTabSz="1104047" rtl="0" eaLnBrk="1" latinLnBrk="0" hangingPunct="1">
        <a:defRPr sz="2173" kern="1200">
          <a:solidFill>
            <a:schemeClr val="tx1"/>
          </a:solidFill>
          <a:latin typeface="+mn-lt"/>
          <a:ea typeface="+mn-ea"/>
          <a:cs typeface="+mn-cs"/>
        </a:defRPr>
      </a:lvl4pPr>
      <a:lvl5pPr marL="2208093" algn="l" defTabSz="1104047" rtl="0" eaLnBrk="1" latinLnBrk="0" hangingPunct="1">
        <a:defRPr sz="2173" kern="1200">
          <a:solidFill>
            <a:schemeClr val="tx1"/>
          </a:solidFill>
          <a:latin typeface="+mn-lt"/>
          <a:ea typeface="+mn-ea"/>
          <a:cs typeface="+mn-cs"/>
        </a:defRPr>
      </a:lvl5pPr>
      <a:lvl6pPr marL="2760116" algn="l" defTabSz="1104047" rtl="0" eaLnBrk="1" latinLnBrk="0" hangingPunct="1">
        <a:defRPr sz="2173" kern="1200">
          <a:solidFill>
            <a:schemeClr val="tx1"/>
          </a:solidFill>
          <a:latin typeface="+mn-lt"/>
          <a:ea typeface="+mn-ea"/>
          <a:cs typeface="+mn-cs"/>
        </a:defRPr>
      </a:lvl6pPr>
      <a:lvl7pPr marL="3312140" algn="l" defTabSz="1104047" rtl="0" eaLnBrk="1" latinLnBrk="0" hangingPunct="1">
        <a:defRPr sz="2173" kern="1200">
          <a:solidFill>
            <a:schemeClr val="tx1"/>
          </a:solidFill>
          <a:latin typeface="+mn-lt"/>
          <a:ea typeface="+mn-ea"/>
          <a:cs typeface="+mn-cs"/>
        </a:defRPr>
      </a:lvl7pPr>
      <a:lvl8pPr marL="3864163" algn="l" defTabSz="1104047" rtl="0" eaLnBrk="1" latinLnBrk="0" hangingPunct="1">
        <a:defRPr sz="2173" kern="1200">
          <a:solidFill>
            <a:schemeClr val="tx1"/>
          </a:solidFill>
          <a:latin typeface="+mn-lt"/>
          <a:ea typeface="+mn-ea"/>
          <a:cs typeface="+mn-cs"/>
        </a:defRPr>
      </a:lvl8pPr>
      <a:lvl9pPr marL="4416186" algn="l" defTabSz="1104047"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320996" y="659602"/>
            <a:ext cx="3559431" cy="762079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450000"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DevOps Tech Lead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Shahbaz</a:t>
            </a:r>
          </a:p>
        </p:txBody>
      </p:sp>
      <p:sp>
        <p:nvSpPr>
          <p:cNvPr id="17" name="TextBox 16">
            <a:extLst>
              <a:ext uri="{FF2B5EF4-FFF2-40B4-BE49-F238E27FC236}">
                <a16:creationId xmlns:a16="http://schemas.microsoft.com/office/drawing/2014/main" id="{7F08DF72-6A34-4F54-B864-A22C1CE68FEC}"/>
              </a:ext>
            </a:extLst>
          </p:cNvPr>
          <p:cNvSpPr txBox="1"/>
          <p:nvPr/>
        </p:nvSpPr>
        <p:spPr>
          <a:xfrm>
            <a:off x="320995" y="659603"/>
            <a:ext cx="3559432" cy="8032968"/>
          </a:xfrm>
          <a:prstGeom prst="rect">
            <a:avLst/>
          </a:prstGeom>
          <a:noFill/>
        </p:spPr>
        <p:txBody>
          <a:bodyPr wrap="square" rtlCol="0">
            <a:spAutoFit/>
          </a:bodyPr>
          <a:lstStyle/>
          <a:p>
            <a:r>
              <a:rPr lang="en-IN" dirty="0">
                <a:latin typeface="Raleway SemiBold" pitchFamily="2" charset="0"/>
              </a:rPr>
              <a:t>Summary</a:t>
            </a:r>
          </a:p>
          <a:p>
            <a:pPr algn="just"/>
            <a:r>
              <a:rPr lang="en-US" sz="1200" dirty="0">
                <a:latin typeface="Raleway Medium" panose="020B0604020202020204" pitchFamily="2" charset="0"/>
              </a:rPr>
              <a:t>Has good experience in managing and contributing to all aspects of cloud automation including automated  infrastructure provisioning, container and Kubernetes automation , complete product lifecycle along with security and operation. Applied best DevSecOps practices to manage microservices based services in cloud native environment.</a:t>
            </a:r>
            <a:endParaRPr lang="en-IN" dirty="0"/>
          </a:p>
          <a:p>
            <a:endParaRPr lang="en-IN" dirty="0">
              <a:latin typeface="Raleway SemiBold" pitchFamily="2" charset="0"/>
            </a:endParaRPr>
          </a:p>
          <a:p>
            <a:r>
              <a:rPr lang="en-IN" dirty="0">
                <a:latin typeface="Raleway SemiBold" pitchFamily="2" charset="0"/>
              </a:rPr>
              <a:t>Expertise</a:t>
            </a:r>
          </a:p>
          <a:p>
            <a:pPr marL="171458" indent="-171458">
              <a:buFont typeface="Arial" panose="020B0604020202020204" pitchFamily="34" charset="0"/>
              <a:buChar char="•"/>
            </a:pPr>
            <a:r>
              <a:rPr lang="en-US" sz="1200" dirty="0">
                <a:latin typeface="Raleway Medium" pitchFamily="2" charset="0"/>
              </a:rPr>
              <a:t>Automate container-based services lifecycle in multi cloud Kubernetes environment</a:t>
            </a:r>
          </a:p>
          <a:p>
            <a:pPr marL="171458" indent="-171458">
              <a:buFont typeface="Arial" panose="020B0604020202020204" pitchFamily="34" charset="0"/>
              <a:buChar char="•"/>
            </a:pPr>
            <a:r>
              <a:rPr lang="en-US" sz="1200" dirty="0">
                <a:latin typeface="Raleway Medium" pitchFamily="2" charset="0"/>
              </a:rPr>
              <a:t>Leading DevOps team members  to write CI/CD, operation and security automation in Kubernetes environment. </a:t>
            </a:r>
          </a:p>
          <a:p>
            <a:pPr marL="171458" indent="-171458">
              <a:buFont typeface="Arial" panose="020B0604020202020204" pitchFamily="34" charset="0"/>
              <a:buChar char="•"/>
            </a:pPr>
            <a:r>
              <a:rPr lang="en-US" sz="1200" dirty="0">
                <a:latin typeface="Raleway Medium" pitchFamily="2" charset="0"/>
              </a:rPr>
              <a:t>Write terraform automations and libraries to perform software defined provisioning.</a:t>
            </a:r>
          </a:p>
          <a:p>
            <a:pPr marL="171458" indent="-171458">
              <a:buFont typeface="Arial" panose="020B0604020202020204" pitchFamily="34" charset="0"/>
              <a:buChar char="•"/>
            </a:pPr>
            <a:r>
              <a:rPr lang="en-US" sz="1200" dirty="0">
                <a:latin typeface="Raleway Medium" pitchFamily="2" charset="0"/>
              </a:rPr>
              <a:t>Do cloud architecture with AWS , Azure ,GCP based  cloud services. </a:t>
            </a:r>
          </a:p>
          <a:p>
            <a:pPr marL="171458" indent="-171458">
              <a:buFont typeface="Arial" panose="020B0604020202020204" pitchFamily="34" charset="0"/>
              <a:buChar char="•"/>
            </a:pPr>
            <a:r>
              <a:rPr lang="en-US" sz="1200" dirty="0">
                <a:latin typeface="Raleway Medium" pitchFamily="2" charset="0"/>
              </a:rPr>
              <a:t>Manage security and operation aspects of cloud services </a:t>
            </a:r>
          </a:p>
          <a:p>
            <a:pPr marL="171458" indent="-171458">
              <a:buFont typeface="Arial" panose="020B0604020202020204" pitchFamily="34" charset="0"/>
              <a:buChar char="•"/>
            </a:pPr>
            <a:r>
              <a:rPr lang="en-US" sz="1200" dirty="0">
                <a:latin typeface="Raleway Medium" pitchFamily="2" charset="0"/>
              </a:rPr>
              <a:t>Write serverless automation in cloud</a:t>
            </a:r>
          </a:p>
          <a:p>
            <a:pPr marL="171458" indent="-171458">
              <a:buFont typeface="Arial" panose="020B0604020202020204" pitchFamily="34" charset="0"/>
              <a:buChar char="•"/>
            </a:pPr>
            <a:r>
              <a:rPr lang="en-US" sz="1200" dirty="0">
                <a:latin typeface="Raleway Medium" pitchFamily="2" charset="0"/>
              </a:rPr>
              <a:t>Do cloud migration and application refactoring. </a:t>
            </a:r>
          </a:p>
          <a:p>
            <a:pPr marL="171458" indent="-171458">
              <a:buFont typeface="Arial" panose="020B0604020202020204" pitchFamily="34" charset="0"/>
              <a:buChar char="•"/>
            </a:pPr>
            <a:endParaRPr lang="en-US" sz="1200" dirty="0">
              <a:latin typeface="Raleway Medium" pitchFamily="2" charset="0"/>
            </a:endParaRPr>
          </a:p>
          <a:p>
            <a:pPr marL="171458" indent="-171458">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Terraform, Docker, Kubernetes, AWS, Python, Tekton, Jenkin, Jenkin-x, Git, Prometheus, Grafana</a:t>
            </a:r>
          </a:p>
          <a:p>
            <a:pPr marL="171458" indent="-171458">
              <a:buFont typeface="Arial" panose="020B0604020202020204" pitchFamily="34" charset="0"/>
              <a:buChar char="•"/>
            </a:pPr>
            <a:r>
              <a:rPr lang="en-IN" sz="1200" dirty="0">
                <a:latin typeface="Raleway ExtraBold" pitchFamily="2" charset="0"/>
              </a:rPr>
              <a:t>Cloud Used </a:t>
            </a:r>
            <a:r>
              <a:rPr lang="en-IN" sz="1200" dirty="0">
                <a:latin typeface="Raleway Medium" pitchFamily="2" charset="0"/>
              </a:rPr>
              <a:t>– AWS, Azure, GCP, Microk8s</a:t>
            </a:r>
            <a:endParaRPr lang="en-IN" dirty="0">
              <a:latin typeface="Raleway SemiBold" pitchFamily="2" charset="0"/>
            </a:endParaRPr>
          </a:p>
          <a:p>
            <a:r>
              <a:rPr lang="en-IN" dirty="0">
                <a:latin typeface="Raleway SemiBold" pitchFamily="2" charset="0"/>
              </a:rPr>
              <a:t>Qualification</a:t>
            </a:r>
          </a:p>
          <a:p>
            <a:r>
              <a:rPr lang="en-IN" sz="1200" dirty="0">
                <a:latin typeface="Raleway Medium" pitchFamily="2" charset="0"/>
              </a:rPr>
              <a:t>Has Bachelor Degree in Computer Science</a:t>
            </a:r>
          </a:p>
          <a:p>
            <a:endParaRPr lang="en-IN" dirty="0">
              <a:latin typeface="Raleway SemiBold" pitchFamily="2" charset="0"/>
            </a:endParaRPr>
          </a:p>
          <a:p>
            <a:r>
              <a:rPr lang="en-IN" dirty="0">
                <a:latin typeface="Raleway SemiBold" pitchFamily="2" charset="0"/>
              </a:rPr>
              <a:t>Certification</a:t>
            </a:r>
          </a:p>
          <a:p>
            <a:r>
              <a:rPr lang="en-US" sz="1200" dirty="0">
                <a:latin typeface="Raleway Medium" pitchFamily="2" charset="0"/>
              </a:rPr>
              <a:t>Certified Kubernetes Application Developer</a:t>
            </a:r>
          </a:p>
          <a:p>
            <a:r>
              <a:rPr lang="en-US" sz="1200" dirty="0">
                <a:latin typeface="Raleway Medium" pitchFamily="2" charset="0"/>
              </a:rPr>
              <a:t>AWS Certified Solutions Architect</a:t>
            </a:r>
          </a:p>
          <a:p>
            <a:r>
              <a:rPr lang="en-US" sz="1200" dirty="0">
                <a:latin typeface="Raleway Medium" pitchFamily="2" charset="0"/>
              </a:rPr>
              <a:t>Red-hat accredited IAAS</a:t>
            </a:r>
          </a:p>
          <a:p>
            <a:r>
              <a:rPr lang="en-US" sz="1200" dirty="0">
                <a:latin typeface="Raleway Medium" pitchFamily="2" charset="0"/>
              </a:rPr>
              <a:t>VMWare Certified Cloud Associate </a:t>
            </a:r>
          </a:p>
          <a:p>
            <a:endParaRPr lang="en-US" sz="1200" dirty="0">
              <a:latin typeface="Raleway Medium" pitchFamily="2" charset="0"/>
            </a:endParaRPr>
          </a:p>
          <a:p>
            <a:endParaRPr lang="en-IN" sz="1200" dirty="0">
              <a:latin typeface="Raleway Medium" pitchFamily="2" charset="0"/>
            </a:endParaRPr>
          </a:p>
        </p:txBody>
      </p:sp>
      <p:sp>
        <p:nvSpPr>
          <p:cNvPr id="18" name="TextBox 17">
            <a:extLst>
              <a:ext uri="{FF2B5EF4-FFF2-40B4-BE49-F238E27FC236}">
                <a16:creationId xmlns:a16="http://schemas.microsoft.com/office/drawing/2014/main" id="{2F7DF6C4-C442-43BD-99B8-D9370A580957}"/>
              </a:ext>
            </a:extLst>
          </p:cNvPr>
          <p:cNvSpPr txBox="1"/>
          <p:nvPr/>
        </p:nvSpPr>
        <p:spPr>
          <a:xfrm>
            <a:off x="3943110" y="1378054"/>
            <a:ext cx="7865215" cy="2769989"/>
          </a:xfrm>
          <a:prstGeom prst="rect">
            <a:avLst/>
          </a:prstGeom>
          <a:noFill/>
        </p:spPr>
        <p:txBody>
          <a:bodyPr wrap="square" rtlCol="0">
            <a:spAutoFit/>
          </a:bodyPr>
          <a:lstStyle/>
          <a:p>
            <a:r>
              <a:rPr lang="en-IN" dirty="0">
                <a:latin typeface="Raleway SemiBold" pitchFamily="2" charset="0"/>
              </a:rPr>
              <a:t>Synectiks Appkube Platform</a:t>
            </a:r>
          </a:p>
          <a:p>
            <a:r>
              <a:rPr lang="en-IN" sz="1200" dirty="0">
                <a:solidFill>
                  <a:srgbClr val="0070C0"/>
                </a:solidFill>
                <a:latin typeface="Raleway SemiBold" pitchFamily="2" charset="0"/>
              </a:rPr>
              <a:t>(AWS, Kubernetes, Docker, Terraform, Tekton, Jenkin-X, Python, Lambda, Cloud Formation, Shell)</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writing terraform modules to provision highly secure configurable Kubernetes cluster across cloud</a:t>
            </a:r>
          </a:p>
          <a:p>
            <a:pPr marL="171458" indent="-171458">
              <a:buFont typeface="Arial" panose="020B0604020202020204" pitchFamily="34" charset="0"/>
              <a:buChar char="•"/>
            </a:pPr>
            <a:r>
              <a:rPr lang="en-US" sz="1200" dirty="0">
                <a:latin typeface="Raleway Medium" pitchFamily="2" charset="0"/>
              </a:rPr>
              <a:t>Worked on applying Kubernetes storage and network services to provision service delivery framework.</a:t>
            </a:r>
          </a:p>
          <a:p>
            <a:pPr marL="171458" indent="-171458">
              <a:buFont typeface="Arial" panose="020B0604020202020204" pitchFamily="34" charset="0"/>
              <a:buChar char="•"/>
            </a:pPr>
            <a:r>
              <a:rPr lang="en-US" sz="1200" dirty="0">
                <a:latin typeface="Raleway Medium" pitchFamily="2" charset="0"/>
              </a:rPr>
              <a:t>Worked on Kubernetes Teton CI/CD framework to do services CI/CD automation</a:t>
            </a:r>
          </a:p>
          <a:p>
            <a:pPr marL="171458" indent="-171458">
              <a:buFont typeface="Arial" panose="020B0604020202020204" pitchFamily="34" charset="0"/>
              <a:buChar char="•"/>
            </a:pPr>
            <a:r>
              <a:rPr lang="en-US" sz="1200" dirty="0">
                <a:latin typeface="Raleway Medium" pitchFamily="2" charset="0"/>
              </a:rPr>
              <a:t>Worked on Kubernetes operator framework to provision services in Kubernetes</a:t>
            </a:r>
          </a:p>
          <a:p>
            <a:pPr marL="171458" indent="-171458">
              <a:buFont typeface="Arial" panose="020B0604020202020204" pitchFamily="34" charset="0"/>
              <a:buChar char="•"/>
            </a:pPr>
            <a:r>
              <a:rPr lang="en-US" sz="1200" dirty="0">
                <a:latin typeface="Raleway Medium" pitchFamily="2" charset="0"/>
              </a:rPr>
              <a:t>Actively manage, improve, and monitor cloud infrastructure on AWS, EC2, ECS, S3, ES, RDS, LAMDA, ROUTE53, IAM including scaling and automation.</a:t>
            </a:r>
          </a:p>
          <a:p>
            <a:pPr marL="171458" indent="-171458">
              <a:buFont typeface="Arial" panose="020B0604020202020204" pitchFamily="34" charset="0"/>
              <a:buChar char="•"/>
            </a:pPr>
            <a:r>
              <a:rPr lang="en-US" sz="1200" dirty="0">
                <a:latin typeface="Raleway Medium" pitchFamily="2" charset="0"/>
              </a:rPr>
              <a:t>Built Python Based Cli Automation scripts to implement compliance standards like CISP / PCI - DSS / HIPPA for AWS continuous security audits.</a:t>
            </a:r>
          </a:p>
          <a:p>
            <a:pPr marL="171458" indent="-171458">
              <a:buFont typeface="Arial" panose="020B0604020202020204" pitchFamily="34" charset="0"/>
              <a:buChar char="•"/>
            </a:pPr>
            <a:r>
              <a:rPr lang="en-US" sz="1200" dirty="0">
                <a:latin typeface="Raleway Medium" pitchFamily="2" charset="0"/>
              </a:rPr>
              <a:t>Worked on framework for metrics / log / traces integration of services with operation.</a:t>
            </a:r>
          </a:p>
          <a:p>
            <a:pPr marL="171458" indent="-171458">
              <a:buFont typeface="Arial" panose="020B0604020202020204" pitchFamily="34" charset="0"/>
              <a:buChar char="•"/>
            </a:pPr>
            <a:r>
              <a:rPr lang="en-US" sz="1200" dirty="0">
                <a:latin typeface="Raleway Medium" pitchFamily="2" charset="0"/>
              </a:rPr>
              <a:t>Built and deployed Infrastructure As Code using AWS cloud formation</a:t>
            </a:r>
          </a:p>
        </p:txBody>
      </p:sp>
      <p:sp>
        <p:nvSpPr>
          <p:cNvPr id="19" name="TextBox 18">
            <a:extLst>
              <a:ext uri="{FF2B5EF4-FFF2-40B4-BE49-F238E27FC236}">
                <a16:creationId xmlns:a16="http://schemas.microsoft.com/office/drawing/2014/main" id="{3A017297-9CC1-4E3A-B3E1-E59DD550B4F8}"/>
              </a:ext>
            </a:extLst>
          </p:cNvPr>
          <p:cNvSpPr txBox="1"/>
          <p:nvPr/>
        </p:nvSpPr>
        <p:spPr>
          <a:xfrm>
            <a:off x="4119993" y="4470001"/>
            <a:ext cx="7634958" cy="2769989"/>
          </a:xfrm>
          <a:prstGeom prst="rect">
            <a:avLst/>
          </a:prstGeom>
          <a:noFill/>
        </p:spPr>
        <p:txBody>
          <a:bodyPr wrap="square" rtlCol="0">
            <a:spAutoFit/>
          </a:bodyPr>
          <a:lstStyle/>
          <a:p>
            <a:r>
              <a:rPr lang="en-IN" dirty="0">
                <a:latin typeface="Raleway SemiBold" pitchFamily="2" charset="0"/>
              </a:rPr>
              <a:t>Cloud Migration &amp; Modernization Project</a:t>
            </a:r>
          </a:p>
          <a:p>
            <a:r>
              <a:rPr lang="en-IN" sz="1200" dirty="0">
                <a:solidFill>
                  <a:srgbClr val="0070C0"/>
                </a:solidFill>
                <a:latin typeface="Raleway SemiBold" pitchFamily="2" charset="0"/>
              </a:rPr>
              <a:t>(AWS, Python, Terraform, MsSql, Elasticsearch, Docker)</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cloud architectures and security framework for target migration system</a:t>
            </a:r>
          </a:p>
          <a:p>
            <a:pPr marL="171458" indent="-171458">
              <a:buFont typeface="Arial" panose="020B0604020202020204" pitchFamily="34" charset="0"/>
              <a:buChar char="•"/>
            </a:pPr>
            <a:r>
              <a:rPr lang="en-US" sz="1200" dirty="0">
                <a:latin typeface="Raleway Medium" pitchFamily="2" charset="0"/>
              </a:rPr>
              <a:t>Worked on the cloud formation automation to create NIST compliant product enclave in AWS</a:t>
            </a:r>
          </a:p>
          <a:p>
            <a:pPr marL="171458" indent="-171458">
              <a:buFont typeface="Arial" panose="020B0604020202020204" pitchFamily="34" charset="0"/>
              <a:buChar char="•"/>
            </a:pPr>
            <a:r>
              <a:rPr lang="en-US" sz="1200" dirty="0">
                <a:latin typeface="Raleway Medium" pitchFamily="2" charset="0"/>
              </a:rPr>
              <a:t>Worked on computing and storage lifecycle automation script , automated certain runbooks with AWS lambda</a:t>
            </a:r>
          </a:p>
          <a:p>
            <a:pPr marL="171458" indent="-171458">
              <a:buFont typeface="Arial" panose="020B0604020202020204" pitchFamily="34" charset="0"/>
              <a:buChar char="•"/>
            </a:pPr>
            <a:r>
              <a:rPr lang="en-US" sz="1200" dirty="0">
                <a:latin typeface="Raleway Medium" pitchFamily="2" charset="0"/>
              </a:rPr>
              <a:t>Implemented the VPN and software firewall framework for AWS services </a:t>
            </a:r>
          </a:p>
          <a:p>
            <a:pPr marL="171458" indent="-171458">
              <a:buFont typeface="Arial" panose="020B0604020202020204" pitchFamily="34" charset="0"/>
              <a:buChar char="•"/>
            </a:pPr>
            <a:r>
              <a:rPr lang="en-US" sz="1200" dirty="0">
                <a:latin typeface="Raleway Medium" pitchFamily="2" charset="0"/>
              </a:rPr>
              <a:t>Built and deployed AWS billing parser in Python using boto3 api to collect AWS real time billing information in elastic search database and produced analytics.</a:t>
            </a:r>
          </a:p>
          <a:p>
            <a:pPr marL="171458" indent="-171458">
              <a:buFont typeface="Arial" panose="020B0604020202020204" pitchFamily="34" charset="0"/>
              <a:buChar char="•"/>
            </a:pPr>
            <a:r>
              <a:rPr lang="en-US" sz="1200" dirty="0">
                <a:latin typeface="Raleway Medium" pitchFamily="2" charset="0"/>
              </a:rPr>
              <a:t>Worked on production support and customer interaction</a:t>
            </a:r>
          </a:p>
          <a:p>
            <a:pPr marL="171458" indent="-171458">
              <a:buFont typeface="Arial" panose="020B0604020202020204" pitchFamily="34" charset="0"/>
              <a:buChar char="•"/>
            </a:pPr>
            <a:r>
              <a:rPr lang="en-US" sz="1200" dirty="0">
                <a:latin typeface="Raleway Medium" pitchFamily="2" charset="0"/>
              </a:rPr>
              <a:t>Wrote terraform script to provision AWS kinesis for log streaming</a:t>
            </a:r>
          </a:p>
          <a:p>
            <a:pPr marL="171458" indent="-171458">
              <a:buFont typeface="Arial" panose="020B0604020202020204" pitchFamily="34" charset="0"/>
              <a:buChar char="•"/>
            </a:pPr>
            <a:r>
              <a:rPr lang="en-US" sz="1200" dirty="0">
                <a:latin typeface="Raleway Medium" pitchFamily="2" charset="0"/>
              </a:rPr>
              <a:t>Wrote automation for VDI  framework.</a:t>
            </a:r>
          </a:p>
          <a:p>
            <a:pPr algn="l"/>
            <a:endParaRPr lang="en-US" sz="1200" dirty="0">
              <a:highlight>
                <a:srgbClr val="000000"/>
              </a:highlight>
              <a:latin typeface="Raleway Medium" pitchFamily="2" charset="0"/>
            </a:endParaRPr>
          </a:p>
        </p:txBody>
      </p:sp>
      <p:sp>
        <p:nvSpPr>
          <p:cNvPr id="20" name="Rectangle 19">
            <a:extLst>
              <a:ext uri="{FF2B5EF4-FFF2-40B4-BE49-F238E27FC236}">
                <a16:creationId xmlns:a16="http://schemas.microsoft.com/office/drawing/2014/main" id="{82826717-78D8-4D38-BDEC-7C607E613AFA}"/>
              </a:ext>
            </a:extLst>
          </p:cNvPr>
          <p:cNvSpPr/>
          <p:nvPr/>
        </p:nvSpPr>
        <p:spPr>
          <a:xfrm>
            <a:off x="3880427"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4107047" y="800935"/>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702784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450000"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Product Manager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Siddhesh</a:t>
            </a:r>
          </a:p>
        </p:txBody>
      </p:sp>
      <p:sp>
        <p:nvSpPr>
          <p:cNvPr id="17" name="TextBox 16">
            <a:extLst>
              <a:ext uri="{FF2B5EF4-FFF2-40B4-BE49-F238E27FC236}">
                <a16:creationId xmlns:a16="http://schemas.microsoft.com/office/drawing/2014/main" id="{7F08DF72-6A34-4F54-B864-A22C1CE68FEC}"/>
              </a:ext>
            </a:extLst>
          </p:cNvPr>
          <p:cNvSpPr txBox="1"/>
          <p:nvPr/>
        </p:nvSpPr>
        <p:spPr>
          <a:xfrm>
            <a:off x="450000" y="800935"/>
            <a:ext cx="3350821" cy="7017306"/>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managing and contributing to all aspects of Product Life Cycle Management including Information architecture ,requirement gathering , functional specifications,  Use Cases , UX Design, scrum management, release  and production support. Applied best project management and technology practices to deliver product releases in agile environment.</a:t>
            </a:r>
            <a:endParaRPr lang="en-IN" dirty="0"/>
          </a:p>
          <a:p>
            <a:r>
              <a:rPr lang="en-IN" dirty="0">
                <a:latin typeface="Raleway SemiBold" pitchFamily="2" charset="0"/>
              </a:rPr>
              <a:t>Expertise</a:t>
            </a:r>
          </a:p>
          <a:p>
            <a:pPr marL="171458" indent="-171458">
              <a:buFont typeface="Arial" panose="020B0604020202020204" pitchFamily="34" charset="0"/>
              <a:buChar char="•"/>
            </a:pPr>
            <a:r>
              <a:rPr lang="en-US" sz="1200" dirty="0">
                <a:latin typeface="Raleway Medium" pitchFamily="2" charset="0"/>
              </a:rPr>
              <a:t>Developing, reviewing and executing on established technical road maps and continual product optimizations</a:t>
            </a:r>
          </a:p>
          <a:p>
            <a:pPr marL="171458" indent="-171458">
              <a:buFont typeface="Arial" panose="020B0604020202020204" pitchFamily="34" charset="0"/>
              <a:buChar char="•"/>
            </a:pPr>
            <a:r>
              <a:rPr lang="en-US" sz="1200" dirty="0">
                <a:latin typeface="Raleway Medium" pitchFamily="2" charset="0"/>
              </a:rPr>
              <a:t>Leading team members in the delivery of technology solutions which meet business delivery expectations, maintain portfolio currency, and integrate best engineering practices.</a:t>
            </a:r>
          </a:p>
          <a:p>
            <a:pPr marL="171458" indent="-171458">
              <a:buFont typeface="Arial" panose="020B0604020202020204" pitchFamily="34" charset="0"/>
              <a:buChar char="•"/>
            </a:pPr>
            <a:r>
              <a:rPr lang="en-US" sz="1200" dirty="0">
                <a:latin typeface="Raleway Medium" pitchFamily="2" charset="0"/>
              </a:rPr>
              <a:t>Work closely with product stakeholders to write complete user stories  including use case , UX design , test case.</a:t>
            </a:r>
          </a:p>
          <a:p>
            <a:pPr marL="171458" indent="-171458">
              <a:buFont typeface="Arial" panose="020B0604020202020204" pitchFamily="34" charset="0"/>
              <a:buChar char="•"/>
            </a:pPr>
            <a:r>
              <a:rPr lang="en-US" sz="1200" dirty="0">
                <a:latin typeface="Raleway Medium" pitchFamily="2" charset="0"/>
              </a:rPr>
              <a:t>Manage dev priorities and daily scrum </a:t>
            </a:r>
          </a:p>
          <a:p>
            <a:pPr marL="171458" indent="-171458">
              <a:buFont typeface="Arial" panose="020B0604020202020204" pitchFamily="34" charset="0"/>
              <a:buChar char="•"/>
            </a:pPr>
            <a:r>
              <a:rPr lang="en-US" sz="1200" dirty="0">
                <a:latin typeface="Raleway Medium" pitchFamily="2" charset="0"/>
              </a:rPr>
              <a:t>Do risk mitigation and risk contingency for dev projects.</a:t>
            </a:r>
          </a:p>
          <a:p>
            <a:pPr marL="171458" indent="-171458">
              <a:buFont typeface="Arial" panose="020B0604020202020204" pitchFamily="34" charset="0"/>
              <a:buChar char="•"/>
            </a:pPr>
            <a:r>
              <a:rPr lang="en-US" sz="1200" dirty="0">
                <a:latin typeface="Raleway Medium" pitchFamily="2" charset="0"/>
              </a:rPr>
              <a:t>Do release management and release documentation.</a:t>
            </a:r>
          </a:p>
          <a:p>
            <a:pPr marL="171458" indent="-171458">
              <a:buFont typeface="Arial" panose="020B0604020202020204" pitchFamily="34" charset="0"/>
              <a:buChar char="•"/>
            </a:pPr>
            <a:r>
              <a:rPr lang="en-US" sz="1200" dirty="0">
                <a:latin typeface="Raleway Medium" pitchFamily="2" charset="0"/>
              </a:rPr>
              <a:t>Do product promotion and presales support. </a:t>
            </a:r>
            <a:endParaRPr lang="en-IN" sz="1200" dirty="0">
              <a:latin typeface="Raleway Medium" pitchFamily="2" charset="0"/>
            </a:endParaRPr>
          </a:p>
          <a:p>
            <a:pPr marL="171458" indent="-171458">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Atlassian Jira , Microsoft project , Adobe XD , Microsoft Team Planner, OneNote </a:t>
            </a:r>
          </a:p>
          <a:p>
            <a:r>
              <a:rPr lang="en-IN" dirty="0">
                <a:latin typeface="Raleway SemiBold" pitchFamily="2" charset="0"/>
              </a:rPr>
              <a:t>Qualification</a:t>
            </a:r>
          </a:p>
          <a:p>
            <a:r>
              <a:rPr lang="en-IN" sz="1200" dirty="0">
                <a:latin typeface="Raleway Medium" pitchFamily="2" charset="0"/>
              </a:rPr>
              <a:t>Has Master in International Business Management</a:t>
            </a:r>
          </a:p>
        </p:txBody>
      </p:sp>
      <p:sp>
        <p:nvSpPr>
          <p:cNvPr id="18" name="TextBox 17">
            <a:extLst>
              <a:ext uri="{FF2B5EF4-FFF2-40B4-BE49-F238E27FC236}">
                <a16:creationId xmlns:a16="http://schemas.microsoft.com/office/drawing/2014/main" id="{2F7DF6C4-C442-43BD-99B8-D9370A580957}"/>
              </a:ext>
            </a:extLst>
          </p:cNvPr>
          <p:cNvSpPr txBox="1"/>
          <p:nvPr/>
        </p:nvSpPr>
        <p:spPr>
          <a:xfrm>
            <a:off x="4107047" y="1462324"/>
            <a:ext cx="7865215" cy="2954655"/>
          </a:xfrm>
          <a:prstGeom prst="rect">
            <a:avLst/>
          </a:prstGeom>
          <a:noFill/>
        </p:spPr>
        <p:txBody>
          <a:bodyPr wrap="square" rtlCol="0">
            <a:spAutoFit/>
          </a:bodyPr>
          <a:lstStyle/>
          <a:p>
            <a:r>
              <a:rPr lang="en-IN" dirty="0">
                <a:latin typeface="Raleway SemiBold" pitchFamily="2" charset="0"/>
              </a:rPr>
              <a:t>Synectiks Appkube Platform</a:t>
            </a:r>
          </a:p>
          <a:p>
            <a:r>
              <a:rPr lang="en-IN" sz="1200" dirty="0">
                <a:solidFill>
                  <a:srgbClr val="0070C0"/>
                </a:solidFill>
                <a:latin typeface="Raleway SemiBold" pitchFamily="2" charset="0"/>
              </a:rPr>
              <a:t>(Microsoft Team Planner , Adobe XD , OneNote )</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with product stakeholders to define product roadmap and release schedule</a:t>
            </a:r>
          </a:p>
          <a:p>
            <a:pPr marL="171458" indent="-171458">
              <a:buFont typeface="Arial" panose="020B0604020202020204" pitchFamily="34" charset="0"/>
              <a:buChar char="•"/>
            </a:pPr>
            <a:r>
              <a:rPr lang="en-US" sz="1200" dirty="0">
                <a:latin typeface="Raleway Medium" pitchFamily="2" charset="0"/>
              </a:rPr>
              <a:t>Worked on writing complete user stories for business use cases.</a:t>
            </a:r>
          </a:p>
          <a:p>
            <a:pPr marL="171458" indent="-171458">
              <a:buFont typeface="Arial" panose="020B0604020202020204" pitchFamily="34" charset="0"/>
              <a:buChar char="•"/>
            </a:pPr>
            <a:r>
              <a:rPr lang="en-US" sz="1200" dirty="0">
                <a:latin typeface="Raleway Medium" pitchFamily="2" charset="0"/>
              </a:rPr>
              <a:t>Worked on </a:t>
            </a:r>
            <a:r>
              <a:rPr lang="en-US" sz="1200" dirty="0" err="1">
                <a:latin typeface="Raleway Medium" pitchFamily="2" charset="0"/>
              </a:rPr>
              <a:t>Ux</a:t>
            </a:r>
            <a:r>
              <a:rPr lang="en-US" sz="1200" dirty="0">
                <a:latin typeface="Raleway Medium" pitchFamily="2" charset="0"/>
              </a:rPr>
              <a:t> Design screen to define complete user experience.</a:t>
            </a:r>
          </a:p>
          <a:p>
            <a:pPr marL="171458" indent="-171458">
              <a:buFont typeface="Arial" panose="020B0604020202020204" pitchFamily="34" charset="0"/>
              <a:buChar char="•"/>
            </a:pPr>
            <a:r>
              <a:rPr lang="en-US" sz="1200" dirty="0">
                <a:latin typeface="Raleway Medium" pitchFamily="2" charset="0"/>
              </a:rPr>
              <a:t>Worked on product gap analysis and SWOT analysis and GTM strategies</a:t>
            </a:r>
          </a:p>
          <a:p>
            <a:pPr marL="171458" indent="-171458">
              <a:buFont typeface="Arial" panose="020B0604020202020204" pitchFamily="34" charset="0"/>
              <a:buChar char="•"/>
            </a:pPr>
            <a:r>
              <a:rPr lang="en-US" sz="1200" dirty="0">
                <a:latin typeface="Raleway Medium" pitchFamily="2" charset="0"/>
              </a:rPr>
              <a:t>Worked on  information architecture , workflows and BPM processes.  </a:t>
            </a:r>
          </a:p>
          <a:p>
            <a:pPr marL="171458" indent="-171458">
              <a:buFont typeface="Arial" panose="020B0604020202020204" pitchFamily="34" charset="0"/>
              <a:buChar char="•"/>
            </a:pPr>
            <a:r>
              <a:rPr lang="en-US" sz="1200" dirty="0">
                <a:latin typeface="Raleway Medium" pitchFamily="2" charset="0"/>
              </a:rPr>
              <a:t>Worked on release management , release note preparation and release verification.</a:t>
            </a:r>
          </a:p>
          <a:p>
            <a:pPr marL="171458" indent="-171458">
              <a:buFont typeface="Arial" panose="020B0604020202020204" pitchFamily="34" charset="0"/>
              <a:buChar char="•"/>
            </a:pPr>
            <a:r>
              <a:rPr lang="en-US" sz="1200" dirty="0">
                <a:latin typeface="Raleway Medium" pitchFamily="2" charset="0"/>
              </a:rPr>
              <a:t>Worked on daily scrum management , managed product backlog, </a:t>
            </a:r>
          </a:p>
          <a:p>
            <a:pPr marL="171458" indent="-171458">
              <a:buFont typeface="Arial" panose="020B0604020202020204" pitchFamily="34" charset="0"/>
              <a:buChar char="•"/>
            </a:pPr>
            <a:r>
              <a:rPr lang="en-US" sz="1200" dirty="0">
                <a:latin typeface="Raleway Medium" pitchFamily="2" charset="0"/>
              </a:rPr>
              <a:t>Worked on risk mitigation and risk contingencies for any project dependencies , logistics </a:t>
            </a:r>
          </a:p>
          <a:p>
            <a:pPr marL="171458" indent="-171458">
              <a:buFont typeface="Arial" panose="020B0604020202020204" pitchFamily="34" charset="0"/>
              <a:buChar char="•"/>
            </a:pPr>
            <a:r>
              <a:rPr lang="en-US" sz="1200" dirty="0">
                <a:latin typeface="Raleway Medium" pitchFamily="2" charset="0"/>
              </a:rPr>
              <a:t>Worked on defining analytics and workflows across the product </a:t>
            </a:r>
          </a:p>
          <a:p>
            <a:pPr marL="171458" indent="-171458">
              <a:buFont typeface="Arial" panose="020B0604020202020204" pitchFamily="34" charset="0"/>
              <a:buChar char="•"/>
            </a:pPr>
            <a:r>
              <a:rPr lang="en-US" sz="1200" dirty="0">
                <a:latin typeface="Raleway Medium" pitchFamily="2" charset="0"/>
              </a:rPr>
              <a:t>Worked on managing testcases , test framework </a:t>
            </a:r>
          </a:p>
          <a:p>
            <a:pPr marL="171458" indent="-171458">
              <a:buFont typeface="Arial" panose="020B0604020202020204" pitchFamily="34" charset="0"/>
              <a:buChar char="•"/>
            </a:pPr>
            <a:r>
              <a:rPr lang="en-US" sz="1200" dirty="0">
                <a:latin typeface="Raleway Medium" pitchFamily="2" charset="0"/>
              </a:rPr>
              <a:t>Worked on writing product user guide , marketing promotion guide.</a:t>
            </a:r>
          </a:p>
          <a:p>
            <a:pPr marL="171458" indent="-171458">
              <a:buFont typeface="Arial" panose="020B0604020202020204" pitchFamily="34" charset="0"/>
              <a:buChar char="•"/>
            </a:pPr>
            <a:r>
              <a:rPr lang="en-US" sz="1200" dirty="0">
                <a:latin typeface="Raleway Medium" pitchFamily="2" charset="0"/>
              </a:rPr>
              <a:t>Worked on presales support for the product</a:t>
            </a:r>
          </a:p>
        </p:txBody>
      </p:sp>
      <p:sp>
        <p:nvSpPr>
          <p:cNvPr id="19" name="TextBox 18">
            <a:extLst>
              <a:ext uri="{FF2B5EF4-FFF2-40B4-BE49-F238E27FC236}">
                <a16:creationId xmlns:a16="http://schemas.microsoft.com/office/drawing/2014/main" id="{3A017297-9CC1-4E3A-B3E1-E59DD550B4F8}"/>
              </a:ext>
            </a:extLst>
          </p:cNvPr>
          <p:cNvSpPr txBox="1"/>
          <p:nvPr/>
        </p:nvSpPr>
        <p:spPr>
          <a:xfrm>
            <a:off x="4058239" y="4719554"/>
            <a:ext cx="7634958" cy="3139321"/>
          </a:xfrm>
          <a:prstGeom prst="rect">
            <a:avLst/>
          </a:prstGeom>
          <a:noFill/>
        </p:spPr>
        <p:txBody>
          <a:bodyPr wrap="square" rtlCol="0">
            <a:spAutoFit/>
          </a:bodyPr>
          <a:lstStyle/>
          <a:p>
            <a:r>
              <a:rPr lang="en-IN" dirty="0">
                <a:latin typeface="Raleway SemiBold" pitchFamily="2" charset="0"/>
              </a:rPr>
              <a:t>Education Management System</a:t>
            </a:r>
          </a:p>
          <a:p>
            <a:r>
              <a:rPr lang="en-IN" sz="1200" dirty="0">
                <a:solidFill>
                  <a:srgbClr val="0070C0"/>
                </a:solidFill>
                <a:latin typeface="Raleway SemiBold" pitchFamily="2" charset="0"/>
              </a:rPr>
              <a:t>(Atlassian Jira , Confluence , Adobe XD)</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with product stakeholders to define product roadmap and release schedule</a:t>
            </a:r>
          </a:p>
          <a:p>
            <a:pPr marL="171458" indent="-171458">
              <a:buFont typeface="Arial" panose="020B0604020202020204" pitchFamily="34" charset="0"/>
              <a:buChar char="•"/>
            </a:pPr>
            <a:r>
              <a:rPr lang="en-US" sz="1200" dirty="0">
                <a:latin typeface="Raleway Medium" pitchFamily="2" charset="0"/>
              </a:rPr>
              <a:t>Worked on writing complete user stories for business use cases.</a:t>
            </a:r>
          </a:p>
          <a:p>
            <a:pPr marL="171458" indent="-171458">
              <a:buFont typeface="Arial" panose="020B0604020202020204" pitchFamily="34" charset="0"/>
              <a:buChar char="•"/>
            </a:pPr>
            <a:r>
              <a:rPr lang="en-US" sz="1200" dirty="0">
                <a:latin typeface="Raleway Medium" pitchFamily="2" charset="0"/>
              </a:rPr>
              <a:t>Worked on </a:t>
            </a:r>
            <a:r>
              <a:rPr lang="en-US" sz="1200" dirty="0" err="1">
                <a:latin typeface="Raleway Medium" pitchFamily="2" charset="0"/>
              </a:rPr>
              <a:t>Ux</a:t>
            </a:r>
            <a:r>
              <a:rPr lang="en-US" sz="1200" dirty="0">
                <a:latin typeface="Raleway Medium" pitchFamily="2" charset="0"/>
              </a:rPr>
              <a:t> Design screen to define complete user experience.</a:t>
            </a:r>
          </a:p>
          <a:p>
            <a:pPr marL="171458" indent="-171458">
              <a:buFont typeface="Arial" panose="020B0604020202020204" pitchFamily="34" charset="0"/>
              <a:buChar char="•"/>
            </a:pPr>
            <a:r>
              <a:rPr lang="en-US" sz="1200" dirty="0">
                <a:latin typeface="Raleway Medium" pitchFamily="2" charset="0"/>
              </a:rPr>
              <a:t>Worked on product gap analysis and SWOT analysis and GTM strategies</a:t>
            </a:r>
          </a:p>
          <a:p>
            <a:pPr marL="171458" indent="-171458">
              <a:buFont typeface="Arial" panose="020B0604020202020204" pitchFamily="34" charset="0"/>
              <a:buChar char="•"/>
            </a:pPr>
            <a:r>
              <a:rPr lang="en-US" sz="1200" dirty="0">
                <a:latin typeface="Raleway Medium" pitchFamily="2" charset="0"/>
              </a:rPr>
              <a:t>Worked on  information architecture , workflows and BPM processes.  </a:t>
            </a:r>
          </a:p>
          <a:p>
            <a:pPr marL="171458" indent="-171458">
              <a:buFont typeface="Arial" panose="020B0604020202020204" pitchFamily="34" charset="0"/>
              <a:buChar char="•"/>
            </a:pPr>
            <a:r>
              <a:rPr lang="en-US" sz="1200" dirty="0">
                <a:latin typeface="Raleway Medium" pitchFamily="2" charset="0"/>
              </a:rPr>
              <a:t>Worked on release management , release note preparation and release verification.</a:t>
            </a:r>
          </a:p>
          <a:p>
            <a:pPr marL="171458" indent="-171458">
              <a:buFont typeface="Arial" panose="020B0604020202020204" pitchFamily="34" charset="0"/>
              <a:buChar char="•"/>
            </a:pPr>
            <a:r>
              <a:rPr lang="en-US" sz="1200" dirty="0">
                <a:latin typeface="Raleway Medium" pitchFamily="2" charset="0"/>
              </a:rPr>
              <a:t>Worked on daily scrum management , managed product backlog, </a:t>
            </a:r>
          </a:p>
          <a:p>
            <a:pPr marL="171458" indent="-171458">
              <a:buFont typeface="Arial" panose="020B0604020202020204" pitchFamily="34" charset="0"/>
              <a:buChar char="•"/>
            </a:pPr>
            <a:r>
              <a:rPr lang="en-US" sz="1200" dirty="0">
                <a:latin typeface="Raleway Medium" pitchFamily="2" charset="0"/>
              </a:rPr>
              <a:t>Worked on risk mitigation and risk contingencies for any project dependencies , logistics </a:t>
            </a:r>
          </a:p>
          <a:p>
            <a:pPr marL="171458" indent="-171458">
              <a:buFont typeface="Arial" panose="020B0604020202020204" pitchFamily="34" charset="0"/>
              <a:buChar char="•"/>
            </a:pPr>
            <a:r>
              <a:rPr lang="en-US" sz="1200" dirty="0">
                <a:latin typeface="Raleway Medium" pitchFamily="2" charset="0"/>
              </a:rPr>
              <a:t>Worked on defining analytics and workflows across the product </a:t>
            </a:r>
          </a:p>
          <a:p>
            <a:pPr marL="171458" indent="-171458">
              <a:buFont typeface="Arial" panose="020B0604020202020204" pitchFamily="34" charset="0"/>
              <a:buChar char="•"/>
            </a:pPr>
            <a:r>
              <a:rPr lang="en-US" sz="1200" dirty="0">
                <a:latin typeface="Raleway Medium" pitchFamily="2" charset="0"/>
              </a:rPr>
              <a:t>Worked on managing testcases , test framework </a:t>
            </a:r>
          </a:p>
          <a:p>
            <a:pPr marL="171458" indent="-171458">
              <a:buFont typeface="Arial" panose="020B0604020202020204" pitchFamily="34" charset="0"/>
              <a:buChar char="•"/>
            </a:pPr>
            <a:r>
              <a:rPr lang="en-US" sz="1200" dirty="0">
                <a:latin typeface="Raleway Medium" pitchFamily="2" charset="0"/>
              </a:rPr>
              <a:t>Worked on writing product user guide , marketing promotion guide.</a:t>
            </a:r>
          </a:p>
          <a:p>
            <a:pPr marL="171458" indent="-171458">
              <a:buFont typeface="Arial" panose="020B0604020202020204" pitchFamily="34" charset="0"/>
              <a:buChar char="•"/>
            </a:pPr>
            <a:r>
              <a:rPr lang="en-US" sz="1200" dirty="0">
                <a:latin typeface="Raleway Medium" pitchFamily="2" charset="0"/>
              </a:rPr>
              <a:t>Worked on presales support for the product</a:t>
            </a:r>
          </a:p>
          <a:p>
            <a:endParaRPr lang="en-US" sz="1200" dirty="0">
              <a:latin typeface="Raleway Medium" pitchFamily="2" charset="0"/>
            </a:endParaRPr>
          </a:p>
        </p:txBody>
      </p:sp>
      <p:sp>
        <p:nvSpPr>
          <p:cNvPr id="20" name="Rectangle 19">
            <a:extLst>
              <a:ext uri="{FF2B5EF4-FFF2-40B4-BE49-F238E27FC236}">
                <a16:creationId xmlns:a16="http://schemas.microsoft.com/office/drawing/2014/main" id="{82826717-78D8-4D38-BDEC-7C607E613AFA}"/>
              </a:ext>
            </a:extLst>
          </p:cNvPr>
          <p:cNvSpPr/>
          <p:nvPr/>
        </p:nvSpPr>
        <p:spPr>
          <a:xfrm>
            <a:off x="3880427"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4107047" y="800935"/>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1266523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450000"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Tech Lead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Rajesh</a:t>
            </a:r>
          </a:p>
        </p:txBody>
      </p:sp>
      <p:sp>
        <p:nvSpPr>
          <p:cNvPr id="17" name="TextBox 16">
            <a:extLst>
              <a:ext uri="{FF2B5EF4-FFF2-40B4-BE49-F238E27FC236}">
                <a16:creationId xmlns:a16="http://schemas.microsoft.com/office/drawing/2014/main" id="{7F08DF72-6A34-4F54-B864-A22C1CE68FEC}"/>
              </a:ext>
            </a:extLst>
          </p:cNvPr>
          <p:cNvSpPr txBox="1"/>
          <p:nvPr/>
        </p:nvSpPr>
        <p:spPr>
          <a:xfrm>
            <a:off x="450000" y="800935"/>
            <a:ext cx="3350821" cy="7201972"/>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managing and contributing to all aspects of Java based application development including functional and technical specifications, design, development and production support. Applied best architectural and programming patterns to write highly scalable java microservices services in distributed computing environment.</a:t>
            </a:r>
            <a:endParaRPr lang="en-IN" sz="1200" dirty="0">
              <a:latin typeface="Raleway Medium" panose="020B0604020202020204" pitchFamily="2" charset="0"/>
            </a:endParaRPr>
          </a:p>
          <a:p>
            <a:endParaRPr lang="en-IN" dirty="0"/>
          </a:p>
          <a:p>
            <a:r>
              <a:rPr lang="en-IN" dirty="0">
                <a:latin typeface="Raleway SemiBold" pitchFamily="2" charset="0"/>
              </a:rPr>
              <a:t>Expertise</a:t>
            </a:r>
          </a:p>
          <a:p>
            <a:pPr marL="171458" indent="-171458">
              <a:buFont typeface="Arial" panose="020B0604020202020204" pitchFamily="34" charset="0"/>
              <a:buChar char="•"/>
            </a:pPr>
            <a:r>
              <a:rPr lang="en-US" sz="1200" dirty="0">
                <a:latin typeface="Raleway Medium" pitchFamily="2" charset="0"/>
              </a:rPr>
              <a:t>Developing, reviewing and executing on established technical road maps and continual product optimizations</a:t>
            </a:r>
          </a:p>
          <a:p>
            <a:pPr marL="171458" indent="-171458">
              <a:buFont typeface="Arial" panose="020B0604020202020204" pitchFamily="34" charset="0"/>
              <a:buChar char="•"/>
            </a:pPr>
            <a:r>
              <a:rPr lang="en-US" sz="1200" dirty="0">
                <a:latin typeface="Raleway Medium" pitchFamily="2" charset="0"/>
              </a:rPr>
              <a:t>Leading team members in the delivery of technology solutions which meet business delivery expectations, maintain portfolio currency, and integrate best engineering practices.</a:t>
            </a:r>
          </a:p>
          <a:p>
            <a:pPr marL="171458" indent="-171458">
              <a:buFont typeface="Arial" panose="020B0604020202020204" pitchFamily="34" charset="0"/>
              <a:buChar char="•"/>
            </a:pPr>
            <a:r>
              <a:rPr lang="en-US" sz="1200" dirty="0">
                <a:latin typeface="Raleway Medium" pitchFamily="2" charset="0"/>
              </a:rPr>
              <a:t>Work closely with product managers and story owners to design features and prioritize tasks</a:t>
            </a:r>
          </a:p>
          <a:p>
            <a:pPr marL="171458" indent="-171458">
              <a:buFont typeface="Arial" panose="020B0604020202020204" pitchFamily="34" charset="0"/>
              <a:buChar char="•"/>
            </a:pPr>
            <a:r>
              <a:rPr lang="en-US" sz="1200" dirty="0">
                <a:latin typeface="Raleway Medium" pitchFamily="2" charset="0"/>
              </a:rPr>
              <a:t>Has experience in designing the solutions (UML/ERD) for requirement.</a:t>
            </a:r>
          </a:p>
          <a:p>
            <a:pPr marL="171458" indent="-171458">
              <a:buFont typeface="Arial" panose="020B0604020202020204" pitchFamily="34" charset="0"/>
              <a:buChar char="•"/>
            </a:pPr>
            <a:r>
              <a:rPr lang="en-US" sz="1200" dirty="0">
                <a:latin typeface="Raleway Medium" pitchFamily="2" charset="0"/>
              </a:rPr>
              <a:t>Has experience in developing a highly modular microservice based product.</a:t>
            </a:r>
            <a:endParaRPr lang="en-IN" sz="1200" dirty="0">
              <a:latin typeface="Raleway Medium" pitchFamily="2" charset="0"/>
            </a:endParaRPr>
          </a:p>
          <a:p>
            <a:pPr marL="171458" indent="-171458">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Eclipse, Git, Postman, Docker</a:t>
            </a:r>
          </a:p>
          <a:p>
            <a:pPr marL="171458" indent="-171458">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8" name="TextBox 17">
            <a:extLst>
              <a:ext uri="{FF2B5EF4-FFF2-40B4-BE49-F238E27FC236}">
                <a16:creationId xmlns:a16="http://schemas.microsoft.com/office/drawing/2014/main" id="{2F7DF6C4-C442-43BD-99B8-D9370A580957}"/>
              </a:ext>
            </a:extLst>
          </p:cNvPr>
          <p:cNvSpPr txBox="1"/>
          <p:nvPr/>
        </p:nvSpPr>
        <p:spPr>
          <a:xfrm>
            <a:off x="4107047" y="1462324"/>
            <a:ext cx="7865215" cy="2585323"/>
          </a:xfrm>
          <a:prstGeom prst="rect">
            <a:avLst/>
          </a:prstGeom>
          <a:noFill/>
        </p:spPr>
        <p:txBody>
          <a:bodyPr wrap="square" rtlCol="0">
            <a:spAutoFit/>
          </a:bodyPr>
          <a:lstStyle/>
          <a:p>
            <a:r>
              <a:rPr lang="en-IN" dirty="0">
                <a:latin typeface="Raleway SemiBold" pitchFamily="2" charset="0"/>
              </a:rPr>
              <a:t>Synectiks Appkube Platform</a:t>
            </a:r>
          </a:p>
          <a:p>
            <a:r>
              <a:rPr lang="en-IN" sz="1200" dirty="0">
                <a:solidFill>
                  <a:srgbClr val="0070C0"/>
                </a:solidFill>
                <a:latin typeface="Raleway SemiBold" pitchFamily="2" charset="0"/>
              </a:rPr>
              <a:t>(Java8, Spring Boot, JPA, PostgreSQL, Elasticsearch, Docker, Aws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the Enterprise SOA patterns across the products services</a:t>
            </a: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policy engine</a:t>
            </a:r>
          </a:p>
          <a:p>
            <a:pPr marL="171458" indent="-171458">
              <a:buFont typeface="Arial" panose="020B0604020202020204" pitchFamily="34" charset="0"/>
              <a:buChar char="•"/>
            </a:pPr>
            <a:r>
              <a:rPr lang="en-US" sz="1200" dirty="0">
                <a:latin typeface="Raleway Medium" pitchFamily="2" charset="0"/>
              </a:rPr>
              <a:t>Lead the team members to integrate best engineering practices</a:t>
            </a:r>
          </a:p>
          <a:p>
            <a:pPr marL="171458" indent="-171458">
              <a:buFont typeface="Arial" panose="020B0604020202020204" pitchFamily="34" charset="0"/>
              <a:buChar char="•"/>
            </a:pPr>
            <a:r>
              <a:rPr lang="en-US" sz="1200" dirty="0">
                <a:latin typeface="Raleway Medium" pitchFamily="2" charset="0"/>
              </a:rPr>
              <a:t>Worked on plugin framework to make services more modular</a:t>
            </a:r>
          </a:p>
          <a:p>
            <a:pPr marL="171458" indent="-171458">
              <a:buFont typeface="Arial" panose="020B0604020202020204" pitchFamily="34" charset="0"/>
              <a:buChar char="•"/>
            </a:pPr>
            <a:r>
              <a:rPr lang="en-US" sz="1200" dirty="0">
                <a:latin typeface="Raleway Medium" pitchFamily="2" charset="0"/>
              </a:rPr>
              <a:t>Worked on Integration pattern between internal and external services </a:t>
            </a:r>
          </a:p>
          <a:p>
            <a:pPr marL="171458" indent="-171458">
              <a:buFont typeface="Arial" panose="020B0604020202020204" pitchFamily="34" charset="0"/>
              <a:buChar char="•"/>
            </a:pPr>
            <a:r>
              <a:rPr lang="en-US" sz="1200" dirty="0">
                <a:latin typeface="Raleway Medium" pitchFamily="2" charset="0"/>
              </a:rPr>
              <a:t>Worked on applying the cloud SDK’s</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a:p>
            <a:pPr marL="171458" indent="-171458">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8" indent="-171458">
              <a:buFont typeface="Arial" panose="020B0604020202020204" pitchFamily="34" charset="0"/>
              <a:buChar char="•"/>
            </a:pPr>
            <a:r>
              <a:rPr lang="en-US" sz="1200" dirty="0">
                <a:latin typeface="Raleway Medium" pitchFamily="2" charset="0"/>
              </a:rPr>
              <a:t>Worked with DevSecOps team to establish framework for continuous delivery , deployment automation.</a:t>
            </a:r>
            <a:endParaRPr lang="en-IN" sz="1200" dirty="0">
              <a:latin typeface="Raleway Medium" pitchFamily="2" charset="0"/>
            </a:endParaRPr>
          </a:p>
        </p:txBody>
      </p:sp>
      <p:sp>
        <p:nvSpPr>
          <p:cNvPr id="19" name="TextBox 18">
            <a:extLst>
              <a:ext uri="{FF2B5EF4-FFF2-40B4-BE49-F238E27FC236}">
                <a16:creationId xmlns:a16="http://schemas.microsoft.com/office/drawing/2014/main" id="{3A017297-9CC1-4E3A-B3E1-E59DD550B4F8}"/>
              </a:ext>
            </a:extLst>
          </p:cNvPr>
          <p:cNvSpPr txBox="1"/>
          <p:nvPr/>
        </p:nvSpPr>
        <p:spPr>
          <a:xfrm>
            <a:off x="4107046" y="4168833"/>
            <a:ext cx="7634958" cy="2215991"/>
          </a:xfrm>
          <a:prstGeom prst="rect">
            <a:avLst/>
          </a:prstGeom>
          <a:noFill/>
        </p:spPr>
        <p:txBody>
          <a:bodyPr wrap="square" rtlCol="0">
            <a:spAutoFit/>
          </a:bodyPr>
          <a:lstStyle/>
          <a:p>
            <a:r>
              <a:rPr lang="en-IN" dirty="0">
                <a:latin typeface="Raleway SemiBold" pitchFamily="2" charset="0"/>
              </a:rPr>
              <a:t>Network Authority </a:t>
            </a:r>
          </a:p>
          <a:p>
            <a:r>
              <a:rPr lang="en-IN" sz="1200" dirty="0">
                <a:solidFill>
                  <a:srgbClr val="0070C0"/>
                </a:solidFill>
                <a:latin typeface="Raleway SemiBold" pitchFamily="2" charset="0"/>
              </a:rPr>
              <a:t>(Java8, Spring Boot, JPA, PostgreSQL, Elasticsearch)</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discovery and change management modules</a:t>
            </a:r>
          </a:p>
          <a:p>
            <a:pPr marL="171458" indent="-171458">
              <a:buFont typeface="Arial" panose="020B0604020202020204" pitchFamily="34" charset="0"/>
              <a:buChar char="•"/>
            </a:pPr>
            <a:r>
              <a:rPr lang="en-US" sz="1200" dirty="0">
                <a:latin typeface="Raleway Medium" pitchFamily="2" charset="0"/>
              </a:rPr>
              <a:t>Worked on production support and critical bug fixes for the product.</a:t>
            </a:r>
          </a:p>
          <a:p>
            <a:pPr marL="171458" indent="-171458">
              <a:buFont typeface="Arial" panose="020B0604020202020204" pitchFamily="34" charset="0"/>
              <a:buChar char="•"/>
            </a:pPr>
            <a:r>
              <a:rPr lang="en-US" sz="1200" dirty="0">
                <a:latin typeface="Raleway Medium" pitchFamily="2" charset="0"/>
              </a:rPr>
              <a:t>Worked on developing a highly scalable network discovery and config backup framework</a:t>
            </a:r>
          </a:p>
          <a:p>
            <a:pPr marL="171458" indent="-171458">
              <a:buFont typeface="Arial" panose="020B0604020202020204" pitchFamily="34" charset="0"/>
              <a:buChar char="•"/>
            </a:pPr>
            <a:r>
              <a:rPr lang="en-US" sz="1200" dirty="0">
                <a:latin typeface="Raleway Medium" pitchFamily="2" charset="0"/>
              </a:rPr>
              <a:t>Wrote docker composers for Dev env creation and tests.</a:t>
            </a:r>
          </a:p>
          <a:p>
            <a:pPr marL="171458" indent="-171458">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8" indent="-171458">
              <a:buFont typeface="Arial" panose="020B0604020202020204" pitchFamily="34" charset="0"/>
              <a:buChar char="•"/>
            </a:pPr>
            <a:r>
              <a:rPr lang="en-US" sz="1200" dirty="0">
                <a:latin typeface="Raleway Medium" pitchFamily="2" charset="0"/>
              </a:rPr>
              <a:t>Worked on the overall release of the product.</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82826717-78D8-4D38-BDEC-7C607E613AFA}"/>
              </a:ext>
            </a:extLst>
          </p:cNvPr>
          <p:cNvSpPr/>
          <p:nvPr/>
        </p:nvSpPr>
        <p:spPr>
          <a:xfrm>
            <a:off x="3880427"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4107047" y="800935"/>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20775768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1220</TotalTime>
  <Words>1314</Words>
  <Application>Microsoft Office PowerPoint</Application>
  <PresentationFormat>Custom</PresentationFormat>
  <Paragraphs>131</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Calibri Light</vt:lpstr>
      <vt:lpstr>Raleway ExtraBold</vt:lpstr>
      <vt:lpstr>Raleway Medium</vt:lpstr>
      <vt:lpstr>Raleway SemiBold</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Imran Mohd</dc:creator>
  <cp:lastModifiedBy>Papu Bhattacharya</cp:lastModifiedBy>
  <cp:revision>56</cp:revision>
  <dcterms:created xsi:type="dcterms:W3CDTF">2021-09-22T11:31:43Z</dcterms:created>
  <dcterms:modified xsi:type="dcterms:W3CDTF">2021-10-07T11:16:14Z</dcterms:modified>
</cp:coreProperties>
</file>