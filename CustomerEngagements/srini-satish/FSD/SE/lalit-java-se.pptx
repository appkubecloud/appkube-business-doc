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402" r:id="rId2"/>
  </p:sldIdLst>
  <p:sldSz cx="12193588"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1355149"/>
            <a:ext cx="10364550" cy="2882806"/>
          </a:xfrm>
        </p:spPr>
        <p:txBody>
          <a:bodyPr anchor="b"/>
          <a:lstStyle>
            <a:lvl1pPr algn="ctr">
              <a:defRPr sz="7244"/>
            </a:lvl1pPr>
          </a:lstStyle>
          <a:p>
            <a:r>
              <a:rPr lang="en-US"/>
              <a:t>Click to edit Master title style</a:t>
            </a:r>
            <a:endParaRPr lang="en-US" dirty="0"/>
          </a:p>
        </p:txBody>
      </p:sp>
      <p:sp>
        <p:nvSpPr>
          <p:cNvPr id="3" name="Subtitle 2"/>
          <p:cNvSpPr>
            <a:spLocks noGrp="1"/>
          </p:cNvSpPr>
          <p:nvPr>
            <p:ph type="subTitle" idx="1"/>
          </p:nvPr>
        </p:nvSpPr>
        <p:spPr>
          <a:xfrm>
            <a:off x="1524199" y="4349128"/>
            <a:ext cx="9145191" cy="1999179"/>
          </a:xfrm>
        </p:spPr>
        <p:txBody>
          <a:bodyPr/>
          <a:lstStyle>
            <a:lvl1pPr marL="0" indent="0" algn="ctr">
              <a:buNone/>
              <a:defRPr sz="2898"/>
            </a:lvl1pPr>
            <a:lvl2pPr marL="552023" indent="0" algn="ctr">
              <a:buNone/>
              <a:defRPr sz="2415"/>
            </a:lvl2pPr>
            <a:lvl3pPr marL="1104047" indent="0" algn="ctr">
              <a:buNone/>
              <a:defRPr sz="2173"/>
            </a:lvl3pPr>
            <a:lvl4pPr marL="1656070" indent="0" algn="ctr">
              <a:buNone/>
              <a:defRPr sz="1932"/>
            </a:lvl4pPr>
            <a:lvl5pPr marL="2208093" indent="0" algn="ctr">
              <a:buNone/>
              <a:defRPr sz="1932"/>
            </a:lvl5pPr>
            <a:lvl6pPr marL="2760116" indent="0" algn="ctr">
              <a:buNone/>
              <a:defRPr sz="1932"/>
            </a:lvl6pPr>
            <a:lvl7pPr marL="3312140" indent="0" algn="ctr">
              <a:buNone/>
              <a:defRPr sz="1932"/>
            </a:lvl7pPr>
            <a:lvl8pPr marL="3864163" indent="0" algn="ctr">
              <a:buNone/>
              <a:defRPr sz="1932"/>
            </a:lvl8pPr>
            <a:lvl9pPr marL="4416186"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65686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0816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2064352"/>
            <a:ext cx="10516970" cy="3444416"/>
          </a:xfrm>
        </p:spPr>
        <p:txBody>
          <a:bodyPr anchor="b"/>
          <a:lstStyle>
            <a:lvl1pPr>
              <a:defRPr sz="7244"/>
            </a:lvl1pPr>
          </a:lstStyle>
          <a:p>
            <a:r>
              <a:rPr lang="en-US"/>
              <a:t>Click to edit Master title style</a:t>
            </a:r>
            <a:endParaRPr lang="en-US" dirty="0"/>
          </a:p>
        </p:txBody>
      </p:sp>
      <p:sp>
        <p:nvSpPr>
          <p:cNvPr id="3" name="Text Placeholder 2"/>
          <p:cNvSpPr>
            <a:spLocks noGrp="1"/>
          </p:cNvSpPr>
          <p:nvPr>
            <p:ph type="body" idx="1"/>
          </p:nvPr>
        </p:nvSpPr>
        <p:spPr>
          <a:xfrm>
            <a:off x="831959" y="5541353"/>
            <a:ext cx="10516970" cy="1811337"/>
          </a:xfrm>
        </p:spPr>
        <p:txBody>
          <a:bodyPr/>
          <a:lstStyle>
            <a:lvl1pPr marL="0" indent="0">
              <a:buNone/>
              <a:defRPr sz="2898">
                <a:solidFill>
                  <a:schemeClr val="tx1"/>
                </a:solidFill>
              </a:defRPr>
            </a:lvl1pPr>
            <a:lvl2pPr marL="552023" indent="0">
              <a:buNone/>
              <a:defRPr sz="2415">
                <a:solidFill>
                  <a:schemeClr val="tx1">
                    <a:tint val="75000"/>
                  </a:schemeClr>
                </a:solidFill>
              </a:defRPr>
            </a:lvl2pPr>
            <a:lvl3pPr marL="1104047" indent="0">
              <a:buNone/>
              <a:defRPr sz="2173">
                <a:solidFill>
                  <a:schemeClr val="tx1">
                    <a:tint val="75000"/>
                  </a:schemeClr>
                </a:solidFill>
              </a:defRPr>
            </a:lvl3pPr>
            <a:lvl4pPr marL="1656070" indent="0">
              <a:buNone/>
              <a:defRPr sz="1932">
                <a:solidFill>
                  <a:schemeClr val="tx1">
                    <a:tint val="75000"/>
                  </a:schemeClr>
                </a:solidFill>
              </a:defRPr>
            </a:lvl4pPr>
            <a:lvl5pPr marL="2208093" indent="0">
              <a:buNone/>
              <a:defRPr sz="1932">
                <a:solidFill>
                  <a:schemeClr val="tx1">
                    <a:tint val="75000"/>
                  </a:schemeClr>
                </a:solidFill>
              </a:defRPr>
            </a:lvl5pPr>
            <a:lvl6pPr marL="2760116" indent="0">
              <a:buNone/>
              <a:defRPr sz="1932">
                <a:solidFill>
                  <a:schemeClr val="tx1">
                    <a:tint val="75000"/>
                  </a:schemeClr>
                </a:solidFill>
              </a:defRPr>
            </a:lvl6pPr>
            <a:lvl7pPr marL="3312140" indent="0">
              <a:buNone/>
              <a:defRPr sz="1932">
                <a:solidFill>
                  <a:schemeClr val="tx1">
                    <a:tint val="75000"/>
                  </a:schemeClr>
                </a:solidFill>
              </a:defRPr>
            </a:lvl7pPr>
            <a:lvl8pPr marL="3864163" indent="0">
              <a:buNone/>
              <a:defRPr sz="1932">
                <a:solidFill>
                  <a:schemeClr val="tx1">
                    <a:tint val="75000"/>
                  </a:schemeClr>
                </a:solidFill>
              </a:defRPr>
            </a:lvl8pPr>
            <a:lvl9pPr marL="4416186"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51737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76939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440856"/>
            <a:ext cx="10516970"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2029849"/>
            <a:ext cx="5158458"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4" name="Content Placeholder 3"/>
          <p:cNvSpPr>
            <a:spLocks noGrp="1"/>
          </p:cNvSpPr>
          <p:nvPr>
            <p:ph sz="half" idx="2"/>
          </p:nvPr>
        </p:nvSpPr>
        <p:spPr>
          <a:xfrm>
            <a:off x="839899" y="3024646"/>
            <a:ext cx="5158458"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2029849"/>
            <a:ext cx="5183863"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6" name="Content Placeholder 5"/>
          <p:cNvSpPr>
            <a:spLocks noGrp="1"/>
          </p:cNvSpPr>
          <p:nvPr>
            <p:ph sz="quarter" idx="4"/>
          </p:nvPr>
        </p:nvSpPr>
        <p:spPr>
          <a:xfrm>
            <a:off x="6173005" y="3024646"/>
            <a:ext cx="5183863"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C079E0-A901-4333-8FD2-197B2445B707}" type="datetimeFigureOut">
              <a:rPr lang="en-IN" smtClean="0"/>
              <a:t>12-10-2021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33146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C079E0-A901-4333-8FD2-197B2445B707}" type="datetimeFigureOut">
              <a:rPr lang="en-IN" smtClean="0"/>
              <a:t>12-10-2021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94670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079E0-A901-4333-8FD2-197B2445B707}" type="datetimeFigureOut">
              <a:rPr lang="en-IN" smtClean="0"/>
              <a:t>12-10-2021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6400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5183863" y="1192226"/>
            <a:ext cx="6173004"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18577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1192226"/>
            <a:ext cx="6173004" cy="5884451"/>
          </a:xfrm>
        </p:spPr>
        <p:txBody>
          <a:bodyPr anchor="t"/>
          <a:lstStyle>
            <a:lvl1pPr marL="0" indent="0">
              <a:buNone/>
              <a:defRPr sz="3864"/>
            </a:lvl1pPr>
            <a:lvl2pPr marL="552023" indent="0">
              <a:buNone/>
              <a:defRPr sz="3381"/>
            </a:lvl2pPr>
            <a:lvl3pPr marL="1104047" indent="0">
              <a:buNone/>
              <a:defRPr sz="2898"/>
            </a:lvl3pPr>
            <a:lvl4pPr marL="1656070" indent="0">
              <a:buNone/>
              <a:defRPr sz="2415"/>
            </a:lvl4pPr>
            <a:lvl5pPr marL="2208093" indent="0">
              <a:buNone/>
              <a:defRPr sz="2415"/>
            </a:lvl5pPr>
            <a:lvl6pPr marL="2760116" indent="0">
              <a:buNone/>
              <a:defRPr sz="2415"/>
            </a:lvl6pPr>
            <a:lvl7pPr marL="3312140" indent="0">
              <a:buNone/>
              <a:defRPr sz="2415"/>
            </a:lvl7pPr>
            <a:lvl8pPr marL="3864163" indent="0">
              <a:buNone/>
              <a:defRPr sz="2415"/>
            </a:lvl8pPr>
            <a:lvl9pPr marL="4416186"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8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37246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440855"/>
            <a:ext cx="2629242"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440855"/>
            <a:ext cx="7735307"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0202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440856"/>
            <a:ext cx="10516970"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2204273"/>
            <a:ext cx="10516970"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7674706"/>
            <a:ext cx="2743557"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99C079E0-A901-4333-8FD2-197B2445B707}" type="datetimeFigureOut">
              <a:rPr lang="en-IN" smtClean="0"/>
              <a:t>12-10-2021</a:t>
            </a:fld>
            <a:endParaRPr lang="en-IN"/>
          </a:p>
        </p:txBody>
      </p:sp>
      <p:sp>
        <p:nvSpPr>
          <p:cNvPr id="5" name="Footer Placeholder 4"/>
          <p:cNvSpPr>
            <a:spLocks noGrp="1"/>
          </p:cNvSpPr>
          <p:nvPr>
            <p:ph type="ftr" sz="quarter" idx="3"/>
          </p:nvPr>
        </p:nvSpPr>
        <p:spPr>
          <a:xfrm>
            <a:off x="4039126" y="7674706"/>
            <a:ext cx="4115336"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1722" y="7674706"/>
            <a:ext cx="2743557"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70F51414-827F-4D15-9469-924D8E48AE3D}" type="slidenum">
              <a:rPr lang="en-IN" smtClean="0"/>
              <a:t>‹#›</a:t>
            </a:fld>
            <a:endParaRPr lang="en-IN"/>
          </a:p>
        </p:txBody>
      </p:sp>
    </p:spTree>
    <p:extLst>
      <p:ext uri="{BB962C8B-B14F-4D97-AF65-F5344CB8AC3E}">
        <p14:creationId xmlns:p14="http://schemas.microsoft.com/office/powerpoint/2010/main" val="1664086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04047"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6012" indent="-276012" algn="l" defTabSz="1104047"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8035" indent="-276012" algn="l" defTabSz="1104047"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80058" indent="-276012" algn="l" defTabSz="1104047"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208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410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612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815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4017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219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4047" rtl="0" eaLnBrk="1" latinLnBrk="0" hangingPunct="1">
        <a:defRPr sz="2173" kern="1200">
          <a:solidFill>
            <a:schemeClr val="tx1"/>
          </a:solidFill>
          <a:latin typeface="+mn-lt"/>
          <a:ea typeface="+mn-ea"/>
          <a:cs typeface="+mn-cs"/>
        </a:defRPr>
      </a:lvl1pPr>
      <a:lvl2pPr marL="552023" algn="l" defTabSz="1104047" rtl="0" eaLnBrk="1" latinLnBrk="0" hangingPunct="1">
        <a:defRPr sz="2173" kern="1200">
          <a:solidFill>
            <a:schemeClr val="tx1"/>
          </a:solidFill>
          <a:latin typeface="+mn-lt"/>
          <a:ea typeface="+mn-ea"/>
          <a:cs typeface="+mn-cs"/>
        </a:defRPr>
      </a:lvl2pPr>
      <a:lvl3pPr marL="1104047" algn="l" defTabSz="1104047" rtl="0" eaLnBrk="1" latinLnBrk="0" hangingPunct="1">
        <a:defRPr sz="2173" kern="1200">
          <a:solidFill>
            <a:schemeClr val="tx1"/>
          </a:solidFill>
          <a:latin typeface="+mn-lt"/>
          <a:ea typeface="+mn-ea"/>
          <a:cs typeface="+mn-cs"/>
        </a:defRPr>
      </a:lvl3pPr>
      <a:lvl4pPr marL="1656070" algn="l" defTabSz="1104047" rtl="0" eaLnBrk="1" latinLnBrk="0" hangingPunct="1">
        <a:defRPr sz="2173" kern="1200">
          <a:solidFill>
            <a:schemeClr val="tx1"/>
          </a:solidFill>
          <a:latin typeface="+mn-lt"/>
          <a:ea typeface="+mn-ea"/>
          <a:cs typeface="+mn-cs"/>
        </a:defRPr>
      </a:lvl4pPr>
      <a:lvl5pPr marL="2208093" algn="l" defTabSz="1104047" rtl="0" eaLnBrk="1" latinLnBrk="0" hangingPunct="1">
        <a:defRPr sz="2173" kern="1200">
          <a:solidFill>
            <a:schemeClr val="tx1"/>
          </a:solidFill>
          <a:latin typeface="+mn-lt"/>
          <a:ea typeface="+mn-ea"/>
          <a:cs typeface="+mn-cs"/>
        </a:defRPr>
      </a:lvl5pPr>
      <a:lvl6pPr marL="2760116" algn="l" defTabSz="1104047" rtl="0" eaLnBrk="1" latinLnBrk="0" hangingPunct="1">
        <a:defRPr sz="2173" kern="1200">
          <a:solidFill>
            <a:schemeClr val="tx1"/>
          </a:solidFill>
          <a:latin typeface="+mn-lt"/>
          <a:ea typeface="+mn-ea"/>
          <a:cs typeface="+mn-cs"/>
        </a:defRPr>
      </a:lvl6pPr>
      <a:lvl7pPr marL="3312140" algn="l" defTabSz="1104047" rtl="0" eaLnBrk="1" latinLnBrk="0" hangingPunct="1">
        <a:defRPr sz="2173" kern="1200">
          <a:solidFill>
            <a:schemeClr val="tx1"/>
          </a:solidFill>
          <a:latin typeface="+mn-lt"/>
          <a:ea typeface="+mn-ea"/>
          <a:cs typeface="+mn-cs"/>
        </a:defRPr>
      </a:lvl7pPr>
      <a:lvl8pPr marL="3864163" algn="l" defTabSz="1104047" rtl="0" eaLnBrk="1" latinLnBrk="0" hangingPunct="1">
        <a:defRPr sz="2173" kern="1200">
          <a:solidFill>
            <a:schemeClr val="tx1"/>
          </a:solidFill>
          <a:latin typeface="+mn-lt"/>
          <a:ea typeface="+mn-ea"/>
          <a:cs typeface="+mn-cs"/>
        </a:defRPr>
      </a:lvl8pPr>
      <a:lvl9pPr marL="4416186" algn="l" defTabSz="1104047"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493AF4A-7DEE-478F-9ADC-9B9F7B0B0BF3}"/>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6F375B67-6DF0-462F-B481-A8CEEE348AA8}"/>
              </a:ext>
            </a:extLst>
          </p:cNvPr>
          <p:cNvSpPr txBox="1"/>
          <p:nvPr/>
        </p:nvSpPr>
        <p:spPr>
          <a:xfrm>
            <a:off x="449998"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Senior Engineer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Lalit </a:t>
            </a:r>
          </a:p>
        </p:txBody>
      </p:sp>
      <p:sp>
        <p:nvSpPr>
          <p:cNvPr id="11" name="TextBox 10">
            <a:extLst>
              <a:ext uri="{FF2B5EF4-FFF2-40B4-BE49-F238E27FC236}">
                <a16:creationId xmlns:a16="http://schemas.microsoft.com/office/drawing/2014/main" id="{C7D1F129-4F2E-4DC2-81FC-C31066808C81}"/>
              </a:ext>
            </a:extLst>
          </p:cNvPr>
          <p:cNvSpPr txBox="1"/>
          <p:nvPr/>
        </p:nvSpPr>
        <p:spPr>
          <a:xfrm>
            <a:off x="449998" y="800934"/>
            <a:ext cx="3350821" cy="6401753"/>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design, development and production support of java services. Applied design patterns, data model and UML  to write highly scalable java microservices services running in distributed computing environment. </a:t>
            </a:r>
          </a:p>
          <a:p>
            <a:endParaRPr lang="en-IN" sz="1400" dirty="0"/>
          </a:p>
          <a:p>
            <a:r>
              <a:rPr lang="en-IN" dirty="0">
                <a:latin typeface="Raleway SemiBold" pitchFamily="2" charset="0"/>
              </a:rPr>
              <a:t>Expertise</a:t>
            </a:r>
          </a:p>
          <a:p>
            <a:pPr marL="171454" indent="-171454">
              <a:buFont typeface="Arial" panose="020B0604020202020204" pitchFamily="34" charset="0"/>
              <a:buChar char="•"/>
            </a:pPr>
            <a:r>
              <a:rPr lang="en-US" sz="1200" dirty="0">
                <a:latin typeface="Raleway Medium" pitchFamily="2" charset="0"/>
              </a:rPr>
              <a:t>Developing, reviewing and executing on java business services and provide e2e production support. </a:t>
            </a:r>
          </a:p>
          <a:p>
            <a:pPr marL="171454" indent="-171454">
              <a:buFont typeface="Arial" panose="020B0604020202020204" pitchFamily="34" charset="0"/>
              <a:buChar char="•"/>
            </a:pPr>
            <a:r>
              <a:rPr lang="en-US" sz="1200" dirty="0">
                <a:latin typeface="Raleway Medium" pitchFamily="2" charset="0"/>
              </a:rPr>
              <a:t>Has experience in designing the solutions (UML/ERD) for requirement.</a:t>
            </a:r>
          </a:p>
          <a:p>
            <a:pPr marL="171454" indent="-171454">
              <a:buFont typeface="Arial" panose="020B0604020202020204" pitchFamily="34" charset="0"/>
              <a:buChar char="•"/>
            </a:pPr>
            <a:r>
              <a:rPr lang="en-US" sz="1200" dirty="0">
                <a:latin typeface="Raleway Medium" pitchFamily="2" charset="0"/>
              </a:rPr>
              <a:t>Has experience in developing a highly modular microservices based product.</a:t>
            </a:r>
          </a:p>
          <a:p>
            <a:pPr marL="171454" indent="-171454">
              <a:buFont typeface="Arial" panose="020B0604020202020204" pitchFamily="34" charset="0"/>
              <a:buChar char="•"/>
            </a:pPr>
            <a:r>
              <a:rPr lang="en-US" sz="1200" dirty="0">
                <a:latin typeface="Raleway Medium" pitchFamily="2" charset="0"/>
              </a:rPr>
              <a:t>Has experience of working with third party SDK’s and integration services</a:t>
            </a:r>
          </a:p>
          <a:p>
            <a:pPr marL="171454" indent="-171454">
              <a:buFont typeface="Arial" panose="020B0604020202020204" pitchFamily="34" charset="0"/>
              <a:buChar char="•"/>
            </a:pPr>
            <a:r>
              <a:rPr lang="en-US" sz="1200" dirty="0">
                <a:latin typeface="Raleway Medium" pitchFamily="2" charset="0"/>
              </a:rPr>
              <a:t>Has experience in the areas of multithreading, scalability, and application of design patterns supporting high availability services</a:t>
            </a:r>
            <a:endParaRPr lang="en-IN" sz="1200" dirty="0">
              <a:latin typeface="Raleway Medium" pitchFamily="2" charset="0"/>
            </a:endParaRPr>
          </a:p>
          <a:p>
            <a:pPr marL="171454" indent="-171454">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 Kubernetes, Prometheus, Grafana</a:t>
            </a:r>
          </a:p>
          <a:p>
            <a:pPr marL="171454" indent="-171454">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2" name="TextBox 11">
            <a:extLst>
              <a:ext uri="{FF2B5EF4-FFF2-40B4-BE49-F238E27FC236}">
                <a16:creationId xmlns:a16="http://schemas.microsoft.com/office/drawing/2014/main" id="{3C7C8453-6731-4026-BBFA-1DA66C04E94D}"/>
              </a:ext>
            </a:extLst>
          </p:cNvPr>
          <p:cNvSpPr txBox="1"/>
          <p:nvPr/>
        </p:nvSpPr>
        <p:spPr>
          <a:xfrm>
            <a:off x="4107045" y="1462323"/>
            <a:ext cx="7875848" cy="2585323"/>
          </a:xfrm>
          <a:prstGeom prst="rect">
            <a:avLst/>
          </a:prstGeom>
          <a:noFill/>
        </p:spPr>
        <p:txBody>
          <a:bodyPr wrap="square" rtlCol="0">
            <a:spAutoFit/>
          </a:bodyPr>
          <a:lstStyle/>
          <a:p>
            <a:r>
              <a:rPr lang="en-IN" dirty="0">
                <a:latin typeface="Raleway SemiBold" pitchFamily="2" charset="0"/>
              </a:rPr>
              <a:t>Synectiks </a:t>
            </a:r>
            <a:r>
              <a:rPr lang="en-IN" dirty="0" err="1">
                <a:latin typeface="Raleway SemiBold" pitchFamily="2" charset="0"/>
              </a:rPr>
              <a:t>Appkube</a:t>
            </a:r>
            <a:r>
              <a:rPr lang="en-IN" dirty="0">
                <a:latin typeface="Raleway SemiBold" pitchFamily="2" charset="0"/>
              </a:rPr>
              <a:t> Platform</a:t>
            </a:r>
          </a:p>
          <a:p>
            <a:r>
              <a:rPr lang="en-IN" sz="1200" dirty="0">
                <a:solidFill>
                  <a:srgbClr val="0070C0"/>
                </a:solidFill>
                <a:latin typeface="Raleway SemiBold" pitchFamily="2" charset="0"/>
              </a:rPr>
              <a:t>(Java8, Spring Boot, JPA, PostgreSQL, Elasticsearch, Docker, Kubernetes, Aws/Azure/GCP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 </a:t>
            </a:r>
            <a:r>
              <a:rPr lang="en-IN" sz="1200" dirty="0" err="1">
                <a:solidFill>
                  <a:srgbClr val="0070C0"/>
                </a:solidFill>
                <a:latin typeface="Raleway SemiBold" pitchFamily="2" charset="0"/>
              </a:rPr>
              <a:t>GoLang</a:t>
            </a:r>
            <a:r>
              <a:rPr lang="en-IN" sz="1200" dirty="0">
                <a:solidFill>
                  <a:srgbClr val="0070C0"/>
                </a:solidFill>
                <a:latin typeface="Raleway SemiBold" pitchFamily="2" charset="0"/>
              </a:rPr>
              <a:t>)</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the cloud java SDK’s to write cloud orchestrator services</a:t>
            </a: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compliance engine</a:t>
            </a:r>
          </a:p>
          <a:p>
            <a:pPr marL="171454" indent="-171454">
              <a:buFont typeface="Arial" panose="020B0604020202020204" pitchFamily="34" charset="0"/>
              <a:buChar char="•"/>
            </a:pPr>
            <a:r>
              <a:rPr lang="en-US" sz="1200" dirty="0">
                <a:latin typeface="Raleway Medium" pitchFamily="2" charset="0"/>
              </a:rPr>
              <a:t>Wrote plugin-based module on plugin framework to make services more modular</a:t>
            </a:r>
          </a:p>
          <a:p>
            <a:pPr marL="171454" indent="-171454">
              <a:buFont typeface="Arial" panose="020B0604020202020204" pitchFamily="34" charset="0"/>
              <a:buChar char="•"/>
            </a:pPr>
            <a:r>
              <a:rPr lang="en-US" sz="1200" dirty="0">
                <a:latin typeface="Raleway Medium" pitchFamily="2" charset="0"/>
              </a:rPr>
              <a:t>Worked on Integration pattern between internal and external services </a:t>
            </a:r>
          </a:p>
          <a:p>
            <a:pPr marL="171454" indent="-171454">
              <a:buFont typeface="Arial" panose="020B0604020202020204" pitchFamily="34" charset="0"/>
              <a:buChar char="•"/>
            </a:pPr>
            <a:r>
              <a:rPr lang="en-US" sz="1200" dirty="0">
                <a:latin typeface="Raleway Medium" pitchFamily="2" charset="0"/>
              </a:rPr>
              <a:t>Worked with UI team for integration of UI with API</a:t>
            </a:r>
          </a:p>
          <a:p>
            <a:pPr marL="171454" indent="-171454">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4" indent="-171454">
              <a:buFont typeface="Arial" panose="020B0604020202020204" pitchFamily="34" charset="0"/>
              <a:buChar char="•"/>
            </a:pPr>
            <a:r>
              <a:rPr lang="en-US" sz="1200" dirty="0">
                <a:latin typeface="Raleway Medium" pitchFamily="2" charset="0"/>
              </a:rPr>
              <a:t>Worked on docker composer to create local Dev Env</a:t>
            </a:r>
          </a:p>
          <a:p>
            <a:pPr marL="171454" indent="-171454">
              <a:buFont typeface="Arial" panose="020B0604020202020204" pitchFamily="34" charset="0"/>
              <a:buChar char="•"/>
            </a:pPr>
            <a:r>
              <a:rPr lang="en-US" sz="1200" dirty="0">
                <a:latin typeface="Raleway Medium" pitchFamily="2" charset="0"/>
              </a:rPr>
              <a:t>Worked with </a:t>
            </a:r>
            <a:r>
              <a:rPr lang="en-US" sz="1200" dirty="0" err="1">
                <a:latin typeface="Raleway Medium" pitchFamily="2" charset="0"/>
              </a:rPr>
              <a:t>DevSecOps</a:t>
            </a:r>
            <a:r>
              <a:rPr lang="en-US" sz="1200" dirty="0">
                <a:latin typeface="Raleway Medium" pitchFamily="2" charset="0"/>
              </a:rPr>
              <a:t> team to establish framework for continuous delivery, deployment automation.</a:t>
            </a:r>
          </a:p>
          <a:p>
            <a:pPr marL="171454" indent="-171454">
              <a:buFont typeface="Arial" panose="020B0604020202020204" pitchFamily="34" charset="0"/>
              <a:buChar char="•"/>
            </a:pPr>
            <a:r>
              <a:rPr lang="en-US" sz="1200" dirty="0">
                <a:latin typeface="Raleway Medium" pitchFamily="2" charset="0"/>
              </a:rPr>
              <a:t>Worked on postman simulator API</a:t>
            </a:r>
            <a:r>
              <a:rPr lang="en-IN" sz="1200" dirty="0">
                <a:latin typeface="Raleway Medium" pitchFamily="2" charset="0"/>
              </a:rPr>
              <a:t>.</a:t>
            </a:r>
          </a:p>
        </p:txBody>
      </p:sp>
      <p:sp>
        <p:nvSpPr>
          <p:cNvPr id="13" name="TextBox 12">
            <a:extLst>
              <a:ext uri="{FF2B5EF4-FFF2-40B4-BE49-F238E27FC236}">
                <a16:creationId xmlns:a16="http://schemas.microsoft.com/office/drawing/2014/main" id="{6A09D5B9-E1DE-459C-848A-815E5BD3C531}"/>
              </a:ext>
            </a:extLst>
          </p:cNvPr>
          <p:cNvSpPr txBox="1"/>
          <p:nvPr/>
        </p:nvSpPr>
        <p:spPr>
          <a:xfrm>
            <a:off x="4107046" y="4168833"/>
            <a:ext cx="7634957" cy="2215991"/>
          </a:xfrm>
          <a:prstGeom prst="rect">
            <a:avLst/>
          </a:prstGeom>
          <a:noFill/>
        </p:spPr>
        <p:txBody>
          <a:bodyPr wrap="square" rtlCol="0">
            <a:spAutoFit/>
          </a:bodyPr>
          <a:lstStyle/>
          <a:p>
            <a:r>
              <a:rPr lang="en-IN" dirty="0">
                <a:latin typeface="Raleway SemiBold" pitchFamily="2" charset="0"/>
              </a:rPr>
              <a:t>Procurement Management System</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4" indent="-171454">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4" indent="-171454">
              <a:buFont typeface="Arial" panose="020B0604020202020204" pitchFamily="34" charset="0"/>
              <a:buChar char="•"/>
            </a:pPr>
            <a:r>
              <a:rPr lang="en-US" sz="1200" dirty="0">
                <a:latin typeface="Raleway Medium" pitchFamily="2" charset="0"/>
              </a:rPr>
              <a:t>Worked on all the API  required for Admin portal</a:t>
            </a:r>
          </a:p>
          <a:p>
            <a:pPr marL="171454" indent="-171454">
              <a:buFont typeface="Arial" panose="020B0604020202020204" pitchFamily="34" charset="0"/>
              <a:buChar char="•"/>
            </a:pPr>
            <a:r>
              <a:rPr lang="en-US" sz="1200" dirty="0">
                <a:latin typeface="Raleway Medium" pitchFamily="2" charset="0"/>
              </a:rPr>
              <a:t>Worked on Authentication , MFA and Security framework for product portals</a:t>
            </a:r>
          </a:p>
          <a:p>
            <a:pPr marL="171454" indent="-171454">
              <a:buFont typeface="Arial" panose="020B0604020202020204" pitchFamily="34" charset="0"/>
              <a:buChar char="•"/>
            </a:pPr>
            <a:r>
              <a:rPr lang="en-US" sz="1200" dirty="0">
                <a:latin typeface="Raleway Medium" pitchFamily="2" charset="0"/>
              </a:rPr>
              <a:t>Worked on developing a highly scalable alert notification framework</a:t>
            </a:r>
          </a:p>
          <a:p>
            <a:pPr marL="171454" indent="-171454">
              <a:buFont typeface="Arial" panose="020B0604020202020204" pitchFamily="34" charset="0"/>
              <a:buChar char="•"/>
            </a:pPr>
            <a:r>
              <a:rPr lang="en-US" sz="1200" dirty="0">
                <a:latin typeface="Raleway Medium" pitchFamily="2" charset="0"/>
              </a:rPr>
              <a:t>Wrote docker composers for Dev env creation and tests.</a:t>
            </a:r>
          </a:p>
          <a:p>
            <a:pPr marL="171454" indent="-171454">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4" indent="-171454">
              <a:buFont typeface="Arial" panose="020B0604020202020204" pitchFamily="34" charset="0"/>
              <a:buChar char="•"/>
            </a:pPr>
            <a:r>
              <a:rPr lang="en-US" sz="1200" dirty="0">
                <a:latin typeface="Raleway Medium" pitchFamily="2" charset="0"/>
              </a:rPr>
              <a:t>Worked on the code fixes for Errors</a:t>
            </a:r>
          </a:p>
          <a:p>
            <a:pPr marL="171454" indent="-171454">
              <a:buFont typeface="Arial" panose="020B0604020202020204" pitchFamily="34" charset="0"/>
              <a:buChar char="•"/>
            </a:pPr>
            <a:r>
              <a:rPr lang="en-US" sz="1200" dirty="0">
                <a:latin typeface="Raleway Medium" pitchFamily="2" charset="0"/>
              </a:rPr>
              <a:t>Worked with UI team for integration of UI with API</a:t>
            </a:r>
            <a:endParaRPr lang="en-IN" sz="1200" dirty="0">
              <a:latin typeface="Raleway Medium" pitchFamily="2" charset="0"/>
            </a:endParaRPr>
          </a:p>
        </p:txBody>
      </p:sp>
      <p:sp>
        <p:nvSpPr>
          <p:cNvPr id="14" name="Rectangle 13">
            <a:extLst>
              <a:ext uri="{FF2B5EF4-FFF2-40B4-BE49-F238E27FC236}">
                <a16:creationId xmlns:a16="http://schemas.microsoft.com/office/drawing/2014/main" id="{6D159987-93B0-4FB2-99B2-7FA868768E65}"/>
              </a:ext>
            </a:extLst>
          </p:cNvPr>
          <p:cNvSpPr/>
          <p:nvPr/>
        </p:nvSpPr>
        <p:spPr>
          <a:xfrm>
            <a:off x="3880425"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16DF07B5-289A-420F-83E5-CF0531EE871E}"/>
              </a:ext>
            </a:extLst>
          </p:cNvPr>
          <p:cNvSpPr txBox="1"/>
          <p:nvPr/>
        </p:nvSpPr>
        <p:spPr>
          <a:xfrm>
            <a:off x="4107045" y="800934"/>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19376586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1207</TotalTime>
  <Words>404</Words>
  <Application>Microsoft Office PowerPoint</Application>
  <PresentationFormat>Custom</PresentationFormat>
  <Paragraphs>40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Raleway ExtraBold</vt:lpstr>
      <vt:lpstr>Raleway Medium</vt:lpstr>
      <vt:lpstr>Raleway SemiBold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Imran Mohd</dc:creator>
  <cp:lastModifiedBy>Papu Bhattacharya</cp:lastModifiedBy>
  <cp:revision>43</cp:revision>
  <dcterms:created xsi:type="dcterms:W3CDTF">2021-09-22T11:31:43Z</dcterms:created>
  <dcterms:modified xsi:type="dcterms:W3CDTF">2021-10-12T12:36:05Z</dcterms:modified>
</cp:coreProperties>
</file>