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13" r:id="rId2"/>
  </p:sldIdLst>
  <p:sldSz cx="12193588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1355149"/>
            <a:ext cx="1036455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4349128"/>
            <a:ext cx="9145191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6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61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2064352"/>
            <a:ext cx="1051697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5541353"/>
            <a:ext cx="1051697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7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9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440856"/>
            <a:ext cx="1051697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2029849"/>
            <a:ext cx="515845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3024646"/>
            <a:ext cx="515845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2029849"/>
            <a:ext cx="5183863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3024646"/>
            <a:ext cx="5183863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6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0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0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192226"/>
            <a:ext cx="6173004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192226"/>
            <a:ext cx="6173004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46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440855"/>
            <a:ext cx="2629242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440855"/>
            <a:ext cx="7735307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440856"/>
            <a:ext cx="1051697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2204273"/>
            <a:ext cx="1051697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7674706"/>
            <a:ext cx="411533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3719CF4-6169-4B9F-8748-B4176F5625E0}"/>
              </a:ext>
            </a:extLst>
          </p:cNvPr>
          <p:cNvSpPr/>
          <p:nvPr/>
        </p:nvSpPr>
        <p:spPr>
          <a:xfrm>
            <a:off x="320996" y="659602"/>
            <a:ext cx="3576728" cy="7343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6DC59F-7012-4FA1-AC29-1A5E05966793}"/>
              </a:ext>
            </a:extLst>
          </p:cNvPr>
          <p:cNvSpPr txBox="1"/>
          <p:nvPr/>
        </p:nvSpPr>
        <p:spPr>
          <a:xfrm>
            <a:off x="450000" y="145038"/>
            <a:ext cx="56467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Java Tech Lead  </a:t>
            </a:r>
            <a:r>
              <a:rPr lang="en-IN" sz="2200" dirty="0">
                <a:latin typeface="Raleway SemiBold" pitchFamily="2" charset="0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|</a:t>
            </a:r>
            <a:r>
              <a:rPr lang="en-IN" sz="2200" dirty="0">
                <a:latin typeface="Raleway SemiBold" pitchFamily="2" charset="0"/>
              </a:rPr>
              <a:t>   Sagar </a:t>
            </a:r>
            <a:r>
              <a:rPr lang="en-IN" sz="2200" dirty="0" err="1">
                <a:latin typeface="Raleway SemiBold" pitchFamily="2" charset="0"/>
              </a:rPr>
              <a:t>Shirwalkar</a:t>
            </a:r>
            <a:endParaRPr lang="en-IN" sz="2200" dirty="0">
              <a:latin typeface="Raleway SemiBol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08DF72-6A34-4F54-B864-A22C1CE68FEC}"/>
              </a:ext>
            </a:extLst>
          </p:cNvPr>
          <p:cNvSpPr txBox="1"/>
          <p:nvPr/>
        </p:nvSpPr>
        <p:spPr>
          <a:xfrm>
            <a:off x="366199" y="709097"/>
            <a:ext cx="3430426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- Summary</a:t>
            </a:r>
          </a:p>
          <a:p>
            <a:r>
              <a:rPr lang="en-US" sz="1200" dirty="0">
                <a:latin typeface="Raleway Medium" panose="020B0604020202020204" pitchFamily="2" charset="0"/>
              </a:rPr>
              <a:t>Experience in: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Raleway Medium" panose="020B0604020202020204" pitchFamily="2" charset="0"/>
              </a:rPr>
              <a:t>Building modern microservices on Java/</a:t>
            </a:r>
            <a:r>
              <a:rPr lang="en-US" sz="1200" dirty="0" err="1">
                <a:latin typeface="Raleway Medium" panose="020B0604020202020204" pitchFamily="2" charset="0"/>
              </a:rPr>
              <a:t>kafka</a:t>
            </a:r>
            <a:r>
              <a:rPr lang="en-US" sz="1200" dirty="0">
                <a:latin typeface="Raleway Medium" panose="020B0604020202020204" pitchFamily="2" charset="0"/>
              </a:rPr>
              <a:t>/</a:t>
            </a:r>
            <a:r>
              <a:rPr lang="en-US" sz="1200" dirty="0" err="1">
                <a:latin typeface="Raleway Medium" panose="020B0604020202020204" pitchFamily="2" charset="0"/>
              </a:rPr>
              <a:t>gRPC</a:t>
            </a:r>
            <a:r>
              <a:rPr lang="en-US" sz="1200" dirty="0">
                <a:latin typeface="Raleway Medium" panose="020B0604020202020204" pitchFamily="2" charset="0"/>
              </a:rPr>
              <a:t>/Docker/Kubernetes.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Raleway Medium" panose="020B0604020202020204" pitchFamily="2" charset="0"/>
              </a:rPr>
              <a:t>Machine Learning, Analytics-driven consulting, Campaign management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Raleway Medium" panose="020B0604020202020204" pitchFamily="2" charset="0"/>
              </a:rPr>
              <a:t>Designing SQL warehouses and ETL Pipelines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Raleway Medium" panose="020B0604020202020204" pitchFamily="2" charset="0"/>
              </a:rPr>
              <a:t>The AWS Cloud Platform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Raleway Medium" panose="020B0604020202020204" pitchFamily="2" charset="0"/>
              </a:rPr>
              <a:t>Agile methodology-based development process.</a:t>
            </a:r>
          </a:p>
          <a:p>
            <a:r>
              <a:rPr lang="en-IN" dirty="0"/>
              <a:t>- </a:t>
            </a:r>
            <a:r>
              <a:rPr lang="en-IN" dirty="0">
                <a:latin typeface="Raleway SemiBold" pitchFamily="2" charset="0"/>
              </a:rPr>
              <a:t>Expertise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Raleway Medium" pitchFamily="2" charset="0"/>
              </a:rPr>
              <a:t>Understanding client goals and expectations, suggesting analytics-backed measures to increase ROI and cut costs.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Raleway Medium" pitchFamily="2" charset="0"/>
              </a:rPr>
              <a:t>Leading team members with cutting-edge software development practices and performance tools.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Raleway Medium" pitchFamily="2" charset="0"/>
              </a:rPr>
              <a:t>Working closely with stakeholders, providing visual insights like dashboards to track progress and strategic metrics in real time.</a:t>
            </a:r>
          </a:p>
          <a:p>
            <a:pPr marL="171450" indent="-171450">
              <a:buFontTx/>
              <a:buChar char="-"/>
            </a:pPr>
            <a:r>
              <a:rPr lang="en-IN" sz="1200" dirty="0">
                <a:latin typeface="Raleway ExtraBold" pitchFamily="2" charset="0"/>
              </a:rPr>
              <a:t>Tools Used  </a:t>
            </a:r>
            <a:r>
              <a:rPr lang="en-IN" sz="1200" dirty="0">
                <a:latin typeface="Raleway Medium" pitchFamily="2" charset="0"/>
              </a:rPr>
              <a:t>-- Java8, Python, Jenkins, Kafka, Docker, Kubernetes, </a:t>
            </a:r>
            <a:r>
              <a:rPr lang="en-IN" sz="1200" dirty="0" err="1">
                <a:latin typeface="Raleway Medium" pitchFamily="2" charset="0"/>
              </a:rPr>
              <a:t>gRPC</a:t>
            </a:r>
            <a:r>
              <a:rPr lang="en-IN" sz="1200" dirty="0">
                <a:latin typeface="Raleway Medium" pitchFamily="2" charset="0"/>
              </a:rPr>
              <a:t> and others</a:t>
            </a:r>
          </a:p>
          <a:p>
            <a:pPr marL="171450" indent="-171450">
              <a:buFontTx/>
              <a:buChar char="-"/>
            </a:pPr>
            <a:r>
              <a:rPr lang="en-IN" sz="1200" dirty="0">
                <a:latin typeface="Raleway ExtraBold" pitchFamily="2" charset="0"/>
              </a:rPr>
              <a:t>Databases Used </a:t>
            </a:r>
            <a:r>
              <a:rPr lang="en-IN" sz="1200" dirty="0">
                <a:latin typeface="Raleway Medium" pitchFamily="2" charset="0"/>
              </a:rPr>
              <a:t>-- PostgreSQL, AWS Redshift, MySQL, Cassandra</a:t>
            </a:r>
            <a:endParaRPr lang="en-IN" dirty="0"/>
          </a:p>
          <a:p>
            <a:r>
              <a:rPr lang="en-IN" dirty="0">
                <a:latin typeface="Raleway SemiBold" pitchFamily="2" charset="0"/>
              </a:rPr>
              <a:t>- Qualifications</a:t>
            </a:r>
          </a:p>
          <a:p>
            <a:r>
              <a:rPr lang="en-IN" sz="1200" dirty="0">
                <a:latin typeface="Raleway Medium" pitchFamily="2" charset="0"/>
              </a:rPr>
              <a:t>B.E. (hons) </a:t>
            </a:r>
            <a:r>
              <a:rPr lang="en-IN" sz="1200">
                <a:latin typeface="Raleway Medium" pitchFamily="2" charset="0"/>
              </a:rPr>
              <a:t>BITS Goa</a:t>
            </a:r>
            <a:endParaRPr lang="en-IN" sz="1200" dirty="0">
              <a:latin typeface="Raleway Medium" pitchFamily="2" charset="0"/>
            </a:endParaRPr>
          </a:p>
          <a:p>
            <a:endParaRPr lang="en-IN" sz="1200" dirty="0">
              <a:latin typeface="Raleway Medium" pitchFamily="2" charset="0"/>
            </a:endParaRPr>
          </a:p>
          <a:p>
            <a:pPr marL="285750" lvl="0" indent="-285750">
              <a:buFontTx/>
              <a:buChar char="-"/>
            </a:pPr>
            <a:r>
              <a:rPr lang="en-IN" dirty="0">
                <a:solidFill>
                  <a:prstClr val="black"/>
                </a:solidFill>
                <a:latin typeface="Raleway SemiBold" pitchFamily="2" charset="0"/>
              </a:rPr>
              <a:t>Publications</a:t>
            </a:r>
          </a:p>
          <a:p>
            <a:r>
              <a:rPr lang="en-IN" sz="1200" dirty="0" err="1"/>
              <a:t>S.Sagar</a:t>
            </a:r>
            <a:r>
              <a:rPr lang="en-IN" sz="1200" dirty="0"/>
              <a:t>, et. al., </a:t>
            </a:r>
            <a:r>
              <a:rPr lang="en-IN" sz="1200" i="1" dirty="0"/>
              <a:t>Telemanipulation of an industrial robotic arm using gesture recognition with Microsoft Kinect at the </a:t>
            </a:r>
            <a:r>
              <a:rPr lang="en-IN" sz="1200" dirty="0"/>
              <a:t>International Conference on Control, Automation, Robotics and Embedded systems, 2013 (IEEE Xplore ARN: 6733747)</a:t>
            </a:r>
          </a:p>
          <a:p>
            <a:pPr marL="285750" lvl="0" indent="-285750">
              <a:buFontTx/>
              <a:buChar char="-"/>
            </a:pPr>
            <a:endParaRPr lang="en-IN" dirty="0">
              <a:solidFill>
                <a:prstClr val="black"/>
              </a:solidFill>
              <a:latin typeface="Raleway SemiBold" pitchFamily="2" charset="0"/>
            </a:endParaRPr>
          </a:p>
          <a:p>
            <a:endParaRPr lang="en-IN" sz="1200" dirty="0">
              <a:latin typeface="Raleway Medium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7DF6C4-C442-43BD-99B8-D9370A580957}"/>
              </a:ext>
            </a:extLst>
          </p:cNvPr>
          <p:cNvSpPr txBox="1"/>
          <p:nvPr/>
        </p:nvSpPr>
        <p:spPr>
          <a:xfrm>
            <a:off x="4107047" y="1462324"/>
            <a:ext cx="786521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Raleway SemiBold" pitchFamily="2" charset="0"/>
              </a:rPr>
              <a:t>KlearNow</a:t>
            </a:r>
            <a:r>
              <a:rPr lang="en-IN" dirty="0">
                <a:latin typeface="Raleway SemiBold" pitchFamily="2" charset="0"/>
              </a:rPr>
              <a:t> Corp (Senior Backend Engineer &amp; Scrum Master)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,MySQL, Jenkins, Docker, Kubernetes, AWS S3)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/>
              <a:t>Successfully spearheaded KlearNow's Canadian Geographical Expansion Team, and brought the platform live on Canada, partnering with the government.</a:t>
            </a:r>
            <a:endParaRPr lang="en-US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Created a stack of several microservices for Canada within KlearNow's Choreography model using an Orchestrator Model for ease of debugging.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Liaised with Canadian product managers, customers and Customs Brokers to design the platform and the UI.</a:t>
            </a:r>
            <a:endParaRPr lang="en-IN" sz="1200" dirty="0">
              <a:latin typeface="Raleway Medium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826717-78D8-4D38-BDEC-7C607E613AFA}"/>
              </a:ext>
            </a:extLst>
          </p:cNvPr>
          <p:cNvSpPr/>
          <p:nvPr/>
        </p:nvSpPr>
        <p:spPr>
          <a:xfrm>
            <a:off x="3880427" y="659602"/>
            <a:ext cx="7990582" cy="6698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F2C2C-28C4-4BA9-8C16-39AFFF93DBFD}"/>
              </a:ext>
            </a:extLst>
          </p:cNvPr>
          <p:cNvSpPr txBox="1"/>
          <p:nvPr/>
        </p:nvSpPr>
        <p:spPr>
          <a:xfrm>
            <a:off x="4107046" y="800935"/>
            <a:ext cx="458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aleway SemiBold" pitchFamily="2" charset="0"/>
              </a:rPr>
              <a:t>Recent Engagements </a:t>
            </a:r>
            <a:endParaRPr lang="en-IN" sz="1200" dirty="0">
              <a:solidFill>
                <a:schemeClr val="bg1"/>
              </a:solidFill>
              <a:latin typeface="Raleway Semi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772A8-F7E7-E84F-A001-B489A04B4A72}"/>
              </a:ext>
            </a:extLst>
          </p:cNvPr>
          <p:cNvSpPr txBox="1"/>
          <p:nvPr/>
        </p:nvSpPr>
        <p:spPr>
          <a:xfrm>
            <a:off x="4107047" y="3261475"/>
            <a:ext cx="786521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Raleway SemiBold" pitchFamily="2" charset="0"/>
              </a:rPr>
              <a:t>TransOrg</a:t>
            </a:r>
            <a:r>
              <a:rPr lang="en-IN" dirty="0">
                <a:latin typeface="Raleway SemiBold" pitchFamily="2" charset="0"/>
              </a:rPr>
              <a:t> Analytics (Analytics Specialist)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(Python, ,Postgres, Jenkins, Docker, Talend, Oracle DB, </a:t>
            </a:r>
            <a:r>
              <a:rPr lang="en-IN" sz="1200" dirty="0" err="1">
                <a:solidFill>
                  <a:srgbClr val="0070C0"/>
                </a:solidFill>
                <a:latin typeface="Raleway SemiBold" pitchFamily="2" charset="0"/>
              </a:rPr>
              <a:t>PowerBI</a:t>
            </a:r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, RedHat Server, Windows Server)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Part of an on-site analytics team embedded in the corporate office of a client - a major luxury hotel company with properties all over the world.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In charge of all engineering and basic server management (</a:t>
            </a:r>
            <a:r>
              <a:rPr lang="en-IN" sz="1200" dirty="0" err="1">
                <a:solidFill>
                  <a:srgbClr val="544119"/>
                </a:solidFill>
              </a:rPr>
              <a:t>RHEL,Windows</a:t>
            </a:r>
            <a:r>
              <a:rPr lang="en-IN" sz="1200" dirty="0">
                <a:solidFill>
                  <a:srgbClr val="544119"/>
                </a:solidFill>
              </a:rPr>
              <a:t> Server) operations of the onsite team.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Built the first data warehouse for the team, after the client's outsourced MDM project was delayed indefinitely. The warehouse is a collection of Star-Snowflake hybrids, optimized for performance where possible without significantly compromising the limited storage available.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Created a Customer Lifetime Value model for all repeat guests by implementing a Buy </a:t>
            </a:r>
            <a:r>
              <a:rPr lang="en-IN" sz="1200" dirty="0" err="1">
                <a:solidFill>
                  <a:srgbClr val="544119"/>
                </a:solidFill>
              </a:rPr>
              <a:t>'Til</a:t>
            </a:r>
            <a:r>
              <a:rPr lang="en-IN" sz="1200" dirty="0">
                <a:solidFill>
                  <a:srgbClr val="544119"/>
                </a:solidFill>
              </a:rPr>
              <a:t> you Die - BG/NBD model.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Built an ML model for predicting the repeat propensity of first-time guests, which form the bulk of the client's customer base.</a:t>
            </a:r>
            <a:endParaRPr lang="en-IN" sz="1200" dirty="0">
              <a:latin typeface="Raleway Medium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F12C3C-68E1-8F49-B06D-8FD3EC62F2B1}"/>
              </a:ext>
            </a:extLst>
          </p:cNvPr>
          <p:cNvSpPr txBox="1"/>
          <p:nvPr/>
        </p:nvSpPr>
        <p:spPr>
          <a:xfrm>
            <a:off x="4107047" y="5829431"/>
            <a:ext cx="786521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Raleway SemiBold" pitchFamily="2" charset="0"/>
              </a:rPr>
              <a:t>ReportGarden</a:t>
            </a:r>
            <a:r>
              <a:rPr lang="en-IN" dirty="0">
                <a:latin typeface="Raleway SemiBold" pitchFamily="2" charset="0"/>
              </a:rPr>
              <a:t> (Data Scientist)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(Python, ,Redshift, Jenkins, Docker, Apache Airflow, Tornado, Flask, </a:t>
            </a:r>
            <a:r>
              <a:rPr lang="en-IN" sz="1200" dirty="0" err="1">
                <a:solidFill>
                  <a:srgbClr val="0070C0"/>
                </a:solidFill>
                <a:latin typeface="Raleway SemiBold" pitchFamily="2" charset="0"/>
              </a:rPr>
              <a:t>Zepplin</a:t>
            </a:r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Created and deployed an NLP platform for </a:t>
            </a:r>
            <a:r>
              <a:rPr lang="en-IN" sz="1200" dirty="0" err="1">
                <a:solidFill>
                  <a:srgbClr val="544119"/>
                </a:solidFill>
              </a:rPr>
              <a:t>analyzing</a:t>
            </a:r>
            <a:r>
              <a:rPr lang="en-IN" sz="1200" dirty="0">
                <a:solidFill>
                  <a:srgbClr val="544119"/>
                </a:solidFill>
              </a:rPr>
              <a:t> messages between our B2B customers and their clients on-the-fly, and inferring intents and entities involved in these conversations.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Built and deployed a statistical framework for identifying customers at risk of churning.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544119"/>
                </a:solidFill>
              </a:rPr>
              <a:t>Made dashboards for tracking KPIs for several internal teams and identified process bottlenecks and opportunities for improving productivity.</a:t>
            </a:r>
            <a:endParaRPr lang="en-IN" sz="1200" dirty="0">
              <a:latin typeface="Ralew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576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1241</TotalTime>
  <Words>517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Raleway ExtraBold</vt:lpstr>
      <vt:lpstr>Raleway Medium</vt:lpstr>
      <vt:lpstr>Raleway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Imran Mohd</dc:creator>
  <cp:lastModifiedBy>Papu Bhattacharya</cp:lastModifiedBy>
  <cp:revision>46</cp:revision>
  <dcterms:created xsi:type="dcterms:W3CDTF">2021-09-22T11:31:43Z</dcterms:created>
  <dcterms:modified xsi:type="dcterms:W3CDTF">2021-12-02T11:25:38Z</dcterms:modified>
</cp:coreProperties>
</file>