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413" r:id="rId3"/>
    <p:sldId id="400" r:id="rId4"/>
    <p:sldId id="402" r:id="rId5"/>
    <p:sldId id="401" r:id="rId6"/>
    <p:sldId id="403" r:id="rId7"/>
    <p:sldId id="404" r:id="rId8"/>
    <p:sldId id="412" r:id="rId9"/>
  </p:sldIdLst>
  <p:sldSz cx="12193588" cy="8280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66" d="100"/>
          <a:sy n="66" d="100"/>
        </p:scale>
        <p:origin x="6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519" y="1355149"/>
            <a:ext cx="10364550" cy="2882806"/>
          </a:xfrm>
        </p:spPr>
        <p:txBody>
          <a:bodyPr anchor="b"/>
          <a:lstStyle>
            <a:lvl1pPr algn="ctr">
              <a:defRPr sz="7244"/>
            </a:lvl1pPr>
          </a:lstStyle>
          <a:p>
            <a:r>
              <a:rPr lang="en-US"/>
              <a:t>Click to edit Master title style</a:t>
            </a:r>
            <a:endParaRPr lang="en-US" dirty="0"/>
          </a:p>
        </p:txBody>
      </p:sp>
      <p:sp>
        <p:nvSpPr>
          <p:cNvPr id="3" name="Subtitle 2"/>
          <p:cNvSpPr>
            <a:spLocks noGrp="1"/>
          </p:cNvSpPr>
          <p:nvPr>
            <p:ph type="subTitle" idx="1"/>
          </p:nvPr>
        </p:nvSpPr>
        <p:spPr>
          <a:xfrm>
            <a:off x="1524199" y="4349128"/>
            <a:ext cx="9145191" cy="1999179"/>
          </a:xfrm>
        </p:spPr>
        <p:txBody>
          <a:bodyPr/>
          <a:lstStyle>
            <a:lvl1pPr marL="0" indent="0" algn="ctr">
              <a:buNone/>
              <a:defRPr sz="2898"/>
            </a:lvl1pPr>
            <a:lvl2pPr marL="552023" indent="0" algn="ctr">
              <a:buNone/>
              <a:defRPr sz="2415"/>
            </a:lvl2pPr>
            <a:lvl3pPr marL="1104047" indent="0" algn="ctr">
              <a:buNone/>
              <a:defRPr sz="2173"/>
            </a:lvl3pPr>
            <a:lvl4pPr marL="1656070" indent="0" algn="ctr">
              <a:buNone/>
              <a:defRPr sz="1932"/>
            </a:lvl4pPr>
            <a:lvl5pPr marL="2208093" indent="0" algn="ctr">
              <a:buNone/>
              <a:defRPr sz="1932"/>
            </a:lvl5pPr>
            <a:lvl6pPr marL="2760116" indent="0" algn="ctr">
              <a:buNone/>
              <a:defRPr sz="1932"/>
            </a:lvl6pPr>
            <a:lvl7pPr marL="3312140" indent="0" algn="ctr">
              <a:buNone/>
              <a:defRPr sz="1932"/>
            </a:lvl7pPr>
            <a:lvl8pPr marL="3864163" indent="0" algn="ctr">
              <a:buNone/>
              <a:defRPr sz="1932"/>
            </a:lvl8pPr>
            <a:lvl9pPr marL="4416186" indent="0" algn="ctr">
              <a:buNone/>
              <a:defRPr sz="193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07-10-2021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656864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07-10-2021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081616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959" y="2064352"/>
            <a:ext cx="10516970" cy="3444416"/>
          </a:xfrm>
        </p:spPr>
        <p:txBody>
          <a:bodyPr anchor="b"/>
          <a:lstStyle>
            <a:lvl1pPr>
              <a:defRPr sz="7244"/>
            </a:lvl1pPr>
          </a:lstStyle>
          <a:p>
            <a:r>
              <a:rPr lang="en-US"/>
              <a:t>Click to edit Master title style</a:t>
            </a:r>
            <a:endParaRPr lang="en-US" dirty="0"/>
          </a:p>
        </p:txBody>
      </p:sp>
      <p:sp>
        <p:nvSpPr>
          <p:cNvPr id="3" name="Text Placeholder 2"/>
          <p:cNvSpPr>
            <a:spLocks noGrp="1"/>
          </p:cNvSpPr>
          <p:nvPr>
            <p:ph type="body" idx="1"/>
          </p:nvPr>
        </p:nvSpPr>
        <p:spPr>
          <a:xfrm>
            <a:off x="831959" y="5541353"/>
            <a:ext cx="10516970" cy="1811337"/>
          </a:xfrm>
        </p:spPr>
        <p:txBody>
          <a:bodyPr/>
          <a:lstStyle>
            <a:lvl1pPr marL="0" indent="0">
              <a:buNone/>
              <a:defRPr sz="2898">
                <a:solidFill>
                  <a:schemeClr val="tx1"/>
                </a:solidFill>
              </a:defRPr>
            </a:lvl1pPr>
            <a:lvl2pPr marL="552023" indent="0">
              <a:buNone/>
              <a:defRPr sz="2415">
                <a:solidFill>
                  <a:schemeClr val="tx1">
                    <a:tint val="75000"/>
                  </a:schemeClr>
                </a:solidFill>
              </a:defRPr>
            </a:lvl2pPr>
            <a:lvl3pPr marL="1104047" indent="0">
              <a:buNone/>
              <a:defRPr sz="2173">
                <a:solidFill>
                  <a:schemeClr val="tx1">
                    <a:tint val="75000"/>
                  </a:schemeClr>
                </a:solidFill>
              </a:defRPr>
            </a:lvl3pPr>
            <a:lvl4pPr marL="1656070" indent="0">
              <a:buNone/>
              <a:defRPr sz="1932">
                <a:solidFill>
                  <a:schemeClr val="tx1">
                    <a:tint val="75000"/>
                  </a:schemeClr>
                </a:solidFill>
              </a:defRPr>
            </a:lvl4pPr>
            <a:lvl5pPr marL="2208093" indent="0">
              <a:buNone/>
              <a:defRPr sz="1932">
                <a:solidFill>
                  <a:schemeClr val="tx1">
                    <a:tint val="75000"/>
                  </a:schemeClr>
                </a:solidFill>
              </a:defRPr>
            </a:lvl5pPr>
            <a:lvl6pPr marL="2760116" indent="0">
              <a:buNone/>
              <a:defRPr sz="1932">
                <a:solidFill>
                  <a:schemeClr val="tx1">
                    <a:tint val="75000"/>
                  </a:schemeClr>
                </a:solidFill>
              </a:defRPr>
            </a:lvl6pPr>
            <a:lvl7pPr marL="3312140" indent="0">
              <a:buNone/>
              <a:defRPr sz="1932">
                <a:solidFill>
                  <a:schemeClr val="tx1">
                    <a:tint val="75000"/>
                  </a:schemeClr>
                </a:solidFill>
              </a:defRPr>
            </a:lvl7pPr>
            <a:lvl8pPr marL="3864163" indent="0">
              <a:buNone/>
              <a:defRPr sz="1932">
                <a:solidFill>
                  <a:schemeClr val="tx1">
                    <a:tint val="75000"/>
                  </a:schemeClr>
                </a:solidFill>
              </a:defRPr>
            </a:lvl8pPr>
            <a:lvl9pPr marL="4416186" indent="0">
              <a:buNone/>
              <a:defRPr sz="193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C079E0-A901-4333-8FD2-197B2445B707}" type="datetimeFigureOut">
              <a:rPr lang="en-IN" smtClean="0"/>
              <a:t>07-10-2021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517379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309" y="2204273"/>
            <a:ext cx="5182275" cy="5253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004" y="2204273"/>
            <a:ext cx="5182275" cy="5253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C079E0-A901-4333-8FD2-197B2445B707}" type="datetimeFigureOut">
              <a:rPr lang="en-IN" smtClean="0"/>
              <a:t>07-10-2021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769392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897" y="440856"/>
            <a:ext cx="10516970" cy="1600495"/>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899" y="2029849"/>
            <a:ext cx="5158458" cy="994797"/>
          </a:xfrm>
        </p:spPr>
        <p:txBody>
          <a:bodyPr anchor="b"/>
          <a:lstStyle>
            <a:lvl1pPr marL="0" indent="0">
              <a:buNone/>
              <a:defRPr sz="2898" b="1"/>
            </a:lvl1pPr>
            <a:lvl2pPr marL="552023" indent="0">
              <a:buNone/>
              <a:defRPr sz="2415" b="1"/>
            </a:lvl2pPr>
            <a:lvl3pPr marL="1104047" indent="0">
              <a:buNone/>
              <a:defRPr sz="2173" b="1"/>
            </a:lvl3pPr>
            <a:lvl4pPr marL="1656070" indent="0">
              <a:buNone/>
              <a:defRPr sz="1932" b="1"/>
            </a:lvl4pPr>
            <a:lvl5pPr marL="2208093" indent="0">
              <a:buNone/>
              <a:defRPr sz="1932" b="1"/>
            </a:lvl5pPr>
            <a:lvl6pPr marL="2760116" indent="0">
              <a:buNone/>
              <a:defRPr sz="1932" b="1"/>
            </a:lvl6pPr>
            <a:lvl7pPr marL="3312140" indent="0">
              <a:buNone/>
              <a:defRPr sz="1932" b="1"/>
            </a:lvl7pPr>
            <a:lvl8pPr marL="3864163" indent="0">
              <a:buNone/>
              <a:defRPr sz="1932" b="1"/>
            </a:lvl8pPr>
            <a:lvl9pPr marL="4416186" indent="0">
              <a:buNone/>
              <a:defRPr sz="1932" b="1"/>
            </a:lvl9pPr>
          </a:lstStyle>
          <a:p>
            <a:pPr lvl="0"/>
            <a:r>
              <a:rPr lang="en-US"/>
              <a:t>Click to edit Master text styles</a:t>
            </a:r>
          </a:p>
        </p:txBody>
      </p:sp>
      <p:sp>
        <p:nvSpPr>
          <p:cNvPr id="4" name="Content Placeholder 3"/>
          <p:cNvSpPr>
            <a:spLocks noGrp="1"/>
          </p:cNvSpPr>
          <p:nvPr>
            <p:ph sz="half" idx="2"/>
          </p:nvPr>
        </p:nvSpPr>
        <p:spPr>
          <a:xfrm>
            <a:off x="839899" y="3024646"/>
            <a:ext cx="5158458" cy="4448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3005" y="2029849"/>
            <a:ext cx="5183863" cy="994797"/>
          </a:xfrm>
        </p:spPr>
        <p:txBody>
          <a:bodyPr anchor="b"/>
          <a:lstStyle>
            <a:lvl1pPr marL="0" indent="0">
              <a:buNone/>
              <a:defRPr sz="2898" b="1"/>
            </a:lvl1pPr>
            <a:lvl2pPr marL="552023" indent="0">
              <a:buNone/>
              <a:defRPr sz="2415" b="1"/>
            </a:lvl2pPr>
            <a:lvl3pPr marL="1104047" indent="0">
              <a:buNone/>
              <a:defRPr sz="2173" b="1"/>
            </a:lvl3pPr>
            <a:lvl4pPr marL="1656070" indent="0">
              <a:buNone/>
              <a:defRPr sz="1932" b="1"/>
            </a:lvl4pPr>
            <a:lvl5pPr marL="2208093" indent="0">
              <a:buNone/>
              <a:defRPr sz="1932" b="1"/>
            </a:lvl5pPr>
            <a:lvl6pPr marL="2760116" indent="0">
              <a:buNone/>
              <a:defRPr sz="1932" b="1"/>
            </a:lvl6pPr>
            <a:lvl7pPr marL="3312140" indent="0">
              <a:buNone/>
              <a:defRPr sz="1932" b="1"/>
            </a:lvl7pPr>
            <a:lvl8pPr marL="3864163" indent="0">
              <a:buNone/>
              <a:defRPr sz="1932" b="1"/>
            </a:lvl8pPr>
            <a:lvl9pPr marL="4416186" indent="0">
              <a:buNone/>
              <a:defRPr sz="1932" b="1"/>
            </a:lvl9pPr>
          </a:lstStyle>
          <a:p>
            <a:pPr lvl="0"/>
            <a:r>
              <a:rPr lang="en-US"/>
              <a:t>Click to edit Master text styles</a:t>
            </a:r>
          </a:p>
        </p:txBody>
      </p:sp>
      <p:sp>
        <p:nvSpPr>
          <p:cNvPr id="6" name="Content Placeholder 5"/>
          <p:cNvSpPr>
            <a:spLocks noGrp="1"/>
          </p:cNvSpPr>
          <p:nvPr>
            <p:ph sz="quarter" idx="4"/>
          </p:nvPr>
        </p:nvSpPr>
        <p:spPr>
          <a:xfrm>
            <a:off x="6173005" y="3024646"/>
            <a:ext cx="5183863" cy="4448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C079E0-A901-4333-8FD2-197B2445B707}" type="datetimeFigureOut">
              <a:rPr lang="en-IN" smtClean="0"/>
              <a:t>07-10-2021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331460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C079E0-A901-4333-8FD2-197B2445B707}" type="datetimeFigureOut">
              <a:rPr lang="en-IN" smtClean="0"/>
              <a:t>07-10-2021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946701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C079E0-A901-4333-8FD2-197B2445B707}" type="datetimeFigureOut">
              <a:rPr lang="en-IN" smtClean="0"/>
              <a:t>07-10-2021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164002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97" y="552027"/>
            <a:ext cx="3932750" cy="1932093"/>
          </a:xfrm>
        </p:spPr>
        <p:txBody>
          <a:bodyPr anchor="b"/>
          <a:lstStyle>
            <a:lvl1pPr>
              <a:defRPr sz="3864"/>
            </a:lvl1pPr>
          </a:lstStyle>
          <a:p>
            <a:r>
              <a:rPr lang="en-US"/>
              <a:t>Click to edit Master title style</a:t>
            </a:r>
            <a:endParaRPr lang="en-US" dirty="0"/>
          </a:p>
        </p:txBody>
      </p:sp>
      <p:sp>
        <p:nvSpPr>
          <p:cNvPr id="3" name="Content Placeholder 2"/>
          <p:cNvSpPr>
            <a:spLocks noGrp="1"/>
          </p:cNvSpPr>
          <p:nvPr>
            <p:ph idx="1"/>
          </p:nvPr>
        </p:nvSpPr>
        <p:spPr>
          <a:xfrm>
            <a:off x="5183863" y="1192226"/>
            <a:ext cx="6173004" cy="5884451"/>
          </a:xfrm>
        </p:spPr>
        <p:txBody>
          <a:bodyPr/>
          <a:lstStyle>
            <a:lvl1pPr>
              <a:defRPr sz="3864"/>
            </a:lvl1pPr>
            <a:lvl2pPr>
              <a:defRPr sz="3381"/>
            </a:lvl2pPr>
            <a:lvl3pPr>
              <a:defRPr sz="2898"/>
            </a:lvl3pPr>
            <a:lvl4pPr>
              <a:defRPr sz="2415"/>
            </a:lvl4pPr>
            <a:lvl5pPr>
              <a:defRPr sz="2415"/>
            </a:lvl5pPr>
            <a:lvl6pPr>
              <a:defRPr sz="2415"/>
            </a:lvl6pPr>
            <a:lvl7pPr>
              <a:defRPr sz="2415"/>
            </a:lvl7pPr>
            <a:lvl8pPr>
              <a:defRPr sz="2415"/>
            </a:lvl8pPr>
            <a:lvl9pPr>
              <a:defRPr sz="241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897" y="2484120"/>
            <a:ext cx="3932750" cy="4602140"/>
          </a:xfrm>
        </p:spPr>
        <p:txBody>
          <a:bodyPr/>
          <a:lstStyle>
            <a:lvl1pPr marL="0" indent="0">
              <a:buNone/>
              <a:defRPr sz="1932"/>
            </a:lvl1pPr>
            <a:lvl2pPr marL="552023" indent="0">
              <a:buNone/>
              <a:defRPr sz="1690"/>
            </a:lvl2pPr>
            <a:lvl3pPr marL="1104047" indent="0">
              <a:buNone/>
              <a:defRPr sz="1449"/>
            </a:lvl3pPr>
            <a:lvl4pPr marL="1656070" indent="0">
              <a:buNone/>
              <a:defRPr sz="1207"/>
            </a:lvl4pPr>
            <a:lvl5pPr marL="2208093" indent="0">
              <a:buNone/>
              <a:defRPr sz="1207"/>
            </a:lvl5pPr>
            <a:lvl6pPr marL="2760116" indent="0">
              <a:buNone/>
              <a:defRPr sz="1207"/>
            </a:lvl6pPr>
            <a:lvl7pPr marL="3312140" indent="0">
              <a:buNone/>
              <a:defRPr sz="1207"/>
            </a:lvl7pPr>
            <a:lvl8pPr marL="3864163" indent="0">
              <a:buNone/>
              <a:defRPr sz="1207"/>
            </a:lvl8pPr>
            <a:lvl9pPr marL="4416186"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99C079E0-A901-4333-8FD2-197B2445B707}" type="datetimeFigureOut">
              <a:rPr lang="en-IN" smtClean="0"/>
              <a:t>07-10-2021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185776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97" y="552027"/>
            <a:ext cx="3932750" cy="1932093"/>
          </a:xfrm>
        </p:spPr>
        <p:txBody>
          <a:bodyPr anchor="b"/>
          <a:lstStyle>
            <a:lvl1pPr>
              <a:defRPr sz="3864"/>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863" y="1192226"/>
            <a:ext cx="6173004" cy="5884451"/>
          </a:xfrm>
        </p:spPr>
        <p:txBody>
          <a:bodyPr anchor="t"/>
          <a:lstStyle>
            <a:lvl1pPr marL="0" indent="0">
              <a:buNone/>
              <a:defRPr sz="3864"/>
            </a:lvl1pPr>
            <a:lvl2pPr marL="552023" indent="0">
              <a:buNone/>
              <a:defRPr sz="3381"/>
            </a:lvl2pPr>
            <a:lvl3pPr marL="1104047" indent="0">
              <a:buNone/>
              <a:defRPr sz="2898"/>
            </a:lvl3pPr>
            <a:lvl4pPr marL="1656070" indent="0">
              <a:buNone/>
              <a:defRPr sz="2415"/>
            </a:lvl4pPr>
            <a:lvl5pPr marL="2208093" indent="0">
              <a:buNone/>
              <a:defRPr sz="2415"/>
            </a:lvl5pPr>
            <a:lvl6pPr marL="2760116" indent="0">
              <a:buNone/>
              <a:defRPr sz="2415"/>
            </a:lvl6pPr>
            <a:lvl7pPr marL="3312140" indent="0">
              <a:buNone/>
              <a:defRPr sz="2415"/>
            </a:lvl7pPr>
            <a:lvl8pPr marL="3864163" indent="0">
              <a:buNone/>
              <a:defRPr sz="2415"/>
            </a:lvl8pPr>
            <a:lvl9pPr marL="4416186" indent="0">
              <a:buNone/>
              <a:defRPr sz="2415"/>
            </a:lvl9pPr>
          </a:lstStyle>
          <a:p>
            <a:r>
              <a:rPr lang="en-US"/>
              <a:t>Click icon to add picture</a:t>
            </a:r>
            <a:endParaRPr lang="en-US" dirty="0"/>
          </a:p>
        </p:txBody>
      </p:sp>
      <p:sp>
        <p:nvSpPr>
          <p:cNvPr id="4" name="Text Placeholder 3"/>
          <p:cNvSpPr>
            <a:spLocks noGrp="1"/>
          </p:cNvSpPr>
          <p:nvPr>
            <p:ph type="body" sz="half" idx="2"/>
          </p:nvPr>
        </p:nvSpPr>
        <p:spPr>
          <a:xfrm>
            <a:off x="839897" y="2484120"/>
            <a:ext cx="3932750" cy="4602140"/>
          </a:xfrm>
        </p:spPr>
        <p:txBody>
          <a:bodyPr/>
          <a:lstStyle>
            <a:lvl1pPr marL="0" indent="0">
              <a:buNone/>
              <a:defRPr sz="1932"/>
            </a:lvl1pPr>
            <a:lvl2pPr marL="552023" indent="0">
              <a:buNone/>
              <a:defRPr sz="1690"/>
            </a:lvl2pPr>
            <a:lvl3pPr marL="1104047" indent="0">
              <a:buNone/>
              <a:defRPr sz="1449"/>
            </a:lvl3pPr>
            <a:lvl4pPr marL="1656070" indent="0">
              <a:buNone/>
              <a:defRPr sz="1207"/>
            </a:lvl4pPr>
            <a:lvl5pPr marL="2208093" indent="0">
              <a:buNone/>
              <a:defRPr sz="1207"/>
            </a:lvl5pPr>
            <a:lvl6pPr marL="2760116" indent="0">
              <a:buNone/>
              <a:defRPr sz="1207"/>
            </a:lvl6pPr>
            <a:lvl7pPr marL="3312140" indent="0">
              <a:buNone/>
              <a:defRPr sz="1207"/>
            </a:lvl7pPr>
            <a:lvl8pPr marL="3864163" indent="0">
              <a:buNone/>
              <a:defRPr sz="1207"/>
            </a:lvl8pPr>
            <a:lvl9pPr marL="4416186"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99C079E0-A901-4333-8FD2-197B2445B707}" type="datetimeFigureOut">
              <a:rPr lang="en-IN" smtClean="0"/>
              <a:t>07-10-2021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8304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07-10-2021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372469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6037" y="440855"/>
            <a:ext cx="2629242" cy="70172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310" y="440855"/>
            <a:ext cx="7735307" cy="70172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07-10-2021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102025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309" y="440856"/>
            <a:ext cx="10516970" cy="160049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309" y="2204273"/>
            <a:ext cx="10516970" cy="52538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309" y="7674706"/>
            <a:ext cx="2743557" cy="440855"/>
          </a:xfrm>
          <a:prstGeom prst="rect">
            <a:avLst/>
          </a:prstGeom>
        </p:spPr>
        <p:txBody>
          <a:bodyPr vert="horz" lIns="91440" tIns="45720" rIns="91440" bIns="45720" rtlCol="0" anchor="ctr"/>
          <a:lstStyle>
            <a:lvl1pPr algn="l">
              <a:defRPr sz="1449">
                <a:solidFill>
                  <a:schemeClr val="tx1">
                    <a:tint val="75000"/>
                  </a:schemeClr>
                </a:solidFill>
              </a:defRPr>
            </a:lvl1pPr>
          </a:lstStyle>
          <a:p>
            <a:fld id="{99C079E0-A901-4333-8FD2-197B2445B707}" type="datetimeFigureOut">
              <a:rPr lang="en-IN" smtClean="0"/>
              <a:t>07-10-2021</a:t>
            </a:fld>
            <a:endParaRPr lang="en-IN"/>
          </a:p>
        </p:txBody>
      </p:sp>
      <p:sp>
        <p:nvSpPr>
          <p:cNvPr id="5" name="Footer Placeholder 4"/>
          <p:cNvSpPr>
            <a:spLocks noGrp="1"/>
          </p:cNvSpPr>
          <p:nvPr>
            <p:ph type="ftr" sz="quarter" idx="3"/>
          </p:nvPr>
        </p:nvSpPr>
        <p:spPr>
          <a:xfrm>
            <a:off x="4039126" y="7674706"/>
            <a:ext cx="4115336" cy="440855"/>
          </a:xfrm>
          <a:prstGeom prst="rect">
            <a:avLst/>
          </a:prstGeom>
        </p:spPr>
        <p:txBody>
          <a:bodyPr vert="horz" lIns="91440" tIns="45720" rIns="91440" bIns="45720" rtlCol="0" anchor="ctr"/>
          <a:lstStyle>
            <a:lvl1pPr algn="ctr">
              <a:defRPr sz="1449">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1722" y="7674706"/>
            <a:ext cx="2743557" cy="440855"/>
          </a:xfrm>
          <a:prstGeom prst="rect">
            <a:avLst/>
          </a:prstGeom>
        </p:spPr>
        <p:txBody>
          <a:bodyPr vert="horz" lIns="91440" tIns="45720" rIns="91440" bIns="45720" rtlCol="0" anchor="ctr"/>
          <a:lstStyle>
            <a:lvl1pPr algn="r">
              <a:defRPr sz="1449">
                <a:solidFill>
                  <a:schemeClr val="tx1">
                    <a:tint val="75000"/>
                  </a:schemeClr>
                </a:solidFill>
              </a:defRPr>
            </a:lvl1pPr>
          </a:lstStyle>
          <a:p>
            <a:fld id="{70F51414-827F-4D15-9469-924D8E48AE3D}" type="slidenum">
              <a:rPr lang="en-IN" smtClean="0"/>
              <a:t>‹#›</a:t>
            </a:fld>
            <a:endParaRPr lang="en-IN"/>
          </a:p>
        </p:txBody>
      </p:sp>
    </p:spTree>
    <p:extLst>
      <p:ext uri="{BB962C8B-B14F-4D97-AF65-F5344CB8AC3E}">
        <p14:creationId xmlns:p14="http://schemas.microsoft.com/office/powerpoint/2010/main" val="16640860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104047" rtl="0" eaLnBrk="1" latinLnBrk="0" hangingPunct="1">
        <a:lnSpc>
          <a:spcPct val="90000"/>
        </a:lnSpc>
        <a:spcBef>
          <a:spcPct val="0"/>
        </a:spcBef>
        <a:buNone/>
        <a:defRPr sz="5313" kern="1200">
          <a:solidFill>
            <a:schemeClr val="tx1"/>
          </a:solidFill>
          <a:latin typeface="+mj-lt"/>
          <a:ea typeface="+mj-ea"/>
          <a:cs typeface="+mj-cs"/>
        </a:defRPr>
      </a:lvl1pPr>
    </p:titleStyle>
    <p:bodyStyle>
      <a:lvl1pPr marL="276012" indent="-276012" algn="l" defTabSz="1104047" rtl="0" eaLnBrk="1" latinLnBrk="0" hangingPunct="1">
        <a:lnSpc>
          <a:spcPct val="90000"/>
        </a:lnSpc>
        <a:spcBef>
          <a:spcPts val="1207"/>
        </a:spcBef>
        <a:buFont typeface="Arial" panose="020B0604020202020204" pitchFamily="34" charset="0"/>
        <a:buChar char="•"/>
        <a:defRPr sz="3381" kern="1200">
          <a:solidFill>
            <a:schemeClr val="tx1"/>
          </a:solidFill>
          <a:latin typeface="+mn-lt"/>
          <a:ea typeface="+mn-ea"/>
          <a:cs typeface="+mn-cs"/>
        </a:defRPr>
      </a:lvl1pPr>
      <a:lvl2pPr marL="828035" indent="-276012" algn="l" defTabSz="1104047" rtl="0" eaLnBrk="1" latinLnBrk="0" hangingPunct="1">
        <a:lnSpc>
          <a:spcPct val="90000"/>
        </a:lnSpc>
        <a:spcBef>
          <a:spcPts val="604"/>
        </a:spcBef>
        <a:buFont typeface="Arial" panose="020B0604020202020204" pitchFamily="34" charset="0"/>
        <a:buChar char="•"/>
        <a:defRPr sz="2898" kern="1200">
          <a:solidFill>
            <a:schemeClr val="tx1"/>
          </a:solidFill>
          <a:latin typeface="+mn-lt"/>
          <a:ea typeface="+mn-ea"/>
          <a:cs typeface="+mn-cs"/>
        </a:defRPr>
      </a:lvl2pPr>
      <a:lvl3pPr marL="1380058" indent="-276012" algn="l" defTabSz="1104047" rtl="0" eaLnBrk="1" latinLnBrk="0" hangingPunct="1">
        <a:lnSpc>
          <a:spcPct val="90000"/>
        </a:lnSpc>
        <a:spcBef>
          <a:spcPts val="604"/>
        </a:spcBef>
        <a:buFont typeface="Arial" panose="020B0604020202020204" pitchFamily="34" charset="0"/>
        <a:buChar char="•"/>
        <a:defRPr sz="2415" kern="1200">
          <a:solidFill>
            <a:schemeClr val="tx1"/>
          </a:solidFill>
          <a:latin typeface="+mn-lt"/>
          <a:ea typeface="+mn-ea"/>
          <a:cs typeface="+mn-cs"/>
        </a:defRPr>
      </a:lvl3pPr>
      <a:lvl4pPr marL="1932081"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4pPr>
      <a:lvl5pPr marL="2484105"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5pPr>
      <a:lvl6pPr marL="3036128"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6pPr>
      <a:lvl7pPr marL="3588151"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7pPr>
      <a:lvl8pPr marL="4140175"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8pPr>
      <a:lvl9pPr marL="4692198"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9pPr>
    </p:bodyStyle>
    <p:otherStyle>
      <a:defPPr>
        <a:defRPr lang="en-US"/>
      </a:defPPr>
      <a:lvl1pPr marL="0" algn="l" defTabSz="1104047" rtl="0" eaLnBrk="1" latinLnBrk="0" hangingPunct="1">
        <a:defRPr sz="2173" kern="1200">
          <a:solidFill>
            <a:schemeClr val="tx1"/>
          </a:solidFill>
          <a:latin typeface="+mn-lt"/>
          <a:ea typeface="+mn-ea"/>
          <a:cs typeface="+mn-cs"/>
        </a:defRPr>
      </a:lvl1pPr>
      <a:lvl2pPr marL="552023" algn="l" defTabSz="1104047" rtl="0" eaLnBrk="1" latinLnBrk="0" hangingPunct="1">
        <a:defRPr sz="2173" kern="1200">
          <a:solidFill>
            <a:schemeClr val="tx1"/>
          </a:solidFill>
          <a:latin typeface="+mn-lt"/>
          <a:ea typeface="+mn-ea"/>
          <a:cs typeface="+mn-cs"/>
        </a:defRPr>
      </a:lvl2pPr>
      <a:lvl3pPr marL="1104047" algn="l" defTabSz="1104047" rtl="0" eaLnBrk="1" latinLnBrk="0" hangingPunct="1">
        <a:defRPr sz="2173" kern="1200">
          <a:solidFill>
            <a:schemeClr val="tx1"/>
          </a:solidFill>
          <a:latin typeface="+mn-lt"/>
          <a:ea typeface="+mn-ea"/>
          <a:cs typeface="+mn-cs"/>
        </a:defRPr>
      </a:lvl3pPr>
      <a:lvl4pPr marL="1656070" algn="l" defTabSz="1104047" rtl="0" eaLnBrk="1" latinLnBrk="0" hangingPunct="1">
        <a:defRPr sz="2173" kern="1200">
          <a:solidFill>
            <a:schemeClr val="tx1"/>
          </a:solidFill>
          <a:latin typeface="+mn-lt"/>
          <a:ea typeface="+mn-ea"/>
          <a:cs typeface="+mn-cs"/>
        </a:defRPr>
      </a:lvl4pPr>
      <a:lvl5pPr marL="2208093" algn="l" defTabSz="1104047" rtl="0" eaLnBrk="1" latinLnBrk="0" hangingPunct="1">
        <a:defRPr sz="2173" kern="1200">
          <a:solidFill>
            <a:schemeClr val="tx1"/>
          </a:solidFill>
          <a:latin typeface="+mn-lt"/>
          <a:ea typeface="+mn-ea"/>
          <a:cs typeface="+mn-cs"/>
        </a:defRPr>
      </a:lvl5pPr>
      <a:lvl6pPr marL="2760116" algn="l" defTabSz="1104047" rtl="0" eaLnBrk="1" latinLnBrk="0" hangingPunct="1">
        <a:defRPr sz="2173" kern="1200">
          <a:solidFill>
            <a:schemeClr val="tx1"/>
          </a:solidFill>
          <a:latin typeface="+mn-lt"/>
          <a:ea typeface="+mn-ea"/>
          <a:cs typeface="+mn-cs"/>
        </a:defRPr>
      </a:lvl6pPr>
      <a:lvl7pPr marL="3312140" algn="l" defTabSz="1104047" rtl="0" eaLnBrk="1" latinLnBrk="0" hangingPunct="1">
        <a:defRPr sz="2173" kern="1200">
          <a:solidFill>
            <a:schemeClr val="tx1"/>
          </a:solidFill>
          <a:latin typeface="+mn-lt"/>
          <a:ea typeface="+mn-ea"/>
          <a:cs typeface="+mn-cs"/>
        </a:defRPr>
      </a:lvl7pPr>
      <a:lvl8pPr marL="3864163" algn="l" defTabSz="1104047" rtl="0" eaLnBrk="1" latinLnBrk="0" hangingPunct="1">
        <a:defRPr sz="2173" kern="1200">
          <a:solidFill>
            <a:schemeClr val="tx1"/>
          </a:solidFill>
          <a:latin typeface="+mn-lt"/>
          <a:ea typeface="+mn-ea"/>
          <a:cs typeface="+mn-cs"/>
        </a:defRPr>
      </a:lvl8pPr>
      <a:lvl9pPr marL="4416186" algn="l" defTabSz="1104047" rtl="0" eaLnBrk="1" latinLnBrk="0" hangingPunct="1">
        <a:defRPr sz="217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3719CF4-6169-4B9F-8748-B4176F5625E0}"/>
              </a:ext>
            </a:extLst>
          </p:cNvPr>
          <p:cNvSpPr/>
          <p:nvPr/>
        </p:nvSpPr>
        <p:spPr>
          <a:xfrm>
            <a:off x="398456" y="705404"/>
            <a:ext cx="11396676" cy="72009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5E6DC59F-7012-4FA1-AC29-1A5E05966793}"/>
              </a:ext>
            </a:extLst>
          </p:cNvPr>
          <p:cNvSpPr txBox="1"/>
          <p:nvPr/>
        </p:nvSpPr>
        <p:spPr>
          <a:xfrm>
            <a:off x="4020973" y="145038"/>
            <a:ext cx="4699221" cy="430887"/>
          </a:xfrm>
          <a:prstGeom prst="rect">
            <a:avLst/>
          </a:prstGeom>
          <a:noFill/>
        </p:spPr>
        <p:txBody>
          <a:bodyPr wrap="square" rtlCol="0">
            <a:spAutoFit/>
          </a:bodyPr>
          <a:lstStyle/>
          <a:p>
            <a:r>
              <a:rPr lang="en-IN" sz="2200" dirty="0">
                <a:solidFill>
                  <a:srgbClr val="0070C0"/>
                </a:solidFill>
                <a:latin typeface="Raleway SemiBold" pitchFamily="2" charset="0"/>
              </a:rPr>
              <a:t>Proposed Java Team </a:t>
            </a:r>
            <a:r>
              <a:rPr lang="en-IN" sz="2200" dirty="0">
                <a:latin typeface="Raleway SemiBold" pitchFamily="2" charset="0"/>
              </a:rPr>
              <a:t> </a:t>
            </a:r>
            <a:r>
              <a:rPr lang="en-IN" sz="2200" dirty="0">
                <a:solidFill>
                  <a:srgbClr val="0070C0"/>
                </a:solidFill>
                <a:latin typeface="Raleway SemiBold" pitchFamily="2" charset="0"/>
              </a:rPr>
              <a:t>Structure</a:t>
            </a:r>
            <a:endParaRPr lang="en-IN" sz="2200" dirty="0">
              <a:latin typeface="Raleway SemiBold" pitchFamily="2" charset="0"/>
            </a:endParaRPr>
          </a:p>
        </p:txBody>
      </p:sp>
      <p:sp>
        <p:nvSpPr>
          <p:cNvPr id="3" name="Rectangle 2">
            <a:extLst>
              <a:ext uri="{FF2B5EF4-FFF2-40B4-BE49-F238E27FC236}">
                <a16:creationId xmlns:a16="http://schemas.microsoft.com/office/drawing/2014/main" id="{83EDF05A-4BA5-4231-BFE5-8DC2F0EAED5B}"/>
              </a:ext>
            </a:extLst>
          </p:cNvPr>
          <p:cNvSpPr/>
          <p:nvPr/>
        </p:nvSpPr>
        <p:spPr>
          <a:xfrm>
            <a:off x="5438050" y="1158045"/>
            <a:ext cx="1713297" cy="760396"/>
          </a:xfrm>
          <a:prstGeom prst="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Java Lead </a:t>
            </a:r>
          </a:p>
          <a:p>
            <a:pPr algn="ctr"/>
            <a:r>
              <a:rPr lang="en-IN" dirty="0"/>
              <a:t>Architect</a:t>
            </a:r>
          </a:p>
        </p:txBody>
      </p:sp>
      <p:sp>
        <p:nvSpPr>
          <p:cNvPr id="14" name="Rectangle 13">
            <a:extLst>
              <a:ext uri="{FF2B5EF4-FFF2-40B4-BE49-F238E27FC236}">
                <a16:creationId xmlns:a16="http://schemas.microsoft.com/office/drawing/2014/main" id="{5CFFA5EB-00A3-4B02-8DE7-569D8C8F4A1A}"/>
              </a:ext>
            </a:extLst>
          </p:cNvPr>
          <p:cNvSpPr/>
          <p:nvPr/>
        </p:nvSpPr>
        <p:spPr>
          <a:xfrm>
            <a:off x="3981156" y="5967076"/>
            <a:ext cx="1713297" cy="760396"/>
          </a:xfrm>
          <a:prstGeom prst="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Java Engineer</a:t>
            </a:r>
          </a:p>
        </p:txBody>
      </p:sp>
      <p:sp>
        <p:nvSpPr>
          <p:cNvPr id="22" name="Rectangle 21">
            <a:extLst>
              <a:ext uri="{FF2B5EF4-FFF2-40B4-BE49-F238E27FC236}">
                <a16:creationId xmlns:a16="http://schemas.microsoft.com/office/drawing/2014/main" id="{38333FAD-6891-4BF1-9327-278F0050A935}"/>
              </a:ext>
            </a:extLst>
          </p:cNvPr>
          <p:cNvSpPr/>
          <p:nvPr/>
        </p:nvSpPr>
        <p:spPr>
          <a:xfrm>
            <a:off x="5866721" y="5967076"/>
            <a:ext cx="1713297" cy="760396"/>
          </a:xfrm>
          <a:prstGeom prst="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Java Engineer</a:t>
            </a:r>
          </a:p>
        </p:txBody>
      </p:sp>
      <p:sp>
        <p:nvSpPr>
          <p:cNvPr id="23" name="Rectangle 22">
            <a:extLst>
              <a:ext uri="{FF2B5EF4-FFF2-40B4-BE49-F238E27FC236}">
                <a16:creationId xmlns:a16="http://schemas.microsoft.com/office/drawing/2014/main" id="{6054A2FF-A450-4192-A41A-BAE35B0AF160}"/>
              </a:ext>
            </a:extLst>
          </p:cNvPr>
          <p:cNvSpPr/>
          <p:nvPr/>
        </p:nvSpPr>
        <p:spPr>
          <a:xfrm>
            <a:off x="7752286" y="5967076"/>
            <a:ext cx="1713297" cy="760396"/>
          </a:xfrm>
          <a:prstGeom prst="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Java Engineer</a:t>
            </a:r>
          </a:p>
        </p:txBody>
      </p:sp>
      <p:sp>
        <p:nvSpPr>
          <p:cNvPr id="24" name="Rectangle 23">
            <a:extLst>
              <a:ext uri="{FF2B5EF4-FFF2-40B4-BE49-F238E27FC236}">
                <a16:creationId xmlns:a16="http://schemas.microsoft.com/office/drawing/2014/main" id="{A09FD1AC-C993-4085-B285-DF5D6CC14F6F}"/>
              </a:ext>
            </a:extLst>
          </p:cNvPr>
          <p:cNvSpPr/>
          <p:nvPr/>
        </p:nvSpPr>
        <p:spPr>
          <a:xfrm>
            <a:off x="9637851" y="5967076"/>
            <a:ext cx="1713297" cy="760396"/>
          </a:xfrm>
          <a:prstGeom prst="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Java Engineer</a:t>
            </a:r>
          </a:p>
        </p:txBody>
      </p:sp>
      <p:sp>
        <p:nvSpPr>
          <p:cNvPr id="4" name="Rectangle: Single Corner Snipped 3">
            <a:extLst>
              <a:ext uri="{FF2B5EF4-FFF2-40B4-BE49-F238E27FC236}">
                <a16:creationId xmlns:a16="http://schemas.microsoft.com/office/drawing/2014/main" id="{FF557D32-BA94-4E35-9E0A-C14D85A1B2C0}"/>
              </a:ext>
            </a:extLst>
          </p:cNvPr>
          <p:cNvSpPr/>
          <p:nvPr/>
        </p:nvSpPr>
        <p:spPr>
          <a:xfrm>
            <a:off x="3981156" y="6833253"/>
            <a:ext cx="7369991" cy="664316"/>
          </a:xfrm>
          <a:prstGeom prst="snip1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Design/Develop Java Business Services with best practices  </a:t>
            </a:r>
            <a:r>
              <a:rPr lang="en-IN" dirty="0"/>
              <a:t> </a:t>
            </a:r>
          </a:p>
        </p:txBody>
      </p:sp>
      <p:sp>
        <p:nvSpPr>
          <p:cNvPr id="12" name="Rectangle 11">
            <a:extLst>
              <a:ext uri="{FF2B5EF4-FFF2-40B4-BE49-F238E27FC236}">
                <a16:creationId xmlns:a16="http://schemas.microsoft.com/office/drawing/2014/main" id="{2F136918-FAA2-445B-8085-FBE9A07CD266}"/>
              </a:ext>
            </a:extLst>
          </p:cNvPr>
          <p:cNvSpPr/>
          <p:nvPr/>
        </p:nvSpPr>
        <p:spPr>
          <a:xfrm>
            <a:off x="840866" y="3545458"/>
            <a:ext cx="1713297" cy="760396"/>
          </a:xfrm>
          <a:prstGeom prst="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Java Senior </a:t>
            </a:r>
          </a:p>
          <a:p>
            <a:pPr algn="ctr"/>
            <a:r>
              <a:rPr lang="en-IN" dirty="0"/>
              <a:t>Engineer</a:t>
            </a:r>
          </a:p>
        </p:txBody>
      </p:sp>
      <p:sp>
        <p:nvSpPr>
          <p:cNvPr id="13" name="Rectangle 12">
            <a:extLst>
              <a:ext uri="{FF2B5EF4-FFF2-40B4-BE49-F238E27FC236}">
                <a16:creationId xmlns:a16="http://schemas.microsoft.com/office/drawing/2014/main" id="{B07672CB-1CAC-49DC-AA95-EAB21DE81206}"/>
              </a:ext>
            </a:extLst>
          </p:cNvPr>
          <p:cNvSpPr/>
          <p:nvPr/>
        </p:nvSpPr>
        <p:spPr>
          <a:xfrm>
            <a:off x="2730626" y="3545458"/>
            <a:ext cx="1713297" cy="760396"/>
          </a:xfrm>
          <a:prstGeom prst="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Java Senior </a:t>
            </a:r>
          </a:p>
          <a:p>
            <a:pPr algn="ctr"/>
            <a:r>
              <a:rPr lang="en-IN" dirty="0"/>
              <a:t>Engineer</a:t>
            </a:r>
          </a:p>
        </p:txBody>
      </p:sp>
      <p:sp>
        <p:nvSpPr>
          <p:cNvPr id="26" name="Rectangle: Single Corner Snipped 25">
            <a:extLst>
              <a:ext uri="{FF2B5EF4-FFF2-40B4-BE49-F238E27FC236}">
                <a16:creationId xmlns:a16="http://schemas.microsoft.com/office/drawing/2014/main" id="{57028123-88E9-4A56-ADA0-EFD27ADFF132}"/>
              </a:ext>
            </a:extLst>
          </p:cNvPr>
          <p:cNvSpPr/>
          <p:nvPr/>
        </p:nvSpPr>
        <p:spPr>
          <a:xfrm>
            <a:off x="840866" y="4426217"/>
            <a:ext cx="3603057" cy="664316"/>
          </a:xfrm>
          <a:prstGeom prst="snip1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Work primarily on SDK’s and frameworks</a:t>
            </a:r>
            <a:endParaRPr lang="en-IN" dirty="0"/>
          </a:p>
        </p:txBody>
      </p:sp>
      <p:sp>
        <p:nvSpPr>
          <p:cNvPr id="27" name="Rectangle: Single Corner Snipped 26">
            <a:extLst>
              <a:ext uri="{FF2B5EF4-FFF2-40B4-BE49-F238E27FC236}">
                <a16:creationId xmlns:a16="http://schemas.microsoft.com/office/drawing/2014/main" id="{EED31998-9866-4400-9EF5-CDFF8051BD13}"/>
              </a:ext>
            </a:extLst>
          </p:cNvPr>
          <p:cNvSpPr/>
          <p:nvPr/>
        </p:nvSpPr>
        <p:spPr>
          <a:xfrm>
            <a:off x="4359218" y="2223643"/>
            <a:ext cx="4101388" cy="650383"/>
          </a:xfrm>
          <a:prstGeom prst="snip1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Ensure Enterprise SOA architectures and collaborate with stake holders &amp; team.</a:t>
            </a:r>
            <a:endParaRPr lang="en-IN" dirty="0"/>
          </a:p>
        </p:txBody>
      </p:sp>
      <p:cxnSp>
        <p:nvCxnSpPr>
          <p:cNvPr id="7" name="Straight Connector 6">
            <a:extLst>
              <a:ext uri="{FF2B5EF4-FFF2-40B4-BE49-F238E27FC236}">
                <a16:creationId xmlns:a16="http://schemas.microsoft.com/office/drawing/2014/main" id="{DA71A861-D3AD-4600-84A6-D4A416372085}"/>
              </a:ext>
            </a:extLst>
          </p:cNvPr>
          <p:cNvCxnSpPr>
            <a:cxnSpLocks/>
            <a:stCxn id="3" idx="3"/>
          </p:cNvCxnSpPr>
          <p:nvPr/>
        </p:nvCxnSpPr>
        <p:spPr>
          <a:xfrm>
            <a:off x="7151347" y="1538243"/>
            <a:ext cx="1930177" cy="11808"/>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66ADE3B-BBBC-48C0-8BF9-E06742FD8648}"/>
              </a:ext>
            </a:extLst>
          </p:cNvPr>
          <p:cNvCxnSpPr>
            <a:cxnSpLocks/>
            <a:stCxn id="3" idx="1"/>
          </p:cNvCxnSpPr>
          <p:nvPr/>
        </p:nvCxnSpPr>
        <p:spPr>
          <a:xfrm flipH="1" flipV="1">
            <a:off x="1697516" y="1509117"/>
            <a:ext cx="3740534" cy="29126"/>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C61659B-00AE-4B2D-8B62-05CAB84A9D2B}"/>
              </a:ext>
            </a:extLst>
          </p:cNvPr>
          <p:cNvCxnSpPr>
            <a:cxnSpLocks/>
            <a:endCxn id="12" idx="0"/>
          </p:cNvCxnSpPr>
          <p:nvPr/>
        </p:nvCxnSpPr>
        <p:spPr>
          <a:xfrm>
            <a:off x="1697515" y="1509117"/>
            <a:ext cx="0" cy="2036341"/>
          </a:xfrm>
          <a:prstGeom prst="line">
            <a:avLst/>
          </a:prstGeom>
          <a:ln w="19050" cap="flat">
            <a:solidFill>
              <a:srgbClr val="0070C0"/>
            </a:solidFill>
            <a:beve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FE1EF98-D09C-42AF-9079-2AC6B2057587}"/>
              </a:ext>
            </a:extLst>
          </p:cNvPr>
          <p:cNvCxnSpPr>
            <a:cxnSpLocks/>
          </p:cNvCxnSpPr>
          <p:nvPr/>
        </p:nvCxnSpPr>
        <p:spPr>
          <a:xfrm>
            <a:off x="3546456" y="1523680"/>
            <a:ext cx="23912" cy="2021778"/>
          </a:xfrm>
          <a:prstGeom prst="line">
            <a:avLst/>
          </a:prstGeom>
          <a:ln w="19050" cap="flat">
            <a:solidFill>
              <a:srgbClr val="0070C0"/>
            </a:solidFill>
            <a:beve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10D40DC-B327-4386-A86B-CD8DF2158334}"/>
              </a:ext>
            </a:extLst>
          </p:cNvPr>
          <p:cNvCxnSpPr>
            <a:cxnSpLocks/>
          </p:cNvCxnSpPr>
          <p:nvPr/>
        </p:nvCxnSpPr>
        <p:spPr>
          <a:xfrm flipH="1">
            <a:off x="9081524" y="1538243"/>
            <a:ext cx="4704" cy="3848375"/>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109B2B6-5B81-4EC2-9A91-929F615771C6}"/>
              </a:ext>
            </a:extLst>
          </p:cNvPr>
          <p:cNvCxnSpPr>
            <a:cxnSpLocks/>
          </p:cNvCxnSpPr>
          <p:nvPr/>
        </p:nvCxnSpPr>
        <p:spPr>
          <a:xfrm>
            <a:off x="4843107" y="5386618"/>
            <a:ext cx="5656695"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18BB968-B33A-4B44-B56C-90C7016CDEFE}"/>
              </a:ext>
            </a:extLst>
          </p:cNvPr>
          <p:cNvCxnSpPr>
            <a:cxnSpLocks/>
          </p:cNvCxnSpPr>
          <p:nvPr/>
        </p:nvCxnSpPr>
        <p:spPr>
          <a:xfrm flipH="1">
            <a:off x="6723370" y="5386618"/>
            <a:ext cx="10605" cy="580458"/>
          </a:xfrm>
          <a:prstGeom prst="line">
            <a:avLst/>
          </a:prstGeom>
          <a:ln w="19050" cap="flat">
            <a:solidFill>
              <a:srgbClr val="0070C0"/>
            </a:solidFill>
            <a:beve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29E960A-DC2C-4753-A6A3-FA012E2CE4BF}"/>
              </a:ext>
            </a:extLst>
          </p:cNvPr>
          <p:cNvCxnSpPr>
            <a:cxnSpLocks/>
          </p:cNvCxnSpPr>
          <p:nvPr/>
        </p:nvCxnSpPr>
        <p:spPr>
          <a:xfrm flipH="1">
            <a:off x="4832502" y="5386618"/>
            <a:ext cx="10605" cy="580458"/>
          </a:xfrm>
          <a:prstGeom prst="line">
            <a:avLst/>
          </a:prstGeom>
          <a:ln w="19050" cap="flat">
            <a:solidFill>
              <a:srgbClr val="0070C0"/>
            </a:solidFill>
            <a:beve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EABE539-7E3C-4327-BC9B-119DDE362654}"/>
              </a:ext>
            </a:extLst>
          </p:cNvPr>
          <p:cNvCxnSpPr>
            <a:cxnSpLocks/>
          </p:cNvCxnSpPr>
          <p:nvPr/>
        </p:nvCxnSpPr>
        <p:spPr>
          <a:xfrm flipH="1">
            <a:off x="10489197" y="5386618"/>
            <a:ext cx="10605" cy="580458"/>
          </a:xfrm>
          <a:prstGeom prst="line">
            <a:avLst/>
          </a:prstGeom>
          <a:ln w="19050" cap="flat">
            <a:solidFill>
              <a:srgbClr val="0070C0"/>
            </a:solidFill>
            <a:beve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ECACB9B-5E01-47CB-B2FB-EF6EEC0A5E8B}"/>
              </a:ext>
            </a:extLst>
          </p:cNvPr>
          <p:cNvCxnSpPr>
            <a:cxnSpLocks/>
          </p:cNvCxnSpPr>
          <p:nvPr/>
        </p:nvCxnSpPr>
        <p:spPr>
          <a:xfrm flipH="1">
            <a:off x="8603632" y="5386618"/>
            <a:ext cx="10605" cy="580458"/>
          </a:xfrm>
          <a:prstGeom prst="line">
            <a:avLst/>
          </a:prstGeom>
          <a:ln w="19050" cap="flat">
            <a:solidFill>
              <a:srgbClr val="0070C0"/>
            </a:solidFill>
            <a:bevel/>
            <a:headEnd type="none" w="med" len="med"/>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5490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3719CF4-6169-4B9F-8748-B4176F5625E0}"/>
              </a:ext>
            </a:extLst>
          </p:cNvPr>
          <p:cNvSpPr/>
          <p:nvPr/>
        </p:nvSpPr>
        <p:spPr>
          <a:xfrm>
            <a:off x="320996" y="659602"/>
            <a:ext cx="3576728" cy="73433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5E6DC59F-7012-4FA1-AC29-1A5E05966793}"/>
              </a:ext>
            </a:extLst>
          </p:cNvPr>
          <p:cNvSpPr txBox="1"/>
          <p:nvPr/>
        </p:nvSpPr>
        <p:spPr>
          <a:xfrm>
            <a:off x="450000" y="145038"/>
            <a:ext cx="4699221" cy="430887"/>
          </a:xfrm>
          <a:prstGeom prst="rect">
            <a:avLst/>
          </a:prstGeom>
          <a:noFill/>
        </p:spPr>
        <p:txBody>
          <a:bodyPr wrap="square" rtlCol="0">
            <a:spAutoFit/>
          </a:bodyPr>
          <a:lstStyle/>
          <a:p>
            <a:r>
              <a:rPr lang="en-IN" sz="2200" dirty="0">
                <a:solidFill>
                  <a:srgbClr val="0070C0"/>
                </a:solidFill>
                <a:latin typeface="Raleway SemiBold" pitchFamily="2" charset="0"/>
              </a:rPr>
              <a:t>Java Tech Lead  </a:t>
            </a:r>
            <a:r>
              <a:rPr lang="en-IN" sz="2200" dirty="0">
                <a:latin typeface="Raleway SemiBold" pitchFamily="2" charset="0"/>
              </a:rPr>
              <a:t> </a:t>
            </a:r>
            <a:r>
              <a:rPr lang="en-IN" sz="2200" dirty="0">
                <a:solidFill>
                  <a:srgbClr val="0070C0"/>
                </a:solidFill>
                <a:latin typeface="Raleway SemiBold" pitchFamily="2" charset="0"/>
              </a:rPr>
              <a:t>|</a:t>
            </a:r>
            <a:r>
              <a:rPr lang="en-IN" sz="2200" dirty="0">
                <a:latin typeface="Raleway SemiBold" pitchFamily="2" charset="0"/>
              </a:rPr>
              <a:t>   Manoj</a:t>
            </a:r>
          </a:p>
        </p:txBody>
      </p:sp>
      <p:sp>
        <p:nvSpPr>
          <p:cNvPr id="17" name="TextBox 16">
            <a:extLst>
              <a:ext uri="{FF2B5EF4-FFF2-40B4-BE49-F238E27FC236}">
                <a16:creationId xmlns:a16="http://schemas.microsoft.com/office/drawing/2014/main" id="{7F08DF72-6A34-4F54-B864-A22C1CE68FEC}"/>
              </a:ext>
            </a:extLst>
          </p:cNvPr>
          <p:cNvSpPr txBox="1"/>
          <p:nvPr/>
        </p:nvSpPr>
        <p:spPr>
          <a:xfrm>
            <a:off x="450000" y="800935"/>
            <a:ext cx="3350821" cy="7201972"/>
          </a:xfrm>
          <a:prstGeom prst="rect">
            <a:avLst/>
          </a:prstGeom>
          <a:noFill/>
        </p:spPr>
        <p:txBody>
          <a:bodyPr wrap="square" rtlCol="0">
            <a:spAutoFit/>
          </a:bodyPr>
          <a:lstStyle/>
          <a:p>
            <a:r>
              <a:rPr lang="en-IN" dirty="0">
                <a:latin typeface="Raleway SemiBold" pitchFamily="2" charset="0"/>
              </a:rPr>
              <a:t>Summary</a:t>
            </a:r>
          </a:p>
          <a:p>
            <a:r>
              <a:rPr lang="en-US" sz="1200" dirty="0">
                <a:latin typeface="Raleway Medium" panose="020B0604020202020204" pitchFamily="2" charset="0"/>
              </a:rPr>
              <a:t>Has good experience in managing and contributing to all aspects of Java based application development including functional and technical specifications, design, development and production support. Applied best architectural and programming patterns to write highly scalable java microservices services in distributed computing environment.</a:t>
            </a:r>
            <a:endParaRPr lang="en-IN" sz="1200" dirty="0">
              <a:latin typeface="Raleway Medium" panose="020B0604020202020204" pitchFamily="2" charset="0"/>
            </a:endParaRPr>
          </a:p>
          <a:p>
            <a:endParaRPr lang="en-IN" dirty="0"/>
          </a:p>
          <a:p>
            <a:r>
              <a:rPr lang="en-IN" dirty="0">
                <a:latin typeface="Raleway SemiBold" pitchFamily="2" charset="0"/>
              </a:rPr>
              <a:t>Expertise</a:t>
            </a:r>
          </a:p>
          <a:p>
            <a:pPr marL="171458" indent="-171458">
              <a:buFont typeface="Arial" panose="020B0604020202020204" pitchFamily="34" charset="0"/>
              <a:buChar char="•"/>
            </a:pPr>
            <a:r>
              <a:rPr lang="en-US" sz="1200" dirty="0">
                <a:latin typeface="Raleway Medium" pitchFamily="2" charset="0"/>
              </a:rPr>
              <a:t>Developing, reviewing and executing on established technical road maps and continual product optimizations</a:t>
            </a:r>
          </a:p>
          <a:p>
            <a:pPr marL="171458" indent="-171458">
              <a:buFont typeface="Arial" panose="020B0604020202020204" pitchFamily="34" charset="0"/>
              <a:buChar char="•"/>
            </a:pPr>
            <a:r>
              <a:rPr lang="en-US" sz="1200" dirty="0">
                <a:latin typeface="Raleway Medium" pitchFamily="2" charset="0"/>
              </a:rPr>
              <a:t>Leading team members in the delivery of technology solutions which meet business delivery expectations, maintain portfolio currency, and integrate best engineering practices.</a:t>
            </a:r>
          </a:p>
          <a:p>
            <a:pPr marL="171458" indent="-171458">
              <a:buFont typeface="Arial" panose="020B0604020202020204" pitchFamily="34" charset="0"/>
              <a:buChar char="•"/>
            </a:pPr>
            <a:r>
              <a:rPr lang="en-US" sz="1200" dirty="0">
                <a:latin typeface="Raleway Medium" pitchFamily="2" charset="0"/>
              </a:rPr>
              <a:t>Work closely with product managers and story owners to design features and prioritize tasks</a:t>
            </a:r>
          </a:p>
          <a:p>
            <a:pPr marL="171458" indent="-171458">
              <a:buFont typeface="Arial" panose="020B0604020202020204" pitchFamily="34" charset="0"/>
              <a:buChar char="•"/>
            </a:pPr>
            <a:r>
              <a:rPr lang="en-US" sz="1200" dirty="0">
                <a:latin typeface="Raleway Medium" pitchFamily="2" charset="0"/>
              </a:rPr>
              <a:t>Has experience in designing the solutions (UML/ERD) for requirement.</a:t>
            </a:r>
          </a:p>
          <a:p>
            <a:pPr marL="171458" indent="-171458">
              <a:buFont typeface="Arial" panose="020B0604020202020204" pitchFamily="34" charset="0"/>
              <a:buChar char="•"/>
            </a:pPr>
            <a:r>
              <a:rPr lang="en-US" sz="1200" dirty="0">
                <a:latin typeface="Raleway Medium" pitchFamily="2" charset="0"/>
              </a:rPr>
              <a:t>Has experience in developing a highly modular microservice based product.</a:t>
            </a:r>
            <a:endParaRPr lang="en-IN" sz="1200" dirty="0">
              <a:latin typeface="Raleway Medium" pitchFamily="2" charset="0"/>
            </a:endParaRPr>
          </a:p>
          <a:p>
            <a:pPr marL="171458" indent="-171458">
              <a:buFont typeface="Arial" panose="020B0604020202020204" pitchFamily="34" charset="0"/>
              <a:buChar char="•"/>
            </a:pPr>
            <a:r>
              <a:rPr lang="en-IN" sz="1200" dirty="0">
                <a:latin typeface="Raleway ExtraBold" pitchFamily="2" charset="0"/>
              </a:rPr>
              <a:t>Tools Used  </a:t>
            </a:r>
            <a:r>
              <a:rPr lang="en-IN" sz="1200" dirty="0">
                <a:latin typeface="Raleway Medium" pitchFamily="2" charset="0"/>
              </a:rPr>
              <a:t>-- IntelliJ, Data grip, Git, Postman, Docker, Kubernetes, Prometheus, Grafana</a:t>
            </a:r>
          </a:p>
          <a:p>
            <a:pPr marL="171458" indent="-171458">
              <a:buFont typeface="Arial" panose="020B0604020202020204" pitchFamily="34" charset="0"/>
              <a:buChar char="•"/>
            </a:pPr>
            <a:r>
              <a:rPr lang="en-IN" sz="1200" dirty="0">
                <a:latin typeface="Raleway ExtraBold" pitchFamily="2" charset="0"/>
              </a:rPr>
              <a:t>Database Used </a:t>
            </a:r>
            <a:r>
              <a:rPr lang="en-IN" sz="1200" dirty="0">
                <a:latin typeface="Raleway Medium" pitchFamily="2" charset="0"/>
              </a:rPr>
              <a:t>-- PostgreSQL, Mongodb, Elasticsearch , SQL Server, Oracle, MySQL, DynamoDB</a:t>
            </a:r>
          </a:p>
          <a:p>
            <a:endParaRPr lang="en-IN" dirty="0"/>
          </a:p>
          <a:p>
            <a:r>
              <a:rPr lang="en-IN" dirty="0">
                <a:latin typeface="Raleway SemiBold" pitchFamily="2" charset="0"/>
              </a:rPr>
              <a:t>Qualification</a:t>
            </a:r>
          </a:p>
          <a:p>
            <a:r>
              <a:rPr lang="en-IN" sz="1200" dirty="0">
                <a:latin typeface="Raleway Medium" pitchFamily="2" charset="0"/>
              </a:rPr>
              <a:t>Has Bachelor Degree in Computer Science</a:t>
            </a:r>
          </a:p>
        </p:txBody>
      </p:sp>
      <p:sp>
        <p:nvSpPr>
          <p:cNvPr id="18" name="TextBox 17">
            <a:extLst>
              <a:ext uri="{FF2B5EF4-FFF2-40B4-BE49-F238E27FC236}">
                <a16:creationId xmlns:a16="http://schemas.microsoft.com/office/drawing/2014/main" id="{2F7DF6C4-C442-43BD-99B8-D9370A580957}"/>
              </a:ext>
            </a:extLst>
          </p:cNvPr>
          <p:cNvSpPr txBox="1"/>
          <p:nvPr/>
        </p:nvSpPr>
        <p:spPr>
          <a:xfrm>
            <a:off x="4107047" y="1462324"/>
            <a:ext cx="7865215" cy="2585323"/>
          </a:xfrm>
          <a:prstGeom prst="rect">
            <a:avLst/>
          </a:prstGeom>
          <a:noFill/>
        </p:spPr>
        <p:txBody>
          <a:bodyPr wrap="square" rtlCol="0">
            <a:spAutoFit/>
          </a:bodyPr>
          <a:lstStyle/>
          <a:p>
            <a:r>
              <a:rPr lang="en-IN" dirty="0">
                <a:latin typeface="Raleway SemiBold" pitchFamily="2" charset="0"/>
              </a:rPr>
              <a:t>Synectiks Appkube Platform</a:t>
            </a:r>
          </a:p>
          <a:p>
            <a:r>
              <a:rPr lang="en-IN" sz="1200" dirty="0">
                <a:solidFill>
                  <a:srgbClr val="0070C0"/>
                </a:solidFill>
                <a:latin typeface="Raleway SemiBold" pitchFamily="2" charset="0"/>
              </a:rPr>
              <a:t>(Java8, Spring Boot, JPA, PostgreSQL, Elasticsearch, Docker, Kubernetes, Aws/Azure/GCP </a:t>
            </a:r>
            <a:r>
              <a:rPr lang="en-IN" sz="1200" dirty="0" err="1">
                <a:solidFill>
                  <a:srgbClr val="0070C0"/>
                </a:solidFill>
                <a:latin typeface="Raleway SemiBold" pitchFamily="2" charset="0"/>
              </a:rPr>
              <a:t>sdk</a:t>
            </a:r>
            <a:r>
              <a:rPr lang="en-IN" sz="1200" dirty="0">
                <a:solidFill>
                  <a:srgbClr val="0070C0"/>
                </a:solidFill>
                <a:latin typeface="Raleway SemiBold" pitchFamily="2" charset="0"/>
              </a:rPr>
              <a:t>, </a:t>
            </a:r>
            <a:r>
              <a:rPr lang="en-IN" sz="1200" dirty="0" err="1">
                <a:solidFill>
                  <a:srgbClr val="0070C0"/>
                </a:solidFill>
                <a:latin typeface="Raleway SemiBold" pitchFamily="2" charset="0"/>
              </a:rPr>
              <a:t>GoLang</a:t>
            </a:r>
            <a:r>
              <a:rPr lang="en-IN" sz="1200" dirty="0">
                <a:solidFill>
                  <a:srgbClr val="0070C0"/>
                </a:solidFill>
                <a:latin typeface="Raleway SemiBold" pitchFamily="2" charset="0"/>
              </a:rPr>
              <a:t>)</a:t>
            </a:r>
          </a:p>
          <a:p>
            <a:endParaRPr lang="en-IN" sz="1200" dirty="0">
              <a:latin typeface="Raleway Medium" pitchFamily="2" charset="0"/>
            </a:endParaRPr>
          </a:p>
          <a:p>
            <a:pPr marL="171458" indent="-171458">
              <a:buFont typeface="Arial" panose="020B0604020202020204" pitchFamily="34" charset="0"/>
              <a:buChar char="•"/>
            </a:pPr>
            <a:r>
              <a:rPr lang="en-US" sz="1200" dirty="0">
                <a:latin typeface="Raleway Medium" pitchFamily="2" charset="0"/>
              </a:rPr>
              <a:t>Worked on applying the Enterprise SOA patterns across the products services</a:t>
            </a:r>
          </a:p>
          <a:p>
            <a:pPr marL="171458" indent="-171458">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8" indent="-171458">
              <a:buFont typeface="Arial" panose="020B0604020202020204" pitchFamily="34" charset="0"/>
              <a:buChar char="•"/>
            </a:pPr>
            <a:r>
              <a:rPr lang="en-US" sz="1200" dirty="0">
                <a:latin typeface="Raleway Medium" pitchFamily="2" charset="0"/>
              </a:rPr>
              <a:t>Worked on all the API  required for common services module like security/</a:t>
            </a:r>
            <a:r>
              <a:rPr lang="en-US" sz="1200" dirty="0" err="1">
                <a:latin typeface="Raleway Medium" pitchFamily="2" charset="0"/>
              </a:rPr>
              <a:t>rbac</a:t>
            </a:r>
            <a:r>
              <a:rPr lang="en-US" sz="1200" dirty="0">
                <a:latin typeface="Raleway Medium" pitchFamily="2" charset="0"/>
              </a:rPr>
              <a:t>, policy engine</a:t>
            </a:r>
          </a:p>
          <a:p>
            <a:pPr marL="171458" indent="-171458">
              <a:buFont typeface="Arial" panose="020B0604020202020204" pitchFamily="34" charset="0"/>
              <a:buChar char="•"/>
            </a:pPr>
            <a:r>
              <a:rPr lang="en-US" sz="1200" dirty="0">
                <a:latin typeface="Raleway Medium" pitchFamily="2" charset="0"/>
              </a:rPr>
              <a:t>Lead the team members to integrate best engineering practices</a:t>
            </a:r>
          </a:p>
          <a:p>
            <a:pPr marL="171458" indent="-171458">
              <a:buFont typeface="Arial" panose="020B0604020202020204" pitchFamily="34" charset="0"/>
              <a:buChar char="•"/>
            </a:pPr>
            <a:r>
              <a:rPr lang="en-US" sz="1200" dirty="0">
                <a:latin typeface="Raleway Medium" pitchFamily="2" charset="0"/>
              </a:rPr>
              <a:t>Worked on plugin framework to make services more modular</a:t>
            </a:r>
          </a:p>
          <a:p>
            <a:pPr marL="171458" indent="-171458">
              <a:buFont typeface="Arial" panose="020B0604020202020204" pitchFamily="34" charset="0"/>
              <a:buChar char="•"/>
            </a:pPr>
            <a:r>
              <a:rPr lang="en-US" sz="1200" dirty="0">
                <a:latin typeface="Raleway Medium" pitchFamily="2" charset="0"/>
              </a:rPr>
              <a:t>Worked on Integration pattern between internal and external services </a:t>
            </a:r>
          </a:p>
          <a:p>
            <a:pPr marL="171458" indent="-171458">
              <a:buFont typeface="Arial" panose="020B0604020202020204" pitchFamily="34" charset="0"/>
              <a:buChar char="•"/>
            </a:pPr>
            <a:r>
              <a:rPr lang="en-US" sz="1200" dirty="0">
                <a:latin typeface="Raleway Medium" pitchFamily="2" charset="0"/>
              </a:rPr>
              <a:t>Worked on applying the cloud SDK’s</a:t>
            </a:r>
          </a:p>
          <a:p>
            <a:pPr marL="171458" indent="-171458">
              <a:buFont typeface="Arial" panose="020B0604020202020204" pitchFamily="34" charset="0"/>
              <a:buChar char="•"/>
            </a:pPr>
            <a:r>
              <a:rPr lang="en-US" sz="1200" dirty="0">
                <a:latin typeface="Raleway Medium" pitchFamily="2" charset="0"/>
              </a:rPr>
              <a:t>Worked with UI team for integration of UI with API</a:t>
            </a:r>
          </a:p>
          <a:p>
            <a:pPr marL="171458" indent="-171458">
              <a:buFont typeface="Arial" panose="020B0604020202020204" pitchFamily="34" charset="0"/>
              <a:buChar char="•"/>
            </a:pPr>
            <a:r>
              <a:rPr lang="en-US" sz="1200" dirty="0">
                <a:latin typeface="Raleway Medium" pitchFamily="2" charset="0"/>
              </a:rPr>
              <a:t>Worked on framework for metrics / log / traces integration with operation system.</a:t>
            </a:r>
          </a:p>
          <a:p>
            <a:pPr marL="171458" indent="-171458">
              <a:buFont typeface="Arial" panose="020B0604020202020204" pitchFamily="34" charset="0"/>
              <a:buChar char="•"/>
            </a:pPr>
            <a:r>
              <a:rPr lang="en-US" sz="1200" dirty="0">
                <a:latin typeface="Raleway Medium" pitchFamily="2" charset="0"/>
              </a:rPr>
              <a:t>Worked with </a:t>
            </a:r>
            <a:r>
              <a:rPr lang="en-US" sz="1200" dirty="0" err="1">
                <a:latin typeface="Raleway Medium" pitchFamily="2" charset="0"/>
              </a:rPr>
              <a:t>DevSecOps</a:t>
            </a:r>
            <a:r>
              <a:rPr lang="en-US" sz="1200" dirty="0">
                <a:latin typeface="Raleway Medium" pitchFamily="2" charset="0"/>
              </a:rPr>
              <a:t> team to establish framework for continuous delivery , deployment automation.</a:t>
            </a:r>
            <a:endParaRPr lang="en-IN" sz="1200" dirty="0">
              <a:latin typeface="Raleway Medium" pitchFamily="2" charset="0"/>
            </a:endParaRPr>
          </a:p>
        </p:txBody>
      </p:sp>
      <p:sp>
        <p:nvSpPr>
          <p:cNvPr id="19" name="TextBox 18">
            <a:extLst>
              <a:ext uri="{FF2B5EF4-FFF2-40B4-BE49-F238E27FC236}">
                <a16:creationId xmlns:a16="http://schemas.microsoft.com/office/drawing/2014/main" id="{3A017297-9CC1-4E3A-B3E1-E59DD550B4F8}"/>
              </a:ext>
            </a:extLst>
          </p:cNvPr>
          <p:cNvSpPr txBox="1"/>
          <p:nvPr/>
        </p:nvSpPr>
        <p:spPr>
          <a:xfrm>
            <a:off x="4107046" y="4168833"/>
            <a:ext cx="7634958" cy="2215991"/>
          </a:xfrm>
          <a:prstGeom prst="rect">
            <a:avLst/>
          </a:prstGeom>
          <a:noFill/>
        </p:spPr>
        <p:txBody>
          <a:bodyPr wrap="square" rtlCol="0">
            <a:spAutoFit/>
          </a:bodyPr>
          <a:lstStyle/>
          <a:p>
            <a:r>
              <a:rPr lang="en-IN" dirty="0">
                <a:latin typeface="Raleway SemiBold" pitchFamily="2" charset="0"/>
              </a:rPr>
              <a:t>Payment Gateway System</a:t>
            </a:r>
          </a:p>
          <a:p>
            <a:r>
              <a:rPr lang="en-IN" sz="1200" dirty="0">
                <a:solidFill>
                  <a:srgbClr val="0070C0"/>
                </a:solidFill>
                <a:latin typeface="Raleway SemiBold" pitchFamily="2" charset="0"/>
              </a:rPr>
              <a:t>(Java8, Spring Boot, JPA, PostgreSQL, Elasticsearch, Docker)</a:t>
            </a:r>
          </a:p>
          <a:p>
            <a:endParaRPr lang="en-IN" sz="1200" dirty="0">
              <a:latin typeface="Raleway Medium" pitchFamily="2" charset="0"/>
            </a:endParaRPr>
          </a:p>
          <a:p>
            <a:pPr marL="171458" indent="-171458">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8" indent="-171458">
              <a:buFont typeface="Arial" panose="020B0604020202020204" pitchFamily="34" charset="0"/>
              <a:buChar char="•"/>
            </a:pPr>
            <a:r>
              <a:rPr lang="en-US" sz="1200" dirty="0">
                <a:latin typeface="Raleway Medium" pitchFamily="2" charset="0"/>
              </a:rPr>
              <a:t>Worked on all the API  required for Admin portal</a:t>
            </a:r>
          </a:p>
          <a:p>
            <a:pPr marL="171458" indent="-171458">
              <a:buFont typeface="Arial" panose="020B0604020202020204" pitchFamily="34" charset="0"/>
              <a:buChar char="•"/>
            </a:pPr>
            <a:r>
              <a:rPr lang="en-US" sz="1200" dirty="0">
                <a:latin typeface="Raleway Medium" pitchFamily="2" charset="0"/>
              </a:rPr>
              <a:t>Worked on Authentication , MFA and Security framework for payment module</a:t>
            </a:r>
          </a:p>
          <a:p>
            <a:pPr marL="171458" indent="-171458">
              <a:buFont typeface="Arial" panose="020B0604020202020204" pitchFamily="34" charset="0"/>
              <a:buChar char="•"/>
            </a:pPr>
            <a:r>
              <a:rPr lang="en-US" sz="1200" dirty="0">
                <a:latin typeface="Raleway Medium" pitchFamily="2" charset="0"/>
              </a:rPr>
              <a:t>Worked on developing a highly scalable activity log framework</a:t>
            </a:r>
          </a:p>
          <a:p>
            <a:pPr marL="171458" indent="-171458">
              <a:buFont typeface="Arial" panose="020B0604020202020204" pitchFamily="34" charset="0"/>
              <a:buChar char="•"/>
            </a:pPr>
            <a:r>
              <a:rPr lang="en-US" sz="1200" dirty="0">
                <a:latin typeface="Raleway Medium" pitchFamily="2" charset="0"/>
              </a:rPr>
              <a:t>Wrote docker composers for Dev env creation and tests.</a:t>
            </a:r>
          </a:p>
          <a:p>
            <a:pPr marL="171458" indent="-171458">
              <a:buFont typeface="Arial" panose="020B0604020202020204" pitchFamily="34" charset="0"/>
              <a:buChar char="•"/>
            </a:pPr>
            <a:r>
              <a:rPr lang="en-US" sz="1200" dirty="0">
                <a:latin typeface="Raleway Medium" pitchFamily="2" charset="0"/>
              </a:rPr>
              <a:t>Worked closely with the QA, project management and business teams on solution implementation</a:t>
            </a:r>
          </a:p>
          <a:p>
            <a:pPr marL="171458" indent="-171458">
              <a:buFont typeface="Arial" panose="020B0604020202020204" pitchFamily="34" charset="0"/>
              <a:buChar char="•"/>
            </a:pPr>
            <a:r>
              <a:rPr lang="en-US" sz="1200" dirty="0">
                <a:latin typeface="Raleway Medium" pitchFamily="2" charset="0"/>
              </a:rPr>
              <a:t>Worked on the code fixes for Errors</a:t>
            </a:r>
          </a:p>
          <a:p>
            <a:pPr marL="171458" indent="-171458">
              <a:buFont typeface="Arial" panose="020B0604020202020204" pitchFamily="34" charset="0"/>
              <a:buChar char="•"/>
            </a:pPr>
            <a:r>
              <a:rPr lang="en-US" sz="1200" dirty="0">
                <a:latin typeface="Raleway Medium" pitchFamily="2" charset="0"/>
              </a:rPr>
              <a:t>Worked with UI team for integration of UI with API</a:t>
            </a:r>
          </a:p>
        </p:txBody>
      </p:sp>
      <p:sp>
        <p:nvSpPr>
          <p:cNvPr id="20" name="Rectangle 19">
            <a:extLst>
              <a:ext uri="{FF2B5EF4-FFF2-40B4-BE49-F238E27FC236}">
                <a16:creationId xmlns:a16="http://schemas.microsoft.com/office/drawing/2014/main" id="{82826717-78D8-4D38-BDEC-7C607E613AFA}"/>
              </a:ext>
            </a:extLst>
          </p:cNvPr>
          <p:cNvSpPr/>
          <p:nvPr/>
        </p:nvSpPr>
        <p:spPr>
          <a:xfrm>
            <a:off x="3880427" y="659602"/>
            <a:ext cx="7990582" cy="669852"/>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EF6F2C2C-28C4-4BA9-8C16-39AFFF93DBFD}"/>
              </a:ext>
            </a:extLst>
          </p:cNvPr>
          <p:cNvSpPr txBox="1"/>
          <p:nvPr/>
        </p:nvSpPr>
        <p:spPr>
          <a:xfrm>
            <a:off x="4107047" y="800935"/>
            <a:ext cx="3243138" cy="369332"/>
          </a:xfrm>
          <a:prstGeom prst="rect">
            <a:avLst/>
          </a:prstGeom>
          <a:noFill/>
        </p:spPr>
        <p:txBody>
          <a:bodyPr wrap="square" rtlCol="0">
            <a:spAutoFit/>
          </a:bodyPr>
          <a:lstStyle/>
          <a:p>
            <a:r>
              <a:rPr lang="en-IN" dirty="0">
                <a:solidFill>
                  <a:schemeClr val="bg1"/>
                </a:solidFill>
                <a:latin typeface="Raleway SemiBold" pitchFamily="2" charset="0"/>
              </a:rPr>
              <a:t>Recent Engagements</a:t>
            </a:r>
            <a:endParaRPr lang="en-IN" sz="1200" dirty="0">
              <a:solidFill>
                <a:schemeClr val="bg1"/>
              </a:solidFill>
              <a:latin typeface="Raleway SemiBold" pitchFamily="2" charset="0"/>
            </a:endParaRPr>
          </a:p>
        </p:txBody>
      </p:sp>
    </p:spTree>
    <p:extLst>
      <p:ext uri="{BB962C8B-B14F-4D97-AF65-F5344CB8AC3E}">
        <p14:creationId xmlns:p14="http://schemas.microsoft.com/office/powerpoint/2010/main" val="2077576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493AF4A-7DEE-478F-9ADC-9B9F7B0B0BF3}"/>
              </a:ext>
            </a:extLst>
          </p:cNvPr>
          <p:cNvSpPr/>
          <p:nvPr/>
        </p:nvSpPr>
        <p:spPr>
          <a:xfrm>
            <a:off x="320996" y="659602"/>
            <a:ext cx="3576728" cy="73433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TextBox 9">
            <a:extLst>
              <a:ext uri="{FF2B5EF4-FFF2-40B4-BE49-F238E27FC236}">
                <a16:creationId xmlns:a16="http://schemas.microsoft.com/office/drawing/2014/main" id="{6F375B67-6DF0-462F-B481-A8CEEE348AA8}"/>
              </a:ext>
            </a:extLst>
          </p:cNvPr>
          <p:cNvSpPr txBox="1"/>
          <p:nvPr/>
        </p:nvSpPr>
        <p:spPr>
          <a:xfrm>
            <a:off x="449998" y="145038"/>
            <a:ext cx="4699221" cy="430887"/>
          </a:xfrm>
          <a:prstGeom prst="rect">
            <a:avLst/>
          </a:prstGeom>
          <a:noFill/>
        </p:spPr>
        <p:txBody>
          <a:bodyPr wrap="square" rtlCol="0">
            <a:spAutoFit/>
          </a:bodyPr>
          <a:lstStyle/>
          <a:p>
            <a:r>
              <a:rPr lang="en-IN" sz="2200" dirty="0">
                <a:solidFill>
                  <a:srgbClr val="0070C0"/>
                </a:solidFill>
                <a:latin typeface="Raleway SemiBold" pitchFamily="2" charset="0"/>
              </a:rPr>
              <a:t>Java Senior Engineer  </a:t>
            </a:r>
            <a:r>
              <a:rPr lang="en-IN" sz="2200" dirty="0">
                <a:latin typeface="Raleway SemiBold" pitchFamily="2" charset="0"/>
              </a:rPr>
              <a:t> </a:t>
            </a:r>
            <a:r>
              <a:rPr lang="en-IN" sz="2200" dirty="0">
                <a:solidFill>
                  <a:srgbClr val="0070C0"/>
                </a:solidFill>
                <a:latin typeface="Raleway SemiBold" pitchFamily="2" charset="0"/>
              </a:rPr>
              <a:t>|</a:t>
            </a:r>
            <a:r>
              <a:rPr lang="en-IN" sz="2200" dirty="0">
                <a:latin typeface="Raleway SemiBold" pitchFamily="2" charset="0"/>
              </a:rPr>
              <a:t>   </a:t>
            </a:r>
            <a:r>
              <a:rPr lang="en-IN" sz="2200" dirty="0" err="1">
                <a:latin typeface="Raleway SemiBold" pitchFamily="2" charset="0"/>
              </a:rPr>
              <a:t>Satnam</a:t>
            </a:r>
            <a:r>
              <a:rPr lang="en-IN" sz="2200" dirty="0">
                <a:latin typeface="Raleway SemiBold" pitchFamily="2" charset="0"/>
              </a:rPr>
              <a:t> </a:t>
            </a:r>
          </a:p>
        </p:txBody>
      </p:sp>
      <p:sp>
        <p:nvSpPr>
          <p:cNvPr id="11" name="TextBox 10">
            <a:extLst>
              <a:ext uri="{FF2B5EF4-FFF2-40B4-BE49-F238E27FC236}">
                <a16:creationId xmlns:a16="http://schemas.microsoft.com/office/drawing/2014/main" id="{C7D1F129-4F2E-4DC2-81FC-C31066808C81}"/>
              </a:ext>
            </a:extLst>
          </p:cNvPr>
          <p:cNvSpPr txBox="1"/>
          <p:nvPr/>
        </p:nvSpPr>
        <p:spPr>
          <a:xfrm>
            <a:off x="449998" y="800934"/>
            <a:ext cx="3350821" cy="6401753"/>
          </a:xfrm>
          <a:prstGeom prst="rect">
            <a:avLst/>
          </a:prstGeom>
          <a:noFill/>
        </p:spPr>
        <p:txBody>
          <a:bodyPr wrap="square" rtlCol="0">
            <a:spAutoFit/>
          </a:bodyPr>
          <a:lstStyle/>
          <a:p>
            <a:r>
              <a:rPr lang="en-IN" dirty="0">
                <a:latin typeface="Raleway SemiBold" pitchFamily="2" charset="0"/>
              </a:rPr>
              <a:t>Summary</a:t>
            </a:r>
          </a:p>
          <a:p>
            <a:r>
              <a:rPr lang="en-US" sz="1200" dirty="0">
                <a:latin typeface="Raleway Medium" panose="020B0604020202020204" pitchFamily="2" charset="0"/>
              </a:rPr>
              <a:t>Has good experience in design, development and production support of java services. Applied design patterns, data model and UML  to write highly scalable java microservices services running in distributed computing environment. </a:t>
            </a:r>
          </a:p>
          <a:p>
            <a:endParaRPr lang="en-IN" sz="1400" dirty="0"/>
          </a:p>
          <a:p>
            <a:r>
              <a:rPr lang="en-IN" dirty="0">
                <a:latin typeface="Raleway SemiBold" pitchFamily="2" charset="0"/>
              </a:rPr>
              <a:t>Expertise</a:t>
            </a:r>
          </a:p>
          <a:p>
            <a:pPr marL="171454" indent="-171454">
              <a:buFont typeface="Arial" panose="020B0604020202020204" pitchFamily="34" charset="0"/>
              <a:buChar char="•"/>
            </a:pPr>
            <a:r>
              <a:rPr lang="en-US" sz="1200" dirty="0">
                <a:latin typeface="Raleway Medium" pitchFamily="2" charset="0"/>
              </a:rPr>
              <a:t>Developing, reviewing and executing on java business services and provide e2e production support. </a:t>
            </a:r>
          </a:p>
          <a:p>
            <a:pPr marL="171454" indent="-171454">
              <a:buFont typeface="Arial" panose="020B0604020202020204" pitchFamily="34" charset="0"/>
              <a:buChar char="•"/>
            </a:pPr>
            <a:r>
              <a:rPr lang="en-US" sz="1200" dirty="0">
                <a:latin typeface="Raleway Medium" pitchFamily="2" charset="0"/>
              </a:rPr>
              <a:t>Has experience in designing the solutions (UML/ERD) for requirement.</a:t>
            </a:r>
          </a:p>
          <a:p>
            <a:pPr marL="171454" indent="-171454">
              <a:buFont typeface="Arial" panose="020B0604020202020204" pitchFamily="34" charset="0"/>
              <a:buChar char="•"/>
            </a:pPr>
            <a:r>
              <a:rPr lang="en-US" sz="1200" dirty="0">
                <a:latin typeface="Raleway Medium" pitchFamily="2" charset="0"/>
              </a:rPr>
              <a:t>Has experience in developing a highly modular microservices based product.</a:t>
            </a:r>
          </a:p>
          <a:p>
            <a:pPr marL="171454" indent="-171454">
              <a:buFont typeface="Arial" panose="020B0604020202020204" pitchFamily="34" charset="0"/>
              <a:buChar char="•"/>
            </a:pPr>
            <a:r>
              <a:rPr lang="en-US" sz="1200" dirty="0">
                <a:latin typeface="Raleway Medium" pitchFamily="2" charset="0"/>
              </a:rPr>
              <a:t>Has experience of working with third party SDK’s and integration services</a:t>
            </a:r>
          </a:p>
          <a:p>
            <a:pPr marL="171454" indent="-171454">
              <a:buFont typeface="Arial" panose="020B0604020202020204" pitchFamily="34" charset="0"/>
              <a:buChar char="•"/>
            </a:pPr>
            <a:r>
              <a:rPr lang="en-US" sz="1200" dirty="0">
                <a:latin typeface="Raleway Medium" pitchFamily="2" charset="0"/>
              </a:rPr>
              <a:t>Has experience in the areas of multithreading, scalability, and application of design patterns supporting high availability services</a:t>
            </a:r>
            <a:endParaRPr lang="en-IN" sz="1200" dirty="0">
              <a:latin typeface="Raleway Medium" pitchFamily="2" charset="0"/>
            </a:endParaRPr>
          </a:p>
          <a:p>
            <a:pPr marL="171454" indent="-171454">
              <a:buFont typeface="Arial" panose="020B0604020202020204" pitchFamily="34" charset="0"/>
              <a:buChar char="•"/>
            </a:pPr>
            <a:r>
              <a:rPr lang="en-IN" sz="1200" dirty="0">
                <a:latin typeface="Raleway ExtraBold" pitchFamily="2" charset="0"/>
              </a:rPr>
              <a:t>Tools Used  </a:t>
            </a:r>
            <a:r>
              <a:rPr lang="en-IN" sz="1200" dirty="0">
                <a:latin typeface="Raleway Medium" pitchFamily="2" charset="0"/>
              </a:rPr>
              <a:t>-- IntelliJ, Data grip, Git, Postman, Docker, Kubernetes, Prometheus, Grafana</a:t>
            </a:r>
          </a:p>
          <a:p>
            <a:pPr marL="171454" indent="-171454">
              <a:buFont typeface="Arial" panose="020B0604020202020204" pitchFamily="34" charset="0"/>
              <a:buChar char="•"/>
            </a:pPr>
            <a:r>
              <a:rPr lang="en-IN" sz="1200" dirty="0">
                <a:latin typeface="Raleway ExtraBold" pitchFamily="2" charset="0"/>
              </a:rPr>
              <a:t>Database Used </a:t>
            </a:r>
            <a:r>
              <a:rPr lang="en-IN" sz="1200" dirty="0">
                <a:latin typeface="Raleway Medium" pitchFamily="2" charset="0"/>
              </a:rPr>
              <a:t>-- PostgreSQL, Mongodb, Elasticsearch , SQL Server, Oracle, MySQL, DynamoDB</a:t>
            </a:r>
          </a:p>
          <a:p>
            <a:endParaRPr lang="en-IN" dirty="0"/>
          </a:p>
          <a:p>
            <a:r>
              <a:rPr lang="en-IN" dirty="0">
                <a:latin typeface="Raleway SemiBold" pitchFamily="2" charset="0"/>
              </a:rPr>
              <a:t>Qualification</a:t>
            </a:r>
          </a:p>
          <a:p>
            <a:r>
              <a:rPr lang="en-IN" sz="1200" dirty="0">
                <a:latin typeface="Raleway Medium" pitchFamily="2" charset="0"/>
              </a:rPr>
              <a:t>Has Bachelor Degree in Computer Science</a:t>
            </a:r>
          </a:p>
        </p:txBody>
      </p:sp>
      <p:sp>
        <p:nvSpPr>
          <p:cNvPr id="12" name="TextBox 11">
            <a:extLst>
              <a:ext uri="{FF2B5EF4-FFF2-40B4-BE49-F238E27FC236}">
                <a16:creationId xmlns:a16="http://schemas.microsoft.com/office/drawing/2014/main" id="{3C7C8453-6731-4026-BBFA-1DA66C04E94D}"/>
              </a:ext>
            </a:extLst>
          </p:cNvPr>
          <p:cNvSpPr txBox="1"/>
          <p:nvPr/>
        </p:nvSpPr>
        <p:spPr>
          <a:xfrm>
            <a:off x="4107045" y="1462323"/>
            <a:ext cx="7875848" cy="2585323"/>
          </a:xfrm>
          <a:prstGeom prst="rect">
            <a:avLst/>
          </a:prstGeom>
          <a:noFill/>
        </p:spPr>
        <p:txBody>
          <a:bodyPr wrap="square" rtlCol="0">
            <a:spAutoFit/>
          </a:bodyPr>
          <a:lstStyle/>
          <a:p>
            <a:r>
              <a:rPr lang="en-IN" dirty="0">
                <a:latin typeface="Raleway SemiBold" pitchFamily="2" charset="0"/>
              </a:rPr>
              <a:t>Synectiks </a:t>
            </a:r>
            <a:r>
              <a:rPr lang="en-IN" dirty="0" err="1">
                <a:latin typeface="Raleway SemiBold" pitchFamily="2" charset="0"/>
              </a:rPr>
              <a:t>Appkube</a:t>
            </a:r>
            <a:r>
              <a:rPr lang="en-IN" dirty="0">
                <a:latin typeface="Raleway SemiBold" pitchFamily="2" charset="0"/>
              </a:rPr>
              <a:t> Platform</a:t>
            </a:r>
          </a:p>
          <a:p>
            <a:r>
              <a:rPr lang="en-IN" sz="1200" dirty="0">
                <a:solidFill>
                  <a:srgbClr val="0070C0"/>
                </a:solidFill>
                <a:latin typeface="Raleway SemiBold" pitchFamily="2" charset="0"/>
              </a:rPr>
              <a:t>(Java8, Spring Boot, JPA, PostgreSQL, Elasticsearch, Docker, Kubernetes, Aws/Azure/GCP </a:t>
            </a:r>
            <a:r>
              <a:rPr lang="en-IN" sz="1200" dirty="0" err="1">
                <a:solidFill>
                  <a:srgbClr val="0070C0"/>
                </a:solidFill>
                <a:latin typeface="Raleway SemiBold" pitchFamily="2" charset="0"/>
              </a:rPr>
              <a:t>sdk</a:t>
            </a:r>
            <a:r>
              <a:rPr lang="en-IN" sz="1200" dirty="0">
                <a:solidFill>
                  <a:srgbClr val="0070C0"/>
                </a:solidFill>
                <a:latin typeface="Raleway SemiBold" pitchFamily="2" charset="0"/>
              </a:rPr>
              <a:t>, </a:t>
            </a:r>
            <a:r>
              <a:rPr lang="en-IN" sz="1200" dirty="0" err="1">
                <a:solidFill>
                  <a:srgbClr val="0070C0"/>
                </a:solidFill>
                <a:latin typeface="Raleway SemiBold" pitchFamily="2" charset="0"/>
              </a:rPr>
              <a:t>GoLang</a:t>
            </a:r>
            <a:r>
              <a:rPr lang="en-IN" sz="1200" dirty="0">
                <a:solidFill>
                  <a:srgbClr val="0070C0"/>
                </a:solidFill>
                <a:latin typeface="Raleway SemiBold" pitchFamily="2" charset="0"/>
              </a:rPr>
              <a:t>)</a:t>
            </a:r>
          </a:p>
          <a:p>
            <a:endParaRPr lang="en-IN" sz="1200" dirty="0">
              <a:latin typeface="Raleway Medium" pitchFamily="2" charset="0"/>
            </a:endParaRPr>
          </a:p>
          <a:p>
            <a:pPr marL="171454" indent="-171454">
              <a:buFont typeface="Arial" panose="020B0604020202020204" pitchFamily="34" charset="0"/>
              <a:buChar char="•"/>
            </a:pPr>
            <a:r>
              <a:rPr lang="en-US" sz="1200" dirty="0">
                <a:latin typeface="Raleway Medium" pitchFamily="2" charset="0"/>
              </a:rPr>
              <a:t>Worked on applying the cloud java SDK’s to write cloud orchestrator services</a:t>
            </a:r>
          </a:p>
          <a:p>
            <a:pPr marL="171454" indent="-171454">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4" indent="-171454">
              <a:buFont typeface="Arial" panose="020B0604020202020204" pitchFamily="34" charset="0"/>
              <a:buChar char="•"/>
            </a:pPr>
            <a:r>
              <a:rPr lang="en-US" sz="1200" dirty="0">
                <a:latin typeface="Raleway Medium" pitchFamily="2" charset="0"/>
              </a:rPr>
              <a:t>Worked on all the API  required for common services module like security/</a:t>
            </a:r>
            <a:r>
              <a:rPr lang="en-US" sz="1200" dirty="0" err="1">
                <a:latin typeface="Raleway Medium" pitchFamily="2" charset="0"/>
              </a:rPr>
              <a:t>rbac</a:t>
            </a:r>
            <a:r>
              <a:rPr lang="en-US" sz="1200" dirty="0">
                <a:latin typeface="Raleway Medium" pitchFamily="2" charset="0"/>
              </a:rPr>
              <a:t>, compliance engine</a:t>
            </a:r>
          </a:p>
          <a:p>
            <a:pPr marL="171454" indent="-171454">
              <a:buFont typeface="Arial" panose="020B0604020202020204" pitchFamily="34" charset="0"/>
              <a:buChar char="•"/>
            </a:pPr>
            <a:r>
              <a:rPr lang="en-US" sz="1200" dirty="0">
                <a:latin typeface="Raleway Medium" pitchFamily="2" charset="0"/>
              </a:rPr>
              <a:t>Wrote plugin-based module on plugin framework to make services more modular</a:t>
            </a:r>
          </a:p>
          <a:p>
            <a:pPr marL="171454" indent="-171454">
              <a:buFont typeface="Arial" panose="020B0604020202020204" pitchFamily="34" charset="0"/>
              <a:buChar char="•"/>
            </a:pPr>
            <a:r>
              <a:rPr lang="en-US" sz="1200" dirty="0">
                <a:latin typeface="Raleway Medium" pitchFamily="2" charset="0"/>
              </a:rPr>
              <a:t>Worked on Integration pattern between internal and external services </a:t>
            </a:r>
          </a:p>
          <a:p>
            <a:pPr marL="171454" indent="-171454">
              <a:buFont typeface="Arial" panose="020B0604020202020204" pitchFamily="34" charset="0"/>
              <a:buChar char="•"/>
            </a:pPr>
            <a:r>
              <a:rPr lang="en-US" sz="1200" dirty="0">
                <a:latin typeface="Raleway Medium" pitchFamily="2" charset="0"/>
              </a:rPr>
              <a:t>Worked with UI team for integration of UI with API</a:t>
            </a:r>
          </a:p>
          <a:p>
            <a:pPr marL="171454" indent="-171454">
              <a:buFont typeface="Arial" panose="020B0604020202020204" pitchFamily="34" charset="0"/>
              <a:buChar char="•"/>
            </a:pPr>
            <a:r>
              <a:rPr lang="en-US" sz="1200" dirty="0">
                <a:latin typeface="Raleway Medium" pitchFamily="2" charset="0"/>
              </a:rPr>
              <a:t>Worked on framework for metrics / log / traces integration with operation system.</a:t>
            </a:r>
          </a:p>
          <a:p>
            <a:pPr marL="171454" indent="-171454">
              <a:buFont typeface="Arial" panose="020B0604020202020204" pitchFamily="34" charset="0"/>
              <a:buChar char="•"/>
            </a:pPr>
            <a:r>
              <a:rPr lang="en-US" sz="1200" dirty="0">
                <a:latin typeface="Raleway Medium" pitchFamily="2" charset="0"/>
              </a:rPr>
              <a:t>Worked on docker composer to create local Dev Env</a:t>
            </a:r>
          </a:p>
          <a:p>
            <a:pPr marL="171454" indent="-171454">
              <a:buFont typeface="Arial" panose="020B0604020202020204" pitchFamily="34" charset="0"/>
              <a:buChar char="•"/>
            </a:pPr>
            <a:r>
              <a:rPr lang="en-US" sz="1200" dirty="0">
                <a:latin typeface="Raleway Medium" pitchFamily="2" charset="0"/>
              </a:rPr>
              <a:t>Worked with </a:t>
            </a:r>
            <a:r>
              <a:rPr lang="en-US" sz="1200" dirty="0" err="1">
                <a:latin typeface="Raleway Medium" pitchFamily="2" charset="0"/>
              </a:rPr>
              <a:t>DevSecOps</a:t>
            </a:r>
            <a:r>
              <a:rPr lang="en-US" sz="1200" dirty="0">
                <a:latin typeface="Raleway Medium" pitchFamily="2" charset="0"/>
              </a:rPr>
              <a:t> team to establish framework for continuous delivery, deployment automation.</a:t>
            </a:r>
          </a:p>
          <a:p>
            <a:pPr marL="171454" indent="-171454">
              <a:buFont typeface="Arial" panose="020B0604020202020204" pitchFamily="34" charset="0"/>
              <a:buChar char="•"/>
            </a:pPr>
            <a:r>
              <a:rPr lang="en-US" sz="1200" dirty="0">
                <a:latin typeface="Raleway Medium" pitchFamily="2" charset="0"/>
              </a:rPr>
              <a:t>Worked on postman simulator API</a:t>
            </a:r>
            <a:r>
              <a:rPr lang="en-IN" sz="1200" dirty="0">
                <a:latin typeface="Raleway Medium" pitchFamily="2" charset="0"/>
              </a:rPr>
              <a:t>.</a:t>
            </a:r>
          </a:p>
        </p:txBody>
      </p:sp>
      <p:sp>
        <p:nvSpPr>
          <p:cNvPr id="13" name="TextBox 12">
            <a:extLst>
              <a:ext uri="{FF2B5EF4-FFF2-40B4-BE49-F238E27FC236}">
                <a16:creationId xmlns:a16="http://schemas.microsoft.com/office/drawing/2014/main" id="{6A09D5B9-E1DE-459C-848A-815E5BD3C531}"/>
              </a:ext>
            </a:extLst>
          </p:cNvPr>
          <p:cNvSpPr txBox="1"/>
          <p:nvPr/>
        </p:nvSpPr>
        <p:spPr>
          <a:xfrm>
            <a:off x="4107046" y="4168833"/>
            <a:ext cx="7634957" cy="2215991"/>
          </a:xfrm>
          <a:prstGeom prst="rect">
            <a:avLst/>
          </a:prstGeom>
          <a:noFill/>
        </p:spPr>
        <p:txBody>
          <a:bodyPr wrap="square" rtlCol="0">
            <a:spAutoFit/>
          </a:bodyPr>
          <a:lstStyle/>
          <a:p>
            <a:r>
              <a:rPr lang="en-IN" dirty="0">
                <a:latin typeface="Raleway SemiBold" pitchFamily="2" charset="0"/>
              </a:rPr>
              <a:t>Procurement Management System</a:t>
            </a:r>
          </a:p>
          <a:p>
            <a:r>
              <a:rPr lang="en-IN" sz="1200" dirty="0">
                <a:solidFill>
                  <a:srgbClr val="0070C0"/>
                </a:solidFill>
                <a:latin typeface="Raleway SemiBold" pitchFamily="2" charset="0"/>
              </a:rPr>
              <a:t>(Java8, Spring Boot, JPA, PostgreSQL, Elasticsearch, Docker)</a:t>
            </a:r>
          </a:p>
          <a:p>
            <a:endParaRPr lang="en-IN" sz="1200" dirty="0">
              <a:latin typeface="Raleway Medium" pitchFamily="2" charset="0"/>
            </a:endParaRPr>
          </a:p>
          <a:p>
            <a:pPr marL="171454" indent="-171454">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4" indent="-171454">
              <a:buFont typeface="Arial" panose="020B0604020202020204" pitchFamily="34" charset="0"/>
              <a:buChar char="•"/>
            </a:pPr>
            <a:r>
              <a:rPr lang="en-US" sz="1200" dirty="0">
                <a:latin typeface="Raleway Medium" pitchFamily="2" charset="0"/>
              </a:rPr>
              <a:t>Worked on all the API  required for Admin portal</a:t>
            </a:r>
          </a:p>
          <a:p>
            <a:pPr marL="171454" indent="-171454">
              <a:buFont typeface="Arial" panose="020B0604020202020204" pitchFamily="34" charset="0"/>
              <a:buChar char="•"/>
            </a:pPr>
            <a:r>
              <a:rPr lang="en-US" sz="1200" dirty="0">
                <a:latin typeface="Raleway Medium" pitchFamily="2" charset="0"/>
              </a:rPr>
              <a:t>Worked on Authentication , MFA and Security framework for product portals</a:t>
            </a:r>
          </a:p>
          <a:p>
            <a:pPr marL="171454" indent="-171454">
              <a:buFont typeface="Arial" panose="020B0604020202020204" pitchFamily="34" charset="0"/>
              <a:buChar char="•"/>
            </a:pPr>
            <a:r>
              <a:rPr lang="en-US" sz="1200" dirty="0">
                <a:latin typeface="Raleway Medium" pitchFamily="2" charset="0"/>
              </a:rPr>
              <a:t>Worked on developing a highly scalable alert notification framework</a:t>
            </a:r>
          </a:p>
          <a:p>
            <a:pPr marL="171454" indent="-171454">
              <a:buFont typeface="Arial" panose="020B0604020202020204" pitchFamily="34" charset="0"/>
              <a:buChar char="•"/>
            </a:pPr>
            <a:r>
              <a:rPr lang="en-US" sz="1200" dirty="0">
                <a:latin typeface="Raleway Medium" pitchFamily="2" charset="0"/>
              </a:rPr>
              <a:t>Wrote docker composers for Dev env creation and tests.</a:t>
            </a:r>
          </a:p>
          <a:p>
            <a:pPr marL="171454" indent="-171454">
              <a:buFont typeface="Arial" panose="020B0604020202020204" pitchFamily="34" charset="0"/>
              <a:buChar char="•"/>
            </a:pPr>
            <a:r>
              <a:rPr lang="en-US" sz="1200" dirty="0">
                <a:latin typeface="Raleway Medium" pitchFamily="2" charset="0"/>
              </a:rPr>
              <a:t>Worked closely with the QA, project management and business teams on solution implementation</a:t>
            </a:r>
          </a:p>
          <a:p>
            <a:pPr marL="171454" indent="-171454">
              <a:buFont typeface="Arial" panose="020B0604020202020204" pitchFamily="34" charset="0"/>
              <a:buChar char="•"/>
            </a:pPr>
            <a:r>
              <a:rPr lang="en-US" sz="1200" dirty="0">
                <a:latin typeface="Raleway Medium" pitchFamily="2" charset="0"/>
              </a:rPr>
              <a:t>Worked on the code fixes for Errors</a:t>
            </a:r>
          </a:p>
          <a:p>
            <a:pPr marL="171454" indent="-171454">
              <a:buFont typeface="Arial" panose="020B0604020202020204" pitchFamily="34" charset="0"/>
              <a:buChar char="•"/>
            </a:pPr>
            <a:r>
              <a:rPr lang="en-US" sz="1200" dirty="0">
                <a:latin typeface="Raleway Medium" pitchFamily="2" charset="0"/>
              </a:rPr>
              <a:t>Worked with UI team for integration of UI with API</a:t>
            </a:r>
            <a:endParaRPr lang="en-IN" sz="1200" dirty="0">
              <a:latin typeface="Raleway Medium" pitchFamily="2" charset="0"/>
            </a:endParaRPr>
          </a:p>
        </p:txBody>
      </p:sp>
      <p:sp>
        <p:nvSpPr>
          <p:cNvPr id="14" name="Rectangle 13">
            <a:extLst>
              <a:ext uri="{FF2B5EF4-FFF2-40B4-BE49-F238E27FC236}">
                <a16:creationId xmlns:a16="http://schemas.microsoft.com/office/drawing/2014/main" id="{6D159987-93B0-4FB2-99B2-7FA868768E65}"/>
              </a:ext>
            </a:extLst>
          </p:cNvPr>
          <p:cNvSpPr/>
          <p:nvPr/>
        </p:nvSpPr>
        <p:spPr>
          <a:xfrm>
            <a:off x="3880425" y="659602"/>
            <a:ext cx="7990582" cy="669852"/>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16DF07B5-289A-420F-83E5-CF0531EE871E}"/>
              </a:ext>
            </a:extLst>
          </p:cNvPr>
          <p:cNvSpPr txBox="1"/>
          <p:nvPr/>
        </p:nvSpPr>
        <p:spPr>
          <a:xfrm>
            <a:off x="4107045" y="800934"/>
            <a:ext cx="3243138" cy="369332"/>
          </a:xfrm>
          <a:prstGeom prst="rect">
            <a:avLst/>
          </a:prstGeom>
          <a:noFill/>
        </p:spPr>
        <p:txBody>
          <a:bodyPr wrap="square" rtlCol="0">
            <a:spAutoFit/>
          </a:bodyPr>
          <a:lstStyle/>
          <a:p>
            <a:r>
              <a:rPr lang="en-IN" dirty="0">
                <a:solidFill>
                  <a:schemeClr val="bg1"/>
                </a:solidFill>
                <a:latin typeface="Raleway SemiBold" pitchFamily="2" charset="0"/>
              </a:rPr>
              <a:t>Recent Engagements</a:t>
            </a:r>
            <a:endParaRPr lang="en-IN" sz="1200" dirty="0">
              <a:solidFill>
                <a:schemeClr val="bg1"/>
              </a:solidFill>
              <a:latin typeface="Raleway SemiBold" pitchFamily="2" charset="0"/>
            </a:endParaRPr>
          </a:p>
        </p:txBody>
      </p:sp>
    </p:spTree>
    <p:extLst>
      <p:ext uri="{BB962C8B-B14F-4D97-AF65-F5344CB8AC3E}">
        <p14:creationId xmlns:p14="http://schemas.microsoft.com/office/powerpoint/2010/main" val="2318074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493AF4A-7DEE-478F-9ADC-9B9F7B0B0BF3}"/>
              </a:ext>
            </a:extLst>
          </p:cNvPr>
          <p:cNvSpPr/>
          <p:nvPr/>
        </p:nvSpPr>
        <p:spPr>
          <a:xfrm>
            <a:off x="320996" y="659602"/>
            <a:ext cx="3576728" cy="73433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TextBox 9">
            <a:extLst>
              <a:ext uri="{FF2B5EF4-FFF2-40B4-BE49-F238E27FC236}">
                <a16:creationId xmlns:a16="http://schemas.microsoft.com/office/drawing/2014/main" id="{6F375B67-6DF0-462F-B481-A8CEEE348AA8}"/>
              </a:ext>
            </a:extLst>
          </p:cNvPr>
          <p:cNvSpPr txBox="1"/>
          <p:nvPr/>
        </p:nvSpPr>
        <p:spPr>
          <a:xfrm>
            <a:off x="449998" y="145038"/>
            <a:ext cx="4699221" cy="430887"/>
          </a:xfrm>
          <a:prstGeom prst="rect">
            <a:avLst/>
          </a:prstGeom>
          <a:noFill/>
        </p:spPr>
        <p:txBody>
          <a:bodyPr wrap="square" rtlCol="0">
            <a:spAutoFit/>
          </a:bodyPr>
          <a:lstStyle/>
          <a:p>
            <a:r>
              <a:rPr lang="en-IN" sz="2200" dirty="0">
                <a:solidFill>
                  <a:srgbClr val="0070C0"/>
                </a:solidFill>
                <a:latin typeface="Raleway SemiBold" pitchFamily="2" charset="0"/>
              </a:rPr>
              <a:t>Java Senior Engineer  </a:t>
            </a:r>
            <a:r>
              <a:rPr lang="en-IN" sz="2200" dirty="0">
                <a:latin typeface="Raleway SemiBold" pitchFamily="2" charset="0"/>
              </a:rPr>
              <a:t> </a:t>
            </a:r>
            <a:r>
              <a:rPr lang="en-IN" sz="2200" dirty="0">
                <a:solidFill>
                  <a:srgbClr val="0070C0"/>
                </a:solidFill>
                <a:latin typeface="Raleway SemiBold" pitchFamily="2" charset="0"/>
              </a:rPr>
              <a:t>|</a:t>
            </a:r>
            <a:r>
              <a:rPr lang="en-IN" sz="2200" dirty="0">
                <a:latin typeface="Raleway SemiBold" pitchFamily="2" charset="0"/>
              </a:rPr>
              <a:t>   Lalit </a:t>
            </a:r>
          </a:p>
        </p:txBody>
      </p:sp>
      <p:sp>
        <p:nvSpPr>
          <p:cNvPr id="11" name="TextBox 10">
            <a:extLst>
              <a:ext uri="{FF2B5EF4-FFF2-40B4-BE49-F238E27FC236}">
                <a16:creationId xmlns:a16="http://schemas.microsoft.com/office/drawing/2014/main" id="{C7D1F129-4F2E-4DC2-81FC-C31066808C81}"/>
              </a:ext>
            </a:extLst>
          </p:cNvPr>
          <p:cNvSpPr txBox="1"/>
          <p:nvPr/>
        </p:nvSpPr>
        <p:spPr>
          <a:xfrm>
            <a:off x="449998" y="800934"/>
            <a:ext cx="3350821" cy="6401753"/>
          </a:xfrm>
          <a:prstGeom prst="rect">
            <a:avLst/>
          </a:prstGeom>
          <a:noFill/>
        </p:spPr>
        <p:txBody>
          <a:bodyPr wrap="square" rtlCol="0">
            <a:spAutoFit/>
          </a:bodyPr>
          <a:lstStyle/>
          <a:p>
            <a:r>
              <a:rPr lang="en-IN" dirty="0">
                <a:latin typeface="Raleway SemiBold" pitchFamily="2" charset="0"/>
              </a:rPr>
              <a:t>Summary</a:t>
            </a:r>
          </a:p>
          <a:p>
            <a:r>
              <a:rPr lang="en-US" sz="1200" dirty="0">
                <a:latin typeface="Raleway Medium" panose="020B0604020202020204" pitchFamily="2" charset="0"/>
              </a:rPr>
              <a:t>Has good experience in design, development and production support of java services. Applied design patterns, data model and UML  to write highly scalable java microservices services running in distributed computing environment. </a:t>
            </a:r>
          </a:p>
          <a:p>
            <a:endParaRPr lang="en-IN" sz="1400" dirty="0"/>
          </a:p>
          <a:p>
            <a:r>
              <a:rPr lang="en-IN" dirty="0">
                <a:latin typeface="Raleway SemiBold" pitchFamily="2" charset="0"/>
              </a:rPr>
              <a:t>Expertise</a:t>
            </a:r>
          </a:p>
          <a:p>
            <a:pPr marL="171454" indent="-171454">
              <a:buFont typeface="Arial" panose="020B0604020202020204" pitchFamily="34" charset="0"/>
              <a:buChar char="•"/>
            </a:pPr>
            <a:r>
              <a:rPr lang="en-US" sz="1200" dirty="0">
                <a:latin typeface="Raleway Medium" pitchFamily="2" charset="0"/>
              </a:rPr>
              <a:t>Developing, reviewing and executing on java business services and provide e2e production support. </a:t>
            </a:r>
          </a:p>
          <a:p>
            <a:pPr marL="171454" indent="-171454">
              <a:buFont typeface="Arial" panose="020B0604020202020204" pitchFamily="34" charset="0"/>
              <a:buChar char="•"/>
            </a:pPr>
            <a:r>
              <a:rPr lang="en-US" sz="1200" dirty="0">
                <a:latin typeface="Raleway Medium" pitchFamily="2" charset="0"/>
              </a:rPr>
              <a:t>Has experience in designing the solutions (UML/ERD) for requirement.</a:t>
            </a:r>
          </a:p>
          <a:p>
            <a:pPr marL="171454" indent="-171454">
              <a:buFont typeface="Arial" panose="020B0604020202020204" pitchFamily="34" charset="0"/>
              <a:buChar char="•"/>
            </a:pPr>
            <a:r>
              <a:rPr lang="en-US" sz="1200" dirty="0">
                <a:latin typeface="Raleway Medium" pitchFamily="2" charset="0"/>
              </a:rPr>
              <a:t>Has experience in developing a highly modular microservices based product.</a:t>
            </a:r>
          </a:p>
          <a:p>
            <a:pPr marL="171454" indent="-171454">
              <a:buFont typeface="Arial" panose="020B0604020202020204" pitchFamily="34" charset="0"/>
              <a:buChar char="•"/>
            </a:pPr>
            <a:r>
              <a:rPr lang="en-US" sz="1200" dirty="0">
                <a:latin typeface="Raleway Medium" pitchFamily="2" charset="0"/>
              </a:rPr>
              <a:t>Has experience of working with third party SDK’s and integration services</a:t>
            </a:r>
          </a:p>
          <a:p>
            <a:pPr marL="171454" indent="-171454">
              <a:buFont typeface="Arial" panose="020B0604020202020204" pitchFamily="34" charset="0"/>
              <a:buChar char="•"/>
            </a:pPr>
            <a:r>
              <a:rPr lang="en-US" sz="1200" dirty="0">
                <a:latin typeface="Raleway Medium" pitchFamily="2" charset="0"/>
              </a:rPr>
              <a:t>Has experience in the areas of multithreading, scalability, and application of design patterns supporting high availability services</a:t>
            </a:r>
            <a:endParaRPr lang="en-IN" sz="1200" dirty="0">
              <a:latin typeface="Raleway Medium" pitchFamily="2" charset="0"/>
            </a:endParaRPr>
          </a:p>
          <a:p>
            <a:pPr marL="171454" indent="-171454">
              <a:buFont typeface="Arial" panose="020B0604020202020204" pitchFamily="34" charset="0"/>
              <a:buChar char="•"/>
            </a:pPr>
            <a:r>
              <a:rPr lang="en-IN" sz="1200" dirty="0">
                <a:latin typeface="Raleway ExtraBold" pitchFamily="2" charset="0"/>
              </a:rPr>
              <a:t>Tools Used  </a:t>
            </a:r>
            <a:r>
              <a:rPr lang="en-IN" sz="1200" dirty="0">
                <a:latin typeface="Raleway Medium" pitchFamily="2" charset="0"/>
              </a:rPr>
              <a:t>-- IntelliJ, Data grip, Git, Postman, Docker, Kubernetes, Prometheus, Grafana</a:t>
            </a:r>
          </a:p>
          <a:p>
            <a:pPr marL="171454" indent="-171454">
              <a:buFont typeface="Arial" panose="020B0604020202020204" pitchFamily="34" charset="0"/>
              <a:buChar char="•"/>
            </a:pPr>
            <a:r>
              <a:rPr lang="en-IN" sz="1200" dirty="0">
                <a:latin typeface="Raleway ExtraBold" pitchFamily="2" charset="0"/>
              </a:rPr>
              <a:t>Database Used </a:t>
            </a:r>
            <a:r>
              <a:rPr lang="en-IN" sz="1200" dirty="0">
                <a:latin typeface="Raleway Medium" pitchFamily="2" charset="0"/>
              </a:rPr>
              <a:t>-- PostgreSQL, Mongodb, Elasticsearch , SQL Server, Oracle, MySQL, DynamoDB</a:t>
            </a:r>
          </a:p>
          <a:p>
            <a:endParaRPr lang="en-IN" dirty="0"/>
          </a:p>
          <a:p>
            <a:r>
              <a:rPr lang="en-IN" dirty="0">
                <a:latin typeface="Raleway SemiBold" pitchFamily="2" charset="0"/>
              </a:rPr>
              <a:t>Qualification</a:t>
            </a:r>
          </a:p>
          <a:p>
            <a:r>
              <a:rPr lang="en-IN" sz="1200" dirty="0">
                <a:latin typeface="Raleway Medium" pitchFamily="2" charset="0"/>
              </a:rPr>
              <a:t>Has Bachelor Degree in Computer Science</a:t>
            </a:r>
          </a:p>
        </p:txBody>
      </p:sp>
      <p:sp>
        <p:nvSpPr>
          <p:cNvPr id="12" name="TextBox 11">
            <a:extLst>
              <a:ext uri="{FF2B5EF4-FFF2-40B4-BE49-F238E27FC236}">
                <a16:creationId xmlns:a16="http://schemas.microsoft.com/office/drawing/2014/main" id="{3C7C8453-6731-4026-BBFA-1DA66C04E94D}"/>
              </a:ext>
            </a:extLst>
          </p:cNvPr>
          <p:cNvSpPr txBox="1"/>
          <p:nvPr/>
        </p:nvSpPr>
        <p:spPr>
          <a:xfrm>
            <a:off x="4107045" y="1462323"/>
            <a:ext cx="7875848" cy="2585323"/>
          </a:xfrm>
          <a:prstGeom prst="rect">
            <a:avLst/>
          </a:prstGeom>
          <a:noFill/>
        </p:spPr>
        <p:txBody>
          <a:bodyPr wrap="square" rtlCol="0">
            <a:spAutoFit/>
          </a:bodyPr>
          <a:lstStyle/>
          <a:p>
            <a:r>
              <a:rPr lang="en-IN" dirty="0">
                <a:latin typeface="Raleway SemiBold" pitchFamily="2" charset="0"/>
              </a:rPr>
              <a:t>Synectiks </a:t>
            </a:r>
            <a:r>
              <a:rPr lang="en-IN" dirty="0" err="1">
                <a:latin typeface="Raleway SemiBold" pitchFamily="2" charset="0"/>
              </a:rPr>
              <a:t>Appkube</a:t>
            </a:r>
            <a:r>
              <a:rPr lang="en-IN" dirty="0">
                <a:latin typeface="Raleway SemiBold" pitchFamily="2" charset="0"/>
              </a:rPr>
              <a:t> Platform</a:t>
            </a:r>
          </a:p>
          <a:p>
            <a:r>
              <a:rPr lang="en-IN" sz="1200" dirty="0">
                <a:solidFill>
                  <a:srgbClr val="0070C0"/>
                </a:solidFill>
                <a:latin typeface="Raleway SemiBold" pitchFamily="2" charset="0"/>
              </a:rPr>
              <a:t>(Java8, Spring Boot, JPA, PostgreSQL, Elasticsearch, Docker, Kubernetes, Aws/Azure/GCP </a:t>
            </a:r>
            <a:r>
              <a:rPr lang="en-IN" sz="1200" dirty="0" err="1">
                <a:solidFill>
                  <a:srgbClr val="0070C0"/>
                </a:solidFill>
                <a:latin typeface="Raleway SemiBold" pitchFamily="2" charset="0"/>
              </a:rPr>
              <a:t>sdk</a:t>
            </a:r>
            <a:r>
              <a:rPr lang="en-IN" sz="1200" dirty="0">
                <a:solidFill>
                  <a:srgbClr val="0070C0"/>
                </a:solidFill>
                <a:latin typeface="Raleway SemiBold" pitchFamily="2" charset="0"/>
              </a:rPr>
              <a:t>, </a:t>
            </a:r>
            <a:r>
              <a:rPr lang="en-IN" sz="1200" dirty="0" err="1">
                <a:solidFill>
                  <a:srgbClr val="0070C0"/>
                </a:solidFill>
                <a:latin typeface="Raleway SemiBold" pitchFamily="2" charset="0"/>
              </a:rPr>
              <a:t>GoLang</a:t>
            </a:r>
            <a:r>
              <a:rPr lang="en-IN" sz="1200" dirty="0">
                <a:solidFill>
                  <a:srgbClr val="0070C0"/>
                </a:solidFill>
                <a:latin typeface="Raleway SemiBold" pitchFamily="2" charset="0"/>
              </a:rPr>
              <a:t>)</a:t>
            </a:r>
          </a:p>
          <a:p>
            <a:endParaRPr lang="en-IN" sz="1200" dirty="0">
              <a:latin typeface="Raleway Medium" pitchFamily="2" charset="0"/>
            </a:endParaRPr>
          </a:p>
          <a:p>
            <a:pPr marL="171454" indent="-171454">
              <a:buFont typeface="Arial" panose="020B0604020202020204" pitchFamily="34" charset="0"/>
              <a:buChar char="•"/>
            </a:pPr>
            <a:r>
              <a:rPr lang="en-US" sz="1200" dirty="0">
                <a:latin typeface="Raleway Medium" pitchFamily="2" charset="0"/>
              </a:rPr>
              <a:t>Worked on applying the cloud java SDK’s to write cloud orchestrator services</a:t>
            </a:r>
          </a:p>
          <a:p>
            <a:pPr marL="171454" indent="-171454">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4" indent="-171454">
              <a:buFont typeface="Arial" panose="020B0604020202020204" pitchFamily="34" charset="0"/>
              <a:buChar char="•"/>
            </a:pPr>
            <a:r>
              <a:rPr lang="en-US" sz="1200" dirty="0">
                <a:latin typeface="Raleway Medium" pitchFamily="2" charset="0"/>
              </a:rPr>
              <a:t>Worked on all the API  required for common services module like security/</a:t>
            </a:r>
            <a:r>
              <a:rPr lang="en-US" sz="1200" dirty="0" err="1">
                <a:latin typeface="Raleway Medium" pitchFamily="2" charset="0"/>
              </a:rPr>
              <a:t>rbac</a:t>
            </a:r>
            <a:r>
              <a:rPr lang="en-US" sz="1200" dirty="0">
                <a:latin typeface="Raleway Medium" pitchFamily="2" charset="0"/>
              </a:rPr>
              <a:t>, compliance engine</a:t>
            </a:r>
          </a:p>
          <a:p>
            <a:pPr marL="171454" indent="-171454">
              <a:buFont typeface="Arial" panose="020B0604020202020204" pitchFamily="34" charset="0"/>
              <a:buChar char="•"/>
            </a:pPr>
            <a:r>
              <a:rPr lang="en-US" sz="1200" dirty="0">
                <a:latin typeface="Raleway Medium" pitchFamily="2" charset="0"/>
              </a:rPr>
              <a:t>Wrote plugin-based module on plugin framework to make services more modular</a:t>
            </a:r>
          </a:p>
          <a:p>
            <a:pPr marL="171454" indent="-171454">
              <a:buFont typeface="Arial" panose="020B0604020202020204" pitchFamily="34" charset="0"/>
              <a:buChar char="•"/>
            </a:pPr>
            <a:r>
              <a:rPr lang="en-US" sz="1200" dirty="0">
                <a:latin typeface="Raleway Medium" pitchFamily="2" charset="0"/>
              </a:rPr>
              <a:t>Worked on Integration pattern between internal and external services </a:t>
            </a:r>
          </a:p>
          <a:p>
            <a:pPr marL="171454" indent="-171454">
              <a:buFont typeface="Arial" panose="020B0604020202020204" pitchFamily="34" charset="0"/>
              <a:buChar char="•"/>
            </a:pPr>
            <a:r>
              <a:rPr lang="en-US" sz="1200" dirty="0">
                <a:latin typeface="Raleway Medium" pitchFamily="2" charset="0"/>
              </a:rPr>
              <a:t>Worked with UI team for integration of UI with API</a:t>
            </a:r>
          </a:p>
          <a:p>
            <a:pPr marL="171454" indent="-171454">
              <a:buFont typeface="Arial" panose="020B0604020202020204" pitchFamily="34" charset="0"/>
              <a:buChar char="•"/>
            </a:pPr>
            <a:r>
              <a:rPr lang="en-US" sz="1200" dirty="0">
                <a:latin typeface="Raleway Medium" pitchFamily="2" charset="0"/>
              </a:rPr>
              <a:t>Worked on framework for metrics / log / traces integration with operation system.</a:t>
            </a:r>
          </a:p>
          <a:p>
            <a:pPr marL="171454" indent="-171454">
              <a:buFont typeface="Arial" panose="020B0604020202020204" pitchFamily="34" charset="0"/>
              <a:buChar char="•"/>
            </a:pPr>
            <a:r>
              <a:rPr lang="en-US" sz="1200" dirty="0">
                <a:latin typeface="Raleway Medium" pitchFamily="2" charset="0"/>
              </a:rPr>
              <a:t>Worked on docker composer to create local Dev Env</a:t>
            </a:r>
          </a:p>
          <a:p>
            <a:pPr marL="171454" indent="-171454">
              <a:buFont typeface="Arial" panose="020B0604020202020204" pitchFamily="34" charset="0"/>
              <a:buChar char="•"/>
            </a:pPr>
            <a:r>
              <a:rPr lang="en-US" sz="1200" dirty="0">
                <a:latin typeface="Raleway Medium" pitchFamily="2" charset="0"/>
              </a:rPr>
              <a:t>Worked with </a:t>
            </a:r>
            <a:r>
              <a:rPr lang="en-US" sz="1200" dirty="0" err="1">
                <a:latin typeface="Raleway Medium" pitchFamily="2" charset="0"/>
              </a:rPr>
              <a:t>DevSecOps</a:t>
            </a:r>
            <a:r>
              <a:rPr lang="en-US" sz="1200" dirty="0">
                <a:latin typeface="Raleway Medium" pitchFamily="2" charset="0"/>
              </a:rPr>
              <a:t> team to establish framework for continuous delivery, deployment automation.</a:t>
            </a:r>
          </a:p>
          <a:p>
            <a:pPr marL="171454" indent="-171454">
              <a:buFont typeface="Arial" panose="020B0604020202020204" pitchFamily="34" charset="0"/>
              <a:buChar char="•"/>
            </a:pPr>
            <a:r>
              <a:rPr lang="en-US" sz="1200" dirty="0">
                <a:latin typeface="Raleway Medium" pitchFamily="2" charset="0"/>
              </a:rPr>
              <a:t>Worked on postman simulator API</a:t>
            </a:r>
            <a:r>
              <a:rPr lang="en-IN" sz="1200" dirty="0">
                <a:latin typeface="Raleway Medium" pitchFamily="2" charset="0"/>
              </a:rPr>
              <a:t>.</a:t>
            </a:r>
          </a:p>
        </p:txBody>
      </p:sp>
      <p:sp>
        <p:nvSpPr>
          <p:cNvPr id="13" name="TextBox 12">
            <a:extLst>
              <a:ext uri="{FF2B5EF4-FFF2-40B4-BE49-F238E27FC236}">
                <a16:creationId xmlns:a16="http://schemas.microsoft.com/office/drawing/2014/main" id="{6A09D5B9-E1DE-459C-848A-815E5BD3C531}"/>
              </a:ext>
            </a:extLst>
          </p:cNvPr>
          <p:cNvSpPr txBox="1"/>
          <p:nvPr/>
        </p:nvSpPr>
        <p:spPr>
          <a:xfrm>
            <a:off x="4107046" y="4168833"/>
            <a:ext cx="7634957" cy="2215991"/>
          </a:xfrm>
          <a:prstGeom prst="rect">
            <a:avLst/>
          </a:prstGeom>
          <a:noFill/>
        </p:spPr>
        <p:txBody>
          <a:bodyPr wrap="square" rtlCol="0">
            <a:spAutoFit/>
          </a:bodyPr>
          <a:lstStyle/>
          <a:p>
            <a:r>
              <a:rPr lang="en-IN" dirty="0">
                <a:latin typeface="Raleway SemiBold" pitchFamily="2" charset="0"/>
              </a:rPr>
              <a:t>Procurement Management System</a:t>
            </a:r>
          </a:p>
          <a:p>
            <a:r>
              <a:rPr lang="en-IN" sz="1200" dirty="0">
                <a:solidFill>
                  <a:srgbClr val="0070C0"/>
                </a:solidFill>
                <a:latin typeface="Raleway SemiBold" pitchFamily="2" charset="0"/>
              </a:rPr>
              <a:t>(Java8, Spring Boot, JPA, PostgreSQL, Elasticsearch, Docker)</a:t>
            </a:r>
          </a:p>
          <a:p>
            <a:endParaRPr lang="en-IN" sz="1200" dirty="0">
              <a:latin typeface="Raleway Medium" pitchFamily="2" charset="0"/>
            </a:endParaRPr>
          </a:p>
          <a:p>
            <a:pPr marL="171454" indent="-171454">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4" indent="-171454">
              <a:buFont typeface="Arial" panose="020B0604020202020204" pitchFamily="34" charset="0"/>
              <a:buChar char="•"/>
            </a:pPr>
            <a:r>
              <a:rPr lang="en-US" sz="1200" dirty="0">
                <a:latin typeface="Raleway Medium" pitchFamily="2" charset="0"/>
              </a:rPr>
              <a:t>Worked on all the API  required for Admin portal</a:t>
            </a:r>
          </a:p>
          <a:p>
            <a:pPr marL="171454" indent="-171454">
              <a:buFont typeface="Arial" panose="020B0604020202020204" pitchFamily="34" charset="0"/>
              <a:buChar char="•"/>
            </a:pPr>
            <a:r>
              <a:rPr lang="en-US" sz="1200" dirty="0">
                <a:latin typeface="Raleway Medium" pitchFamily="2" charset="0"/>
              </a:rPr>
              <a:t>Worked on Authentication , MFA and Security framework for product portals</a:t>
            </a:r>
          </a:p>
          <a:p>
            <a:pPr marL="171454" indent="-171454">
              <a:buFont typeface="Arial" panose="020B0604020202020204" pitchFamily="34" charset="0"/>
              <a:buChar char="•"/>
            </a:pPr>
            <a:r>
              <a:rPr lang="en-US" sz="1200" dirty="0">
                <a:latin typeface="Raleway Medium" pitchFamily="2" charset="0"/>
              </a:rPr>
              <a:t>Worked on developing a highly scalable alert notification framework</a:t>
            </a:r>
          </a:p>
          <a:p>
            <a:pPr marL="171454" indent="-171454">
              <a:buFont typeface="Arial" panose="020B0604020202020204" pitchFamily="34" charset="0"/>
              <a:buChar char="•"/>
            </a:pPr>
            <a:r>
              <a:rPr lang="en-US" sz="1200" dirty="0">
                <a:latin typeface="Raleway Medium" pitchFamily="2" charset="0"/>
              </a:rPr>
              <a:t>Wrote docker composers for Dev env creation and tests.</a:t>
            </a:r>
          </a:p>
          <a:p>
            <a:pPr marL="171454" indent="-171454">
              <a:buFont typeface="Arial" panose="020B0604020202020204" pitchFamily="34" charset="0"/>
              <a:buChar char="•"/>
            </a:pPr>
            <a:r>
              <a:rPr lang="en-US" sz="1200" dirty="0">
                <a:latin typeface="Raleway Medium" pitchFamily="2" charset="0"/>
              </a:rPr>
              <a:t>Worked closely with the QA, project management and business teams on solution implementation</a:t>
            </a:r>
          </a:p>
          <a:p>
            <a:pPr marL="171454" indent="-171454">
              <a:buFont typeface="Arial" panose="020B0604020202020204" pitchFamily="34" charset="0"/>
              <a:buChar char="•"/>
            </a:pPr>
            <a:r>
              <a:rPr lang="en-US" sz="1200" dirty="0">
                <a:latin typeface="Raleway Medium" pitchFamily="2" charset="0"/>
              </a:rPr>
              <a:t>Worked on the code fixes for Errors</a:t>
            </a:r>
          </a:p>
          <a:p>
            <a:pPr marL="171454" indent="-171454">
              <a:buFont typeface="Arial" panose="020B0604020202020204" pitchFamily="34" charset="0"/>
              <a:buChar char="•"/>
            </a:pPr>
            <a:r>
              <a:rPr lang="en-US" sz="1200" dirty="0">
                <a:latin typeface="Raleway Medium" pitchFamily="2" charset="0"/>
              </a:rPr>
              <a:t>Worked with UI team for integration of UI with API</a:t>
            </a:r>
            <a:endParaRPr lang="en-IN" sz="1200" dirty="0">
              <a:latin typeface="Raleway Medium" pitchFamily="2" charset="0"/>
            </a:endParaRPr>
          </a:p>
        </p:txBody>
      </p:sp>
      <p:sp>
        <p:nvSpPr>
          <p:cNvPr id="14" name="Rectangle 13">
            <a:extLst>
              <a:ext uri="{FF2B5EF4-FFF2-40B4-BE49-F238E27FC236}">
                <a16:creationId xmlns:a16="http://schemas.microsoft.com/office/drawing/2014/main" id="{6D159987-93B0-4FB2-99B2-7FA868768E65}"/>
              </a:ext>
            </a:extLst>
          </p:cNvPr>
          <p:cNvSpPr/>
          <p:nvPr/>
        </p:nvSpPr>
        <p:spPr>
          <a:xfrm>
            <a:off x="3880425" y="659602"/>
            <a:ext cx="7990582" cy="669852"/>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16DF07B5-289A-420F-83E5-CF0531EE871E}"/>
              </a:ext>
            </a:extLst>
          </p:cNvPr>
          <p:cNvSpPr txBox="1"/>
          <p:nvPr/>
        </p:nvSpPr>
        <p:spPr>
          <a:xfrm>
            <a:off x="4107045" y="800934"/>
            <a:ext cx="3243138" cy="369332"/>
          </a:xfrm>
          <a:prstGeom prst="rect">
            <a:avLst/>
          </a:prstGeom>
          <a:noFill/>
        </p:spPr>
        <p:txBody>
          <a:bodyPr wrap="square" rtlCol="0">
            <a:spAutoFit/>
          </a:bodyPr>
          <a:lstStyle/>
          <a:p>
            <a:r>
              <a:rPr lang="en-IN" dirty="0">
                <a:solidFill>
                  <a:schemeClr val="bg1"/>
                </a:solidFill>
                <a:latin typeface="Raleway SemiBold" pitchFamily="2" charset="0"/>
              </a:rPr>
              <a:t>Recent Engagements</a:t>
            </a:r>
            <a:endParaRPr lang="en-IN" sz="1200" dirty="0">
              <a:solidFill>
                <a:schemeClr val="bg1"/>
              </a:solidFill>
              <a:latin typeface="Raleway SemiBold" pitchFamily="2" charset="0"/>
            </a:endParaRPr>
          </a:p>
        </p:txBody>
      </p:sp>
    </p:spTree>
    <p:extLst>
      <p:ext uri="{BB962C8B-B14F-4D97-AF65-F5344CB8AC3E}">
        <p14:creationId xmlns:p14="http://schemas.microsoft.com/office/powerpoint/2010/main" val="1937658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856E72C-E4EC-4F72-9310-13853C0DBA5F}"/>
              </a:ext>
            </a:extLst>
          </p:cNvPr>
          <p:cNvSpPr/>
          <p:nvPr/>
        </p:nvSpPr>
        <p:spPr>
          <a:xfrm>
            <a:off x="320996" y="659602"/>
            <a:ext cx="3576728" cy="73433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53730A20-05C6-4DBA-854A-2AC1D9509F82}"/>
              </a:ext>
            </a:extLst>
          </p:cNvPr>
          <p:cNvSpPr txBox="1"/>
          <p:nvPr/>
        </p:nvSpPr>
        <p:spPr>
          <a:xfrm>
            <a:off x="449998" y="145038"/>
            <a:ext cx="4699221" cy="430887"/>
          </a:xfrm>
          <a:prstGeom prst="rect">
            <a:avLst/>
          </a:prstGeom>
          <a:noFill/>
        </p:spPr>
        <p:txBody>
          <a:bodyPr wrap="square" rtlCol="0">
            <a:spAutoFit/>
          </a:bodyPr>
          <a:lstStyle/>
          <a:p>
            <a:r>
              <a:rPr lang="en-IN" sz="2200" dirty="0">
                <a:solidFill>
                  <a:srgbClr val="0070C0"/>
                </a:solidFill>
                <a:latin typeface="Raleway SemiBold" pitchFamily="2" charset="0"/>
              </a:rPr>
              <a:t>Java Engineer  </a:t>
            </a:r>
            <a:r>
              <a:rPr lang="en-IN" sz="2200" dirty="0">
                <a:latin typeface="Raleway SemiBold" pitchFamily="2" charset="0"/>
              </a:rPr>
              <a:t> </a:t>
            </a:r>
            <a:r>
              <a:rPr lang="en-IN" sz="2200" dirty="0">
                <a:solidFill>
                  <a:srgbClr val="0070C0"/>
                </a:solidFill>
                <a:latin typeface="Raleway SemiBold" pitchFamily="2" charset="0"/>
              </a:rPr>
              <a:t>|</a:t>
            </a:r>
            <a:r>
              <a:rPr lang="en-IN" sz="2200" dirty="0">
                <a:latin typeface="Raleway SemiBold" pitchFamily="2" charset="0"/>
              </a:rPr>
              <a:t>   Jitendra</a:t>
            </a:r>
          </a:p>
        </p:txBody>
      </p:sp>
      <p:sp>
        <p:nvSpPr>
          <p:cNvPr id="17" name="TextBox 16">
            <a:extLst>
              <a:ext uri="{FF2B5EF4-FFF2-40B4-BE49-F238E27FC236}">
                <a16:creationId xmlns:a16="http://schemas.microsoft.com/office/drawing/2014/main" id="{082F9C68-96C0-46FC-B8AA-80A07778AC41}"/>
              </a:ext>
            </a:extLst>
          </p:cNvPr>
          <p:cNvSpPr txBox="1"/>
          <p:nvPr/>
        </p:nvSpPr>
        <p:spPr>
          <a:xfrm>
            <a:off x="449998" y="800934"/>
            <a:ext cx="3350821" cy="4247317"/>
          </a:xfrm>
          <a:prstGeom prst="rect">
            <a:avLst/>
          </a:prstGeom>
          <a:noFill/>
        </p:spPr>
        <p:txBody>
          <a:bodyPr wrap="square" rtlCol="0">
            <a:spAutoFit/>
          </a:bodyPr>
          <a:lstStyle/>
          <a:p>
            <a:r>
              <a:rPr lang="en-IN" dirty="0">
                <a:latin typeface="Raleway SemiBold" pitchFamily="2" charset="0"/>
              </a:rPr>
              <a:t>Summary</a:t>
            </a:r>
          </a:p>
          <a:p>
            <a:r>
              <a:rPr lang="en-IN" sz="1200" dirty="0">
                <a:latin typeface="Raleway Medium" panose="020B0604020202020204" pitchFamily="2" charset="0"/>
              </a:rPr>
              <a:t>Has good experience in software development using Java8, Spring Boot, </a:t>
            </a:r>
            <a:r>
              <a:rPr lang="en-IN" sz="1200" dirty="0" err="1">
                <a:latin typeface="Raleway Medium" panose="020B0604020202020204" pitchFamily="2" charset="0"/>
              </a:rPr>
              <a:t>GraphQL</a:t>
            </a:r>
            <a:r>
              <a:rPr lang="en-IN" sz="1200" dirty="0">
                <a:latin typeface="Raleway Medium" panose="020B0604020202020204" pitchFamily="2" charset="0"/>
              </a:rPr>
              <a:t> Microservices, PostgreSQL , </a:t>
            </a:r>
            <a:r>
              <a:rPr lang="en-IN" sz="1200" dirty="0" err="1">
                <a:latin typeface="Raleway Medium" panose="020B0604020202020204" pitchFamily="2" charset="0"/>
              </a:rPr>
              <a:t>Mongodb</a:t>
            </a:r>
            <a:r>
              <a:rPr lang="en-IN" sz="1200" dirty="0">
                <a:latin typeface="Raleway Medium" panose="020B0604020202020204" pitchFamily="2" charset="0"/>
              </a:rPr>
              <a:t>, </a:t>
            </a:r>
            <a:r>
              <a:rPr lang="en-IN" sz="1200" dirty="0" err="1">
                <a:latin typeface="Raleway Medium" panose="020B0604020202020204" pitchFamily="2" charset="0"/>
              </a:rPr>
              <a:t>Mssql</a:t>
            </a:r>
            <a:r>
              <a:rPr lang="en-IN" sz="1200" dirty="0">
                <a:latin typeface="Raleway Medium" panose="020B0604020202020204" pitchFamily="2" charset="0"/>
              </a:rPr>
              <a:t>, Elasticsearch</a:t>
            </a:r>
          </a:p>
          <a:p>
            <a:endParaRPr lang="en-IN" dirty="0"/>
          </a:p>
          <a:p>
            <a:r>
              <a:rPr lang="en-IN" dirty="0">
                <a:latin typeface="Raleway SemiBold" pitchFamily="2" charset="0"/>
              </a:rPr>
              <a:t>Expertise</a:t>
            </a:r>
          </a:p>
          <a:p>
            <a:pPr marL="171450" indent="-171450">
              <a:buFont typeface="Arial" panose="020B0604020202020204" pitchFamily="34" charset="0"/>
              <a:buChar char="•"/>
            </a:pPr>
            <a:r>
              <a:rPr lang="en-IN" sz="1200" dirty="0">
                <a:latin typeface="Raleway Medium" pitchFamily="2" charset="0"/>
              </a:rPr>
              <a:t>Has experience in designing the solutions (UML/ERD) for requirement.</a:t>
            </a:r>
          </a:p>
          <a:p>
            <a:pPr marL="171450" indent="-171450">
              <a:buFont typeface="Arial" panose="020B0604020202020204" pitchFamily="34" charset="0"/>
              <a:buChar char="•"/>
            </a:pPr>
            <a:r>
              <a:rPr lang="en-IN" sz="1200" dirty="0">
                <a:latin typeface="Raleway Medium" pitchFamily="2" charset="0"/>
              </a:rPr>
              <a:t>Good knowledge in Java8, JPA, Maven, microservices, databases </a:t>
            </a:r>
          </a:p>
          <a:p>
            <a:pPr marL="171450" indent="-171450">
              <a:buFont typeface="Arial" panose="020B0604020202020204" pitchFamily="34" charset="0"/>
              <a:buChar char="•"/>
            </a:pPr>
            <a:r>
              <a:rPr lang="en-IN" sz="1200" dirty="0">
                <a:latin typeface="Raleway Medium" pitchFamily="2" charset="0"/>
              </a:rPr>
              <a:t>Basic understanding of Linux commands and docker containers. </a:t>
            </a:r>
          </a:p>
          <a:p>
            <a:pPr marL="171450" indent="-171450">
              <a:buFont typeface="Arial" panose="020B0604020202020204" pitchFamily="34" charset="0"/>
              <a:buChar char="•"/>
            </a:pPr>
            <a:r>
              <a:rPr lang="en-IN" sz="1200" dirty="0">
                <a:latin typeface="Raleway ExtraBold" pitchFamily="2" charset="0"/>
              </a:rPr>
              <a:t>Tools Used  </a:t>
            </a:r>
            <a:r>
              <a:rPr lang="en-IN" sz="1200" dirty="0">
                <a:latin typeface="Raleway Medium" pitchFamily="2" charset="0"/>
              </a:rPr>
              <a:t>-- IntelliJ, Data grip, Git, Postman, Docker</a:t>
            </a:r>
          </a:p>
          <a:p>
            <a:pPr marL="171450" indent="-171450">
              <a:buFont typeface="Arial" panose="020B0604020202020204" pitchFamily="34" charset="0"/>
              <a:buChar char="•"/>
            </a:pPr>
            <a:r>
              <a:rPr lang="en-IN" sz="1200" dirty="0">
                <a:latin typeface="Raleway ExtraBold" pitchFamily="2" charset="0"/>
              </a:rPr>
              <a:t>Database Used </a:t>
            </a:r>
            <a:r>
              <a:rPr lang="en-IN" sz="1200" dirty="0">
                <a:latin typeface="Raleway Medium" pitchFamily="2" charset="0"/>
              </a:rPr>
              <a:t>-- PostgreSQL, Mongodb, Elasticsearch , SQL Server</a:t>
            </a:r>
          </a:p>
          <a:p>
            <a:endParaRPr lang="en-IN" dirty="0"/>
          </a:p>
          <a:p>
            <a:r>
              <a:rPr lang="en-IN" dirty="0">
                <a:latin typeface="Raleway SemiBold" pitchFamily="2" charset="0"/>
              </a:rPr>
              <a:t>Qualification</a:t>
            </a:r>
          </a:p>
          <a:p>
            <a:r>
              <a:rPr lang="en-IN" sz="1200" dirty="0">
                <a:latin typeface="Raleway Medium" pitchFamily="2" charset="0"/>
              </a:rPr>
              <a:t>Has Bachelor Degree in Computer Science</a:t>
            </a:r>
          </a:p>
        </p:txBody>
      </p:sp>
      <p:sp>
        <p:nvSpPr>
          <p:cNvPr id="18" name="TextBox 17">
            <a:extLst>
              <a:ext uri="{FF2B5EF4-FFF2-40B4-BE49-F238E27FC236}">
                <a16:creationId xmlns:a16="http://schemas.microsoft.com/office/drawing/2014/main" id="{E16A9A5E-FC23-4D1C-BDA2-EEF63416556A}"/>
              </a:ext>
            </a:extLst>
          </p:cNvPr>
          <p:cNvSpPr txBox="1"/>
          <p:nvPr/>
        </p:nvSpPr>
        <p:spPr>
          <a:xfrm>
            <a:off x="4107045" y="1462322"/>
            <a:ext cx="7634957" cy="2585323"/>
          </a:xfrm>
          <a:prstGeom prst="rect">
            <a:avLst/>
          </a:prstGeom>
          <a:noFill/>
        </p:spPr>
        <p:txBody>
          <a:bodyPr wrap="square" rtlCol="0">
            <a:spAutoFit/>
          </a:bodyPr>
          <a:lstStyle/>
          <a:p>
            <a:r>
              <a:rPr lang="en-IN" dirty="0">
                <a:latin typeface="Raleway SemiBold" pitchFamily="2" charset="0"/>
              </a:rPr>
              <a:t>Procurement Application</a:t>
            </a:r>
          </a:p>
          <a:p>
            <a:r>
              <a:rPr lang="en-IN" sz="1200" dirty="0">
                <a:solidFill>
                  <a:srgbClr val="0070C0"/>
                </a:solidFill>
                <a:latin typeface="Raleway SemiBold" pitchFamily="2" charset="0"/>
              </a:rPr>
              <a:t>(Java8, Spring Boot, JPA, PostgreSQL, Elasticsearch, Docker)</a:t>
            </a:r>
          </a:p>
          <a:p>
            <a:endParaRPr lang="en-IN" sz="1200" dirty="0">
              <a:latin typeface="Raleway Medium" pitchFamily="2" charset="0"/>
            </a:endParaRPr>
          </a:p>
          <a:p>
            <a:pPr marL="171450" indent="-171450">
              <a:buFont typeface="Arial" panose="020B0604020202020204" pitchFamily="34" charset="0"/>
              <a:buChar char="•"/>
            </a:pPr>
            <a:r>
              <a:rPr lang="en-IN" sz="1200" dirty="0">
                <a:latin typeface="Raleway Medium" pitchFamily="2" charset="0"/>
              </a:rPr>
              <a:t>Designed the  data model and entity structure for requisition module.</a:t>
            </a:r>
          </a:p>
          <a:p>
            <a:pPr marL="171450" indent="-171450">
              <a:buFont typeface="Arial" panose="020B0604020202020204" pitchFamily="34" charset="0"/>
              <a:buChar char="•"/>
            </a:pPr>
            <a:r>
              <a:rPr lang="en-IN" sz="1200" dirty="0">
                <a:latin typeface="Raleway Medium" pitchFamily="2" charset="0"/>
              </a:rPr>
              <a:t>Developed JPA’s  and CRUD for the requisition module</a:t>
            </a:r>
          </a:p>
          <a:p>
            <a:pPr marL="171450" indent="-171450">
              <a:buFont typeface="Arial" panose="020B0604020202020204" pitchFamily="34" charset="0"/>
              <a:buChar char="•"/>
            </a:pPr>
            <a:r>
              <a:rPr lang="en-IN" sz="1200" dirty="0">
                <a:latin typeface="Raleway Medium" pitchFamily="2" charset="0"/>
              </a:rPr>
              <a:t>Worked on all the API  required for procurement Admin portal</a:t>
            </a:r>
          </a:p>
          <a:p>
            <a:pPr marL="171450" indent="-171450">
              <a:buFont typeface="Arial" panose="020B0604020202020204" pitchFamily="34" charset="0"/>
              <a:buChar char="•"/>
            </a:pPr>
            <a:r>
              <a:rPr lang="en-IN" sz="1200" dirty="0">
                <a:latin typeface="Raleway Medium" pitchFamily="2" charset="0"/>
              </a:rPr>
              <a:t>Tested all the API’s with Postman collection</a:t>
            </a:r>
          </a:p>
          <a:p>
            <a:pPr marL="171450" indent="-171450">
              <a:buFont typeface="Arial" panose="020B0604020202020204" pitchFamily="34" charset="0"/>
              <a:buChar char="•"/>
            </a:pPr>
            <a:r>
              <a:rPr lang="en-IN" sz="1200" dirty="0">
                <a:latin typeface="Raleway Medium" pitchFamily="2" charset="0"/>
              </a:rPr>
              <a:t>Wrote Junit5 tests for modules</a:t>
            </a:r>
          </a:p>
          <a:p>
            <a:pPr marL="171450" indent="-171450">
              <a:buFont typeface="Arial" panose="020B0604020202020204" pitchFamily="34" charset="0"/>
              <a:buChar char="•"/>
            </a:pPr>
            <a:r>
              <a:rPr lang="en-IN" sz="1200" dirty="0">
                <a:latin typeface="Raleway Medium" pitchFamily="2" charset="0"/>
              </a:rPr>
              <a:t>Wrote some BDD tests with cucumber</a:t>
            </a:r>
          </a:p>
          <a:p>
            <a:pPr marL="171450" indent="-171450">
              <a:buFont typeface="Arial" panose="020B0604020202020204" pitchFamily="34" charset="0"/>
              <a:buChar char="•"/>
            </a:pPr>
            <a:r>
              <a:rPr lang="en-IN" sz="1200" dirty="0">
                <a:latin typeface="Raleway Medium" pitchFamily="2" charset="0"/>
              </a:rPr>
              <a:t>Worked on the code fixes for Errors</a:t>
            </a:r>
          </a:p>
          <a:p>
            <a:pPr marL="171450" indent="-171450">
              <a:buFont typeface="Arial" panose="020B0604020202020204" pitchFamily="34" charset="0"/>
              <a:buChar char="•"/>
            </a:pPr>
            <a:r>
              <a:rPr lang="en-IN" sz="1200" dirty="0">
                <a:latin typeface="Raleway Medium" pitchFamily="2" charset="0"/>
              </a:rPr>
              <a:t>Worked on metrics / log / traces integration with operation system </a:t>
            </a:r>
          </a:p>
          <a:p>
            <a:pPr marL="171450" indent="-171450">
              <a:buFont typeface="Arial" panose="020B0604020202020204" pitchFamily="34" charset="0"/>
              <a:buChar char="•"/>
            </a:pPr>
            <a:r>
              <a:rPr lang="en-IN" sz="1200" dirty="0">
                <a:latin typeface="Raleway Medium" pitchFamily="2" charset="0"/>
              </a:rPr>
              <a:t>Worked with UI team for integration of UI with API</a:t>
            </a:r>
          </a:p>
          <a:p>
            <a:pPr marL="171450" indent="-171450">
              <a:buFont typeface="Arial" panose="020B0604020202020204" pitchFamily="34" charset="0"/>
              <a:buChar char="•"/>
            </a:pPr>
            <a:r>
              <a:rPr lang="en-IN" sz="1200" dirty="0">
                <a:latin typeface="Raleway Medium" pitchFamily="2" charset="0"/>
              </a:rPr>
              <a:t>Applied docker compose utilities for Dev testing of services with databases.</a:t>
            </a:r>
          </a:p>
        </p:txBody>
      </p:sp>
      <p:sp>
        <p:nvSpPr>
          <p:cNvPr id="19" name="TextBox 18">
            <a:extLst>
              <a:ext uri="{FF2B5EF4-FFF2-40B4-BE49-F238E27FC236}">
                <a16:creationId xmlns:a16="http://schemas.microsoft.com/office/drawing/2014/main" id="{252228EB-C9F7-4900-AAED-AA9DC63B387A}"/>
              </a:ext>
            </a:extLst>
          </p:cNvPr>
          <p:cNvSpPr txBox="1"/>
          <p:nvPr/>
        </p:nvSpPr>
        <p:spPr>
          <a:xfrm>
            <a:off x="4107045" y="4168832"/>
            <a:ext cx="7634957" cy="2400657"/>
          </a:xfrm>
          <a:prstGeom prst="rect">
            <a:avLst/>
          </a:prstGeom>
          <a:noFill/>
        </p:spPr>
        <p:txBody>
          <a:bodyPr wrap="square" rtlCol="0">
            <a:spAutoFit/>
          </a:bodyPr>
          <a:lstStyle/>
          <a:p>
            <a:r>
              <a:rPr lang="en-IN" dirty="0">
                <a:latin typeface="Raleway SemiBold" pitchFamily="2" charset="0"/>
              </a:rPr>
              <a:t>Education Management Application</a:t>
            </a:r>
          </a:p>
          <a:p>
            <a:r>
              <a:rPr lang="en-IN" sz="1200" dirty="0">
                <a:solidFill>
                  <a:srgbClr val="0070C0"/>
                </a:solidFill>
                <a:latin typeface="Raleway SemiBold" pitchFamily="2" charset="0"/>
              </a:rPr>
              <a:t>(Java8, Spring Boot, JPA, PostgreSQL, Elasticsearch, Docker)</a:t>
            </a:r>
          </a:p>
          <a:p>
            <a:endParaRPr lang="en-IN" sz="1200" dirty="0">
              <a:latin typeface="Raleway Medium" pitchFamily="2" charset="0"/>
            </a:endParaRPr>
          </a:p>
          <a:p>
            <a:pPr marL="171450" indent="-171450">
              <a:buFont typeface="Arial" panose="020B0604020202020204" pitchFamily="34" charset="0"/>
              <a:buChar char="•"/>
            </a:pPr>
            <a:r>
              <a:rPr lang="en-IN" sz="1200" dirty="0">
                <a:latin typeface="Raleway Medium" pitchFamily="2" charset="0"/>
              </a:rPr>
              <a:t>Designed the  data model and entity structure for Admission and Fees Module.</a:t>
            </a:r>
          </a:p>
          <a:p>
            <a:pPr marL="171450" indent="-171450">
              <a:buFont typeface="Arial" panose="020B0604020202020204" pitchFamily="34" charset="0"/>
              <a:buChar char="•"/>
            </a:pPr>
            <a:r>
              <a:rPr lang="en-IN" sz="1200" dirty="0">
                <a:latin typeface="Raleway Medium" pitchFamily="2" charset="0"/>
              </a:rPr>
              <a:t>Developed JPA’s  and CRUD for the lecture schedule  and attendance module</a:t>
            </a:r>
          </a:p>
          <a:p>
            <a:pPr marL="171450" indent="-171450">
              <a:buFont typeface="Arial" panose="020B0604020202020204" pitchFamily="34" charset="0"/>
              <a:buChar char="•"/>
            </a:pPr>
            <a:r>
              <a:rPr lang="en-IN" sz="1200" dirty="0">
                <a:latin typeface="Raleway Medium" pitchFamily="2" charset="0"/>
              </a:rPr>
              <a:t>Worked on all the API  required for Admin portal</a:t>
            </a:r>
          </a:p>
          <a:p>
            <a:pPr marL="171450" indent="-171450">
              <a:buFont typeface="Arial" panose="020B0604020202020204" pitchFamily="34" charset="0"/>
              <a:buChar char="•"/>
            </a:pPr>
            <a:r>
              <a:rPr lang="en-IN" sz="1200" dirty="0">
                <a:latin typeface="Raleway Medium" pitchFamily="2" charset="0"/>
              </a:rPr>
              <a:t>Tested all the API’s with Postman collection</a:t>
            </a:r>
          </a:p>
          <a:p>
            <a:pPr marL="171450" indent="-171450">
              <a:buFont typeface="Arial" panose="020B0604020202020204" pitchFamily="34" charset="0"/>
              <a:buChar char="•"/>
            </a:pPr>
            <a:r>
              <a:rPr lang="en-IN" sz="1200" dirty="0">
                <a:latin typeface="Raleway Medium" pitchFamily="2" charset="0"/>
              </a:rPr>
              <a:t>Wrote Junit5 tests for modules</a:t>
            </a:r>
          </a:p>
          <a:p>
            <a:pPr marL="171450" indent="-171450">
              <a:buFont typeface="Arial" panose="020B0604020202020204" pitchFamily="34" charset="0"/>
              <a:buChar char="•"/>
            </a:pPr>
            <a:r>
              <a:rPr lang="en-IN" sz="1200" dirty="0">
                <a:latin typeface="Raleway Medium" pitchFamily="2" charset="0"/>
              </a:rPr>
              <a:t>Wrote some BDD tests with cucumber</a:t>
            </a:r>
          </a:p>
          <a:p>
            <a:pPr marL="171450" indent="-171450">
              <a:buFont typeface="Arial" panose="020B0604020202020204" pitchFamily="34" charset="0"/>
              <a:buChar char="•"/>
            </a:pPr>
            <a:r>
              <a:rPr lang="en-IN" sz="1200" dirty="0">
                <a:latin typeface="Raleway Medium" pitchFamily="2" charset="0"/>
              </a:rPr>
              <a:t>Worked on the code fixes for Errors</a:t>
            </a:r>
          </a:p>
          <a:p>
            <a:pPr marL="171450" indent="-171450">
              <a:buFont typeface="Arial" panose="020B0604020202020204" pitchFamily="34" charset="0"/>
              <a:buChar char="•"/>
            </a:pPr>
            <a:r>
              <a:rPr lang="en-IN" sz="1200" dirty="0">
                <a:latin typeface="Raleway Medium" pitchFamily="2" charset="0"/>
              </a:rPr>
              <a:t>Worked on metrics / log / traces integration with operation system </a:t>
            </a:r>
          </a:p>
          <a:p>
            <a:pPr marL="171450" indent="-171450">
              <a:buFont typeface="Arial" panose="020B0604020202020204" pitchFamily="34" charset="0"/>
              <a:buChar char="•"/>
            </a:pPr>
            <a:r>
              <a:rPr lang="en-IN" sz="1200" dirty="0">
                <a:latin typeface="Raleway Medium" pitchFamily="2" charset="0"/>
              </a:rPr>
              <a:t>Worked with UI team for integration of UI with API</a:t>
            </a:r>
          </a:p>
        </p:txBody>
      </p:sp>
      <p:sp>
        <p:nvSpPr>
          <p:cNvPr id="20" name="Rectangle 19">
            <a:extLst>
              <a:ext uri="{FF2B5EF4-FFF2-40B4-BE49-F238E27FC236}">
                <a16:creationId xmlns:a16="http://schemas.microsoft.com/office/drawing/2014/main" id="{0E1D10BB-C009-4393-83AC-FF4768A1467E}"/>
              </a:ext>
            </a:extLst>
          </p:cNvPr>
          <p:cNvSpPr/>
          <p:nvPr/>
        </p:nvSpPr>
        <p:spPr>
          <a:xfrm>
            <a:off x="3880425" y="659602"/>
            <a:ext cx="7990582" cy="669852"/>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54282399-4360-4241-9B87-60AEDA9B4048}"/>
              </a:ext>
            </a:extLst>
          </p:cNvPr>
          <p:cNvSpPr txBox="1"/>
          <p:nvPr/>
        </p:nvSpPr>
        <p:spPr>
          <a:xfrm>
            <a:off x="4107045" y="800934"/>
            <a:ext cx="3243138" cy="369332"/>
          </a:xfrm>
          <a:prstGeom prst="rect">
            <a:avLst/>
          </a:prstGeom>
          <a:noFill/>
        </p:spPr>
        <p:txBody>
          <a:bodyPr wrap="square" rtlCol="0">
            <a:spAutoFit/>
          </a:bodyPr>
          <a:lstStyle/>
          <a:p>
            <a:r>
              <a:rPr lang="en-IN" dirty="0">
                <a:solidFill>
                  <a:schemeClr val="bg1"/>
                </a:solidFill>
                <a:latin typeface="Raleway SemiBold" pitchFamily="2" charset="0"/>
              </a:rPr>
              <a:t>Recent Engagements</a:t>
            </a:r>
            <a:endParaRPr lang="en-IN" sz="1200" dirty="0">
              <a:solidFill>
                <a:schemeClr val="bg1"/>
              </a:solidFill>
              <a:latin typeface="Raleway SemiBold" pitchFamily="2" charset="0"/>
            </a:endParaRPr>
          </a:p>
        </p:txBody>
      </p:sp>
    </p:spTree>
    <p:extLst>
      <p:ext uri="{BB962C8B-B14F-4D97-AF65-F5344CB8AC3E}">
        <p14:creationId xmlns:p14="http://schemas.microsoft.com/office/powerpoint/2010/main" val="1699043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856E72C-E4EC-4F72-9310-13853C0DBA5F}"/>
              </a:ext>
            </a:extLst>
          </p:cNvPr>
          <p:cNvSpPr/>
          <p:nvPr/>
        </p:nvSpPr>
        <p:spPr>
          <a:xfrm>
            <a:off x="320996" y="659602"/>
            <a:ext cx="3576728" cy="73433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53730A20-05C6-4DBA-854A-2AC1D9509F82}"/>
              </a:ext>
            </a:extLst>
          </p:cNvPr>
          <p:cNvSpPr txBox="1"/>
          <p:nvPr/>
        </p:nvSpPr>
        <p:spPr>
          <a:xfrm>
            <a:off x="449998" y="145038"/>
            <a:ext cx="4699221" cy="430887"/>
          </a:xfrm>
          <a:prstGeom prst="rect">
            <a:avLst/>
          </a:prstGeom>
          <a:noFill/>
        </p:spPr>
        <p:txBody>
          <a:bodyPr wrap="square" rtlCol="0">
            <a:spAutoFit/>
          </a:bodyPr>
          <a:lstStyle/>
          <a:p>
            <a:r>
              <a:rPr lang="en-IN" sz="2200" dirty="0">
                <a:solidFill>
                  <a:srgbClr val="0070C0"/>
                </a:solidFill>
                <a:latin typeface="Raleway SemiBold" pitchFamily="2" charset="0"/>
              </a:rPr>
              <a:t>Java Engineer  </a:t>
            </a:r>
            <a:r>
              <a:rPr lang="en-IN" sz="2200" dirty="0">
                <a:latin typeface="Raleway SemiBold" pitchFamily="2" charset="0"/>
              </a:rPr>
              <a:t> </a:t>
            </a:r>
            <a:r>
              <a:rPr lang="en-IN" sz="2200" dirty="0">
                <a:solidFill>
                  <a:srgbClr val="0070C0"/>
                </a:solidFill>
                <a:latin typeface="Raleway SemiBold" pitchFamily="2" charset="0"/>
              </a:rPr>
              <a:t>|</a:t>
            </a:r>
            <a:r>
              <a:rPr lang="en-IN" sz="2200" dirty="0">
                <a:latin typeface="Raleway SemiBold" pitchFamily="2" charset="0"/>
              </a:rPr>
              <a:t>   Mohit</a:t>
            </a:r>
          </a:p>
        </p:txBody>
      </p:sp>
      <p:sp>
        <p:nvSpPr>
          <p:cNvPr id="17" name="TextBox 16">
            <a:extLst>
              <a:ext uri="{FF2B5EF4-FFF2-40B4-BE49-F238E27FC236}">
                <a16:creationId xmlns:a16="http://schemas.microsoft.com/office/drawing/2014/main" id="{082F9C68-96C0-46FC-B8AA-80A07778AC41}"/>
              </a:ext>
            </a:extLst>
          </p:cNvPr>
          <p:cNvSpPr txBox="1"/>
          <p:nvPr/>
        </p:nvSpPr>
        <p:spPr>
          <a:xfrm>
            <a:off x="449998" y="800934"/>
            <a:ext cx="3350821" cy="4247317"/>
          </a:xfrm>
          <a:prstGeom prst="rect">
            <a:avLst/>
          </a:prstGeom>
          <a:noFill/>
        </p:spPr>
        <p:txBody>
          <a:bodyPr wrap="square" rtlCol="0">
            <a:spAutoFit/>
          </a:bodyPr>
          <a:lstStyle/>
          <a:p>
            <a:r>
              <a:rPr lang="en-IN" dirty="0">
                <a:latin typeface="Raleway SemiBold" pitchFamily="2" charset="0"/>
              </a:rPr>
              <a:t>Summary</a:t>
            </a:r>
          </a:p>
          <a:p>
            <a:r>
              <a:rPr lang="en-IN" sz="1200" dirty="0">
                <a:latin typeface="Raleway Medium" panose="020B0604020202020204" pitchFamily="2" charset="0"/>
              </a:rPr>
              <a:t>Has good experience in software development using Java8, Spring Boot, </a:t>
            </a:r>
            <a:r>
              <a:rPr lang="en-IN" sz="1200" dirty="0" err="1">
                <a:latin typeface="Raleway Medium" panose="020B0604020202020204" pitchFamily="2" charset="0"/>
              </a:rPr>
              <a:t>GraphQL</a:t>
            </a:r>
            <a:r>
              <a:rPr lang="en-IN" sz="1200" dirty="0">
                <a:latin typeface="Raleway Medium" panose="020B0604020202020204" pitchFamily="2" charset="0"/>
              </a:rPr>
              <a:t> Microservices, PostgreSQL , </a:t>
            </a:r>
            <a:r>
              <a:rPr lang="en-IN" sz="1200" dirty="0" err="1">
                <a:latin typeface="Raleway Medium" panose="020B0604020202020204" pitchFamily="2" charset="0"/>
              </a:rPr>
              <a:t>Mongodb</a:t>
            </a:r>
            <a:r>
              <a:rPr lang="en-IN" sz="1200" dirty="0">
                <a:latin typeface="Raleway Medium" panose="020B0604020202020204" pitchFamily="2" charset="0"/>
              </a:rPr>
              <a:t>, </a:t>
            </a:r>
            <a:r>
              <a:rPr lang="en-IN" sz="1200" dirty="0" err="1">
                <a:latin typeface="Raleway Medium" panose="020B0604020202020204" pitchFamily="2" charset="0"/>
              </a:rPr>
              <a:t>Mssql</a:t>
            </a:r>
            <a:r>
              <a:rPr lang="en-IN" sz="1200" dirty="0">
                <a:latin typeface="Raleway Medium" panose="020B0604020202020204" pitchFamily="2" charset="0"/>
              </a:rPr>
              <a:t>, Elasticsearch</a:t>
            </a:r>
          </a:p>
          <a:p>
            <a:endParaRPr lang="en-IN" dirty="0"/>
          </a:p>
          <a:p>
            <a:r>
              <a:rPr lang="en-IN" dirty="0">
                <a:latin typeface="Raleway SemiBold" pitchFamily="2" charset="0"/>
              </a:rPr>
              <a:t>Expertise</a:t>
            </a:r>
          </a:p>
          <a:p>
            <a:pPr marL="171450" indent="-171450">
              <a:buFont typeface="Arial" panose="020B0604020202020204" pitchFamily="34" charset="0"/>
              <a:buChar char="•"/>
            </a:pPr>
            <a:r>
              <a:rPr lang="en-IN" sz="1200" dirty="0">
                <a:latin typeface="Raleway Medium" pitchFamily="2" charset="0"/>
              </a:rPr>
              <a:t>Has experience in designing the solutions (UML/ERD) for requirement.</a:t>
            </a:r>
          </a:p>
          <a:p>
            <a:pPr marL="171450" indent="-171450">
              <a:buFont typeface="Arial" panose="020B0604020202020204" pitchFamily="34" charset="0"/>
              <a:buChar char="•"/>
            </a:pPr>
            <a:r>
              <a:rPr lang="en-IN" sz="1200" dirty="0">
                <a:latin typeface="Raleway Medium" pitchFamily="2" charset="0"/>
              </a:rPr>
              <a:t>Good knowledge in Java8, JPA, Maven, microservices, databases </a:t>
            </a:r>
          </a:p>
          <a:p>
            <a:pPr marL="171450" indent="-171450">
              <a:buFont typeface="Arial" panose="020B0604020202020204" pitchFamily="34" charset="0"/>
              <a:buChar char="•"/>
            </a:pPr>
            <a:r>
              <a:rPr lang="en-IN" sz="1200" dirty="0">
                <a:latin typeface="Raleway Medium" pitchFamily="2" charset="0"/>
              </a:rPr>
              <a:t>Basic understanding of Linux commands and docker containers. </a:t>
            </a:r>
          </a:p>
          <a:p>
            <a:pPr marL="171450" indent="-171450">
              <a:buFont typeface="Arial" panose="020B0604020202020204" pitchFamily="34" charset="0"/>
              <a:buChar char="•"/>
            </a:pPr>
            <a:r>
              <a:rPr lang="en-IN" sz="1200" dirty="0">
                <a:latin typeface="Raleway ExtraBold" pitchFamily="2" charset="0"/>
              </a:rPr>
              <a:t>Tools Used  </a:t>
            </a:r>
            <a:r>
              <a:rPr lang="en-IN" sz="1200" dirty="0">
                <a:latin typeface="Raleway Medium" pitchFamily="2" charset="0"/>
              </a:rPr>
              <a:t>-- IntelliJ, Data grip, Git, Postman, Docker</a:t>
            </a:r>
          </a:p>
          <a:p>
            <a:pPr marL="171450" indent="-171450">
              <a:buFont typeface="Arial" panose="020B0604020202020204" pitchFamily="34" charset="0"/>
              <a:buChar char="•"/>
            </a:pPr>
            <a:r>
              <a:rPr lang="en-IN" sz="1200" dirty="0">
                <a:latin typeface="Raleway ExtraBold" pitchFamily="2" charset="0"/>
              </a:rPr>
              <a:t>Database Used </a:t>
            </a:r>
            <a:r>
              <a:rPr lang="en-IN" sz="1200" dirty="0">
                <a:latin typeface="Raleway Medium" pitchFamily="2" charset="0"/>
              </a:rPr>
              <a:t>-- PostgreSQL, Mongodb, Elasticsearch , SQL Server</a:t>
            </a:r>
          </a:p>
          <a:p>
            <a:endParaRPr lang="en-IN" dirty="0"/>
          </a:p>
          <a:p>
            <a:r>
              <a:rPr lang="en-IN" dirty="0">
                <a:latin typeface="Raleway SemiBold" pitchFamily="2" charset="0"/>
              </a:rPr>
              <a:t>Qualification</a:t>
            </a:r>
          </a:p>
          <a:p>
            <a:r>
              <a:rPr lang="en-IN" sz="1200" dirty="0">
                <a:latin typeface="Raleway Medium" pitchFamily="2" charset="0"/>
              </a:rPr>
              <a:t>Has Bachelor Degree in Computer Science</a:t>
            </a:r>
          </a:p>
        </p:txBody>
      </p:sp>
      <p:sp>
        <p:nvSpPr>
          <p:cNvPr id="18" name="TextBox 17">
            <a:extLst>
              <a:ext uri="{FF2B5EF4-FFF2-40B4-BE49-F238E27FC236}">
                <a16:creationId xmlns:a16="http://schemas.microsoft.com/office/drawing/2014/main" id="{E16A9A5E-FC23-4D1C-BDA2-EEF63416556A}"/>
              </a:ext>
            </a:extLst>
          </p:cNvPr>
          <p:cNvSpPr txBox="1"/>
          <p:nvPr/>
        </p:nvSpPr>
        <p:spPr>
          <a:xfrm>
            <a:off x="4107045" y="1462322"/>
            <a:ext cx="7634957" cy="2585323"/>
          </a:xfrm>
          <a:prstGeom prst="rect">
            <a:avLst/>
          </a:prstGeom>
          <a:noFill/>
        </p:spPr>
        <p:txBody>
          <a:bodyPr wrap="square" rtlCol="0">
            <a:spAutoFit/>
          </a:bodyPr>
          <a:lstStyle/>
          <a:p>
            <a:r>
              <a:rPr lang="en-IN" dirty="0">
                <a:latin typeface="Raleway SemiBold" pitchFamily="2" charset="0"/>
              </a:rPr>
              <a:t>Procurement Application</a:t>
            </a:r>
          </a:p>
          <a:p>
            <a:r>
              <a:rPr lang="en-IN" sz="1200" dirty="0">
                <a:solidFill>
                  <a:srgbClr val="0070C0"/>
                </a:solidFill>
                <a:latin typeface="Raleway SemiBold" pitchFamily="2" charset="0"/>
              </a:rPr>
              <a:t>(Java8, Spring Boot, JPA, PostgreSQL, Elasticsearch, Docker)</a:t>
            </a:r>
          </a:p>
          <a:p>
            <a:endParaRPr lang="en-IN" sz="1200" dirty="0">
              <a:latin typeface="Raleway Medium" pitchFamily="2" charset="0"/>
            </a:endParaRPr>
          </a:p>
          <a:p>
            <a:pPr marL="171450" indent="-171450">
              <a:buFont typeface="Arial" panose="020B0604020202020204" pitchFamily="34" charset="0"/>
              <a:buChar char="•"/>
            </a:pPr>
            <a:r>
              <a:rPr lang="en-IN" sz="1200" dirty="0">
                <a:latin typeface="Raleway Medium" pitchFamily="2" charset="0"/>
              </a:rPr>
              <a:t>Designed the  data model and entity structure for requisition module.</a:t>
            </a:r>
          </a:p>
          <a:p>
            <a:pPr marL="171450" indent="-171450">
              <a:buFont typeface="Arial" panose="020B0604020202020204" pitchFamily="34" charset="0"/>
              <a:buChar char="•"/>
            </a:pPr>
            <a:r>
              <a:rPr lang="en-IN" sz="1200" dirty="0">
                <a:latin typeface="Raleway Medium" pitchFamily="2" charset="0"/>
              </a:rPr>
              <a:t>Developed JPA’s  and CRUD for the requisition module</a:t>
            </a:r>
          </a:p>
          <a:p>
            <a:pPr marL="171450" indent="-171450">
              <a:buFont typeface="Arial" panose="020B0604020202020204" pitchFamily="34" charset="0"/>
              <a:buChar char="•"/>
            </a:pPr>
            <a:r>
              <a:rPr lang="en-IN" sz="1200" dirty="0">
                <a:latin typeface="Raleway Medium" pitchFamily="2" charset="0"/>
              </a:rPr>
              <a:t>Worked on all the API  required for procurement Admin portal</a:t>
            </a:r>
          </a:p>
          <a:p>
            <a:pPr marL="171450" indent="-171450">
              <a:buFont typeface="Arial" panose="020B0604020202020204" pitchFamily="34" charset="0"/>
              <a:buChar char="•"/>
            </a:pPr>
            <a:r>
              <a:rPr lang="en-IN" sz="1200" dirty="0">
                <a:latin typeface="Raleway Medium" pitchFamily="2" charset="0"/>
              </a:rPr>
              <a:t>Tested all the API’s with Postman collection</a:t>
            </a:r>
          </a:p>
          <a:p>
            <a:pPr marL="171450" indent="-171450">
              <a:buFont typeface="Arial" panose="020B0604020202020204" pitchFamily="34" charset="0"/>
              <a:buChar char="•"/>
            </a:pPr>
            <a:r>
              <a:rPr lang="en-IN" sz="1200" dirty="0">
                <a:latin typeface="Raleway Medium" pitchFamily="2" charset="0"/>
              </a:rPr>
              <a:t>Wrote Junit5 tests for modules</a:t>
            </a:r>
          </a:p>
          <a:p>
            <a:pPr marL="171450" indent="-171450">
              <a:buFont typeface="Arial" panose="020B0604020202020204" pitchFamily="34" charset="0"/>
              <a:buChar char="•"/>
            </a:pPr>
            <a:r>
              <a:rPr lang="en-IN" sz="1200" dirty="0">
                <a:latin typeface="Raleway Medium" pitchFamily="2" charset="0"/>
              </a:rPr>
              <a:t>Wrote some BDD tests with cucumber</a:t>
            </a:r>
          </a:p>
          <a:p>
            <a:pPr marL="171450" indent="-171450">
              <a:buFont typeface="Arial" panose="020B0604020202020204" pitchFamily="34" charset="0"/>
              <a:buChar char="•"/>
            </a:pPr>
            <a:r>
              <a:rPr lang="en-IN" sz="1200" dirty="0">
                <a:latin typeface="Raleway Medium" pitchFamily="2" charset="0"/>
              </a:rPr>
              <a:t>Worked on the code fixes for Errors</a:t>
            </a:r>
          </a:p>
          <a:p>
            <a:pPr marL="171450" indent="-171450">
              <a:buFont typeface="Arial" panose="020B0604020202020204" pitchFamily="34" charset="0"/>
              <a:buChar char="•"/>
            </a:pPr>
            <a:r>
              <a:rPr lang="en-IN" sz="1200" dirty="0">
                <a:latin typeface="Raleway Medium" pitchFamily="2" charset="0"/>
              </a:rPr>
              <a:t>Worked on metrics / log / traces integration with operation system </a:t>
            </a:r>
          </a:p>
          <a:p>
            <a:pPr marL="171450" indent="-171450">
              <a:buFont typeface="Arial" panose="020B0604020202020204" pitchFamily="34" charset="0"/>
              <a:buChar char="•"/>
            </a:pPr>
            <a:r>
              <a:rPr lang="en-IN" sz="1200" dirty="0">
                <a:latin typeface="Raleway Medium" pitchFamily="2" charset="0"/>
              </a:rPr>
              <a:t>Worked with UI team for integration of UI with API</a:t>
            </a:r>
          </a:p>
          <a:p>
            <a:pPr marL="171450" indent="-171450">
              <a:buFont typeface="Arial" panose="020B0604020202020204" pitchFamily="34" charset="0"/>
              <a:buChar char="•"/>
            </a:pPr>
            <a:r>
              <a:rPr lang="en-IN" sz="1200" dirty="0">
                <a:latin typeface="Raleway Medium" pitchFamily="2" charset="0"/>
              </a:rPr>
              <a:t>Applied docker compose utilities for Dev testing of services with databases.</a:t>
            </a:r>
          </a:p>
        </p:txBody>
      </p:sp>
      <p:sp>
        <p:nvSpPr>
          <p:cNvPr id="19" name="TextBox 18">
            <a:extLst>
              <a:ext uri="{FF2B5EF4-FFF2-40B4-BE49-F238E27FC236}">
                <a16:creationId xmlns:a16="http://schemas.microsoft.com/office/drawing/2014/main" id="{252228EB-C9F7-4900-AAED-AA9DC63B387A}"/>
              </a:ext>
            </a:extLst>
          </p:cNvPr>
          <p:cNvSpPr txBox="1"/>
          <p:nvPr/>
        </p:nvSpPr>
        <p:spPr>
          <a:xfrm>
            <a:off x="4107045" y="4168832"/>
            <a:ext cx="7634957" cy="2400657"/>
          </a:xfrm>
          <a:prstGeom prst="rect">
            <a:avLst/>
          </a:prstGeom>
          <a:noFill/>
        </p:spPr>
        <p:txBody>
          <a:bodyPr wrap="square" rtlCol="0">
            <a:spAutoFit/>
          </a:bodyPr>
          <a:lstStyle/>
          <a:p>
            <a:r>
              <a:rPr lang="en-IN" dirty="0">
                <a:latin typeface="Raleway SemiBold" pitchFamily="2" charset="0"/>
              </a:rPr>
              <a:t>Education Management Application</a:t>
            </a:r>
          </a:p>
          <a:p>
            <a:r>
              <a:rPr lang="en-IN" sz="1200" dirty="0">
                <a:solidFill>
                  <a:srgbClr val="0070C0"/>
                </a:solidFill>
                <a:latin typeface="Raleway SemiBold" pitchFamily="2" charset="0"/>
              </a:rPr>
              <a:t>(Java8, Spring Boot, JPA, PostgreSQL, Elasticsearch, Docker)</a:t>
            </a:r>
          </a:p>
          <a:p>
            <a:endParaRPr lang="en-IN" sz="1200" dirty="0">
              <a:latin typeface="Raleway Medium" pitchFamily="2" charset="0"/>
            </a:endParaRPr>
          </a:p>
          <a:p>
            <a:pPr marL="171450" indent="-171450">
              <a:buFont typeface="Arial" panose="020B0604020202020204" pitchFamily="34" charset="0"/>
              <a:buChar char="•"/>
            </a:pPr>
            <a:r>
              <a:rPr lang="en-IN" sz="1200" dirty="0">
                <a:latin typeface="Raleway Medium" pitchFamily="2" charset="0"/>
              </a:rPr>
              <a:t>Designed the  data model and entity structure for Admission and Fees Module.</a:t>
            </a:r>
          </a:p>
          <a:p>
            <a:pPr marL="171450" indent="-171450">
              <a:buFont typeface="Arial" panose="020B0604020202020204" pitchFamily="34" charset="0"/>
              <a:buChar char="•"/>
            </a:pPr>
            <a:r>
              <a:rPr lang="en-IN" sz="1200" dirty="0">
                <a:latin typeface="Raleway Medium" pitchFamily="2" charset="0"/>
              </a:rPr>
              <a:t>Developed JPA’s  and CRUD for the library module</a:t>
            </a:r>
          </a:p>
          <a:p>
            <a:pPr marL="171450" indent="-171450">
              <a:buFont typeface="Arial" panose="020B0604020202020204" pitchFamily="34" charset="0"/>
              <a:buChar char="•"/>
            </a:pPr>
            <a:r>
              <a:rPr lang="en-IN" sz="1200" dirty="0">
                <a:latin typeface="Raleway Medium" pitchFamily="2" charset="0"/>
              </a:rPr>
              <a:t>Worked on all the API  required for Admin portal</a:t>
            </a:r>
          </a:p>
          <a:p>
            <a:pPr marL="171450" indent="-171450">
              <a:buFont typeface="Arial" panose="020B0604020202020204" pitchFamily="34" charset="0"/>
              <a:buChar char="•"/>
            </a:pPr>
            <a:r>
              <a:rPr lang="en-IN" sz="1200" dirty="0">
                <a:latin typeface="Raleway Medium" pitchFamily="2" charset="0"/>
              </a:rPr>
              <a:t>Tested all the API’s with Postman collection</a:t>
            </a:r>
          </a:p>
          <a:p>
            <a:pPr marL="171450" indent="-171450">
              <a:buFont typeface="Arial" panose="020B0604020202020204" pitchFamily="34" charset="0"/>
              <a:buChar char="•"/>
            </a:pPr>
            <a:r>
              <a:rPr lang="en-IN" sz="1200" dirty="0">
                <a:latin typeface="Raleway Medium" pitchFamily="2" charset="0"/>
              </a:rPr>
              <a:t>Wrote Junit5 tests for modules</a:t>
            </a:r>
          </a:p>
          <a:p>
            <a:pPr marL="171450" indent="-171450">
              <a:buFont typeface="Arial" panose="020B0604020202020204" pitchFamily="34" charset="0"/>
              <a:buChar char="•"/>
            </a:pPr>
            <a:r>
              <a:rPr lang="en-IN" sz="1200" dirty="0">
                <a:latin typeface="Raleway Medium" pitchFamily="2" charset="0"/>
              </a:rPr>
              <a:t>Wrote some BDD tests with cucumber</a:t>
            </a:r>
          </a:p>
          <a:p>
            <a:pPr marL="171450" indent="-171450">
              <a:buFont typeface="Arial" panose="020B0604020202020204" pitchFamily="34" charset="0"/>
              <a:buChar char="•"/>
            </a:pPr>
            <a:r>
              <a:rPr lang="en-IN" sz="1200" dirty="0">
                <a:latin typeface="Raleway Medium" pitchFamily="2" charset="0"/>
              </a:rPr>
              <a:t>Worked on the code fixes for Errors</a:t>
            </a:r>
          </a:p>
          <a:p>
            <a:pPr marL="171450" indent="-171450">
              <a:buFont typeface="Arial" panose="020B0604020202020204" pitchFamily="34" charset="0"/>
              <a:buChar char="•"/>
            </a:pPr>
            <a:r>
              <a:rPr lang="en-IN" sz="1200" dirty="0">
                <a:latin typeface="Raleway Medium" pitchFamily="2" charset="0"/>
              </a:rPr>
              <a:t>Worked on metrics / log / traces integration with operation system </a:t>
            </a:r>
          </a:p>
          <a:p>
            <a:pPr marL="171450" indent="-171450">
              <a:buFont typeface="Arial" panose="020B0604020202020204" pitchFamily="34" charset="0"/>
              <a:buChar char="•"/>
            </a:pPr>
            <a:r>
              <a:rPr lang="en-IN" sz="1200" dirty="0">
                <a:latin typeface="Raleway Medium" pitchFamily="2" charset="0"/>
              </a:rPr>
              <a:t>Worked with UI team for integration of UI with API</a:t>
            </a:r>
          </a:p>
        </p:txBody>
      </p:sp>
      <p:sp>
        <p:nvSpPr>
          <p:cNvPr id="20" name="Rectangle 19">
            <a:extLst>
              <a:ext uri="{FF2B5EF4-FFF2-40B4-BE49-F238E27FC236}">
                <a16:creationId xmlns:a16="http://schemas.microsoft.com/office/drawing/2014/main" id="{0E1D10BB-C009-4393-83AC-FF4768A1467E}"/>
              </a:ext>
            </a:extLst>
          </p:cNvPr>
          <p:cNvSpPr/>
          <p:nvPr/>
        </p:nvSpPr>
        <p:spPr>
          <a:xfrm>
            <a:off x="3880425" y="659602"/>
            <a:ext cx="7990582" cy="669852"/>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54282399-4360-4241-9B87-60AEDA9B4048}"/>
              </a:ext>
            </a:extLst>
          </p:cNvPr>
          <p:cNvSpPr txBox="1"/>
          <p:nvPr/>
        </p:nvSpPr>
        <p:spPr>
          <a:xfrm>
            <a:off x="4107045" y="800934"/>
            <a:ext cx="3243138" cy="369332"/>
          </a:xfrm>
          <a:prstGeom prst="rect">
            <a:avLst/>
          </a:prstGeom>
          <a:noFill/>
        </p:spPr>
        <p:txBody>
          <a:bodyPr wrap="square" rtlCol="0">
            <a:spAutoFit/>
          </a:bodyPr>
          <a:lstStyle/>
          <a:p>
            <a:r>
              <a:rPr lang="en-IN" dirty="0">
                <a:solidFill>
                  <a:schemeClr val="bg1"/>
                </a:solidFill>
                <a:latin typeface="Raleway SemiBold" pitchFamily="2" charset="0"/>
              </a:rPr>
              <a:t>Recent Engagements</a:t>
            </a:r>
            <a:endParaRPr lang="en-IN" sz="1200" dirty="0">
              <a:solidFill>
                <a:schemeClr val="bg1"/>
              </a:solidFill>
              <a:latin typeface="Raleway SemiBold" pitchFamily="2" charset="0"/>
            </a:endParaRPr>
          </a:p>
        </p:txBody>
      </p:sp>
    </p:spTree>
    <p:extLst>
      <p:ext uri="{BB962C8B-B14F-4D97-AF65-F5344CB8AC3E}">
        <p14:creationId xmlns:p14="http://schemas.microsoft.com/office/powerpoint/2010/main" val="3900778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856E72C-E4EC-4F72-9310-13853C0DBA5F}"/>
              </a:ext>
            </a:extLst>
          </p:cNvPr>
          <p:cNvSpPr/>
          <p:nvPr/>
        </p:nvSpPr>
        <p:spPr>
          <a:xfrm>
            <a:off x="320996" y="659602"/>
            <a:ext cx="3576728" cy="73433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53730A20-05C6-4DBA-854A-2AC1D9509F82}"/>
              </a:ext>
            </a:extLst>
          </p:cNvPr>
          <p:cNvSpPr txBox="1"/>
          <p:nvPr/>
        </p:nvSpPr>
        <p:spPr>
          <a:xfrm>
            <a:off x="449998" y="145038"/>
            <a:ext cx="4699221" cy="430887"/>
          </a:xfrm>
          <a:prstGeom prst="rect">
            <a:avLst/>
          </a:prstGeom>
          <a:noFill/>
        </p:spPr>
        <p:txBody>
          <a:bodyPr wrap="square" rtlCol="0">
            <a:spAutoFit/>
          </a:bodyPr>
          <a:lstStyle/>
          <a:p>
            <a:r>
              <a:rPr lang="en-IN" sz="2200" dirty="0">
                <a:solidFill>
                  <a:srgbClr val="0070C0"/>
                </a:solidFill>
                <a:latin typeface="Raleway SemiBold" pitchFamily="2" charset="0"/>
              </a:rPr>
              <a:t>Java Engineer  </a:t>
            </a:r>
            <a:r>
              <a:rPr lang="en-IN" sz="2200" dirty="0">
                <a:latin typeface="Raleway SemiBold" pitchFamily="2" charset="0"/>
              </a:rPr>
              <a:t> </a:t>
            </a:r>
            <a:r>
              <a:rPr lang="en-IN" sz="2200" dirty="0">
                <a:solidFill>
                  <a:srgbClr val="0070C0"/>
                </a:solidFill>
                <a:latin typeface="Raleway SemiBold" pitchFamily="2" charset="0"/>
              </a:rPr>
              <a:t>|</a:t>
            </a:r>
            <a:r>
              <a:rPr lang="en-IN" sz="2200" dirty="0">
                <a:latin typeface="Raleway SemiBold" pitchFamily="2" charset="0"/>
              </a:rPr>
              <a:t>   Tejaswi</a:t>
            </a:r>
          </a:p>
        </p:txBody>
      </p:sp>
      <p:sp>
        <p:nvSpPr>
          <p:cNvPr id="17" name="TextBox 16">
            <a:extLst>
              <a:ext uri="{FF2B5EF4-FFF2-40B4-BE49-F238E27FC236}">
                <a16:creationId xmlns:a16="http://schemas.microsoft.com/office/drawing/2014/main" id="{082F9C68-96C0-46FC-B8AA-80A07778AC41}"/>
              </a:ext>
            </a:extLst>
          </p:cNvPr>
          <p:cNvSpPr txBox="1"/>
          <p:nvPr/>
        </p:nvSpPr>
        <p:spPr>
          <a:xfrm>
            <a:off x="449998" y="800934"/>
            <a:ext cx="3350821" cy="4247317"/>
          </a:xfrm>
          <a:prstGeom prst="rect">
            <a:avLst/>
          </a:prstGeom>
          <a:noFill/>
        </p:spPr>
        <p:txBody>
          <a:bodyPr wrap="square" rtlCol="0">
            <a:spAutoFit/>
          </a:bodyPr>
          <a:lstStyle/>
          <a:p>
            <a:r>
              <a:rPr lang="en-IN" dirty="0">
                <a:latin typeface="Raleway SemiBold" pitchFamily="2" charset="0"/>
              </a:rPr>
              <a:t>Summary</a:t>
            </a:r>
          </a:p>
          <a:p>
            <a:r>
              <a:rPr lang="en-IN" sz="1200" dirty="0">
                <a:latin typeface="Raleway Medium" panose="020B0604020202020204" pitchFamily="2" charset="0"/>
              </a:rPr>
              <a:t>Has good experience in software development using Java8, Spring Boot, </a:t>
            </a:r>
            <a:r>
              <a:rPr lang="en-IN" sz="1200" dirty="0" err="1">
                <a:latin typeface="Raleway Medium" panose="020B0604020202020204" pitchFamily="2" charset="0"/>
              </a:rPr>
              <a:t>GraphQL</a:t>
            </a:r>
            <a:r>
              <a:rPr lang="en-IN" sz="1200" dirty="0">
                <a:latin typeface="Raleway Medium" panose="020B0604020202020204" pitchFamily="2" charset="0"/>
              </a:rPr>
              <a:t> Microservices, PostgreSQL , </a:t>
            </a:r>
            <a:r>
              <a:rPr lang="en-IN" sz="1200" dirty="0" err="1">
                <a:latin typeface="Raleway Medium" panose="020B0604020202020204" pitchFamily="2" charset="0"/>
              </a:rPr>
              <a:t>Mongodb</a:t>
            </a:r>
            <a:r>
              <a:rPr lang="en-IN" sz="1200" dirty="0">
                <a:latin typeface="Raleway Medium" panose="020B0604020202020204" pitchFamily="2" charset="0"/>
              </a:rPr>
              <a:t>, </a:t>
            </a:r>
            <a:r>
              <a:rPr lang="en-IN" sz="1200" dirty="0" err="1">
                <a:latin typeface="Raleway Medium" panose="020B0604020202020204" pitchFamily="2" charset="0"/>
              </a:rPr>
              <a:t>Mssql</a:t>
            </a:r>
            <a:r>
              <a:rPr lang="en-IN" sz="1200" dirty="0">
                <a:latin typeface="Raleway Medium" panose="020B0604020202020204" pitchFamily="2" charset="0"/>
              </a:rPr>
              <a:t>, Elasticsearch</a:t>
            </a:r>
          </a:p>
          <a:p>
            <a:endParaRPr lang="en-IN" dirty="0"/>
          </a:p>
          <a:p>
            <a:r>
              <a:rPr lang="en-IN" dirty="0">
                <a:latin typeface="Raleway SemiBold" pitchFamily="2" charset="0"/>
              </a:rPr>
              <a:t>Expertise</a:t>
            </a:r>
          </a:p>
          <a:p>
            <a:pPr marL="171450" indent="-171450">
              <a:buFont typeface="Arial" panose="020B0604020202020204" pitchFamily="34" charset="0"/>
              <a:buChar char="•"/>
            </a:pPr>
            <a:r>
              <a:rPr lang="en-IN" sz="1200" dirty="0">
                <a:latin typeface="Raleway Medium" pitchFamily="2" charset="0"/>
              </a:rPr>
              <a:t>Has experience in designing the solutions (UML/ERD) for requirement.</a:t>
            </a:r>
          </a:p>
          <a:p>
            <a:pPr marL="171450" indent="-171450">
              <a:buFont typeface="Arial" panose="020B0604020202020204" pitchFamily="34" charset="0"/>
              <a:buChar char="•"/>
            </a:pPr>
            <a:r>
              <a:rPr lang="en-IN" sz="1200" dirty="0">
                <a:latin typeface="Raleway Medium" pitchFamily="2" charset="0"/>
              </a:rPr>
              <a:t>Good knowledge in Java8, JPA, Maven, microservices, databases </a:t>
            </a:r>
          </a:p>
          <a:p>
            <a:pPr marL="171450" indent="-171450">
              <a:buFont typeface="Arial" panose="020B0604020202020204" pitchFamily="34" charset="0"/>
              <a:buChar char="•"/>
            </a:pPr>
            <a:r>
              <a:rPr lang="en-IN" sz="1200" dirty="0">
                <a:latin typeface="Raleway Medium" pitchFamily="2" charset="0"/>
              </a:rPr>
              <a:t>Basic understanding of Linux commands and docker containers. </a:t>
            </a:r>
          </a:p>
          <a:p>
            <a:pPr marL="171450" indent="-171450">
              <a:buFont typeface="Arial" panose="020B0604020202020204" pitchFamily="34" charset="0"/>
              <a:buChar char="•"/>
            </a:pPr>
            <a:r>
              <a:rPr lang="en-IN" sz="1200" dirty="0">
                <a:latin typeface="Raleway ExtraBold" pitchFamily="2" charset="0"/>
              </a:rPr>
              <a:t>Tools Used  </a:t>
            </a:r>
            <a:r>
              <a:rPr lang="en-IN" sz="1200" dirty="0">
                <a:latin typeface="Raleway Medium" pitchFamily="2" charset="0"/>
              </a:rPr>
              <a:t>-- IntelliJ, Data grip, Git, Postman, Docker</a:t>
            </a:r>
          </a:p>
          <a:p>
            <a:pPr marL="171450" indent="-171450">
              <a:buFont typeface="Arial" panose="020B0604020202020204" pitchFamily="34" charset="0"/>
              <a:buChar char="•"/>
            </a:pPr>
            <a:r>
              <a:rPr lang="en-IN" sz="1200" dirty="0">
                <a:latin typeface="Raleway ExtraBold" pitchFamily="2" charset="0"/>
              </a:rPr>
              <a:t>Database Used </a:t>
            </a:r>
            <a:r>
              <a:rPr lang="en-IN" sz="1200" dirty="0">
                <a:latin typeface="Raleway Medium" pitchFamily="2" charset="0"/>
              </a:rPr>
              <a:t>-- PostgreSQL, Mongodb, Elasticsearch , SQL Server</a:t>
            </a:r>
          </a:p>
          <a:p>
            <a:endParaRPr lang="en-IN" dirty="0"/>
          </a:p>
          <a:p>
            <a:r>
              <a:rPr lang="en-IN" dirty="0">
                <a:latin typeface="Raleway SemiBold" pitchFamily="2" charset="0"/>
              </a:rPr>
              <a:t>Qualification</a:t>
            </a:r>
          </a:p>
          <a:p>
            <a:r>
              <a:rPr lang="en-IN" sz="1200" dirty="0">
                <a:latin typeface="Raleway Medium" pitchFamily="2" charset="0"/>
              </a:rPr>
              <a:t>Has Bachelor Degree in Computer Science</a:t>
            </a:r>
          </a:p>
        </p:txBody>
      </p:sp>
      <p:sp>
        <p:nvSpPr>
          <p:cNvPr id="19" name="TextBox 18">
            <a:extLst>
              <a:ext uri="{FF2B5EF4-FFF2-40B4-BE49-F238E27FC236}">
                <a16:creationId xmlns:a16="http://schemas.microsoft.com/office/drawing/2014/main" id="{252228EB-C9F7-4900-AAED-AA9DC63B387A}"/>
              </a:ext>
            </a:extLst>
          </p:cNvPr>
          <p:cNvSpPr txBox="1"/>
          <p:nvPr/>
        </p:nvSpPr>
        <p:spPr>
          <a:xfrm>
            <a:off x="3929821" y="1385592"/>
            <a:ext cx="7634957" cy="2400657"/>
          </a:xfrm>
          <a:prstGeom prst="rect">
            <a:avLst/>
          </a:prstGeom>
          <a:noFill/>
        </p:spPr>
        <p:txBody>
          <a:bodyPr wrap="square" rtlCol="0">
            <a:spAutoFit/>
          </a:bodyPr>
          <a:lstStyle/>
          <a:p>
            <a:r>
              <a:rPr lang="en-IN" dirty="0">
                <a:latin typeface="Raleway SemiBold" pitchFamily="2" charset="0"/>
              </a:rPr>
              <a:t>Education Management Application</a:t>
            </a:r>
          </a:p>
          <a:p>
            <a:r>
              <a:rPr lang="en-IN" sz="1200" dirty="0">
                <a:solidFill>
                  <a:srgbClr val="0070C0"/>
                </a:solidFill>
                <a:latin typeface="Raleway SemiBold" pitchFamily="2" charset="0"/>
              </a:rPr>
              <a:t>(Java8, Spring Boot, JPA, PostgreSQL, Elasticsearch, Docker)</a:t>
            </a:r>
          </a:p>
          <a:p>
            <a:endParaRPr lang="en-IN" sz="1200" dirty="0">
              <a:latin typeface="Raleway Medium" pitchFamily="2" charset="0"/>
            </a:endParaRPr>
          </a:p>
          <a:p>
            <a:pPr marL="171450" indent="-171450">
              <a:buFont typeface="Arial" panose="020B0604020202020204" pitchFamily="34" charset="0"/>
              <a:buChar char="•"/>
            </a:pPr>
            <a:r>
              <a:rPr lang="en-IN" sz="1200" dirty="0">
                <a:latin typeface="Raleway Medium" pitchFamily="2" charset="0"/>
              </a:rPr>
              <a:t>Designed the  data model and entity structure for Admission and Fees Module.</a:t>
            </a:r>
          </a:p>
          <a:p>
            <a:pPr marL="171450" indent="-171450">
              <a:buFont typeface="Arial" panose="020B0604020202020204" pitchFamily="34" charset="0"/>
              <a:buChar char="•"/>
            </a:pPr>
            <a:r>
              <a:rPr lang="en-IN" sz="1200" dirty="0">
                <a:latin typeface="Raleway Medium" pitchFamily="2" charset="0"/>
              </a:rPr>
              <a:t>Developed JPA’s  and CRUD for the Admission and Fees module</a:t>
            </a:r>
          </a:p>
          <a:p>
            <a:pPr marL="171450" indent="-171450">
              <a:buFont typeface="Arial" panose="020B0604020202020204" pitchFamily="34" charset="0"/>
              <a:buChar char="•"/>
            </a:pPr>
            <a:r>
              <a:rPr lang="en-IN" sz="1200" dirty="0">
                <a:latin typeface="Raleway Medium" pitchFamily="2" charset="0"/>
              </a:rPr>
              <a:t>Worked on all the API  required for Admin portal</a:t>
            </a:r>
          </a:p>
          <a:p>
            <a:pPr marL="171450" indent="-171450">
              <a:buFont typeface="Arial" panose="020B0604020202020204" pitchFamily="34" charset="0"/>
              <a:buChar char="•"/>
            </a:pPr>
            <a:r>
              <a:rPr lang="en-IN" sz="1200" dirty="0">
                <a:latin typeface="Raleway Medium" pitchFamily="2" charset="0"/>
              </a:rPr>
              <a:t>Tested all the API’s with Postman collection</a:t>
            </a:r>
          </a:p>
          <a:p>
            <a:pPr marL="171450" indent="-171450">
              <a:buFont typeface="Arial" panose="020B0604020202020204" pitchFamily="34" charset="0"/>
              <a:buChar char="•"/>
            </a:pPr>
            <a:r>
              <a:rPr lang="en-IN" sz="1200" dirty="0">
                <a:latin typeface="Raleway Medium" pitchFamily="2" charset="0"/>
              </a:rPr>
              <a:t>Wrote Junit5 tests for modules</a:t>
            </a:r>
          </a:p>
          <a:p>
            <a:pPr marL="171450" indent="-171450">
              <a:buFont typeface="Arial" panose="020B0604020202020204" pitchFamily="34" charset="0"/>
              <a:buChar char="•"/>
            </a:pPr>
            <a:r>
              <a:rPr lang="en-IN" sz="1200" dirty="0">
                <a:latin typeface="Raleway Medium" pitchFamily="2" charset="0"/>
              </a:rPr>
              <a:t>Wrote some BDD tests with cucumber</a:t>
            </a:r>
          </a:p>
          <a:p>
            <a:pPr marL="171450" indent="-171450">
              <a:buFont typeface="Arial" panose="020B0604020202020204" pitchFamily="34" charset="0"/>
              <a:buChar char="•"/>
            </a:pPr>
            <a:r>
              <a:rPr lang="en-IN" sz="1200" dirty="0">
                <a:latin typeface="Raleway Medium" pitchFamily="2" charset="0"/>
              </a:rPr>
              <a:t>Worked on the code fixes for Errors</a:t>
            </a:r>
          </a:p>
          <a:p>
            <a:pPr marL="171450" indent="-171450">
              <a:buFont typeface="Arial" panose="020B0604020202020204" pitchFamily="34" charset="0"/>
              <a:buChar char="•"/>
            </a:pPr>
            <a:r>
              <a:rPr lang="en-IN" sz="1200" dirty="0">
                <a:latin typeface="Raleway Medium" pitchFamily="2" charset="0"/>
              </a:rPr>
              <a:t>Worked on metrics / log / traces integration with operation system </a:t>
            </a:r>
          </a:p>
          <a:p>
            <a:pPr marL="171450" indent="-171450">
              <a:buFont typeface="Arial" panose="020B0604020202020204" pitchFamily="34" charset="0"/>
              <a:buChar char="•"/>
            </a:pPr>
            <a:r>
              <a:rPr lang="en-IN" sz="1200" dirty="0">
                <a:latin typeface="Raleway Medium" pitchFamily="2" charset="0"/>
              </a:rPr>
              <a:t>Worked with UI team for integration of UI with API</a:t>
            </a:r>
          </a:p>
        </p:txBody>
      </p:sp>
      <p:sp>
        <p:nvSpPr>
          <p:cNvPr id="20" name="Rectangle 19">
            <a:extLst>
              <a:ext uri="{FF2B5EF4-FFF2-40B4-BE49-F238E27FC236}">
                <a16:creationId xmlns:a16="http://schemas.microsoft.com/office/drawing/2014/main" id="{0E1D10BB-C009-4393-83AC-FF4768A1467E}"/>
              </a:ext>
            </a:extLst>
          </p:cNvPr>
          <p:cNvSpPr/>
          <p:nvPr/>
        </p:nvSpPr>
        <p:spPr>
          <a:xfrm>
            <a:off x="3880425" y="659602"/>
            <a:ext cx="7990582" cy="669852"/>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54282399-4360-4241-9B87-60AEDA9B4048}"/>
              </a:ext>
            </a:extLst>
          </p:cNvPr>
          <p:cNvSpPr txBox="1"/>
          <p:nvPr/>
        </p:nvSpPr>
        <p:spPr>
          <a:xfrm>
            <a:off x="4107045" y="800934"/>
            <a:ext cx="3243138" cy="369332"/>
          </a:xfrm>
          <a:prstGeom prst="rect">
            <a:avLst/>
          </a:prstGeom>
          <a:noFill/>
        </p:spPr>
        <p:txBody>
          <a:bodyPr wrap="square" rtlCol="0">
            <a:spAutoFit/>
          </a:bodyPr>
          <a:lstStyle/>
          <a:p>
            <a:r>
              <a:rPr lang="en-IN" dirty="0">
                <a:solidFill>
                  <a:schemeClr val="bg1"/>
                </a:solidFill>
                <a:latin typeface="Raleway SemiBold" pitchFamily="2" charset="0"/>
              </a:rPr>
              <a:t>Recent Engagements</a:t>
            </a:r>
            <a:endParaRPr lang="en-IN" sz="1200" dirty="0">
              <a:solidFill>
                <a:schemeClr val="bg1"/>
              </a:solidFill>
              <a:latin typeface="Raleway SemiBold" pitchFamily="2" charset="0"/>
            </a:endParaRPr>
          </a:p>
        </p:txBody>
      </p:sp>
      <p:sp>
        <p:nvSpPr>
          <p:cNvPr id="9" name="TextBox 8">
            <a:extLst>
              <a:ext uri="{FF2B5EF4-FFF2-40B4-BE49-F238E27FC236}">
                <a16:creationId xmlns:a16="http://schemas.microsoft.com/office/drawing/2014/main" id="{4412DD3E-3FBE-4664-B789-BD5908786847}"/>
              </a:ext>
            </a:extLst>
          </p:cNvPr>
          <p:cNvSpPr txBox="1"/>
          <p:nvPr/>
        </p:nvSpPr>
        <p:spPr>
          <a:xfrm>
            <a:off x="3897724" y="4494152"/>
            <a:ext cx="7634957" cy="2215991"/>
          </a:xfrm>
          <a:prstGeom prst="rect">
            <a:avLst/>
          </a:prstGeom>
          <a:noFill/>
        </p:spPr>
        <p:txBody>
          <a:bodyPr wrap="square" rtlCol="0">
            <a:spAutoFit/>
          </a:bodyPr>
          <a:lstStyle/>
          <a:p>
            <a:r>
              <a:rPr lang="en-IN" dirty="0">
                <a:latin typeface="Raleway SemiBold" pitchFamily="2" charset="0"/>
              </a:rPr>
              <a:t>Ticketing and Notification</a:t>
            </a:r>
          </a:p>
          <a:p>
            <a:r>
              <a:rPr lang="en-IN" sz="1200" dirty="0">
                <a:solidFill>
                  <a:srgbClr val="0070C0"/>
                </a:solidFill>
                <a:latin typeface="Raleway SemiBold" pitchFamily="2" charset="0"/>
              </a:rPr>
              <a:t>(Java8, Spring Boot, JPA, PostgreSQL, Elasticsearch, Docker)</a:t>
            </a:r>
          </a:p>
          <a:p>
            <a:endParaRPr lang="en-IN" sz="1200" dirty="0">
              <a:latin typeface="Raleway Medium" pitchFamily="2" charset="0"/>
            </a:endParaRPr>
          </a:p>
          <a:p>
            <a:pPr marL="171454" indent="-171454">
              <a:buFont typeface="Arial" panose="020B0604020202020204" pitchFamily="34" charset="0"/>
              <a:buChar char="•"/>
            </a:pPr>
            <a:r>
              <a:rPr lang="en-US" sz="1200" dirty="0">
                <a:latin typeface="Raleway Medium" pitchFamily="2" charset="0"/>
              </a:rPr>
              <a:t>Worked on applying Design Patterns &amp;  develop Data Model</a:t>
            </a:r>
          </a:p>
          <a:p>
            <a:pPr marL="171454" indent="-171454">
              <a:buFont typeface="Arial" panose="020B0604020202020204" pitchFamily="34" charset="0"/>
              <a:buChar char="•"/>
            </a:pPr>
            <a:r>
              <a:rPr lang="en-US" sz="1200" dirty="0">
                <a:latin typeface="Raleway Medium" pitchFamily="2" charset="0"/>
              </a:rPr>
              <a:t>Worked on all the API  required for portal</a:t>
            </a:r>
          </a:p>
          <a:p>
            <a:pPr marL="171454" indent="-171454">
              <a:buFont typeface="Arial" panose="020B0604020202020204" pitchFamily="34" charset="0"/>
              <a:buChar char="•"/>
            </a:pPr>
            <a:r>
              <a:rPr lang="en-US" sz="1200" dirty="0">
                <a:latin typeface="Raleway Medium" pitchFamily="2" charset="0"/>
              </a:rPr>
              <a:t>Worked on Authentication , MFA and Security framework for product portals</a:t>
            </a:r>
          </a:p>
          <a:p>
            <a:pPr marL="171454" indent="-171454">
              <a:buFont typeface="Arial" panose="020B0604020202020204" pitchFamily="34" charset="0"/>
              <a:buChar char="•"/>
            </a:pPr>
            <a:r>
              <a:rPr lang="en-US" sz="1200" dirty="0">
                <a:latin typeface="Raleway Medium" pitchFamily="2" charset="0"/>
              </a:rPr>
              <a:t>Worked on developing a highly scalable alert notification framework</a:t>
            </a:r>
          </a:p>
          <a:p>
            <a:pPr marL="171454" indent="-171454">
              <a:buFont typeface="Arial" panose="020B0604020202020204" pitchFamily="34" charset="0"/>
              <a:buChar char="•"/>
            </a:pPr>
            <a:r>
              <a:rPr lang="en-US" sz="1200" dirty="0">
                <a:latin typeface="Raleway Medium" pitchFamily="2" charset="0"/>
              </a:rPr>
              <a:t>Wrote docker composers for Dev env creation and tests.</a:t>
            </a:r>
          </a:p>
          <a:p>
            <a:pPr marL="171454" indent="-171454">
              <a:buFont typeface="Arial" panose="020B0604020202020204" pitchFamily="34" charset="0"/>
              <a:buChar char="•"/>
            </a:pPr>
            <a:r>
              <a:rPr lang="en-US" sz="1200" dirty="0">
                <a:latin typeface="Raleway Medium" pitchFamily="2" charset="0"/>
              </a:rPr>
              <a:t>Worked closely with the QA, project management and business teams on solution implementation</a:t>
            </a:r>
          </a:p>
          <a:p>
            <a:pPr marL="171454" indent="-171454">
              <a:buFont typeface="Arial" panose="020B0604020202020204" pitchFamily="34" charset="0"/>
              <a:buChar char="•"/>
            </a:pPr>
            <a:r>
              <a:rPr lang="en-US" sz="1200" dirty="0">
                <a:latin typeface="Raleway Medium" pitchFamily="2" charset="0"/>
              </a:rPr>
              <a:t>Worked on the code fixes for Errors</a:t>
            </a:r>
          </a:p>
          <a:p>
            <a:pPr marL="171454" indent="-171454">
              <a:buFont typeface="Arial" panose="020B0604020202020204" pitchFamily="34" charset="0"/>
              <a:buChar char="•"/>
            </a:pPr>
            <a:r>
              <a:rPr lang="en-US" sz="1200" dirty="0">
                <a:latin typeface="Raleway Medium" pitchFamily="2" charset="0"/>
              </a:rPr>
              <a:t>Worked with UI team for integration of UI with API</a:t>
            </a:r>
            <a:endParaRPr lang="en-IN" sz="1200" dirty="0">
              <a:latin typeface="Raleway Medium" pitchFamily="2" charset="0"/>
            </a:endParaRPr>
          </a:p>
        </p:txBody>
      </p:sp>
    </p:spTree>
    <p:extLst>
      <p:ext uri="{BB962C8B-B14F-4D97-AF65-F5344CB8AC3E}">
        <p14:creationId xmlns:p14="http://schemas.microsoft.com/office/powerpoint/2010/main" val="4034718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856E72C-E4EC-4F72-9310-13853C0DBA5F}"/>
              </a:ext>
            </a:extLst>
          </p:cNvPr>
          <p:cNvSpPr/>
          <p:nvPr/>
        </p:nvSpPr>
        <p:spPr>
          <a:xfrm>
            <a:off x="320996" y="659602"/>
            <a:ext cx="3576728" cy="73433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53730A20-05C6-4DBA-854A-2AC1D9509F82}"/>
              </a:ext>
            </a:extLst>
          </p:cNvPr>
          <p:cNvSpPr txBox="1"/>
          <p:nvPr/>
        </p:nvSpPr>
        <p:spPr>
          <a:xfrm>
            <a:off x="449998" y="145038"/>
            <a:ext cx="4699221" cy="430887"/>
          </a:xfrm>
          <a:prstGeom prst="rect">
            <a:avLst/>
          </a:prstGeom>
          <a:noFill/>
        </p:spPr>
        <p:txBody>
          <a:bodyPr wrap="square" rtlCol="0">
            <a:spAutoFit/>
          </a:bodyPr>
          <a:lstStyle/>
          <a:p>
            <a:r>
              <a:rPr lang="en-IN" sz="2200" dirty="0">
                <a:solidFill>
                  <a:srgbClr val="0070C0"/>
                </a:solidFill>
                <a:latin typeface="Raleway SemiBold" pitchFamily="2" charset="0"/>
              </a:rPr>
              <a:t>Java Engineer  </a:t>
            </a:r>
            <a:r>
              <a:rPr lang="en-IN" sz="2200" dirty="0">
                <a:latin typeface="Raleway SemiBold" pitchFamily="2" charset="0"/>
              </a:rPr>
              <a:t> </a:t>
            </a:r>
            <a:r>
              <a:rPr lang="en-IN" sz="2200" dirty="0">
                <a:solidFill>
                  <a:srgbClr val="0070C0"/>
                </a:solidFill>
                <a:latin typeface="Raleway SemiBold" pitchFamily="2" charset="0"/>
              </a:rPr>
              <a:t>|</a:t>
            </a:r>
            <a:r>
              <a:rPr lang="en-IN" sz="2200" dirty="0">
                <a:latin typeface="Raleway SemiBold" pitchFamily="2" charset="0"/>
              </a:rPr>
              <a:t>   </a:t>
            </a:r>
            <a:r>
              <a:rPr lang="en-IN" sz="2200" dirty="0" err="1">
                <a:latin typeface="Raleway SemiBold" pitchFamily="2" charset="0"/>
              </a:rPr>
              <a:t>Akhila</a:t>
            </a:r>
            <a:endParaRPr lang="en-IN" sz="2200" dirty="0">
              <a:latin typeface="Raleway SemiBold" pitchFamily="2" charset="0"/>
            </a:endParaRPr>
          </a:p>
        </p:txBody>
      </p:sp>
      <p:sp>
        <p:nvSpPr>
          <p:cNvPr id="17" name="TextBox 16">
            <a:extLst>
              <a:ext uri="{FF2B5EF4-FFF2-40B4-BE49-F238E27FC236}">
                <a16:creationId xmlns:a16="http://schemas.microsoft.com/office/drawing/2014/main" id="{082F9C68-96C0-46FC-B8AA-80A07778AC41}"/>
              </a:ext>
            </a:extLst>
          </p:cNvPr>
          <p:cNvSpPr txBox="1"/>
          <p:nvPr/>
        </p:nvSpPr>
        <p:spPr>
          <a:xfrm>
            <a:off x="449998" y="800934"/>
            <a:ext cx="3350821" cy="4247317"/>
          </a:xfrm>
          <a:prstGeom prst="rect">
            <a:avLst/>
          </a:prstGeom>
          <a:noFill/>
        </p:spPr>
        <p:txBody>
          <a:bodyPr wrap="square" rtlCol="0">
            <a:spAutoFit/>
          </a:bodyPr>
          <a:lstStyle/>
          <a:p>
            <a:r>
              <a:rPr lang="en-IN" dirty="0">
                <a:latin typeface="Raleway SemiBold" pitchFamily="2" charset="0"/>
              </a:rPr>
              <a:t>Summary</a:t>
            </a:r>
          </a:p>
          <a:p>
            <a:r>
              <a:rPr lang="en-IN" sz="1200" dirty="0">
                <a:latin typeface="Raleway Medium" panose="020B0604020202020204" pitchFamily="2" charset="0"/>
              </a:rPr>
              <a:t>Has good experience in software development using Java8, Spring Boot, </a:t>
            </a:r>
            <a:r>
              <a:rPr lang="en-IN" sz="1200" dirty="0" err="1">
                <a:latin typeface="Raleway Medium" panose="020B0604020202020204" pitchFamily="2" charset="0"/>
              </a:rPr>
              <a:t>GraphQL</a:t>
            </a:r>
            <a:r>
              <a:rPr lang="en-IN" sz="1200" dirty="0">
                <a:latin typeface="Raleway Medium" panose="020B0604020202020204" pitchFamily="2" charset="0"/>
              </a:rPr>
              <a:t> Microservices, PostgreSQL , </a:t>
            </a:r>
            <a:r>
              <a:rPr lang="en-IN" sz="1200" dirty="0" err="1">
                <a:latin typeface="Raleway Medium" panose="020B0604020202020204" pitchFamily="2" charset="0"/>
              </a:rPr>
              <a:t>Mongodb</a:t>
            </a:r>
            <a:r>
              <a:rPr lang="en-IN" sz="1200" dirty="0">
                <a:latin typeface="Raleway Medium" panose="020B0604020202020204" pitchFamily="2" charset="0"/>
              </a:rPr>
              <a:t>, </a:t>
            </a:r>
            <a:r>
              <a:rPr lang="en-IN" sz="1200" dirty="0" err="1">
                <a:latin typeface="Raleway Medium" panose="020B0604020202020204" pitchFamily="2" charset="0"/>
              </a:rPr>
              <a:t>Mssql</a:t>
            </a:r>
            <a:r>
              <a:rPr lang="en-IN" sz="1200" dirty="0">
                <a:latin typeface="Raleway Medium" panose="020B0604020202020204" pitchFamily="2" charset="0"/>
              </a:rPr>
              <a:t>, Elasticsearch</a:t>
            </a:r>
          </a:p>
          <a:p>
            <a:endParaRPr lang="en-IN" dirty="0"/>
          </a:p>
          <a:p>
            <a:r>
              <a:rPr lang="en-IN" dirty="0">
                <a:latin typeface="Raleway SemiBold" pitchFamily="2" charset="0"/>
              </a:rPr>
              <a:t>Expertise</a:t>
            </a:r>
          </a:p>
          <a:p>
            <a:pPr marL="171450" indent="-171450">
              <a:buFont typeface="Arial" panose="020B0604020202020204" pitchFamily="34" charset="0"/>
              <a:buChar char="•"/>
            </a:pPr>
            <a:r>
              <a:rPr lang="en-IN" sz="1200" dirty="0">
                <a:latin typeface="Raleway Medium" pitchFamily="2" charset="0"/>
              </a:rPr>
              <a:t>Has experience in designing the solutions (UML/ERD) for requirement.</a:t>
            </a:r>
          </a:p>
          <a:p>
            <a:pPr marL="171450" indent="-171450">
              <a:buFont typeface="Arial" panose="020B0604020202020204" pitchFamily="34" charset="0"/>
              <a:buChar char="•"/>
            </a:pPr>
            <a:r>
              <a:rPr lang="en-IN" sz="1200" dirty="0">
                <a:latin typeface="Raleway Medium" pitchFamily="2" charset="0"/>
              </a:rPr>
              <a:t>Good knowledge in Java8, JPA, Maven, microservices, databases </a:t>
            </a:r>
          </a:p>
          <a:p>
            <a:pPr marL="171450" indent="-171450">
              <a:buFont typeface="Arial" panose="020B0604020202020204" pitchFamily="34" charset="0"/>
              <a:buChar char="•"/>
            </a:pPr>
            <a:r>
              <a:rPr lang="en-IN" sz="1200" dirty="0">
                <a:latin typeface="Raleway Medium" pitchFamily="2" charset="0"/>
              </a:rPr>
              <a:t>Basic understanding of Linux commands and docker containers. </a:t>
            </a:r>
          </a:p>
          <a:p>
            <a:pPr marL="171450" indent="-171450">
              <a:buFont typeface="Arial" panose="020B0604020202020204" pitchFamily="34" charset="0"/>
              <a:buChar char="•"/>
            </a:pPr>
            <a:r>
              <a:rPr lang="en-IN" sz="1200" dirty="0">
                <a:latin typeface="Raleway ExtraBold" pitchFamily="2" charset="0"/>
              </a:rPr>
              <a:t>Tools Used  </a:t>
            </a:r>
            <a:r>
              <a:rPr lang="en-IN" sz="1200" dirty="0">
                <a:latin typeface="Raleway Medium" pitchFamily="2" charset="0"/>
              </a:rPr>
              <a:t>-- IntelliJ, Data grip, Git, Postman, Docker</a:t>
            </a:r>
          </a:p>
          <a:p>
            <a:pPr marL="171450" indent="-171450">
              <a:buFont typeface="Arial" panose="020B0604020202020204" pitchFamily="34" charset="0"/>
              <a:buChar char="•"/>
            </a:pPr>
            <a:r>
              <a:rPr lang="en-IN" sz="1200" dirty="0">
                <a:latin typeface="Raleway ExtraBold" pitchFamily="2" charset="0"/>
              </a:rPr>
              <a:t>Database Used </a:t>
            </a:r>
            <a:r>
              <a:rPr lang="en-IN" sz="1200" dirty="0">
                <a:latin typeface="Raleway Medium" pitchFamily="2" charset="0"/>
              </a:rPr>
              <a:t>-- PostgreSQL, Mongodb, Elasticsearch , SQL Server</a:t>
            </a:r>
          </a:p>
          <a:p>
            <a:endParaRPr lang="en-IN" dirty="0"/>
          </a:p>
          <a:p>
            <a:r>
              <a:rPr lang="en-IN" dirty="0">
                <a:latin typeface="Raleway SemiBold" pitchFamily="2" charset="0"/>
              </a:rPr>
              <a:t>Qualification</a:t>
            </a:r>
          </a:p>
          <a:p>
            <a:r>
              <a:rPr lang="en-IN" sz="1200" dirty="0">
                <a:latin typeface="Raleway Medium" pitchFamily="2" charset="0"/>
              </a:rPr>
              <a:t>Has Bachelor Degree in Computer Science</a:t>
            </a:r>
          </a:p>
        </p:txBody>
      </p:sp>
      <p:sp>
        <p:nvSpPr>
          <p:cNvPr id="19" name="TextBox 18">
            <a:extLst>
              <a:ext uri="{FF2B5EF4-FFF2-40B4-BE49-F238E27FC236}">
                <a16:creationId xmlns:a16="http://schemas.microsoft.com/office/drawing/2014/main" id="{252228EB-C9F7-4900-AAED-AA9DC63B387A}"/>
              </a:ext>
            </a:extLst>
          </p:cNvPr>
          <p:cNvSpPr txBox="1"/>
          <p:nvPr/>
        </p:nvSpPr>
        <p:spPr>
          <a:xfrm>
            <a:off x="3929821" y="1385592"/>
            <a:ext cx="7634957" cy="2400657"/>
          </a:xfrm>
          <a:prstGeom prst="rect">
            <a:avLst/>
          </a:prstGeom>
          <a:noFill/>
        </p:spPr>
        <p:txBody>
          <a:bodyPr wrap="square" rtlCol="0">
            <a:spAutoFit/>
          </a:bodyPr>
          <a:lstStyle/>
          <a:p>
            <a:r>
              <a:rPr lang="en-IN" dirty="0">
                <a:latin typeface="Raleway SemiBold" pitchFamily="2" charset="0"/>
              </a:rPr>
              <a:t>Education Management Application</a:t>
            </a:r>
          </a:p>
          <a:p>
            <a:r>
              <a:rPr lang="en-IN" sz="1200" dirty="0">
                <a:solidFill>
                  <a:srgbClr val="0070C0"/>
                </a:solidFill>
                <a:latin typeface="Raleway SemiBold" pitchFamily="2" charset="0"/>
              </a:rPr>
              <a:t>(Java8, Spring Boot, JPA, PostgreSQL, Elasticsearch, Docker)</a:t>
            </a:r>
          </a:p>
          <a:p>
            <a:endParaRPr lang="en-IN" sz="1200" dirty="0">
              <a:latin typeface="Raleway Medium" pitchFamily="2" charset="0"/>
            </a:endParaRPr>
          </a:p>
          <a:p>
            <a:pPr marL="171450" indent="-171450">
              <a:buFont typeface="Arial" panose="020B0604020202020204" pitchFamily="34" charset="0"/>
              <a:buChar char="•"/>
            </a:pPr>
            <a:r>
              <a:rPr lang="en-IN" sz="1200" dirty="0">
                <a:latin typeface="Raleway Medium" pitchFamily="2" charset="0"/>
              </a:rPr>
              <a:t>Designed the  data model and entity structure for Admission and Fees Module.</a:t>
            </a:r>
          </a:p>
          <a:p>
            <a:pPr marL="171450" indent="-171450">
              <a:buFont typeface="Arial" panose="020B0604020202020204" pitchFamily="34" charset="0"/>
              <a:buChar char="•"/>
            </a:pPr>
            <a:r>
              <a:rPr lang="en-IN" sz="1200" dirty="0">
                <a:latin typeface="Raleway Medium" pitchFamily="2" charset="0"/>
              </a:rPr>
              <a:t>Developed JPA’s  and CRUD for the Admission and Fees module</a:t>
            </a:r>
          </a:p>
          <a:p>
            <a:pPr marL="171450" indent="-171450">
              <a:buFont typeface="Arial" panose="020B0604020202020204" pitchFamily="34" charset="0"/>
              <a:buChar char="•"/>
            </a:pPr>
            <a:r>
              <a:rPr lang="en-IN" sz="1200" dirty="0">
                <a:latin typeface="Raleway Medium" pitchFamily="2" charset="0"/>
              </a:rPr>
              <a:t>Worked on all the API  required for Admin portal</a:t>
            </a:r>
          </a:p>
          <a:p>
            <a:pPr marL="171450" indent="-171450">
              <a:buFont typeface="Arial" panose="020B0604020202020204" pitchFamily="34" charset="0"/>
              <a:buChar char="•"/>
            </a:pPr>
            <a:r>
              <a:rPr lang="en-IN" sz="1200" dirty="0">
                <a:latin typeface="Raleway Medium" pitchFamily="2" charset="0"/>
              </a:rPr>
              <a:t>Tested all the API’s with Postman collection</a:t>
            </a:r>
          </a:p>
          <a:p>
            <a:pPr marL="171450" indent="-171450">
              <a:buFont typeface="Arial" panose="020B0604020202020204" pitchFamily="34" charset="0"/>
              <a:buChar char="•"/>
            </a:pPr>
            <a:r>
              <a:rPr lang="en-IN" sz="1200" dirty="0">
                <a:latin typeface="Raleway Medium" pitchFamily="2" charset="0"/>
              </a:rPr>
              <a:t>Wrote Junit5 tests for modules</a:t>
            </a:r>
          </a:p>
          <a:p>
            <a:pPr marL="171450" indent="-171450">
              <a:buFont typeface="Arial" panose="020B0604020202020204" pitchFamily="34" charset="0"/>
              <a:buChar char="•"/>
            </a:pPr>
            <a:r>
              <a:rPr lang="en-IN" sz="1200" dirty="0">
                <a:latin typeface="Raleway Medium" pitchFamily="2" charset="0"/>
              </a:rPr>
              <a:t>Wrote some BDD tests with cucumber</a:t>
            </a:r>
          </a:p>
          <a:p>
            <a:pPr marL="171450" indent="-171450">
              <a:buFont typeface="Arial" panose="020B0604020202020204" pitchFamily="34" charset="0"/>
              <a:buChar char="•"/>
            </a:pPr>
            <a:r>
              <a:rPr lang="en-IN" sz="1200" dirty="0">
                <a:latin typeface="Raleway Medium" pitchFamily="2" charset="0"/>
              </a:rPr>
              <a:t>Worked on the code fixes for Errors</a:t>
            </a:r>
          </a:p>
          <a:p>
            <a:pPr marL="171450" indent="-171450">
              <a:buFont typeface="Arial" panose="020B0604020202020204" pitchFamily="34" charset="0"/>
              <a:buChar char="•"/>
            </a:pPr>
            <a:r>
              <a:rPr lang="en-IN" sz="1200" dirty="0">
                <a:latin typeface="Raleway Medium" pitchFamily="2" charset="0"/>
              </a:rPr>
              <a:t>Worked on metrics / log / traces integration with operation system </a:t>
            </a:r>
          </a:p>
          <a:p>
            <a:pPr marL="171450" indent="-171450">
              <a:buFont typeface="Arial" panose="020B0604020202020204" pitchFamily="34" charset="0"/>
              <a:buChar char="•"/>
            </a:pPr>
            <a:r>
              <a:rPr lang="en-IN" sz="1200" dirty="0">
                <a:latin typeface="Raleway Medium" pitchFamily="2" charset="0"/>
              </a:rPr>
              <a:t>Worked with UI team for integration of UI with API</a:t>
            </a:r>
          </a:p>
        </p:txBody>
      </p:sp>
      <p:sp>
        <p:nvSpPr>
          <p:cNvPr id="20" name="Rectangle 19">
            <a:extLst>
              <a:ext uri="{FF2B5EF4-FFF2-40B4-BE49-F238E27FC236}">
                <a16:creationId xmlns:a16="http://schemas.microsoft.com/office/drawing/2014/main" id="{0E1D10BB-C009-4393-83AC-FF4768A1467E}"/>
              </a:ext>
            </a:extLst>
          </p:cNvPr>
          <p:cNvSpPr/>
          <p:nvPr/>
        </p:nvSpPr>
        <p:spPr>
          <a:xfrm>
            <a:off x="3880425" y="659602"/>
            <a:ext cx="7990582" cy="669852"/>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54282399-4360-4241-9B87-60AEDA9B4048}"/>
              </a:ext>
            </a:extLst>
          </p:cNvPr>
          <p:cNvSpPr txBox="1"/>
          <p:nvPr/>
        </p:nvSpPr>
        <p:spPr>
          <a:xfrm>
            <a:off x="4107045" y="800934"/>
            <a:ext cx="3243138" cy="369332"/>
          </a:xfrm>
          <a:prstGeom prst="rect">
            <a:avLst/>
          </a:prstGeom>
          <a:noFill/>
        </p:spPr>
        <p:txBody>
          <a:bodyPr wrap="square" rtlCol="0">
            <a:spAutoFit/>
          </a:bodyPr>
          <a:lstStyle/>
          <a:p>
            <a:r>
              <a:rPr lang="en-IN" dirty="0">
                <a:solidFill>
                  <a:schemeClr val="bg1"/>
                </a:solidFill>
                <a:latin typeface="Raleway SemiBold" pitchFamily="2" charset="0"/>
              </a:rPr>
              <a:t>Recent Engagements</a:t>
            </a:r>
            <a:endParaRPr lang="en-IN" sz="1200" dirty="0">
              <a:solidFill>
                <a:schemeClr val="bg1"/>
              </a:solidFill>
              <a:latin typeface="Raleway SemiBold" pitchFamily="2" charset="0"/>
            </a:endParaRPr>
          </a:p>
        </p:txBody>
      </p:sp>
      <p:sp>
        <p:nvSpPr>
          <p:cNvPr id="9" name="TextBox 8">
            <a:extLst>
              <a:ext uri="{FF2B5EF4-FFF2-40B4-BE49-F238E27FC236}">
                <a16:creationId xmlns:a16="http://schemas.microsoft.com/office/drawing/2014/main" id="{4412DD3E-3FBE-4664-B789-BD5908786847}"/>
              </a:ext>
            </a:extLst>
          </p:cNvPr>
          <p:cNvSpPr txBox="1"/>
          <p:nvPr/>
        </p:nvSpPr>
        <p:spPr>
          <a:xfrm>
            <a:off x="3897724" y="4494152"/>
            <a:ext cx="7634957" cy="2215991"/>
          </a:xfrm>
          <a:prstGeom prst="rect">
            <a:avLst/>
          </a:prstGeom>
          <a:noFill/>
        </p:spPr>
        <p:txBody>
          <a:bodyPr wrap="square" rtlCol="0">
            <a:spAutoFit/>
          </a:bodyPr>
          <a:lstStyle/>
          <a:p>
            <a:r>
              <a:rPr lang="en-IN" dirty="0">
                <a:latin typeface="Raleway SemiBold" pitchFamily="2" charset="0"/>
              </a:rPr>
              <a:t>Ticketing and Notification</a:t>
            </a:r>
          </a:p>
          <a:p>
            <a:r>
              <a:rPr lang="en-IN" sz="1200" dirty="0">
                <a:solidFill>
                  <a:srgbClr val="0070C0"/>
                </a:solidFill>
                <a:latin typeface="Raleway SemiBold" pitchFamily="2" charset="0"/>
              </a:rPr>
              <a:t>(Java8, Spring Boot, JPA, PostgreSQL, Elasticsearch, Docker)</a:t>
            </a:r>
          </a:p>
          <a:p>
            <a:endParaRPr lang="en-IN" sz="1200" dirty="0">
              <a:latin typeface="Raleway Medium" pitchFamily="2" charset="0"/>
            </a:endParaRPr>
          </a:p>
          <a:p>
            <a:pPr marL="171454" indent="-171454">
              <a:buFont typeface="Arial" panose="020B0604020202020204" pitchFamily="34" charset="0"/>
              <a:buChar char="•"/>
            </a:pPr>
            <a:r>
              <a:rPr lang="en-US" sz="1200" dirty="0">
                <a:latin typeface="Raleway Medium" pitchFamily="2" charset="0"/>
              </a:rPr>
              <a:t>Worked on applying Design Patterns &amp;  develop Data Model</a:t>
            </a:r>
          </a:p>
          <a:p>
            <a:pPr marL="171454" indent="-171454">
              <a:buFont typeface="Arial" panose="020B0604020202020204" pitchFamily="34" charset="0"/>
              <a:buChar char="•"/>
            </a:pPr>
            <a:r>
              <a:rPr lang="en-US" sz="1200" dirty="0">
                <a:latin typeface="Raleway Medium" pitchFamily="2" charset="0"/>
              </a:rPr>
              <a:t>Worked on all the API  required for portal</a:t>
            </a:r>
          </a:p>
          <a:p>
            <a:pPr marL="171454" indent="-171454">
              <a:buFont typeface="Arial" panose="020B0604020202020204" pitchFamily="34" charset="0"/>
              <a:buChar char="•"/>
            </a:pPr>
            <a:r>
              <a:rPr lang="en-US" sz="1200" dirty="0">
                <a:latin typeface="Raleway Medium" pitchFamily="2" charset="0"/>
              </a:rPr>
              <a:t>Worked on Authentication , MFA and Security framework for product portals</a:t>
            </a:r>
          </a:p>
          <a:p>
            <a:pPr marL="171454" indent="-171454">
              <a:buFont typeface="Arial" panose="020B0604020202020204" pitchFamily="34" charset="0"/>
              <a:buChar char="•"/>
            </a:pPr>
            <a:r>
              <a:rPr lang="en-US" sz="1200" dirty="0">
                <a:latin typeface="Raleway Medium" pitchFamily="2" charset="0"/>
              </a:rPr>
              <a:t>Worked on developing a highly scalable alert notification framework</a:t>
            </a:r>
          </a:p>
          <a:p>
            <a:pPr marL="171454" indent="-171454">
              <a:buFont typeface="Arial" panose="020B0604020202020204" pitchFamily="34" charset="0"/>
              <a:buChar char="•"/>
            </a:pPr>
            <a:r>
              <a:rPr lang="en-US" sz="1200" dirty="0">
                <a:latin typeface="Raleway Medium" pitchFamily="2" charset="0"/>
              </a:rPr>
              <a:t>Wrote docker composers for Dev env creation and tests.</a:t>
            </a:r>
          </a:p>
          <a:p>
            <a:pPr marL="171454" indent="-171454">
              <a:buFont typeface="Arial" panose="020B0604020202020204" pitchFamily="34" charset="0"/>
              <a:buChar char="•"/>
            </a:pPr>
            <a:r>
              <a:rPr lang="en-US" sz="1200" dirty="0">
                <a:latin typeface="Raleway Medium" pitchFamily="2" charset="0"/>
              </a:rPr>
              <a:t>Worked closely with the QA, project management and business teams on solution implementation</a:t>
            </a:r>
          </a:p>
          <a:p>
            <a:pPr marL="171454" indent="-171454">
              <a:buFont typeface="Arial" panose="020B0604020202020204" pitchFamily="34" charset="0"/>
              <a:buChar char="•"/>
            </a:pPr>
            <a:r>
              <a:rPr lang="en-US" sz="1200" dirty="0">
                <a:latin typeface="Raleway Medium" pitchFamily="2" charset="0"/>
              </a:rPr>
              <a:t>Worked on the code fixes for Errors</a:t>
            </a:r>
          </a:p>
          <a:p>
            <a:pPr marL="171454" indent="-171454">
              <a:buFont typeface="Arial" panose="020B0604020202020204" pitchFamily="34" charset="0"/>
              <a:buChar char="•"/>
            </a:pPr>
            <a:r>
              <a:rPr lang="en-US" sz="1200" dirty="0">
                <a:latin typeface="Raleway Medium" pitchFamily="2" charset="0"/>
              </a:rPr>
              <a:t>Worked with UI team for integration of UI with API</a:t>
            </a:r>
            <a:endParaRPr lang="en-IN" sz="1200" dirty="0">
              <a:latin typeface="Raleway Medium" pitchFamily="2" charset="0"/>
            </a:endParaRPr>
          </a:p>
        </p:txBody>
      </p:sp>
    </p:spTree>
    <p:extLst>
      <p:ext uri="{BB962C8B-B14F-4D97-AF65-F5344CB8AC3E}">
        <p14:creationId xmlns:p14="http://schemas.microsoft.com/office/powerpoint/2010/main" val="389718432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1207</TotalTime>
  <Words>2435</Words>
  <Application>Microsoft Office PowerPoint</Application>
  <PresentationFormat>Custom</PresentationFormat>
  <Paragraphs>286</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Calibri Light</vt:lpstr>
      <vt:lpstr>Raleway ExtraBold</vt:lpstr>
      <vt:lpstr>Raleway Medium</vt:lpstr>
      <vt:lpstr>Raleway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Imran Mohd</dc:creator>
  <cp:lastModifiedBy>Papu Bhattacharya</cp:lastModifiedBy>
  <cp:revision>42</cp:revision>
  <dcterms:created xsi:type="dcterms:W3CDTF">2021-09-22T11:31:43Z</dcterms:created>
  <dcterms:modified xsi:type="dcterms:W3CDTF">2021-10-07T11:09:10Z</dcterms:modified>
</cp:coreProperties>
</file>