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12"/>
  </p:notesMasterIdLst>
  <p:handoutMasterIdLst>
    <p:handoutMasterId r:id="rId13"/>
  </p:handoutMasterIdLst>
  <p:sldIdLst>
    <p:sldId id="360" r:id="rId5"/>
    <p:sldId id="331" r:id="rId6"/>
    <p:sldId id="333" r:id="rId7"/>
    <p:sldId id="338" r:id="rId8"/>
    <p:sldId id="340" r:id="rId9"/>
    <p:sldId id="931" r:id="rId10"/>
    <p:sldId id="349" r:id="rId11"/>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2436"/>
    <a:srgbClr val="DA291C"/>
    <a:srgbClr val="6DD9FF"/>
    <a:srgbClr val="5F5E5F"/>
    <a:srgbClr val="919D9D"/>
    <a:srgbClr val="F3F4F0"/>
    <a:srgbClr val="F3FDD3"/>
    <a:srgbClr val="000000"/>
    <a:srgbClr val="F37021"/>
    <a:srgbClr val="CCE0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291" autoAdjust="0"/>
  </p:normalViewPr>
  <p:slideViewPr>
    <p:cSldViewPr snapToGrid="0">
      <p:cViewPr varScale="1">
        <p:scale>
          <a:sx n="100" d="100"/>
          <a:sy n="100" d="100"/>
        </p:scale>
        <p:origin x="320" y="60"/>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3" d="2"/>
        <a:sy n="3" d="2"/>
      </p:scale>
      <p:origin x="0" y="0"/>
    </p:cViewPr>
  </p:notesTextViewPr>
  <p:sorterViewPr>
    <p:cViewPr>
      <p:scale>
        <a:sx n="100" d="100"/>
        <a:sy n="100" d="100"/>
      </p:scale>
      <p:origin x="0" y="5490"/>
    </p:cViewPr>
  </p:sorterViewPr>
  <p:notesViewPr>
    <p:cSldViewPr snapToGrid="0">
      <p:cViewPr varScale="1">
        <p:scale>
          <a:sx n="98" d="100"/>
          <a:sy n="98" d="100"/>
        </p:scale>
        <p:origin x="3516" y="72"/>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11/15/2021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11/15/2021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2</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018266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6</a:t>
            </a:fld>
            <a:endParaRPr lang="en-US"/>
          </a:p>
        </p:txBody>
      </p:sp>
    </p:spTree>
    <p:extLst>
      <p:ext uri="{BB962C8B-B14F-4D97-AF65-F5344CB8AC3E}">
        <p14:creationId xmlns:p14="http://schemas.microsoft.com/office/powerpoint/2010/main" val="659267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7</a:t>
            </a:fld>
            <a:endParaRPr lang="en-US"/>
          </a:p>
        </p:txBody>
      </p:sp>
    </p:spTree>
    <p:extLst>
      <p:ext uri="{BB962C8B-B14F-4D97-AF65-F5344CB8AC3E}">
        <p14:creationId xmlns:p14="http://schemas.microsoft.com/office/powerpoint/2010/main" val="245596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8BC4-A547-4D3A-B6AA-E8386FC03AE6}"/>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D8DE963-94FB-4E7F-8ED9-DABC5B5A783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0D3F490-324D-4289-B024-6675AD95A9E1}"/>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AD07AA4F-B2B7-4D4F-A263-B329CDEE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05013-8926-4B30-8D77-BD3EFC814B09}"/>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455786420"/>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46DB-24D7-437D-8EC1-CEFC7CBD7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0DDBB-FA4B-4012-9257-B11F5E3D5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2F17C-148F-44BD-872F-A575D02DDF11}"/>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CD1486F3-D503-48BB-AC96-52E4E6D41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797D4-869E-46DD-BFF4-2B38220D4C1B}"/>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417461420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D5C9-77D6-44FE-8CCC-284964621D5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96D2073-29E1-4E94-AB0A-04E1B38C089F}"/>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22732-F87F-40A5-BEB1-D27D4BF04CD5}"/>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A4A52FC0-84F5-4474-80AE-8961864D8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057BC-E475-4DCE-A61C-29BAF7CAD143}"/>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11012423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AEF5-DFED-4C21-888D-D7BED2D2B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E111A-5EB3-4490-9307-70D935F75B5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5E1F54-CA9E-4C4D-9C51-0D92F37A3C9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464EB-5873-4C58-942F-292D85500F51}"/>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6" name="Footer Placeholder 5">
            <a:extLst>
              <a:ext uri="{FF2B5EF4-FFF2-40B4-BE49-F238E27FC236}">
                <a16:creationId xmlns:a16="http://schemas.microsoft.com/office/drawing/2014/main" id="{3D3F9439-6DD3-4668-8CF0-4688B7BC4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EB6FD-D6B1-4F02-98D2-4C363CFC687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289541076"/>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5A2E-BAA3-4E34-B724-80A1F0D2F68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A9807-C8BB-4234-8860-3F68BE08D28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96AEDF8-3BFA-49F6-99AF-2BE84138535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FD341-B7E4-44B0-9D48-BEF005DD12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43030-77F2-4ADB-9944-3AF5258546F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69B3C9-487B-4040-805A-A310B4B63ED5}"/>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8" name="Footer Placeholder 7">
            <a:extLst>
              <a:ext uri="{FF2B5EF4-FFF2-40B4-BE49-F238E27FC236}">
                <a16:creationId xmlns:a16="http://schemas.microsoft.com/office/drawing/2014/main" id="{D73A9871-48F8-4850-9F26-89D0E1FEA7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9C7D0-4810-44BC-B20D-5EF9FBFEB10D}"/>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16113712"/>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C320-690D-49B4-91F5-C81F2B3836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2612F1-84F3-44A8-81AE-49EAE40E6A13}"/>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4" name="Footer Placeholder 3">
            <a:extLst>
              <a:ext uri="{FF2B5EF4-FFF2-40B4-BE49-F238E27FC236}">
                <a16:creationId xmlns:a16="http://schemas.microsoft.com/office/drawing/2014/main" id="{654FF993-8FCA-48CF-B85F-80B0E64BAA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3CB4D-B770-49B5-9D96-451D90E91FB0}"/>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926894405"/>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289ED-BC44-42E9-A1FE-AB2AD213A7AB}"/>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3" name="Footer Placeholder 2">
            <a:extLst>
              <a:ext uri="{FF2B5EF4-FFF2-40B4-BE49-F238E27FC236}">
                <a16:creationId xmlns:a16="http://schemas.microsoft.com/office/drawing/2014/main" id="{C05124C0-8767-4C67-A78E-32ADC58C4F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C312F6-0C46-4CDE-8FFD-3DA06D75D1E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66161975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DD26-D23F-4D83-93BC-B89EDD45DE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0BDA66-B8C4-4614-AE44-7E1C453D911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C6DCCE-D0B2-4282-84F1-11D675F3A28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F7502F-D39D-4EBB-BF29-F535F25A342F}"/>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6" name="Footer Placeholder 5">
            <a:extLst>
              <a:ext uri="{FF2B5EF4-FFF2-40B4-BE49-F238E27FC236}">
                <a16:creationId xmlns:a16="http://schemas.microsoft.com/office/drawing/2014/main" id="{DEED6705-95C1-46CD-87DA-00463E402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34521-9210-42EA-A79B-1CD85AA8789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96321624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AA4B-24BF-4290-9C02-3CB84746BD6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0D23B6-AA70-482B-A6AE-B8E5ACAFB12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F2E2872-1849-4BEF-B7B0-26378805837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D03588-CC90-4BAF-8FE0-1103BE110C8E}"/>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6" name="Footer Placeholder 5">
            <a:extLst>
              <a:ext uri="{FF2B5EF4-FFF2-40B4-BE49-F238E27FC236}">
                <a16:creationId xmlns:a16="http://schemas.microsoft.com/office/drawing/2014/main" id="{C6BFC51A-B2CE-4CAC-A3F9-AC3F8B083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A2259-6DCB-4E0A-A386-8A50ED45F2E5}"/>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09339913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EC70-26BC-4EE2-8107-1D6068F2A1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A128FD-A093-41E0-9199-9737B37C7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40F7E2-DFB9-4894-B6EE-C0A70D8CF8AF}"/>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D47ECD0A-9BB8-461B-AB3D-F750A02CD6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24A06-BDCF-42CC-953D-0F78B9AF939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39727237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1AC359-4D48-4680-B1E0-00CB3C23C03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774572-3123-4FB2-98FC-1DAC45C9E57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41ABD-D28A-4AE4-8B55-6862AE38A69F}"/>
              </a:ext>
            </a:extLst>
          </p:cNvPr>
          <p:cNvSpPr>
            <a:spLocks noGrp="1"/>
          </p:cNvSpPr>
          <p:nvPr>
            <p:ph type="dt" sz="half" idx="10"/>
          </p:nvPr>
        </p:nvSpPr>
        <p:spPr/>
        <p:txBody>
          <a:body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6143F08A-35EB-470E-94EB-4704B8F66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5F89D-1A84-46DE-987B-3CCC9E8069C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79999641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9144000" cy="5143500"/>
          </a:xfrm>
        </p:spPr>
        <p:txBody>
          <a:bodyPr rtlCol="0">
            <a:normAutofit/>
          </a:bodyPr>
          <a:lstStyle/>
          <a:p>
            <a:pPr lvl="0"/>
            <a:endParaRPr lang="ru-RU" noProof="0" dirty="0"/>
          </a:p>
        </p:txBody>
      </p:sp>
    </p:spTree>
    <p:extLst>
      <p:ext uri="{BB962C8B-B14F-4D97-AF65-F5344CB8AC3E}">
        <p14:creationId xmlns:p14="http://schemas.microsoft.com/office/powerpoint/2010/main" val="564298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3953917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68185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Headline and Subhead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9B91C973-58AE-4B91-87BB-FD454C8224F1}" type="datetime1">
              <a:rPr lang="en-US" smtClean="0"/>
              <a:t>11/15/2021</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17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EC3C52-4500-4CA3-A206-F85571BA3F0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660867-C9D9-4675-A550-02D62B46F82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2B27E-4705-4E1E-9CA1-00FDD5D330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2FD98AD-7C5B-4994-98B8-765221AB7D4C}" type="datetimeFigureOut">
              <a:rPr lang="en-US" smtClean="0"/>
              <a:t>11/15/2021</a:t>
            </a:fld>
            <a:endParaRPr lang="en-US"/>
          </a:p>
        </p:txBody>
      </p:sp>
      <p:sp>
        <p:nvSpPr>
          <p:cNvPr id="5" name="Footer Placeholder 4">
            <a:extLst>
              <a:ext uri="{FF2B5EF4-FFF2-40B4-BE49-F238E27FC236}">
                <a16:creationId xmlns:a16="http://schemas.microsoft.com/office/drawing/2014/main" id="{AF570698-B20A-4D82-AA53-61843F48A3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4B147F-9946-473B-98F7-7A14B0D3508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19FFC66-0D3C-4E37-A53B-41621C3CE3DC}" type="slidenum">
              <a:rPr lang="en-US" smtClean="0"/>
              <a:t>‹#›</a:t>
            </a:fld>
            <a:endParaRPr lang="en-US"/>
          </a:p>
        </p:txBody>
      </p:sp>
    </p:spTree>
    <p:extLst>
      <p:ext uri="{BB962C8B-B14F-4D97-AF65-F5344CB8AC3E}">
        <p14:creationId xmlns:p14="http://schemas.microsoft.com/office/powerpoint/2010/main" val="5455392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9144000" cy="5143500"/>
          </a:xfrm>
          <a:prstGeom prst="rect">
            <a:avLst/>
          </a:prstGeom>
          <a:solidFill>
            <a:schemeClr val="tx1">
              <a:alpha val="886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1350"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 y="799272"/>
            <a:ext cx="9144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dirty="0">
                <a:solidFill>
                  <a:schemeClr val="bg1"/>
                </a:solidFill>
                <a:latin typeface="Raleway Medium" panose="020B0603030101060003" pitchFamily="34" charset="0"/>
              </a:rPr>
              <a:t>Open Products Accelerating </a:t>
            </a:r>
          </a:p>
          <a:p>
            <a:pPr algn="ctr" eaLnBrk="1" hangingPunct="1">
              <a:lnSpc>
                <a:spcPct val="100000"/>
              </a:lnSpc>
              <a:spcBef>
                <a:spcPct val="0"/>
              </a:spcBef>
              <a:buFontTx/>
              <a:buNone/>
            </a:pPr>
            <a:r>
              <a:rPr lang="en-US" altLang="ru-RU" dirty="0">
                <a:solidFill>
                  <a:srgbClr val="DA291C"/>
                </a:solidFill>
                <a:latin typeface="Raleway ExtraBold" panose="020B0903030101060003" pitchFamily="34" charset="0"/>
              </a:rPr>
              <a:t>Enterprise Transformation</a:t>
            </a: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451541" y="1786181"/>
            <a:ext cx="1785098" cy="3449696"/>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sz="1350"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sz="1350"/>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sz="1350"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sz="1350"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7831520" y="0"/>
            <a:ext cx="685800" cy="33334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sz="1350"/>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sz="1350"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220967"/>
            <a:ext cx="1331785" cy="158477"/>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6391126" y="4143218"/>
            <a:ext cx="1606216" cy="323165"/>
          </a:xfrm>
          <a:prstGeom prst="rect">
            <a:avLst/>
          </a:prstGeom>
          <a:noFill/>
        </p:spPr>
        <p:txBody>
          <a:bodyPr wrap="square" rtlCol="0">
            <a:spAutoFit/>
          </a:bodyPr>
          <a:lstStyle/>
          <a:p>
            <a:r>
              <a:rPr lang="en-US" altLang="ru-RU" sz="1500" dirty="0">
                <a:solidFill>
                  <a:schemeClr val="bg1"/>
                </a:solidFill>
                <a:latin typeface="Raleway Medium" panose="020B0603030101060003" pitchFamily="34" charset="0"/>
              </a:rPr>
              <a:t>Keep it simple…</a:t>
            </a:r>
            <a:endParaRPr lang="ru-RU" altLang="ru-RU" sz="1500"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4214061" y="3690687"/>
            <a:ext cx="1019677" cy="65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EDDA6AF9-CEEC-45F8-B98A-B66F266AABA9}"/>
              </a:ext>
            </a:extLst>
          </p:cNvPr>
          <p:cNvSpPr txBox="1"/>
          <p:nvPr/>
        </p:nvSpPr>
        <p:spPr>
          <a:xfrm>
            <a:off x="6178013" y="4938949"/>
            <a:ext cx="3167960" cy="184666"/>
          </a:xfrm>
          <a:prstGeom prst="rect">
            <a:avLst/>
          </a:prstGeom>
          <a:noFill/>
        </p:spPr>
        <p:txBody>
          <a:bodyPr wrap="square" rtlCol="0">
            <a:spAutoFit/>
          </a:bodyPr>
          <a:lstStyle/>
          <a:p>
            <a:r>
              <a:rPr lang="en-US" sz="600" cap="small" dirty="0">
                <a:solidFill>
                  <a:schemeClr val="bg1"/>
                </a:solidFill>
                <a:latin typeface="Arial"/>
              </a:rPr>
              <a:t>© 2020 SYNECTIKS. All Rights Reserved. Proprietary and Confidential.</a:t>
            </a:r>
          </a:p>
        </p:txBody>
      </p:sp>
      <p:sp>
        <p:nvSpPr>
          <p:cNvPr id="2" name="TextBox 1">
            <a:extLst>
              <a:ext uri="{FF2B5EF4-FFF2-40B4-BE49-F238E27FC236}">
                <a16:creationId xmlns:a16="http://schemas.microsoft.com/office/drawing/2014/main" id="{6A57B0A0-5621-4BF7-A5AB-F5232AFED085}"/>
              </a:ext>
            </a:extLst>
          </p:cNvPr>
          <p:cNvSpPr txBox="1"/>
          <p:nvPr/>
        </p:nvSpPr>
        <p:spPr>
          <a:xfrm>
            <a:off x="1701622" y="115539"/>
            <a:ext cx="6904719" cy="369332"/>
          </a:xfrm>
          <a:prstGeom prst="rect">
            <a:avLst/>
          </a:prstGeom>
          <a:noFill/>
        </p:spPr>
        <p:txBody>
          <a:bodyPr wrap="square" rtlCol="0">
            <a:spAutoFit/>
          </a:bodyPr>
          <a:lstStyle/>
          <a:p>
            <a:r>
              <a:rPr lang="en-US" b="1" dirty="0">
                <a:solidFill>
                  <a:schemeClr val="bg1"/>
                </a:solidFill>
                <a:latin typeface="Raleway" panose="020B0003030101060003" pitchFamily="34" charset="0"/>
                <a:cs typeface="Segoe UI" panose="020B0502040204020203" pitchFamily="34" charset="0"/>
              </a:rPr>
              <a:t>Delivering TAAS</a:t>
            </a:r>
          </a:p>
        </p:txBody>
      </p:sp>
    </p:spTree>
  </p:cSld>
  <p:clrMapOvr>
    <a:masterClrMapping/>
  </p:clrMapOvr>
  <mc:AlternateContent xmlns:mc="http://schemas.openxmlformats.org/markup-compatibility/2006" xmlns:p14="http://schemas.microsoft.com/office/powerpoint/2010/main">
    <mc:Choice Requires="p14">
      <p:transition spd="slow" p14:dur="275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9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High-level future state road map</a:t>
            </a:r>
          </a:p>
        </p:txBody>
      </p:sp>
      <p:sp>
        <p:nvSpPr>
          <p:cNvPr id="4" name="Slide Number Placeholder 3"/>
          <p:cNvSpPr>
            <a:spLocks noGrp="1"/>
          </p:cNvSpPr>
          <p:nvPr>
            <p:ph type="sldNum" sz="quarter" idx="4"/>
          </p:nvPr>
        </p:nvSpPr>
        <p:spPr/>
        <p:txBody>
          <a:bodyPr/>
          <a:lstStyle/>
          <a:p>
            <a:fld id="{4D82F6D6-BD64-564F-BDB4-3E98167DF08D}" type="slidenum">
              <a:rPr lang="en-US" smtClean="0"/>
              <a:pPr/>
              <a:t>3</a:t>
            </a:fld>
            <a:endParaRPr lang="en-US" dirty="0"/>
          </a:p>
        </p:txBody>
      </p:sp>
      <p:sp>
        <p:nvSpPr>
          <p:cNvPr id="9" name="Rectangle 8"/>
          <p:cNvSpPr/>
          <p:nvPr/>
        </p:nvSpPr>
        <p:spPr>
          <a:xfrm>
            <a:off x="2371408" y="1078806"/>
            <a:ext cx="2307272" cy="372610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4671060" y="1078805"/>
            <a:ext cx="2203768" cy="3726107"/>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6865620" y="1076010"/>
            <a:ext cx="2110740" cy="372890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p:cNvSpPr/>
          <p:nvPr/>
        </p:nvSpPr>
        <p:spPr>
          <a:xfrm>
            <a:off x="7462853" y="1132045"/>
            <a:ext cx="908528" cy="711559"/>
          </a:xfrm>
          <a:prstGeom prst="ellipse">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7" name="Rectangle 26"/>
          <p:cNvSpPr/>
          <p:nvPr/>
        </p:nvSpPr>
        <p:spPr>
          <a:xfrm>
            <a:off x="230187" y="1973226"/>
            <a:ext cx="2073065" cy="169285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pPr>
            <a:r>
              <a:rPr lang="en-US" sz="800" b="1" u="sng" dirty="0"/>
              <a:t>Admin</a:t>
            </a:r>
          </a:p>
          <a:p>
            <a:pPr>
              <a:lnSpc>
                <a:spcPts val="800"/>
              </a:lnSpc>
            </a:pPr>
            <a:endParaRPr lang="en-US" sz="800" b="1" dirty="0"/>
          </a:p>
          <a:p>
            <a:pPr marL="111125" indent="-111125">
              <a:lnSpc>
                <a:spcPts val="800"/>
              </a:lnSpc>
              <a:buSzPct val="80000"/>
              <a:buFont typeface="Wingdings" panose="05000000000000000000" pitchFamily="2" charset="2"/>
              <a:buChar char="u"/>
            </a:pPr>
            <a:r>
              <a:rPr lang="en-US" sz="800" dirty="0"/>
              <a:t>EFC Platform Maintenance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EFC Toyota MYCO Support</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EFC Performance Enhancements</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spcAft>
                <a:spcPts val="600"/>
              </a:spcAft>
              <a:buSzPct val="80000"/>
              <a:buFont typeface="Wingdings" panose="05000000000000000000" pitchFamily="2" charset="2"/>
              <a:buChar char="u"/>
            </a:pPr>
            <a:r>
              <a:rPr lang="en-US" sz="800" dirty="0"/>
              <a:t>EFC Cloud Migration</a:t>
            </a:r>
          </a:p>
          <a:p>
            <a:pPr marL="111125" indent="-111125">
              <a:lnSpc>
                <a:spcPts val="800"/>
              </a:lnSpc>
              <a:spcAft>
                <a:spcPts val="600"/>
              </a:spcAft>
              <a:buSzPct val="80000"/>
              <a:buFont typeface="Wingdings" panose="05000000000000000000" pitchFamily="2" charset="2"/>
              <a:buChar char="u"/>
            </a:pPr>
            <a:r>
              <a:rPr lang="en-US" sz="800" dirty="0" err="1"/>
              <a:t>eVehicle</a:t>
            </a:r>
            <a:r>
              <a:rPr lang="en-US" sz="800" dirty="0"/>
              <a:t> Discovery</a:t>
            </a:r>
            <a:endParaRPr lang="en-US" sz="800" b="1" u="sng" dirty="0"/>
          </a:p>
          <a:p>
            <a:pPr>
              <a:lnSpc>
                <a:spcPts val="800"/>
              </a:lnSpc>
            </a:pPr>
            <a:endParaRPr lang="en-US" sz="800" b="1" u="sng" dirty="0"/>
          </a:p>
          <a:p>
            <a:pPr>
              <a:lnSpc>
                <a:spcPts val="800"/>
              </a:lnSpc>
            </a:pPr>
            <a:r>
              <a:rPr lang="en-US" sz="800" b="1" u="sng" dirty="0"/>
              <a:t>Consumer API</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3D base images service for GST</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SET Discovery / Integration</a:t>
            </a:r>
          </a:p>
        </p:txBody>
      </p:sp>
      <p:sp>
        <p:nvSpPr>
          <p:cNvPr id="28" name="Rectangle 27"/>
          <p:cNvSpPr/>
          <p:nvPr/>
        </p:nvSpPr>
        <p:spPr>
          <a:xfrm>
            <a:off x="2371408" y="1964826"/>
            <a:ext cx="230727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Prototype</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 UI Prototype of few key Use Cases</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Workflow engine and key Use Cases POC</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Simulated integration API</a:t>
            </a:r>
          </a:p>
          <a:p>
            <a:pPr>
              <a:lnSpc>
                <a:spcPts val="800"/>
              </a:lnSpc>
              <a:buSzPct val="80000"/>
            </a:pPr>
            <a:endParaRPr lang="en-US" sz="800" dirty="0"/>
          </a:p>
          <a:p>
            <a:pPr marL="111125" indent="-111125">
              <a:lnSpc>
                <a:spcPts val="800"/>
              </a:lnSpc>
              <a:buSzPct val="80000"/>
              <a:buFont typeface="Wingdings" panose="05000000000000000000" pitchFamily="2" charset="2"/>
              <a:buChar char="u"/>
            </a:pPr>
            <a:r>
              <a:rPr lang="en-US" sz="800" dirty="0"/>
              <a:t>Dashboard &amp; Analytic</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effectLst/>
              </a:rPr>
              <a:t>User Portals</a:t>
            </a:r>
          </a:p>
        </p:txBody>
      </p:sp>
      <p:sp>
        <p:nvSpPr>
          <p:cNvPr id="29" name="Rectangle 28"/>
          <p:cNvSpPr/>
          <p:nvPr/>
        </p:nvSpPr>
        <p:spPr>
          <a:xfrm>
            <a:off x="4678680" y="1964826"/>
            <a:ext cx="2186940" cy="23239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Release </a:t>
            </a:r>
            <a:r>
              <a:rPr lang="en-US" sz="800" b="1" u="sng"/>
              <a:t>1 Modules</a:t>
            </a:r>
            <a:endParaRPr lang="en-US" sz="800" b="1" u="sng" dirty="0"/>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Bidder / Admin Portal</a:t>
            </a:r>
          </a:p>
          <a:p>
            <a:pPr marL="111125" indent="-111125">
              <a:lnSpc>
                <a:spcPts val="800"/>
              </a:lnSpc>
              <a:buSzPct val="80000"/>
              <a:buFont typeface="Wingdings" panose="05000000000000000000" pitchFamily="2" charset="2"/>
              <a:buChar char="u"/>
            </a:pPr>
            <a:r>
              <a:rPr lang="en-US" sz="800" dirty="0"/>
              <a:t>Auctioning workflow Engine</a:t>
            </a:r>
          </a:p>
          <a:p>
            <a:pPr marL="111125" indent="-111125">
              <a:lnSpc>
                <a:spcPts val="800"/>
              </a:lnSpc>
              <a:buSzPct val="80000"/>
              <a:buFont typeface="Wingdings" panose="05000000000000000000" pitchFamily="2" charset="2"/>
              <a:buChar char="u"/>
            </a:pPr>
            <a:r>
              <a:rPr lang="en-US" sz="800" dirty="0"/>
              <a:t>Analytics</a:t>
            </a:r>
          </a:p>
          <a:p>
            <a:pPr marL="111125" indent="-111125">
              <a:lnSpc>
                <a:spcPts val="800"/>
              </a:lnSpc>
              <a:buSzPct val="80000"/>
              <a:buFont typeface="Wingdings" panose="05000000000000000000" pitchFamily="2" charset="2"/>
              <a:buChar char="u"/>
            </a:pPr>
            <a:r>
              <a:rPr lang="en-US" sz="800" dirty="0"/>
              <a:t>Integration</a:t>
            </a:r>
          </a:p>
          <a:p>
            <a:pPr marL="111125" indent="-111125">
              <a:lnSpc>
                <a:spcPts val="800"/>
              </a:lnSpc>
              <a:buSzPct val="80000"/>
              <a:buFont typeface="Wingdings" panose="05000000000000000000" pitchFamily="2" charset="2"/>
              <a:buChar char="u"/>
            </a:pPr>
            <a:r>
              <a:rPr lang="en-US" sz="800" dirty="0"/>
              <a:t>Service Desk</a:t>
            </a:r>
          </a:p>
          <a:p>
            <a:pPr marL="111125" indent="-111125">
              <a:lnSpc>
                <a:spcPts val="800"/>
              </a:lnSpc>
              <a:buSzPct val="80000"/>
              <a:buFont typeface="Wingdings" panose="05000000000000000000" pitchFamily="2" charset="2"/>
              <a:buChar char="u"/>
            </a:pPr>
            <a:r>
              <a:rPr lang="en-US" sz="800" dirty="0"/>
              <a:t>CRM</a:t>
            </a:r>
          </a:p>
          <a:p>
            <a:pPr marL="111125" indent="-111125">
              <a:lnSpc>
                <a:spcPts val="800"/>
              </a:lnSpc>
              <a:buSzPct val="80000"/>
              <a:buFont typeface="Wingdings" panose="05000000000000000000" pitchFamily="2" charset="2"/>
              <a:buChar char="u"/>
            </a:pPr>
            <a:r>
              <a:rPr lang="en-US" sz="800" dirty="0"/>
              <a:t>Data Management System</a:t>
            </a:r>
          </a:p>
          <a:p>
            <a:pPr marL="111125" indent="-111125">
              <a:lnSpc>
                <a:spcPts val="800"/>
              </a:lnSpc>
              <a:buSzPct val="80000"/>
              <a:buFont typeface="Wingdings" panose="05000000000000000000" pitchFamily="2" charset="2"/>
              <a:buChar char="u"/>
            </a:pPr>
            <a:r>
              <a:rPr lang="en-US" sz="800" dirty="0"/>
              <a:t>Knowledge Management System</a:t>
            </a:r>
          </a:p>
          <a:p>
            <a:pPr marL="111125" indent="-111125">
              <a:lnSpc>
                <a:spcPts val="800"/>
              </a:lnSpc>
              <a:buSzPct val="80000"/>
              <a:buFont typeface="Wingdings" panose="05000000000000000000" pitchFamily="2" charset="2"/>
              <a:buChar char="u"/>
            </a:pPr>
            <a:r>
              <a:rPr lang="en-US" sz="800" dirty="0" err="1"/>
              <a:t>Operaion</a:t>
            </a:r>
            <a:r>
              <a:rPr lang="en-US" sz="800" dirty="0"/>
              <a:t> Management System</a:t>
            </a:r>
          </a:p>
          <a:p>
            <a:pPr>
              <a:lnSpc>
                <a:spcPts val="800"/>
              </a:lnSpc>
              <a:spcAft>
                <a:spcPts val="600"/>
              </a:spcAft>
              <a:buSzPct val="80000"/>
            </a:pPr>
            <a:endParaRPr lang="en-US" sz="800" dirty="0"/>
          </a:p>
          <a:p>
            <a:pPr>
              <a:lnSpc>
                <a:spcPts val="800"/>
              </a:lnSpc>
              <a:buSzPct val="80000"/>
            </a:pPr>
            <a:r>
              <a:rPr lang="en-US" sz="800" b="1" u="sng" dirty="0"/>
              <a:t>Release1 </a:t>
            </a:r>
            <a:r>
              <a:rPr lang="en-US" sz="800" b="1" u="sng" dirty="0" err="1"/>
              <a:t>Atifacts</a:t>
            </a:r>
            <a:endParaRPr lang="en-US" sz="800" b="1" u="sng" dirty="0"/>
          </a:p>
          <a:p>
            <a:pPr>
              <a:lnSpc>
                <a:spcPts val="800"/>
              </a:lnSpc>
              <a:buSzPct val="80000"/>
            </a:pPr>
            <a:endParaRPr lang="en-US" sz="800" b="1" u="sng" dirty="0"/>
          </a:p>
          <a:p>
            <a:pPr marL="111125" indent="-111125">
              <a:lnSpc>
                <a:spcPts val="800"/>
              </a:lnSpc>
              <a:spcBef>
                <a:spcPts val="300"/>
              </a:spcBef>
              <a:buSzPct val="80000"/>
              <a:buFont typeface="Wingdings" panose="05000000000000000000" pitchFamily="2" charset="2"/>
              <a:buChar char="u"/>
            </a:pPr>
            <a:r>
              <a:rPr lang="en-US" sz="800" dirty="0"/>
              <a:t>Tech Design document (API+UI)</a:t>
            </a:r>
          </a:p>
          <a:p>
            <a:pPr marL="111125" indent="-111125">
              <a:lnSpc>
                <a:spcPts val="800"/>
              </a:lnSpc>
              <a:spcBef>
                <a:spcPts val="300"/>
              </a:spcBef>
              <a:buSzPct val="80000"/>
              <a:buFont typeface="Wingdings" panose="05000000000000000000" pitchFamily="2" charset="2"/>
              <a:buChar char="u"/>
            </a:pPr>
            <a:r>
              <a:rPr lang="en-US" sz="800" dirty="0"/>
              <a:t>Source Code</a:t>
            </a:r>
          </a:p>
          <a:p>
            <a:pPr marL="111125" indent="-111125">
              <a:lnSpc>
                <a:spcPts val="800"/>
              </a:lnSpc>
              <a:spcBef>
                <a:spcPts val="300"/>
              </a:spcBef>
              <a:buSzPct val="80000"/>
              <a:buFont typeface="Wingdings" panose="05000000000000000000" pitchFamily="2" charset="2"/>
              <a:buChar char="u"/>
            </a:pPr>
            <a:r>
              <a:rPr lang="en-US" sz="800" dirty="0"/>
              <a:t>CI/CD framework and pipelines</a:t>
            </a:r>
          </a:p>
          <a:p>
            <a:pPr marL="111125" indent="-111125">
              <a:lnSpc>
                <a:spcPts val="800"/>
              </a:lnSpc>
              <a:spcBef>
                <a:spcPts val="300"/>
              </a:spcBef>
              <a:buSzPct val="80000"/>
              <a:buFont typeface="Wingdings" panose="05000000000000000000" pitchFamily="2" charset="2"/>
              <a:buChar char="u"/>
            </a:pPr>
            <a:r>
              <a:rPr lang="en-US" sz="800" dirty="0"/>
              <a:t>Functional And Performance Test Cases</a:t>
            </a:r>
          </a:p>
          <a:p>
            <a:pPr marL="111125" indent="-111125">
              <a:lnSpc>
                <a:spcPts val="800"/>
              </a:lnSpc>
              <a:spcBef>
                <a:spcPts val="300"/>
              </a:spcBef>
              <a:buSzPct val="80000"/>
              <a:buFont typeface="Wingdings" panose="05000000000000000000" pitchFamily="2" charset="2"/>
              <a:buChar char="u"/>
            </a:pPr>
            <a:r>
              <a:rPr lang="en-US" sz="800" dirty="0"/>
              <a:t>Continuous security /monitoring / compliance /upgrade/operation framework</a:t>
            </a:r>
          </a:p>
          <a:p>
            <a:pPr marL="111125" indent="-111125">
              <a:lnSpc>
                <a:spcPts val="800"/>
              </a:lnSpc>
              <a:spcBef>
                <a:spcPts val="300"/>
              </a:spcBef>
              <a:buSzPct val="80000"/>
              <a:buFont typeface="Wingdings" panose="05000000000000000000" pitchFamily="2" charset="2"/>
              <a:buChar char="u"/>
            </a:pPr>
            <a:endParaRPr lang="en-US" sz="800" dirty="0"/>
          </a:p>
          <a:p>
            <a:pPr marL="111125" indent="-111125">
              <a:lnSpc>
                <a:spcPts val="800"/>
              </a:lnSpc>
              <a:spcBef>
                <a:spcPts val="300"/>
              </a:spcBef>
              <a:buSzPct val="80000"/>
              <a:buFont typeface="Wingdings" panose="05000000000000000000" pitchFamily="2" charset="2"/>
              <a:buChar char="u"/>
            </a:pPr>
            <a:endParaRPr lang="en-US" sz="800" dirty="0">
              <a:effectLst/>
            </a:endParaRPr>
          </a:p>
        </p:txBody>
      </p:sp>
      <p:sp>
        <p:nvSpPr>
          <p:cNvPr id="30" name="Rectangle 29"/>
          <p:cNvSpPr/>
          <p:nvPr/>
        </p:nvSpPr>
        <p:spPr>
          <a:xfrm>
            <a:off x="6874828" y="1964826"/>
            <a:ext cx="210153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Admin</a:t>
            </a:r>
          </a:p>
          <a:p>
            <a:pPr>
              <a:lnSpc>
                <a:spcPts val="800"/>
              </a:lnSpc>
              <a:buSzPct val="80000"/>
            </a:pPr>
            <a:endParaRPr lang="en-US" sz="800" b="1" u="sng" dirty="0"/>
          </a:p>
          <a:p>
            <a:pPr marL="111125" indent="-111125">
              <a:lnSpc>
                <a:spcPts val="800"/>
              </a:lnSpc>
              <a:spcAft>
                <a:spcPts val="600"/>
              </a:spcAft>
              <a:buSzPct val="80000"/>
              <a:buFont typeface="Wingdings" panose="05000000000000000000" pitchFamily="2" charset="2"/>
              <a:buChar char="u"/>
            </a:pPr>
            <a:r>
              <a:rPr lang="en-US" sz="800" dirty="0"/>
              <a:t>3D Administration UI</a:t>
            </a:r>
          </a:p>
          <a:p>
            <a:pPr>
              <a:lnSpc>
                <a:spcPts val="800"/>
              </a:lnSpc>
              <a:buSzPct val="80000"/>
            </a:pPr>
            <a:endParaRPr lang="en-US" sz="800" b="1" u="sng" dirty="0"/>
          </a:p>
          <a:p>
            <a:pPr>
              <a:lnSpc>
                <a:spcPts val="800"/>
              </a:lnSpc>
              <a:buSzPct val="80000"/>
            </a:pPr>
            <a:endParaRPr lang="en-US" sz="800" b="1" u="sng" dirty="0"/>
          </a:p>
          <a:p>
            <a:pPr>
              <a:lnSpc>
                <a:spcPts val="800"/>
              </a:lnSpc>
              <a:buSzPct val="80000"/>
            </a:pPr>
            <a:endParaRPr lang="en-US" sz="800" b="1" u="sng" dirty="0"/>
          </a:p>
          <a:p>
            <a:pPr>
              <a:lnSpc>
                <a:spcPts val="800"/>
              </a:lnSpc>
              <a:buSzPct val="80000"/>
            </a:pPr>
            <a:r>
              <a:rPr lang="en-US" sz="800" b="1" u="sng" dirty="0"/>
              <a:t>Consumer API</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3D Micro service</a:t>
            </a:r>
            <a:endParaRPr lang="en-US" sz="800" dirty="0">
              <a:effectLst/>
            </a:endParaRPr>
          </a:p>
        </p:txBody>
      </p:sp>
      <p:sp>
        <p:nvSpPr>
          <p:cNvPr id="38" name="Rectangle 37"/>
          <p:cNvSpPr/>
          <p:nvPr/>
        </p:nvSpPr>
        <p:spPr>
          <a:xfrm>
            <a:off x="2371407" y="850207"/>
            <a:ext cx="2101532" cy="22860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5" name="Chevron 34"/>
          <p:cNvSpPr/>
          <p:nvPr/>
        </p:nvSpPr>
        <p:spPr>
          <a:xfrm>
            <a:off x="4618879" y="850206"/>
            <a:ext cx="2434757" cy="228600"/>
          </a:xfrm>
          <a:prstGeom prst="chevron">
            <a:avLst/>
          </a:prstGeom>
          <a:solidFill>
            <a:srgbClr val="F8A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3" name="Chevron 32"/>
          <p:cNvSpPr/>
          <p:nvPr/>
        </p:nvSpPr>
        <p:spPr>
          <a:xfrm>
            <a:off x="2400956" y="850206"/>
            <a:ext cx="2372202" cy="263290"/>
          </a:xfrm>
          <a:prstGeom prst="chevron">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6" name="Chevron 35"/>
          <p:cNvSpPr/>
          <p:nvPr/>
        </p:nvSpPr>
        <p:spPr>
          <a:xfrm>
            <a:off x="6866351" y="850206"/>
            <a:ext cx="1505030" cy="228600"/>
          </a:xfrm>
          <a:prstGeom prst="chevron">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7" name="Rectangle 36"/>
          <p:cNvSpPr/>
          <p:nvPr/>
        </p:nvSpPr>
        <p:spPr>
          <a:xfrm>
            <a:off x="7337331" y="850206"/>
            <a:ext cx="1630551" cy="228600"/>
          </a:xfrm>
          <a:prstGeom prst="rect">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endParaRPr lang="en-US" sz="1200" b="1" dirty="0">
              <a:solidFill>
                <a:schemeClr val="tx1"/>
              </a:solidFill>
            </a:endParaRPr>
          </a:p>
        </p:txBody>
      </p:sp>
      <p:sp>
        <p:nvSpPr>
          <p:cNvPr id="40" name="Rectangle 39"/>
          <p:cNvSpPr/>
          <p:nvPr/>
        </p:nvSpPr>
        <p:spPr>
          <a:xfrm>
            <a:off x="6866353" y="865345"/>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4</a:t>
            </a:r>
            <a:endParaRPr lang="en-US" sz="1200" b="1" dirty="0">
              <a:solidFill>
                <a:schemeClr val="tx1"/>
              </a:solidFill>
            </a:endParaRPr>
          </a:p>
        </p:txBody>
      </p:sp>
      <p:sp>
        <p:nvSpPr>
          <p:cNvPr id="43" name="Rectangle 42"/>
          <p:cNvSpPr/>
          <p:nvPr/>
        </p:nvSpPr>
        <p:spPr>
          <a:xfrm>
            <a:off x="7462853" y="1098870"/>
            <a:ext cx="908528" cy="7191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ts val="2000"/>
              </a:lnSpc>
            </a:pPr>
            <a:r>
              <a:rPr lang="en-US" sz="1200" b="1" dirty="0">
                <a:solidFill>
                  <a:schemeClr val="tx1"/>
                </a:solidFill>
              </a:rPr>
              <a:t>Phase</a:t>
            </a:r>
            <a:endParaRPr lang="en-US" b="1" dirty="0">
              <a:solidFill>
                <a:schemeClr val="tx1"/>
              </a:solidFill>
            </a:endParaRPr>
          </a:p>
          <a:p>
            <a:pPr algn="ctr">
              <a:lnSpc>
                <a:spcPts val="2000"/>
              </a:lnSpc>
            </a:pPr>
            <a:r>
              <a:rPr lang="en-US" sz="2400" b="1" dirty="0">
                <a:solidFill>
                  <a:schemeClr val="tx1"/>
                </a:solidFill>
                <a:latin typeface="Arial Black" panose="020B0A04020102020204" pitchFamily="34" charset="0"/>
              </a:rPr>
              <a:t>3</a:t>
            </a:r>
          </a:p>
        </p:txBody>
      </p:sp>
      <p:sp>
        <p:nvSpPr>
          <p:cNvPr id="31" name="Date Placeholder 1"/>
          <p:cNvSpPr>
            <a:spLocks noGrp="1"/>
          </p:cNvSpPr>
          <p:nvPr>
            <p:ph type="dt" sz="half" idx="2"/>
          </p:nvPr>
        </p:nvSpPr>
        <p:spPr>
          <a:xfrm>
            <a:off x="6775704" y="4830696"/>
            <a:ext cx="1682496" cy="228600"/>
          </a:xfrm>
          <a:prstGeom prst="rect">
            <a:avLst/>
          </a:prstGeom>
        </p:spPr>
        <p:txBody>
          <a:bodyPr/>
          <a:lstStyle/>
          <a:p>
            <a:fld id="{CC8FAB6F-E7C0-48EA-B25A-906BB1BDD55D}" type="datetime1">
              <a:rPr lang="en-US" smtClean="0"/>
              <a:t>11/15/2021</a:t>
            </a:fld>
            <a:endParaRPr lang="en-US" dirty="0"/>
          </a:p>
        </p:txBody>
      </p:sp>
      <p:sp>
        <p:nvSpPr>
          <p:cNvPr id="32" name="Rectangle 31">
            <a:extLst>
              <a:ext uri="{FF2B5EF4-FFF2-40B4-BE49-F238E27FC236}">
                <a16:creationId xmlns:a16="http://schemas.microsoft.com/office/drawing/2014/main" id="{4AA1E6A1-089E-4557-B2A8-3E776D0790C6}"/>
              </a:ext>
            </a:extLst>
          </p:cNvPr>
          <p:cNvSpPr/>
          <p:nvPr/>
        </p:nvSpPr>
        <p:spPr>
          <a:xfrm>
            <a:off x="60675" y="1068368"/>
            <a:ext cx="2307272" cy="3726106"/>
          </a:xfrm>
          <a:prstGeom prst="rect">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Chevron 32">
            <a:extLst>
              <a:ext uri="{FF2B5EF4-FFF2-40B4-BE49-F238E27FC236}">
                <a16:creationId xmlns:a16="http://schemas.microsoft.com/office/drawing/2014/main" id="{413FAF23-06E8-4D16-82A3-33708417E165}"/>
              </a:ext>
            </a:extLst>
          </p:cNvPr>
          <p:cNvSpPr/>
          <p:nvPr/>
        </p:nvSpPr>
        <p:spPr>
          <a:xfrm>
            <a:off x="27667" y="839768"/>
            <a:ext cx="2434757" cy="22860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44" name="Oval 43">
            <a:extLst>
              <a:ext uri="{FF2B5EF4-FFF2-40B4-BE49-F238E27FC236}">
                <a16:creationId xmlns:a16="http://schemas.microsoft.com/office/drawing/2014/main" id="{EAD11AB7-CE8F-45E6-8FAC-55FCB36C9B66}"/>
              </a:ext>
            </a:extLst>
          </p:cNvPr>
          <p:cNvSpPr/>
          <p:nvPr/>
        </p:nvSpPr>
        <p:spPr>
          <a:xfrm>
            <a:off x="357809" y="1123935"/>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Discovery</a:t>
            </a:r>
          </a:p>
        </p:txBody>
      </p:sp>
      <p:sp>
        <p:nvSpPr>
          <p:cNvPr id="47" name="Rectangle 46">
            <a:extLst>
              <a:ext uri="{FF2B5EF4-FFF2-40B4-BE49-F238E27FC236}">
                <a16:creationId xmlns:a16="http://schemas.microsoft.com/office/drawing/2014/main" id="{2829D4A1-7C26-48FF-9451-C0105298DFB8}"/>
              </a:ext>
            </a:extLst>
          </p:cNvPr>
          <p:cNvSpPr/>
          <p:nvPr/>
        </p:nvSpPr>
        <p:spPr>
          <a:xfrm>
            <a:off x="105866" y="2012897"/>
            <a:ext cx="2307272" cy="2837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Functional  Modeling</a:t>
            </a:r>
          </a:p>
          <a:p>
            <a:pPr>
              <a:lnSpc>
                <a:spcPts val="800"/>
              </a:lnSpc>
              <a:buSzPct val="80000"/>
            </a:pPr>
            <a:r>
              <a:rPr lang="en-US" sz="800" b="1" u="sng" dirty="0"/>
              <a:t> </a:t>
            </a:r>
          </a:p>
          <a:p>
            <a:pPr marL="111125" indent="-111125">
              <a:lnSpc>
                <a:spcPts val="800"/>
              </a:lnSpc>
              <a:buSzPct val="80000"/>
              <a:buFont typeface="Wingdings" panose="05000000000000000000" pitchFamily="2" charset="2"/>
              <a:buChar char="u"/>
            </a:pPr>
            <a:r>
              <a:rPr lang="en-US" sz="800" dirty="0"/>
              <a:t>Actors And Use Cases Document</a:t>
            </a:r>
          </a:p>
          <a:p>
            <a:pPr marL="111125" indent="-111125">
              <a:lnSpc>
                <a:spcPts val="800"/>
              </a:lnSpc>
              <a:buSzPct val="80000"/>
              <a:buFont typeface="Wingdings" panose="05000000000000000000" pitchFamily="2" charset="2"/>
              <a:buChar char="u"/>
            </a:pPr>
            <a:r>
              <a:rPr lang="en-US" sz="800" dirty="0"/>
              <a:t>Workflows  and Integration Design</a:t>
            </a:r>
          </a:p>
          <a:p>
            <a:pPr marL="111125" indent="-111125">
              <a:lnSpc>
                <a:spcPts val="800"/>
              </a:lnSpc>
              <a:buSzPct val="80000"/>
              <a:buFont typeface="Wingdings" panose="05000000000000000000" pitchFamily="2" charset="2"/>
              <a:buChar char="u"/>
            </a:pPr>
            <a:r>
              <a:rPr lang="en-US" sz="800" dirty="0"/>
              <a:t>Information Architecture and UX Design prototype</a:t>
            </a:r>
          </a:p>
          <a:p>
            <a:pPr>
              <a:lnSpc>
                <a:spcPts val="800"/>
              </a:lnSpc>
              <a:buSzPct val="80000"/>
            </a:pPr>
            <a:endParaRPr lang="en-US" sz="800" b="1" u="sng" dirty="0"/>
          </a:p>
          <a:p>
            <a:pPr>
              <a:lnSpc>
                <a:spcPts val="800"/>
              </a:lnSpc>
              <a:buSzPct val="80000"/>
            </a:pPr>
            <a:r>
              <a:rPr lang="en-US" sz="800" b="1" u="sng" dirty="0"/>
              <a:t>Solution Modeling</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Foundation for future state Micro services architecture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Cloud Architecture</a:t>
            </a:r>
          </a:p>
          <a:p>
            <a:pPr>
              <a:lnSpc>
                <a:spcPts val="800"/>
              </a:lnSpc>
              <a:buSzPct val="80000"/>
            </a:pPr>
            <a:endParaRPr lang="en-US" sz="800" dirty="0"/>
          </a:p>
          <a:p>
            <a:pPr>
              <a:lnSpc>
                <a:spcPts val="800"/>
              </a:lnSpc>
              <a:buSzPct val="80000"/>
            </a:pPr>
            <a:r>
              <a:rPr lang="en-US" sz="800" b="1" u="sng" dirty="0"/>
              <a:t>Data Modeling</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effectLst/>
              </a:rPr>
              <a:t>Data Flow  diagram</a:t>
            </a:r>
          </a:p>
          <a:p>
            <a:pPr marL="111125" indent="-111125">
              <a:lnSpc>
                <a:spcPts val="800"/>
              </a:lnSpc>
              <a:buSzPct val="80000"/>
              <a:buFont typeface="Wingdings" panose="05000000000000000000" pitchFamily="2" charset="2"/>
              <a:buChar char="u"/>
            </a:pPr>
            <a:r>
              <a:rPr lang="en-US" sz="800" dirty="0"/>
              <a:t>Data Security / Access model</a:t>
            </a:r>
          </a:p>
          <a:p>
            <a:pPr marL="111125" indent="-111125">
              <a:lnSpc>
                <a:spcPts val="800"/>
              </a:lnSpc>
              <a:buSzPct val="80000"/>
              <a:buFont typeface="Wingdings" panose="05000000000000000000" pitchFamily="2" charset="2"/>
              <a:buChar char="u"/>
            </a:pPr>
            <a:r>
              <a:rPr lang="en-US" sz="800" dirty="0">
                <a:effectLst/>
              </a:rPr>
              <a:t>Data Governance  / Compliance Model</a:t>
            </a:r>
          </a:p>
          <a:p>
            <a:pPr marL="111125" indent="-111125">
              <a:lnSpc>
                <a:spcPts val="800"/>
              </a:lnSpc>
              <a:buSzPct val="80000"/>
              <a:buFont typeface="Wingdings" panose="05000000000000000000" pitchFamily="2" charset="2"/>
              <a:buChar char="u"/>
            </a:pPr>
            <a:endParaRPr lang="en-US" sz="800" dirty="0"/>
          </a:p>
          <a:p>
            <a:pPr>
              <a:lnSpc>
                <a:spcPts val="800"/>
              </a:lnSpc>
              <a:buSzPct val="80000"/>
            </a:pPr>
            <a:r>
              <a:rPr lang="en-US" sz="800" b="1" u="sng" dirty="0"/>
              <a:t>Plan</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RoadMap / Scrum Plan</a:t>
            </a:r>
            <a:endParaRPr lang="en-US" sz="800" dirty="0">
              <a:effectLst/>
            </a:endParaRPr>
          </a:p>
          <a:p>
            <a:pPr marL="111125" indent="-111125">
              <a:lnSpc>
                <a:spcPts val="800"/>
              </a:lnSpc>
              <a:buSzPct val="80000"/>
              <a:buFont typeface="Wingdings" panose="05000000000000000000" pitchFamily="2" charset="2"/>
              <a:buChar char="u"/>
            </a:pPr>
            <a:r>
              <a:rPr lang="en-US" sz="800" dirty="0"/>
              <a:t>Definition of Done / ATP tests</a:t>
            </a:r>
          </a:p>
          <a:p>
            <a:pPr marL="111125" indent="-111125">
              <a:lnSpc>
                <a:spcPts val="800"/>
              </a:lnSpc>
              <a:buSzPct val="80000"/>
              <a:buFont typeface="Wingdings" panose="05000000000000000000" pitchFamily="2" charset="2"/>
              <a:buChar char="u"/>
            </a:pPr>
            <a:r>
              <a:rPr lang="en-US" sz="800" dirty="0"/>
              <a:t>Artifacts / Milestone </a:t>
            </a:r>
            <a:r>
              <a:rPr lang="en-US" sz="800" dirty="0" err="1"/>
              <a:t>defn</a:t>
            </a:r>
            <a:endParaRPr lang="en-US" sz="800" dirty="0">
              <a:effectLst/>
            </a:endParaRPr>
          </a:p>
          <a:p>
            <a:pPr marL="111125" indent="-111125">
              <a:lnSpc>
                <a:spcPts val="800"/>
              </a:lnSpc>
              <a:buSzPct val="80000"/>
              <a:buFont typeface="Wingdings" panose="05000000000000000000" pitchFamily="2" charset="2"/>
              <a:buChar char="u"/>
            </a:pPr>
            <a:endParaRPr lang="en-US" sz="800" dirty="0">
              <a:effectLst/>
            </a:endParaRPr>
          </a:p>
          <a:p>
            <a:pPr marL="111125" indent="-111125">
              <a:lnSpc>
                <a:spcPts val="800"/>
              </a:lnSpc>
              <a:buSzPct val="80000"/>
              <a:buFont typeface="Wingdings" panose="05000000000000000000" pitchFamily="2" charset="2"/>
              <a:buChar char="u"/>
            </a:pPr>
            <a:endParaRPr lang="en-US" sz="800" dirty="0">
              <a:effectLst/>
            </a:endParaRPr>
          </a:p>
        </p:txBody>
      </p:sp>
      <p:sp>
        <p:nvSpPr>
          <p:cNvPr id="48" name="Oval 47">
            <a:extLst>
              <a:ext uri="{FF2B5EF4-FFF2-40B4-BE49-F238E27FC236}">
                <a16:creationId xmlns:a16="http://schemas.microsoft.com/office/drawing/2014/main" id="{867DE10C-485E-48D6-9B50-EFD1B141F331}"/>
              </a:ext>
            </a:extLst>
          </p:cNvPr>
          <p:cNvSpPr/>
          <p:nvPr/>
        </p:nvSpPr>
        <p:spPr>
          <a:xfrm>
            <a:off x="2613748" y="1123934"/>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Prototype</a:t>
            </a:r>
          </a:p>
        </p:txBody>
      </p:sp>
      <p:sp>
        <p:nvSpPr>
          <p:cNvPr id="49" name="Oval 48">
            <a:extLst>
              <a:ext uri="{FF2B5EF4-FFF2-40B4-BE49-F238E27FC236}">
                <a16:creationId xmlns:a16="http://schemas.microsoft.com/office/drawing/2014/main" id="{8B05E885-7782-45F0-81FB-4CEA9F7B8664}"/>
              </a:ext>
            </a:extLst>
          </p:cNvPr>
          <p:cNvSpPr/>
          <p:nvPr/>
        </p:nvSpPr>
        <p:spPr>
          <a:xfrm>
            <a:off x="4883383" y="1129046"/>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Development</a:t>
            </a:r>
          </a:p>
        </p:txBody>
      </p:sp>
      <p:sp>
        <p:nvSpPr>
          <p:cNvPr id="50" name="Rectangle 49">
            <a:extLst>
              <a:ext uri="{FF2B5EF4-FFF2-40B4-BE49-F238E27FC236}">
                <a16:creationId xmlns:a16="http://schemas.microsoft.com/office/drawing/2014/main" id="{A642A6EC-409E-4CA6-AEBD-3C6E37A65A70}"/>
              </a:ext>
            </a:extLst>
          </p:cNvPr>
          <p:cNvSpPr/>
          <p:nvPr/>
        </p:nvSpPr>
        <p:spPr>
          <a:xfrm>
            <a:off x="4715150" y="839768"/>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3</a:t>
            </a:r>
            <a:endParaRPr lang="en-US" sz="1200" b="1" dirty="0">
              <a:solidFill>
                <a:schemeClr val="tx1"/>
              </a:solidFill>
            </a:endParaRPr>
          </a:p>
        </p:txBody>
      </p:sp>
      <p:sp>
        <p:nvSpPr>
          <p:cNvPr id="51" name="Rectangle 50">
            <a:extLst>
              <a:ext uri="{FF2B5EF4-FFF2-40B4-BE49-F238E27FC236}">
                <a16:creationId xmlns:a16="http://schemas.microsoft.com/office/drawing/2014/main" id="{51971149-6172-4763-AEB2-53609BEEB496}"/>
              </a:ext>
            </a:extLst>
          </p:cNvPr>
          <p:cNvSpPr/>
          <p:nvPr/>
        </p:nvSpPr>
        <p:spPr>
          <a:xfrm>
            <a:off x="2400956" y="847410"/>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2</a:t>
            </a:r>
            <a:endParaRPr lang="en-US" sz="1200" b="1" dirty="0">
              <a:solidFill>
                <a:schemeClr val="tx1"/>
              </a:solidFill>
            </a:endParaRPr>
          </a:p>
        </p:txBody>
      </p:sp>
      <p:sp>
        <p:nvSpPr>
          <p:cNvPr id="52" name="Rectangle 51">
            <a:extLst>
              <a:ext uri="{FF2B5EF4-FFF2-40B4-BE49-F238E27FC236}">
                <a16:creationId xmlns:a16="http://schemas.microsoft.com/office/drawing/2014/main" id="{BC25915E-8C49-4406-B2FA-2E6507532C2B}"/>
              </a:ext>
            </a:extLst>
          </p:cNvPr>
          <p:cNvSpPr/>
          <p:nvPr/>
        </p:nvSpPr>
        <p:spPr>
          <a:xfrm>
            <a:off x="105866" y="839768"/>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1</a:t>
            </a:r>
            <a:endParaRPr lang="en-US" sz="1200" b="1" dirty="0">
              <a:solidFill>
                <a:schemeClr val="tx1"/>
              </a:solidFill>
            </a:endParaRPr>
          </a:p>
        </p:txBody>
      </p:sp>
    </p:spTree>
    <p:extLst>
      <p:ext uri="{BB962C8B-B14F-4D97-AF65-F5344CB8AC3E}">
        <p14:creationId xmlns:p14="http://schemas.microsoft.com/office/powerpoint/2010/main" val="4024594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 Scope &amp; Assumptions</a:t>
            </a:r>
          </a:p>
        </p:txBody>
      </p:sp>
      <p:sp>
        <p:nvSpPr>
          <p:cNvPr id="9" name="Rectangle 8"/>
          <p:cNvSpPr/>
          <p:nvPr/>
        </p:nvSpPr>
        <p:spPr>
          <a:xfrm>
            <a:off x="232160" y="1086044"/>
            <a:ext cx="2307272" cy="3698097"/>
          </a:xfrm>
          <a:prstGeom prst="rect">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p:cNvSpPr/>
          <p:nvPr/>
        </p:nvSpPr>
        <p:spPr>
          <a:xfrm>
            <a:off x="882221" y="1138800"/>
            <a:ext cx="908528" cy="711559"/>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32160" y="1972065"/>
            <a:ext cx="230727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Admin</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Vehicle content administration discovery</a:t>
            </a:r>
          </a:p>
          <a:p>
            <a:pPr marL="230188" lvl="1" indent="-122238">
              <a:lnSpc>
                <a:spcPts val="800"/>
              </a:lnSpc>
              <a:buSzPct val="100000"/>
              <a:buFont typeface="Arial" panose="020B0604020202020204" pitchFamily="34" charset="0"/>
              <a:buChar char="–"/>
            </a:pPr>
            <a:r>
              <a:rPr lang="en-US" sz="800" dirty="0"/>
              <a:t>Input and data requirements for D&amp;IS CMS product selection</a:t>
            </a:r>
          </a:p>
          <a:p>
            <a:pPr marL="230188" lvl="1" indent="-122238">
              <a:lnSpc>
                <a:spcPts val="800"/>
              </a:lnSpc>
              <a:spcAft>
                <a:spcPts val="600"/>
              </a:spcAft>
              <a:buSzPct val="100000"/>
              <a:buFont typeface="Arial" panose="020B0604020202020204" pitchFamily="34" charset="0"/>
              <a:buChar char="–"/>
            </a:pPr>
            <a:r>
              <a:rPr lang="en-US" sz="800" dirty="0"/>
              <a:t>Vehicle Product data content mapping</a:t>
            </a:r>
          </a:p>
          <a:p>
            <a:pPr>
              <a:lnSpc>
                <a:spcPts val="800"/>
              </a:lnSpc>
              <a:buSzPct val="80000"/>
            </a:pPr>
            <a:r>
              <a:rPr lang="en-US" sz="800" b="1" u="sng" dirty="0"/>
              <a:t>Consumer API</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Foundation for future state Micro services architecture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Vehicle Content service using existing EFC content JSON</a:t>
            </a:r>
          </a:p>
          <a:p>
            <a:pPr>
              <a:lnSpc>
                <a:spcPts val="800"/>
              </a:lnSpc>
              <a:buSzPct val="80000"/>
            </a:pPr>
            <a:endParaRPr lang="en-US" sz="800" dirty="0"/>
          </a:p>
          <a:p>
            <a:pPr marL="111125" indent="-111125">
              <a:lnSpc>
                <a:spcPts val="800"/>
              </a:lnSpc>
              <a:buSzPct val="80000"/>
              <a:buFont typeface="Wingdings" panose="05000000000000000000" pitchFamily="2" charset="2"/>
              <a:buChar char="u"/>
            </a:pPr>
            <a:r>
              <a:rPr lang="en-US" sz="800" dirty="0"/>
              <a:t>Rules service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Aggregation service </a:t>
            </a:r>
          </a:p>
        </p:txBody>
      </p:sp>
      <p:sp>
        <p:nvSpPr>
          <p:cNvPr id="38" name="Rectangle 37"/>
          <p:cNvSpPr/>
          <p:nvPr/>
        </p:nvSpPr>
        <p:spPr>
          <a:xfrm>
            <a:off x="232159" y="857446"/>
            <a:ext cx="2101532" cy="22860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3" name="Chevron 32"/>
          <p:cNvSpPr/>
          <p:nvPr/>
        </p:nvSpPr>
        <p:spPr>
          <a:xfrm>
            <a:off x="828662" y="857445"/>
            <a:ext cx="1828273" cy="22860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4" name="Rectangle 33"/>
          <p:cNvSpPr/>
          <p:nvPr/>
        </p:nvSpPr>
        <p:spPr>
          <a:xfrm>
            <a:off x="232159" y="857445"/>
            <a:ext cx="2101532"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defTabSz="910563">
              <a:buSzPct val="100000"/>
              <a:defRPr/>
            </a:pPr>
            <a:r>
              <a:rPr lang="en-US" sz="1000" b="1" dirty="0">
                <a:solidFill>
                  <a:schemeClr val="tx1"/>
                </a:solidFill>
                <a:ea typeface="ＭＳ Ｐゴシック" pitchFamily="34" charset="-128"/>
              </a:rPr>
              <a:t>FY17 Q3-Q4 </a:t>
            </a:r>
          </a:p>
        </p:txBody>
      </p:sp>
      <p:sp>
        <p:nvSpPr>
          <p:cNvPr id="41" name="Rectangle 40"/>
          <p:cNvSpPr/>
          <p:nvPr/>
        </p:nvSpPr>
        <p:spPr>
          <a:xfrm>
            <a:off x="882221" y="1131174"/>
            <a:ext cx="908528" cy="7191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ts val="2000"/>
              </a:lnSpc>
            </a:pPr>
            <a:r>
              <a:rPr lang="en-US" sz="1200" b="1" dirty="0">
                <a:solidFill>
                  <a:schemeClr val="tx1"/>
                </a:solidFill>
              </a:rPr>
              <a:t>Phase</a:t>
            </a:r>
            <a:endParaRPr lang="en-US" b="1" dirty="0">
              <a:solidFill>
                <a:schemeClr val="tx1"/>
              </a:solidFill>
            </a:endParaRPr>
          </a:p>
          <a:p>
            <a:pPr algn="ctr">
              <a:lnSpc>
                <a:spcPts val="2000"/>
              </a:lnSpc>
            </a:pPr>
            <a:r>
              <a:rPr lang="en-US" sz="2400" b="1" dirty="0">
                <a:solidFill>
                  <a:schemeClr val="tx1"/>
                </a:solidFill>
                <a:latin typeface="Arial Black" panose="020B0A04020102020204" pitchFamily="34" charset="0"/>
              </a:rPr>
              <a:t>1</a:t>
            </a:r>
          </a:p>
        </p:txBody>
      </p:sp>
      <p:sp>
        <p:nvSpPr>
          <p:cNvPr id="32" name="Text Placeholder 6"/>
          <p:cNvSpPr txBox="1">
            <a:spLocks/>
          </p:cNvSpPr>
          <p:nvPr/>
        </p:nvSpPr>
        <p:spPr>
          <a:xfrm>
            <a:off x="2694414" y="1054950"/>
            <a:ext cx="6413011" cy="3926696"/>
          </a:xfrm>
          <a:prstGeom prst="rect">
            <a:avLst/>
          </a:prstGeom>
        </p:spPr>
        <p:txBody>
          <a:bodyPr vert="horz" lIns="0" tIns="0" rIns="0" bIns="0" rtlCol="0">
            <a:noAutofit/>
          </a:bodyPr>
          <a:lstStyle>
            <a:lvl1pPr marL="0" indent="0" algn="l" defTabSz="457200" rtl="0" eaLnBrk="1" latinLnBrk="0" hangingPunct="1">
              <a:spcBef>
                <a:spcPts val="0"/>
              </a:spcBef>
              <a:buSzPct val="75000"/>
              <a:buFontTx/>
              <a:buNone/>
              <a:defRPr sz="1200" kern="1200" baseline="0">
                <a:solidFill>
                  <a:srgbClr val="000000"/>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defRPr/>
            </a:pPr>
            <a:r>
              <a:rPr lang="en-US" sz="1400" b="1" dirty="0"/>
              <a:t>Phase 1:</a:t>
            </a:r>
          </a:p>
          <a:p>
            <a:pPr lvl="1">
              <a:defRPr/>
            </a:pPr>
            <a:r>
              <a:rPr lang="en-US" b="1" dirty="0"/>
              <a:t>Micro Services Design, and Implementation Scope:</a:t>
            </a:r>
            <a:endParaRPr lang="en-US" dirty="0">
              <a:solidFill>
                <a:srgbClr val="000000"/>
              </a:solidFill>
            </a:endParaRPr>
          </a:p>
          <a:p>
            <a:pPr lvl="2">
              <a:defRPr/>
            </a:pPr>
            <a:r>
              <a:rPr lang="en-US" kern="0" dirty="0">
                <a:solidFill>
                  <a:prstClr val="black"/>
                </a:solidFill>
              </a:rPr>
              <a:t>Design future state micro services architecture</a:t>
            </a:r>
          </a:p>
          <a:p>
            <a:pPr lvl="2">
              <a:defRPr/>
            </a:pPr>
            <a:r>
              <a:rPr lang="en-US" kern="0" dirty="0">
                <a:solidFill>
                  <a:prstClr val="black"/>
                </a:solidFill>
              </a:rPr>
              <a:t>Finalize AWS/Cloud technology stack, infrastructure and continuous integration process.</a:t>
            </a:r>
          </a:p>
          <a:p>
            <a:pPr lvl="2">
              <a:defRPr/>
            </a:pPr>
            <a:r>
              <a:rPr lang="en-US" kern="0" dirty="0">
                <a:solidFill>
                  <a:prstClr val="black"/>
                </a:solidFill>
              </a:rPr>
              <a:t>Develop new vehicle content service using existing EFC content </a:t>
            </a:r>
          </a:p>
          <a:p>
            <a:pPr lvl="2">
              <a:defRPr/>
            </a:pPr>
            <a:r>
              <a:rPr lang="en-US" kern="0" dirty="0">
                <a:solidFill>
                  <a:prstClr val="black"/>
                </a:solidFill>
              </a:rPr>
              <a:t>Develop new rules service to support consumer API needs in order to replace client side </a:t>
            </a:r>
            <a:r>
              <a:rPr lang="en-US" kern="0" dirty="0" err="1">
                <a:solidFill>
                  <a:prstClr val="black"/>
                </a:solidFill>
              </a:rPr>
              <a:t>javascript</a:t>
            </a:r>
            <a:r>
              <a:rPr lang="en-US" kern="0" dirty="0">
                <a:solidFill>
                  <a:prstClr val="black"/>
                </a:solidFill>
              </a:rPr>
              <a:t> libraries.</a:t>
            </a:r>
          </a:p>
          <a:p>
            <a:pPr lvl="2">
              <a:defRPr/>
            </a:pPr>
            <a:r>
              <a:rPr lang="en-US" kern="0" dirty="0">
                <a:solidFill>
                  <a:prstClr val="black"/>
                </a:solidFill>
              </a:rPr>
              <a:t>Build new aggregation service layer to aggregate data from EFC content and rules service.</a:t>
            </a:r>
          </a:p>
          <a:p>
            <a:pPr lvl="1">
              <a:spcBef>
                <a:spcPts val="600"/>
              </a:spcBef>
              <a:defRPr/>
            </a:pPr>
            <a:r>
              <a:rPr lang="en-US" b="1" kern="0" dirty="0">
                <a:solidFill>
                  <a:prstClr val="black"/>
                </a:solidFill>
              </a:rPr>
              <a:t>Agile / Scrum Methodology </a:t>
            </a:r>
            <a:endParaRPr lang="en-US" b="1" dirty="0"/>
          </a:p>
          <a:p>
            <a:pPr lvl="1">
              <a:spcBef>
                <a:spcPts val="600"/>
              </a:spcBef>
              <a:defRPr/>
            </a:pPr>
            <a:r>
              <a:rPr lang="en-US" b="1" dirty="0"/>
              <a:t>Assumptions:</a:t>
            </a:r>
          </a:p>
          <a:p>
            <a:pPr lvl="2">
              <a:defRPr/>
            </a:pPr>
            <a:r>
              <a:rPr lang="en-US" dirty="0">
                <a:solidFill>
                  <a:srgbClr val="000000"/>
                </a:solidFill>
              </a:rPr>
              <a:t>Vehicle content services in Phase 1 will integrate with existing EFC content that is currently supporting Build and Price (Toyota and Lexus). Data and architecture on existing EFC services will not be changed.</a:t>
            </a:r>
          </a:p>
          <a:p>
            <a:pPr lvl="2">
              <a:defRPr/>
            </a:pPr>
            <a:r>
              <a:rPr lang="en-US" dirty="0">
                <a:solidFill>
                  <a:srgbClr val="000000"/>
                </a:solidFill>
              </a:rPr>
              <a:t>Rules service will provide necessary functionality to replace client side </a:t>
            </a:r>
            <a:r>
              <a:rPr lang="en-US" dirty="0" err="1">
                <a:solidFill>
                  <a:srgbClr val="000000"/>
                </a:solidFill>
              </a:rPr>
              <a:t>js</a:t>
            </a:r>
            <a:r>
              <a:rPr lang="en-US" dirty="0">
                <a:solidFill>
                  <a:srgbClr val="000000"/>
                </a:solidFill>
              </a:rPr>
              <a:t> libraries. Performance of rules service will be analyze during development phase and report deviations from existing performance.</a:t>
            </a:r>
          </a:p>
          <a:p>
            <a:pPr marL="233363" lvl="2" indent="0">
              <a:buNone/>
              <a:defRPr/>
            </a:pPr>
            <a:endParaRPr lang="en-US" b="1" kern="0" dirty="0">
              <a:solidFill>
                <a:prstClr val="black"/>
              </a:solidFill>
            </a:endParaRPr>
          </a:p>
        </p:txBody>
      </p:sp>
      <p:sp>
        <p:nvSpPr>
          <p:cNvPr id="44" name="Slide Number Placeholder 4"/>
          <p:cNvSpPr>
            <a:spLocks noGrp="1"/>
          </p:cNvSpPr>
          <p:nvPr>
            <p:ph type="sldNum" sz="quarter" idx="4"/>
          </p:nvPr>
        </p:nvSpPr>
        <p:spPr>
          <a:xfrm>
            <a:off x="8688499" y="4830692"/>
            <a:ext cx="228600" cy="228600"/>
          </a:xfrm>
        </p:spPr>
        <p:txBody>
          <a:bodyPr/>
          <a:lstStyle/>
          <a:p>
            <a:fld id="{4D82F6D6-BD64-564F-BDB4-3E98167DF08D}" type="slidenum">
              <a:rPr lang="en-US" smtClean="0"/>
              <a:pPr/>
              <a:t>4</a:t>
            </a:fld>
            <a:endParaRPr lang="en-US" dirty="0"/>
          </a:p>
        </p:txBody>
      </p:sp>
    </p:spTree>
    <p:extLst>
      <p:ext uri="{BB962C8B-B14F-4D97-AF65-F5344CB8AC3E}">
        <p14:creationId xmlns:p14="http://schemas.microsoft.com/office/powerpoint/2010/main" val="278632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46462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gradFill flip="none" rotWithShape="1">
              <a:gsLst>
                <a:gs pos="100000">
                  <a:srgbClr val="FFFFFF">
                    <a:lumMod val="50000"/>
                  </a:srgbClr>
                </a:gs>
                <a:gs pos="50000">
                  <a:srgbClr val="FFFFFF">
                    <a:lumMod val="75000"/>
                  </a:srgbClr>
                </a:gs>
                <a:gs pos="0">
                  <a:srgbClr val="FFFFFF">
                    <a:lumMod val="50000"/>
                  </a:srgbClr>
                </a:gs>
              </a:gsLst>
              <a:lin ang="5400000" scaled="1"/>
              <a:tileRect/>
            </a:gradFill>
            <a:ln w="12700" cap="flat" cmpd="sng" algn="ctr">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10800000" scaled="1"/>
                <a:tileRect/>
              </a:gra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7284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Jan</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Feb</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Mar</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Apr</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May</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Jun</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Jul</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Aug</a:t>
              </a:r>
            </a:p>
          </p:txBody>
        </p:sp>
      </p:grpSp>
      <p:sp>
        <p:nvSpPr>
          <p:cNvPr id="20" name="Rounded Rectangle 19"/>
          <p:cNvSpPr/>
          <p:nvPr/>
        </p:nvSpPr>
        <p:spPr>
          <a:xfrm>
            <a:off x="470464" y="1451069"/>
            <a:ext cx="4062875" cy="277381"/>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181966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487393" y="1756528"/>
            <a:ext cx="3045947" cy="277381"/>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84494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589864" y="789399"/>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rot="16200000">
            <a:off x="-1108429" y="3296067"/>
            <a:ext cx="2632893"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Phase 1</a:t>
            </a:r>
          </a:p>
        </p:txBody>
      </p:sp>
      <p:sp>
        <p:nvSpPr>
          <p:cNvPr id="30" name="Rounded Rectangle 29"/>
          <p:cNvSpPr/>
          <p:nvPr/>
        </p:nvSpPr>
        <p:spPr>
          <a:xfrm>
            <a:off x="2584909" y="2572923"/>
            <a:ext cx="1948431"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Vehicle Content Service – Enriched Vehicle</a:t>
            </a:r>
          </a:p>
        </p:txBody>
      </p:sp>
      <p:sp>
        <p:nvSpPr>
          <p:cNvPr id="32" name="Rounded Rectangle 31"/>
          <p:cNvSpPr/>
          <p:nvPr/>
        </p:nvSpPr>
        <p:spPr>
          <a:xfrm>
            <a:off x="755899" y="2122374"/>
            <a:ext cx="1833965"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endCxn id="30" idx="1"/>
          </p:cNvCxnSpPr>
          <p:nvPr/>
        </p:nvCxnSpPr>
        <p:spPr>
          <a:xfrm flipH="1">
            <a:off x="2584909" y="125558"/>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747272" y="789399"/>
            <a:ext cx="1" cy="1671021"/>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390494"/>
            <a:ext cx="1008176"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72" name="Group 71"/>
          <p:cNvGrpSpPr/>
          <p:nvPr/>
        </p:nvGrpSpPr>
        <p:grpSpPr>
          <a:xfrm>
            <a:off x="849131" y="1061502"/>
            <a:ext cx="1626219" cy="209596"/>
            <a:chOff x="849131" y="1061502"/>
            <a:chExt cx="1626219" cy="209596"/>
          </a:xfrm>
        </p:grpSpPr>
        <p:sp>
          <p:nvSpPr>
            <p:cNvPr id="37" name="TextBox 36"/>
            <p:cNvSpPr txBox="1"/>
            <p:nvPr/>
          </p:nvSpPr>
          <p:spPr>
            <a:xfrm>
              <a:off x="849131"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29357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1731328"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2164037" y="1061502"/>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Procure AWS environment from D&amp;IS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AWS Infrastructure and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Integration Build and Processes</a:t>
            </a:r>
          </a:p>
        </p:txBody>
      </p:sp>
      <p:sp>
        <p:nvSpPr>
          <p:cNvPr id="69" name="Text Placeholder 6"/>
          <p:cNvSpPr txBox="1">
            <a:spLocks/>
          </p:cNvSpPr>
          <p:nvPr/>
        </p:nvSpPr>
        <p:spPr>
          <a:xfrm>
            <a:off x="3282609" y="43986"/>
            <a:ext cx="5794716" cy="422740"/>
          </a:xfrm>
          <a:prstGeom prst="rect">
            <a:avLst/>
          </a:prstGeom>
        </p:spPr>
        <p:txBody>
          <a:bodyPr lIns="0" tIns="0" rIns="0" bIns="0" anchor="t" anchorCtr="0"/>
          <a:lstStyle>
            <a:defPPr>
              <a:defRPr lang="en-US"/>
            </a:defPPr>
            <a:lvl1pPr algn="r">
              <a:spcBef>
                <a:spcPct val="0"/>
              </a:spcBef>
              <a:buNone/>
              <a:defRPr sz="2400" baseline="0">
                <a:solidFill>
                  <a:srgbClr val="DA291C"/>
                </a:solidFill>
                <a:latin typeface="Arial"/>
                <a:ea typeface="+mj-ea"/>
                <a:cs typeface="+mj-cs"/>
              </a:defRPr>
            </a:lvl1pPr>
          </a:lstStyle>
          <a:p>
            <a:r>
              <a:rPr lang="en-US" altLang="ja-JP" dirty="0"/>
              <a:t>Proposed Project Timeline</a:t>
            </a:r>
          </a:p>
        </p:txBody>
      </p:sp>
      <p:sp>
        <p:nvSpPr>
          <p:cNvPr id="104" name="Right Arrow 103"/>
          <p:cNvSpPr/>
          <p:nvPr/>
        </p:nvSpPr>
        <p:spPr bwMode="auto">
          <a:xfrm>
            <a:off x="7795846" y="981301"/>
            <a:ext cx="1306082" cy="351834"/>
          </a:xfrm>
          <a:prstGeom prst="rightArrow">
            <a:avLst/>
          </a:prstGeom>
          <a:solidFill>
            <a:schemeClr val="bg1">
              <a:lumMod val="95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sp>
        <p:nvSpPr>
          <p:cNvPr id="79" name="Rounded Rectangle 78"/>
          <p:cNvSpPr/>
          <p:nvPr/>
        </p:nvSpPr>
        <p:spPr>
          <a:xfrm rot="16200000">
            <a:off x="2661871" y="2707623"/>
            <a:ext cx="4021596"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CHRISTMAS BREAK</a:t>
            </a:r>
          </a:p>
        </p:txBody>
      </p:sp>
      <p:sp>
        <p:nvSpPr>
          <p:cNvPr id="89" name="Rounded Rectangle 88"/>
          <p:cNvSpPr/>
          <p:nvPr/>
        </p:nvSpPr>
        <p:spPr>
          <a:xfrm>
            <a:off x="771964" y="2649682"/>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a:t>
            </a:r>
          </a:p>
        </p:txBody>
      </p:sp>
      <p:sp>
        <p:nvSpPr>
          <p:cNvPr id="92" name="Rounded Rectangle 91"/>
          <p:cNvSpPr/>
          <p:nvPr/>
        </p:nvSpPr>
        <p:spPr>
          <a:xfrm>
            <a:off x="1533313" y="3057165"/>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 / Service Design</a:t>
            </a:r>
          </a:p>
        </p:txBody>
      </p:sp>
      <p:grpSp>
        <p:nvGrpSpPr>
          <p:cNvPr id="93" name="Group 92"/>
          <p:cNvGrpSpPr/>
          <p:nvPr/>
        </p:nvGrpSpPr>
        <p:grpSpPr>
          <a:xfrm>
            <a:off x="2762625" y="1057968"/>
            <a:ext cx="1626219" cy="214528"/>
            <a:chOff x="849131" y="1063349"/>
            <a:chExt cx="1626219" cy="214528"/>
          </a:xfrm>
        </p:grpSpPr>
        <p:sp>
          <p:nvSpPr>
            <p:cNvPr id="94" name="TextBox 93"/>
            <p:cNvSpPr txBox="1"/>
            <p:nvPr/>
          </p:nvSpPr>
          <p:spPr>
            <a:xfrm>
              <a:off x="849131"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95" name="TextBox 94"/>
            <p:cNvSpPr txBox="1"/>
            <p:nvPr/>
          </p:nvSpPr>
          <p:spPr>
            <a:xfrm>
              <a:off x="129357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97" name="TextBox 96"/>
            <p:cNvSpPr txBox="1"/>
            <p:nvPr/>
          </p:nvSpPr>
          <p:spPr>
            <a:xfrm>
              <a:off x="1731328"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98" name="TextBox 97"/>
            <p:cNvSpPr txBox="1"/>
            <p:nvPr/>
          </p:nvSpPr>
          <p:spPr>
            <a:xfrm>
              <a:off x="2164037" y="1070128"/>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99" name="Line Callout 2 (Accent Bar) 98"/>
          <p:cNvSpPr/>
          <p:nvPr/>
        </p:nvSpPr>
        <p:spPr bwMode="auto">
          <a:xfrm>
            <a:off x="1414726" y="3571069"/>
            <a:ext cx="1485914" cy="1292501"/>
          </a:xfrm>
          <a:prstGeom prst="accentCallout2">
            <a:avLst>
              <a:gd name="adj1" fmla="val -605"/>
              <a:gd name="adj2" fmla="val 5299"/>
              <a:gd name="adj3" fmla="val -14454"/>
              <a:gd name="adj4" fmla="val 27252"/>
              <a:gd name="adj5" fmla="val -13075"/>
              <a:gd name="adj6" fmla="val 26364"/>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Define and Design services structure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caching strategy</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Finalize AWS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AWS Initial Environment Setup</a:t>
            </a:r>
          </a:p>
        </p:txBody>
      </p:sp>
      <p:sp>
        <p:nvSpPr>
          <p:cNvPr id="100" name="Rounded Rectangle 99"/>
          <p:cNvSpPr/>
          <p:nvPr/>
        </p:nvSpPr>
        <p:spPr>
          <a:xfrm>
            <a:off x="2581523" y="3633292"/>
            <a:ext cx="1948431"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Rules Service – </a:t>
            </a:r>
          </a:p>
          <a:p>
            <a:pPr algn="ctr" defTabSz="914378">
              <a:defRPr/>
            </a:pPr>
            <a:r>
              <a:rPr lang="en-US" sz="1000" kern="0" dirty="0">
                <a:latin typeface="Calibri"/>
              </a:rPr>
              <a:t>Enriched rules</a:t>
            </a:r>
          </a:p>
        </p:txBody>
      </p:sp>
      <p:sp>
        <p:nvSpPr>
          <p:cNvPr id="101" name="Line Callout 2 (Accent Bar) 100"/>
          <p:cNvSpPr/>
          <p:nvPr/>
        </p:nvSpPr>
        <p:spPr bwMode="auto">
          <a:xfrm>
            <a:off x="2704152" y="3137046"/>
            <a:ext cx="1816070" cy="462020"/>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National English Content service (Toyota and Lexus)</a:t>
            </a:r>
          </a:p>
        </p:txBody>
      </p:sp>
      <p:sp>
        <p:nvSpPr>
          <p:cNvPr id="106" name="Line Callout 2 (Accent Bar) 105"/>
          <p:cNvSpPr/>
          <p:nvPr/>
        </p:nvSpPr>
        <p:spPr bwMode="auto">
          <a:xfrm>
            <a:off x="2715275" y="4299669"/>
            <a:ext cx="1814679"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Enriched rules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Features Display</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cxnSp>
        <p:nvCxnSpPr>
          <p:cNvPr id="107" name="Straight Connector 106"/>
          <p:cNvCxnSpPr/>
          <p:nvPr/>
        </p:nvCxnSpPr>
        <p:spPr>
          <a:xfrm rot="5400000">
            <a:off x="4377995" y="181531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8" name="Rounded Rectangle 107"/>
          <p:cNvSpPr/>
          <p:nvPr/>
        </p:nvSpPr>
        <p:spPr>
          <a:xfrm>
            <a:off x="4835990" y="1752172"/>
            <a:ext cx="2437088" cy="28173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109" name="Straight Connector 108"/>
          <p:cNvCxnSpPr/>
          <p:nvPr/>
        </p:nvCxnSpPr>
        <p:spPr>
          <a:xfrm flipH="1">
            <a:off x="4834400" y="78504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0" name="Rounded Rectangle 109"/>
          <p:cNvSpPr/>
          <p:nvPr/>
        </p:nvSpPr>
        <p:spPr>
          <a:xfrm>
            <a:off x="4829446" y="2568567"/>
            <a:ext cx="2443632"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Vehicle Content Service – </a:t>
            </a:r>
          </a:p>
          <a:p>
            <a:pPr algn="ctr" defTabSz="914378">
              <a:defRPr/>
            </a:pPr>
            <a:r>
              <a:rPr lang="en-US" sz="1000" kern="0" dirty="0">
                <a:latin typeface="Calibri"/>
              </a:rPr>
              <a:t>Enriched Vehicle</a:t>
            </a:r>
          </a:p>
        </p:txBody>
      </p:sp>
      <p:sp>
        <p:nvSpPr>
          <p:cNvPr id="115" name="TextBox 114"/>
          <p:cNvSpPr txBox="1"/>
          <p:nvPr/>
        </p:nvSpPr>
        <p:spPr>
          <a:xfrm>
            <a:off x="4946779" y="1053612"/>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S9</a:t>
            </a:r>
          </a:p>
        </p:txBody>
      </p:sp>
      <p:sp>
        <p:nvSpPr>
          <p:cNvPr id="116" name="TextBox 115"/>
          <p:cNvSpPr txBox="1"/>
          <p:nvPr/>
        </p:nvSpPr>
        <p:spPr>
          <a:xfrm>
            <a:off x="5365344" y="1053612"/>
            <a:ext cx="41723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S10</a:t>
            </a:r>
          </a:p>
        </p:txBody>
      </p:sp>
      <p:sp>
        <p:nvSpPr>
          <p:cNvPr id="117" name="TextBox 116"/>
          <p:cNvSpPr txBox="1"/>
          <p:nvPr/>
        </p:nvSpPr>
        <p:spPr>
          <a:xfrm>
            <a:off x="5897984" y="1053612"/>
            <a:ext cx="422702"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S11</a:t>
            </a:r>
          </a:p>
        </p:txBody>
      </p:sp>
      <p:sp>
        <p:nvSpPr>
          <p:cNvPr id="118" name="TextBox 117"/>
          <p:cNvSpPr txBox="1"/>
          <p:nvPr/>
        </p:nvSpPr>
        <p:spPr>
          <a:xfrm>
            <a:off x="6416953" y="1060391"/>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S12</a:t>
            </a:r>
          </a:p>
        </p:txBody>
      </p:sp>
      <p:sp>
        <p:nvSpPr>
          <p:cNvPr id="119" name="Rounded Rectangle 118"/>
          <p:cNvSpPr/>
          <p:nvPr/>
        </p:nvSpPr>
        <p:spPr>
          <a:xfrm>
            <a:off x="4826060" y="3628936"/>
            <a:ext cx="2447018"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Rules Service – Enriched rules</a:t>
            </a:r>
          </a:p>
        </p:txBody>
      </p:sp>
      <p:sp>
        <p:nvSpPr>
          <p:cNvPr id="121" name="Line Callout 2 (Accent Bar) 120"/>
          <p:cNvSpPr/>
          <p:nvPr/>
        </p:nvSpPr>
        <p:spPr bwMode="auto">
          <a:xfrm>
            <a:off x="4959811" y="4295313"/>
            <a:ext cx="2208740"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Enriched rules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Conflicts resolution (Fix List)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Inventory Rules</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sp>
        <p:nvSpPr>
          <p:cNvPr id="122" name="Line Callout 2 (Accent Bar) 121"/>
          <p:cNvSpPr/>
          <p:nvPr/>
        </p:nvSpPr>
        <p:spPr bwMode="auto">
          <a:xfrm>
            <a:off x="4947621" y="3149858"/>
            <a:ext cx="1816070" cy="449208"/>
          </a:xfrm>
          <a:prstGeom prst="accentCallout2">
            <a:avLst>
              <a:gd name="adj1" fmla="val -6383"/>
              <a:gd name="adj2" fmla="val 9978"/>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GST Content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Spanish Content service</a:t>
            </a:r>
          </a:p>
        </p:txBody>
      </p:sp>
      <p:sp>
        <p:nvSpPr>
          <p:cNvPr id="123" name="TextBox 122"/>
          <p:cNvSpPr txBox="1"/>
          <p:nvPr/>
        </p:nvSpPr>
        <p:spPr>
          <a:xfrm>
            <a:off x="6923019" y="1057523"/>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S13</a:t>
            </a:r>
          </a:p>
        </p:txBody>
      </p:sp>
      <p:sp>
        <p:nvSpPr>
          <p:cNvPr id="124" name="TextBox 123"/>
          <p:cNvSpPr txBox="1"/>
          <p:nvPr/>
        </p:nvSpPr>
        <p:spPr>
          <a:xfrm>
            <a:off x="7403207" y="1057277"/>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S14</a:t>
            </a:r>
          </a:p>
        </p:txBody>
      </p:sp>
      <p:sp>
        <p:nvSpPr>
          <p:cNvPr id="73" name="Rounded Rectangle 72"/>
          <p:cNvSpPr/>
          <p:nvPr/>
        </p:nvSpPr>
        <p:spPr>
          <a:xfrm>
            <a:off x="2584908" y="2122374"/>
            <a:ext cx="19484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Setup</a:t>
            </a:r>
          </a:p>
        </p:txBody>
      </p:sp>
      <p:sp>
        <p:nvSpPr>
          <p:cNvPr id="74" name="Text Placeholder 56"/>
          <p:cNvSpPr txBox="1">
            <a:spLocks/>
          </p:cNvSpPr>
          <p:nvPr/>
        </p:nvSpPr>
        <p:spPr>
          <a:xfrm>
            <a:off x="7382803" y="1365436"/>
            <a:ext cx="1746565" cy="3557694"/>
          </a:xfrm>
          <a:prstGeom prst="rect">
            <a:avLst/>
          </a:prstGeom>
          <a:solidFill>
            <a:schemeClr val="bg1">
              <a:lumMod val="50000"/>
            </a:schemeClr>
          </a:solidFill>
        </p:spPr>
        <p:txBody>
          <a:bodyPr lIns="68580" tIns="68580" rIns="68580" bIns="6858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Sprint Cycle:</a:t>
            </a:r>
          </a:p>
          <a:p>
            <a:pPr marL="175022" indent="-175022">
              <a:buClr>
                <a:schemeClr val="bg1"/>
              </a:buClr>
              <a:buSzPct val="80000"/>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0" indent="0">
              <a:buClr>
                <a:schemeClr val="bg1"/>
              </a:buClr>
              <a:buSzPct val="80000"/>
              <a:buNone/>
            </a:pPr>
            <a:endPar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Deliverables</a:t>
            </a: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a:p>
            <a:pPr marL="0" indent="0">
              <a:buClr>
                <a:schemeClr val="bg1"/>
              </a:buClr>
              <a:buSzPct val="80000"/>
              <a:buNone/>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By end of Phase 1</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API Requirements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Design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Service API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Functional Test Cases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Performance Test Results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Deployment Guide</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Source Code</a:t>
            </a:r>
          </a:p>
        </p:txBody>
      </p:sp>
      <p:sp>
        <p:nvSpPr>
          <p:cNvPr id="75" name="Rounded Rectangle 74"/>
          <p:cNvSpPr/>
          <p:nvPr/>
        </p:nvSpPr>
        <p:spPr>
          <a:xfrm>
            <a:off x="4845747" y="2118949"/>
            <a:ext cx="24273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Refinement</a:t>
            </a:r>
          </a:p>
        </p:txBody>
      </p:sp>
    </p:spTree>
    <p:extLst>
      <p:ext uri="{BB962C8B-B14F-4D97-AF65-F5344CB8AC3E}">
        <p14:creationId xmlns:p14="http://schemas.microsoft.com/office/powerpoint/2010/main" val="4194157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1BF9A0-A380-42E8-B81F-03D2471160C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13044F30-6B1E-4C15-80A9-7FE40FEE09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ca88f8-a7ae-4cfc-9184-d6b131f630bb"/>
    <ds:schemaRef ds:uri="c5a4b99e-4ccc-4a5c-98e4-7ab8633fd4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1F4AC2-0AEA-4354-802A-609AA4E0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8156</TotalTime>
  <Words>1096</Words>
  <Application>Microsoft Office PowerPoint</Application>
  <PresentationFormat>On-screen Show (16:9)</PresentationFormat>
  <Paragraphs>390</Paragraphs>
  <Slides>7</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vt:i4>
      </vt:variant>
    </vt:vector>
  </HeadingPairs>
  <TitlesOfParts>
    <vt:vector size="20" baseType="lpstr">
      <vt:lpstr>Arial</vt:lpstr>
      <vt:lpstr>Arial Black</vt:lpstr>
      <vt:lpstr>Calibri</vt:lpstr>
      <vt:lpstr>Calibri Light</vt:lpstr>
      <vt:lpstr>Raleway</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High-level future state road map</vt:lpstr>
      <vt:lpstr>Phase 1 – Scope &amp; Assumptions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Akbar Khan</dc:creator>
  <cp:lastModifiedBy>Papu Bhattacharya</cp:lastModifiedBy>
  <cp:revision>91</cp:revision>
  <dcterms:created xsi:type="dcterms:W3CDTF">2020-09-08T11:22:38Z</dcterms:created>
  <dcterms:modified xsi:type="dcterms:W3CDTF">2021-11-16T11:17:26Z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