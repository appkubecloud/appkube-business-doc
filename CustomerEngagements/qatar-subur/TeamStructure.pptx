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3" r:id="rId4"/>
  </p:sldMasterIdLst>
  <p:notesMasterIdLst>
    <p:notesMasterId r:id="rId23"/>
  </p:notesMasterIdLst>
  <p:handoutMasterIdLst>
    <p:handoutMasterId r:id="rId24"/>
  </p:handoutMasterIdLst>
  <p:sldIdLst>
    <p:sldId id="256" r:id="rId5"/>
    <p:sldId id="934" r:id="rId6"/>
    <p:sldId id="932" r:id="rId7"/>
    <p:sldId id="936" r:id="rId8"/>
    <p:sldId id="432" r:id="rId9"/>
    <p:sldId id="441" r:id="rId10"/>
    <p:sldId id="935" r:id="rId11"/>
    <p:sldId id="442" r:id="rId12"/>
    <p:sldId id="421" r:id="rId13"/>
    <p:sldId id="437" r:id="rId14"/>
    <p:sldId id="422" r:id="rId15"/>
    <p:sldId id="438" r:id="rId16"/>
    <p:sldId id="424" r:id="rId17"/>
    <p:sldId id="440" r:id="rId18"/>
    <p:sldId id="413" r:id="rId19"/>
    <p:sldId id="257" r:id="rId20"/>
    <p:sldId id="937" r:id="rId21"/>
    <p:sldId id="402" r:id="rId22"/>
  </p:sldIdLst>
  <p:sldSz cx="9144000" cy="5143500" type="screen16x9"/>
  <p:notesSz cx="9601200" cy="7315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8" userDrawn="1">
          <p15:clr>
            <a:srgbClr val="A4A3A4"/>
          </p15:clr>
        </p15:guide>
        <p15:guide id="2" pos="355">
          <p15:clr>
            <a:srgbClr val="A4A3A4"/>
          </p15:clr>
        </p15:guide>
        <p15:guide id="3" orient="horz" pos="1212" userDrawn="1">
          <p15:clr>
            <a:srgbClr val="A4A3A4"/>
          </p15:clr>
        </p15:guide>
        <p15:guide id="4" orient="horz" pos="948" userDrawn="1">
          <p15:clr>
            <a:srgbClr val="A4A3A4"/>
          </p15:clr>
        </p15:guide>
        <p15:guide id="5" orient="horz" pos="2964" userDrawn="1">
          <p15:clr>
            <a:srgbClr val="A4A3A4"/>
          </p15:clr>
        </p15:guide>
        <p15:guide id="6" orient="horz" pos="516" userDrawn="1">
          <p15:clr>
            <a:srgbClr val="A4A3A4"/>
          </p15:clr>
        </p15:guide>
        <p15:guide id="7" orient="horz" pos="1190">
          <p15:clr>
            <a:srgbClr val="A4A3A4"/>
          </p15:clr>
        </p15:guide>
        <p15:guide id="8" orient="horz" pos="750">
          <p15:clr>
            <a:srgbClr val="A4A3A4"/>
          </p15:clr>
        </p15:guide>
        <p15:guide id="9" orient="horz" pos="2916">
          <p15:clr>
            <a:srgbClr val="A4A3A4"/>
          </p15:clr>
        </p15:guide>
        <p15:guide id="10" pos="145">
          <p15:clr>
            <a:srgbClr val="A4A3A4"/>
          </p15:clr>
        </p15:guide>
        <p15:guide id="11" pos="5617">
          <p15:clr>
            <a:srgbClr val="A4A3A4"/>
          </p15:clr>
        </p15:guide>
        <p15:guide id="12" pos="2881">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guide id="3" orient="horz" pos="2304">
          <p15:clr>
            <a:srgbClr val="A4A3A4"/>
          </p15:clr>
        </p15:guide>
        <p15:guide id="4" pos="30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irban Banerjee" initials="AB"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666666"/>
    <a:srgbClr val="00B0F0"/>
    <a:srgbClr val="83A2D9"/>
    <a:srgbClr val="ADB9CA"/>
    <a:srgbClr val="B4C7E7"/>
    <a:srgbClr val="CFD5EA"/>
    <a:srgbClr val="E9EBF5"/>
    <a:srgbClr val="EE29DC"/>
    <a:srgbClr val="EEC9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25" autoAdjust="0"/>
    <p:restoredTop sz="95226" autoAdjust="0"/>
  </p:normalViewPr>
  <p:slideViewPr>
    <p:cSldViewPr snapToGrid="0">
      <p:cViewPr varScale="1">
        <p:scale>
          <a:sx n="100" d="100"/>
          <a:sy n="100" d="100"/>
        </p:scale>
        <p:origin x="384" y="56"/>
      </p:cViewPr>
      <p:guideLst>
        <p:guide orient="horz" pos="708"/>
        <p:guide pos="355"/>
        <p:guide orient="horz" pos="1212"/>
        <p:guide orient="horz" pos="948"/>
        <p:guide orient="horz" pos="2964"/>
        <p:guide orient="horz" pos="516"/>
        <p:guide orient="horz" pos="1190"/>
        <p:guide orient="horz" pos="750"/>
        <p:guide orient="horz" pos="2916"/>
        <p:guide pos="145"/>
        <p:guide pos="5617"/>
        <p:guide pos="2881"/>
      </p:guideLst>
    </p:cSldViewPr>
  </p:slideViewPr>
  <p:outlineViewPr>
    <p:cViewPr>
      <p:scale>
        <a:sx n="33" d="100"/>
        <a:sy n="33" d="100"/>
      </p:scale>
      <p:origin x="0" y="174"/>
    </p:cViewPr>
  </p:outlineViewPr>
  <p:notesTextViewPr>
    <p:cViewPr>
      <p:scale>
        <a:sx n="75" d="100"/>
        <a:sy n="75" d="100"/>
      </p:scale>
      <p:origin x="0" y="0"/>
    </p:cViewPr>
  </p:notesTextViewPr>
  <p:sorterViewPr>
    <p:cViewPr>
      <p:scale>
        <a:sx n="100" d="100"/>
        <a:sy n="100" d="100"/>
      </p:scale>
      <p:origin x="0" y="5490"/>
    </p:cViewPr>
  </p:sorterViewPr>
  <p:notesViewPr>
    <p:cSldViewPr snapToGrid="0">
      <p:cViewPr varScale="1">
        <p:scale>
          <a:sx n="81" d="100"/>
          <a:sy n="81" d="100"/>
        </p:scale>
        <p:origin x="2112" y="53"/>
      </p:cViewPr>
      <p:guideLst>
        <p:guide orient="horz" pos="3024"/>
        <p:guide pos="2304"/>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48" tIns="48325" rIns="96648" bIns="48325" rtlCol="0"/>
          <a:lstStyle>
            <a:lvl1pPr algn="l">
              <a:defRPr sz="1300"/>
            </a:lvl1pPr>
          </a:lstStyle>
          <a:p>
            <a:endParaRPr lang="en-US" dirty="0"/>
          </a:p>
        </p:txBody>
      </p:sp>
      <p:sp>
        <p:nvSpPr>
          <p:cNvPr id="3" name="Date Placeholder 2"/>
          <p:cNvSpPr>
            <a:spLocks noGrp="1"/>
          </p:cNvSpPr>
          <p:nvPr>
            <p:ph type="dt" sz="quarter" idx="1"/>
          </p:nvPr>
        </p:nvSpPr>
        <p:spPr>
          <a:xfrm>
            <a:off x="5438459" y="0"/>
            <a:ext cx="4160520" cy="365760"/>
          </a:xfrm>
          <a:prstGeom prst="rect">
            <a:avLst/>
          </a:prstGeom>
        </p:spPr>
        <p:txBody>
          <a:bodyPr vert="horz" lIns="96648" tIns="48325" rIns="96648" bIns="48325" rtlCol="0"/>
          <a:lstStyle>
            <a:lvl1pPr algn="r">
              <a:defRPr sz="1300"/>
            </a:lvl1pPr>
          </a:lstStyle>
          <a:p>
            <a:fld id="{1B9E88C5-C104-1D4D-887E-00A617007132}" type="datetimeFigureOut">
              <a:rPr lang="en-US" smtClean="0"/>
              <a:pPr/>
              <a:t>11/1/2021</a:t>
            </a:fld>
            <a:endParaRPr lang="en-US" dirty="0"/>
          </a:p>
        </p:txBody>
      </p:sp>
      <p:sp>
        <p:nvSpPr>
          <p:cNvPr id="4" name="Footer Placeholder 3"/>
          <p:cNvSpPr>
            <a:spLocks noGrp="1"/>
          </p:cNvSpPr>
          <p:nvPr>
            <p:ph type="ftr" sz="quarter" idx="2"/>
          </p:nvPr>
        </p:nvSpPr>
        <p:spPr>
          <a:xfrm>
            <a:off x="0" y="6948171"/>
            <a:ext cx="4160520" cy="365760"/>
          </a:xfrm>
          <a:prstGeom prst="rect">
            <a:avLst/>
          </a:prstGeom>
        </p:spPr>
        <p:txBody>
          <a:bodyPr vert="horz" lIns="96648" tIns="48325" rIns="96648" bIns="48325" rtlCol="0" anchor="b"/>
          <a:lstStyle>
            <a:lvl1pPr algn="l">
              <a:defRPr sz="1300"/>
            </a:lvl1pPr>
          </a:lstStyle>
          <a:p>
            <a:endParaRPr lang="en-US" dirty="0"/>
          </a:p>
        </p:txBody>
      </p:sp>
      <p:sp>
        <p:nvSpPr>
          <p:cNvPr id="5" name="Slide Number Placeholder 4"/>
          <p:cNvSpPr>
            <a:spLocks noGrp="1"/>
          </p:cNvSpPr>
          <p:nvPr>
            <p:ph type="sldNum" sz="quarter" idx="3"/>
          </p:nvPr>
        </p:nvSpPr>
        <p:spPr>
          <a:xfrm>
            <a:off x="5438459" y="6948171"/>
            <a:ext cx="4160520" cy="365760"/>
          </a:xfrm>
          <a:prstGeom prst="rect">
            <a:avLst/>
          </a:prstGeom>
        </p:spPr>
        <p:txBody>
          <a:bodyPr vert="horz" lIns="96648" tIns="48325" rIns="96648" bIns="48325" rtlCol="0" anchor="b"/>
          <a:lstStyle>
            <a:lvl1pPr algn="r">
              <a:defRPr sz="1300"/>
            </a:lvl1pPr>
          </a:lstStyle>
          <a:p>
            <a:fld id="{AE1561C0-4582-414D-9482-B90AA17E5928}" type="slidenum">
              <a:rPr lang="en-US" smtClean="0"/>
              <a:pPr/>
              <a:t>‹#›</a:t>
            </a:fld>
            <a:endParaRPr lang="en-US" dirty="0"/>
          </a:p>
        </p:txBody>
      </p:sp>
    </p:spTree>
    <p:extLst>
      <p:ext uri="{BB962C8B-B14F-4D97-AF65-F5344CB8AC3E}">
        <p14:creationId xmlns:p14="http://schemas.microsoft.com/office/powerpoint/2010/main" val="273036734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48" tIns="48325" rIns="96648" bIns="48325" rtlCol="0"/>
          <a:lstStyle>
            <a:lvl1pPr algn="l">
              <a:defRPr sz="1300"/>
            </a:lvl1pPr>
          </a:lstStyle>
          <a:p>
            <a:endParaRPr lang="en-US" dirty="0"/>
          </a:p>
        </p:txBody>
      </p:sp>
      <p:sp>
        <p:nvSpPr>
          <p:cNvPr id="3" name="Date Placeholder 2"/>
          <p:cNvSpPr>
            <a:spLocks noGrp="1"/>
          </p:cNvSpPr>
          <p:nvPr>
            <p:ph type="dt" idx="1"/>
          </p:nvPr>
        </p:nvSpPr>
        <p:spPr>
          <a:xfrm>
            <a:off x="5438459" y="0"/>
            <a:ext cx="4160520" cy="365760"/>
          </a:xfrm>
          <a:prstGeom prst="rect">
            <a:avLst/>
          </a:prstGeom>
        </p:spPr>
        <p:txBody>
          <a:bodyPr vert="horz" lIns="96648" tIns="48325" rIns="96648" bIns="48325" rtlCol="0"/>
          <a:lstStyle>
            <a:lvl1pPr algn="r">
              <a:defRPr sz="1300"/>
            </a:lvl1pPr>
          </a:lstStyle>
          <a:p>
            <a:fld id="{0F237061-72E3-FC45-B1DA-EE364FA20673}" type="datetimeFigureOut">
              <a:rPr lang="en-US" smtClean="0"/>
              <a:pPr/>
              <a:t>11/1/2021</a:t>
            </a:fld>
            <a:endParaRPr lang="en-US" dirty="0"/>
          </a:p>
        </p:txBody>
      </p:sp>
      <p:sp>
        <p:nvSpPr>
          <p:cNvPr id="4" name="Slide Image Placeholder 3"/>
          <p:cNvSpPr>
            <a:spLocks noGrp="1" noRot="1" noChangeAspect="1"/>
          </p:cNvSpPr>
          <p:nvPr>
            <p:ph type="sldImg" idx="2"/>
          </p:nvPr>
        </p:nvSpPr>
        <p:spPr>
          <a:xfrm>
            <a:off x="2362200" y="549275"/>
            <a:ext cx="4876800" cy="2743200"/>
          </a:xfrm>
          <a:prstGeom prst="rect">
            <a:avLst/>
          </a:prstGeom>
          <a:noFill/>
          <a:ln w="12700">
            <a:solidFill>
              <a:prstClr val="black"/>
            </a:solidFill>
          </a:ln>
        </p:spPr>
        <p:txBody>
          <a:bodyPr vert="horz" lIns="96648" tIns="48325" rIns="96648" bIns="48325" rtlCol="0" anchor="ctr"/>
          <a:lstStyle/>
          <a:p>
            <a:endParaRPr lang="en-US" dirty="0"/>
          </a:p>
        </p:txBody>
      </p:sp>
      <p:sp>
        <p:nvSpPr>
          <p:cNvPr id="5" name="Notes Placeholder 4"/>
          <p:cNvSpPr>
            <a:spLocks noGrp="1"/>
          </p:cNvSpPr>
          <p:nvPr>
            <p:ph type="body" sz="quarter" idx="3"/>
          </p:nvPr>
        </p:nvSpPr>
        <p:spPr>
          <a:xfrm>
            <a:off x="960121" y="3474720"/>
            <a:ext cx="7680960" cy="3291840"/>
          </a:xfrm>
          <a:prstGeom prst="rect">
            <a:avLst/>
          </a:prstGeom>
        </p:spPr>
        <p:txBody>
          <a:bodyPr vert="horz" lIns="96648" tIns="48325" rIns="96648" bIns="4832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48171"/>
            <a:ext cx="4160520" cy="365760"/>
          </a:xfrm>
          <a:prstGeom prst="rect">
            <a:avLst/>
          </a:prstGeom>
        </p:spPr>
        <p:txBody>
          <a:bodyPr vert="horz" lIns="96648" tIns="48325" rIns="96648" bIns="48325" rtlCol="0" anchor="b"/>
          <a:lstStyle>
            <a:lvl1pPr algn="l">
              <a:defRPr sz="1300"/>
            </a:lvl1pPr>
          </a:lstStyle>
          <a:p>
            <a:endParaRPr lang="en-US" dirty="0"/>
          </a:p>
        </p:txBody>
      </p:sp>
      <p:sp>
        <p:nvSpPr>
          <p:cNvPr id="7" name="Slide Number Placeholder 6"/>
          <p:cNvSpPr>
            <a:spLocks noGrp="1"/>
          </p:cNvSpPr>
          <p:nvPr>
            <p:ph type="sldNum" sz="quarter" idx="5"/>
          </p:nvPr>
        </p:nvSpPr>
        <p:spPr>
          <a:xfrm>
            <a:off x="5438459" y="6948171"/>
            <a:ext cx="4160520" cy="365760"/>
          </a:xfrm>
          <a:prstGeom prst="rect">
            <a:avLst/>
          </a:prstGeom>
        </p:spPr>
        <p:txBody>
          <a:bodyPr vert="horz" lIns="96648" tIns="48325" rIns="96648" bIns="48325" rtlCol="0" anchor="b"/>
          <a:lstStyle>
            <a:lvl1pPr algn="r">
              <a:defRPr sz="1300"/>
            </a:lvl1pPr>
          </a:lstStyle>
          <a:p>
            <a:fld id="{11D4D097-0016-D44A-A908-ADB1EED4D51F}" type="slidenum">
              <a:rPr lang="en-US" smtClean="0"/>
              <a:pPr/>
              <a:t>‹#›</a:t>
            </a:fld>
            <a:endParaRPr lang="en-US" dirty="0"/>
          </a:p>
        </p:txBody>
      </p:sp>
    </p:spTree>
    <p:extLst>
      <p:ext uri="{BB962C8B-B14F-4D97-AF65-F5344CB8AC3E}">
        <p14:creationId xmlns:p14="http://schemas.microsoft.com/office/powerpoint/2010/main" val="92465252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1</a:t>
            </a:fld>
            <a:endParaRPr lang="en-US" dirty="0"/>
          </a:p>
        </p:txBody>
      </p:sp>
    </p:spTree>
    <p:extLst>
      <p:ext uri="{BB962C8B-B14F-4D97-AF65-F5344CB8AC3E}">
        <p14:creationId xmlns:p14="http://schemas.microsoft.com/office/powerpoint/2010/main" val="5690004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2</a:t>
            </a:fld>
            <a:endParaRPr lang="en-US" dirty="0"/>
          </a:p>
        </p:txBody>
      </p:sp>
    </p:spTree>
    <p:extLst>
      <p:ext uri="{BB962C8B-B14F-4D97-AF65-F5344CB8AC3E}">
        <p14:creationId xmlns:p14="http://schemas.microsoft.com/office/powerpoint/2010/main" val="635203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3</a:t>
            </a:fld>
            <a:endParaRPr lang="en-US" dirty="0"/>
          </a:p>
        </p:txBody>
      </p:sp>
    </p:spTree>
    <p:extLst>
      <p:ext uri="{BB962C8B-B14F-4D97-AF65-F5344CB8AC3E}">
        <p14:creationId xmlns:p14="http://schemas.microsoft.com/office/powerpoint/2010/main" val="2573603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4</a:t>
            </a:fld>
            <a:endParaRPr lang="en-US" dirty="0"/>
          </a:p>
        </p:txBody>
      </p:sp>
    </p:spTree>
    <p:extLst>
      <p:ext uri="{BB962C8B-B14F-4D97-AF65-F5344CB8AC3E}">
        <p14:creationId xmlns:p14="http://schemas.microsoft.com/office/powerpoint/2010/main" val="40850122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endParaRPr lang="en-US" baseline="0" dirty="0"/>
          </a:p>
        </p:txBody>
      </p:sp>
      <p:sp>
        <p:nvSpPr>
          <p:cNvPr id="4" name="Slide Number Placeholder 3"/>
          <p:cNvSpPr>
            <a:spLocks noGrp="1"/>
          </p:cNvSpPr>
          <p:nvPr>
            <p:ph type="sldNum" sz="quarter" idx="10"/>
          </p:nvPr>
        </p:nvSpPr>
        <p:spPr/>
        <p:txBody>
          <a:bodyPr/>
          <a:lstStyle/>
          <a:p>
            <a:fld id="{6FA5673E-AE68-1D41-9176-43265B09BBDC}" type="slidenum">
              <a:rPr lang="en-US" smtClean="0"/>
              <a:t>5</a:t>
            </a:fld>
            <a:endParaRPr lang="en-US"/>
          </a:p>
        </p:txBody>
      </p:sp>
    </p:spTree>
    <p:extLst>
      <p:ext uri="{BB962C8B-B14F-4D97-AF65-F5344CB8AC3E}">
        <p14:creationId xmlns:p14="http://schemas.microsoft.com/office/powerpoint/2010/main" val="808083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endParaRPr lang="en-US" baseline="0" dirty="0"/>
          </a:p>
        </p:txBody>
      </p:sp>
      <p:sp>
        <p:nvSpPr>
          <p:cNvPr id="4" name="Slide Number Placeholder 3"/>
          <p:cNvSpPr>
            <a:spLocks noGrp="1"/>
          </p:cNvSpPr>
          <p:nvPr>
            <p:ph type="sldNum" sz="quarter" idx="10"/>
          </p:nvPr>
        </p:nvSpPr>
        <p:spPr/>
        <p:txBody>
          <a:bodyPr/>
          <a:lstStyle/>
          <a:p>
            <a:fld id="{6FA5673E-AE68-1D41-9176-43265B09BBDC}" type="slidenum">
              <a:rPr lang="en-US" smtClean="0"/>
              <a:t>7</a:t>
            </a:fld>
            <a:endParaRPr lang="en-US"/>
          </a:p>
        </p:txBody>
      </p:sp>
    </p:spTree>
    <p:extLst>
      <p:ext uri="{BB962C8B-B14F-4D97-AF65-F5344CB8AC3E}">
        <p14:creationId xmlns:p14="http://schemas.microsoft.com/office/powerpoint/2010/main" val="12169535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FA5673E-AE68-1D41-9176-43265B09BBDC}" type="slidenum">
              <a:rPr lang="en-US" smtClean="0"/>
              <a:t>9</a:t>
            </a:fld>
            <a:endParaRPr lang="en-US"/>
          </a:p>
        </p:txBody>
      </p:sp>
    </p:spTree>
    <p:extLst>
      <p:ext uri="{BB962C8B-B14F-4D97-AF65-F5344CB8AC3E}">
        <p14:creationId xmlns:p14="http://schemas.microsoft.com/office/powerpoint/2010/main" val="8164283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FA5673E-AE68-1D41-9176-43265B09BBDC}" type="slidenum">
              <a:rPr lang="en-US" smtClean="0"/>
              <a:t>11</a:t>
            </a:fld>
            <a:endParaRPr lang="en-US"/>
          </a:p>
        </p:txBody>
      </p:sp>
    </p:spTree>
    <p:extLst>
      <p:ext uri="{BB962C8B-B14F-4D97-AF65-F5344CB8AC3E}">
        <p14:creationId xmlns:p14="http://schemas.microsoft.com/office/powerpoint/2010/main" val="35638421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6FA5673E-AE68-1D41-9176-43265B09BBDC}" type="slidenum">
              <a:rPr lang="en-US" smtClean="0"/>
              <a:t>13</a:t>
            </a:fld>
            <a:endParaRPr lang="en-US"/>
          </a:p>
        </p:txBody>
      </p:sp>
    </p:spTree>
    <p:extLst>
      <p:ext uri="{BB962C8B-B14F-4D97-AF65-F5344CB8AC3E}">
        <p14:creationId xmlns:p14="http://schemas.microsoft.com/office/powerpoint/2010/main" val="1834740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1C470-AD6E-4186-B9D1-F5CD3B500E2B}"/>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D83C95E8-2456-4167-873C-DCE7CAAC3803}"/>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F2A8EA70-3D9F-4AF5-98CD-ADBF6098E199}"/>
              </a:ext>
            </a:extLst>
          </p:cNvPr>
          <p:cNvSpPr>
            <a:spLocks noGrp="1"/>
          </p:cNvSpPr>
          <p:nvPr>
            <p:ph type="dt" sz="half" idx="10"/>
          </p:nvPr>
        </p:nvSpPr>
        <p:spPr/>
        <p:txBody>
          <a:bodyPr/>
          <a:lstStyle/>
          <a:p>
            <a:fld id="{EEA2FC0F-490E-4037-809F-EE94D2F34D5E}" type="datetimeFigureOut">
              <a:rPr lang="en-US" smtClean="0"/>
              <a:t>11/1/2021</a:t>
            </a:fld>
            <a:endParaRPr lang="en-US"/>
          </a:p>
        </p:txBody>
      </p:sp>
      <p:sp>
        <p:nvSpPr>
          <p:cNvPr id="5" name="Footer Placeholder 4">
            <a:extLst>
              <a:ext uri="{FF2B5EF4-FFF2-40B4-BE49-F238E27FC236}">
                <a16:creationId xmlns:a16="http://schemas.microsoft.com/office/drawing/2014/main" id="{23F43C81-0BFA-4130-A65D-D3CC845059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7E84D5-BB7E-4E36-BDD6-EFE15F39073F}"/>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698991981"/>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413E0-DD14-47F6-9B7F-42FBF61404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229E49-3498-4403-82C4-B1F6B86D59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197E07-562F-45F1-837C-60309DDD771F}"/>
              </a:ext>
            </a:extLst>
          </p:cNvPr>
          <p:cNvSpPr>
            <a:spLocks noGrp="1"/>
          </p:cNvSpPr>
          <p:nvPr>
            <p:ph type="dt" sz="half" idx="10"/>
          </p:nvPr>
        </p:nvSpPr>
        <p:spPr/>
        <p:txBody>
          <a:bodyPr/>
          <a:lstStyle/>
          <a:p>
            <a:fld id="{EEA2FC0F-490E-4037-809F-EE94D2F34D5E}" type="datetimeFigureOut">
              <a:rPr lang="en-US" smtClean="0"/>
              <a:t>11/1/2021</a:t>
            </a:fld>
            <a:endParaRPr lang="en-US"/>
          </a:p>
        </p:txBody>
      </p:sp>
      <p:sp>
        <p:nvSpPr>
          <p:cNvPr id="5" name="Footer Placeholder 4">
            <a:extLst>
              <a:ext uri="{FF2B5EF4-FFF2-40B4-BE49-F238E27FC236}">
                <a16:creationId xmlns:a16="http://schemas.microsoft.com/office/drawing/2014/main" id="{0CEF44FE-B2E7-4C3E-A0FF-6663FE339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47BC22-0663-4485-AAEC-0BD58F226444}"/>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379444002"/>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F4CC4-3A0B-4712-A9F7-8EFECAA65EAC}"/>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F0C75C78-E1BE-4358-BCCB-44D8FE6C9488}"/>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735536-F69A-4616-A789-DA0A622B9244}"/>
              </a:ext>
            </a:extLst>
          </p:cNvPr>
          <p:cNvSpPr>
            <a:spLocks noGrp="1"/>
          </p:cNvSpPr>
          <p:nvPr>
            <p:ph type="dt" sz="half" idx="10"/>
          </p:nvPr>
        </p:nvSpPr>
        <p:spPr/>
        <p:txBody>
          <a:bodyPr/>
          <a:lstStyle/>
          <a:p>
            <a:fld id="{EEA2FC0F-490E-4037-809F-EE94D2F34D5E}" type="datetimeFigureOut">
              <a:rPr lang="en-US" smtClean="0"/>
              <a:t>11/1/2021</a:t>
            </a:fld>
            <a:endParaRPr lang="en-US"/>
          </a:p>
        </p:txBody>
      </p:sp>
      <p:sp>
        <p:nvSpPr>
          <p:cNvPr id="5" name="Footer Placeholder 4">
            <a:extLst>
              <a:ext uri="{FF2B5EF4-FFF2-40B4-BE49-F238E27FC236}">
                <a16:creationId xmlns:a16="http://schemas.microsoft.com/office/drawing/2014/main" id="{9A658AAC-821A-44AE-8EE6-C0A1200FCE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20430-D5EC-4964-B716-240956BB2319}"/>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432167756"/>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428F0-303B-4830-9E52-17B2E6DD96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5EB1E4-6C50-4BA0-AB4A-0E170CA477AE}"/>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7C525F4-5C5E-4C65-A4B4-F4613C63D38B}"/>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B5BC1C-BB68-4BEF-8C5B-5F1CE4BEA347}"/>
              </a:ext>
            </a:extLst>
          </p:cNvPr>
          <p:cNvSpPr>
            <a:spLocks noGrp="1"/>
          </p:cNvSpPr>
          <p:nvPr>
            <p:ph type="dt" sz="half" idx="10"/>
          </p:nvPr>
        </p:nvSpPr>
        <p:spPr/>
        <p:txBody>
          <a:bodyPr/>
          <a:lstStyle/>
          <a:p>
            <a:fld id="{EEA2FC0F-490E-4037-809F-EE94D2F34D5E}" type="datetimeFigureOut">
              <a:rPr lang="en-US" smtClean="0"/>
              <a:t>11/1/2021</a:t>
            </a:fld>
            <a:endParaRPr lang="en-US"/>
          </a:p>
        </p:txBody>
      </p:sp>
      <p:sp>
        <p:nvSpPr>
          <p:cNvPr id="6" name="Footer Placeholder 5">
            <a:extLst>
              <a:ext uri="{FF2B5EF4-FFF2-40B4-BE49-F238E27FC236}">
                <a16:creationId xmlns:a16="http://schemas.microsoft.com/office/drawing/2014/main" id="{DC2B7364-CEC3-4B58-A2E4-650734E4FF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C36CBE-3367-47A8-A624-5AA9168A8C4D}"/>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579010347"/>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9F2DC-7C77-423C-B5AA-22D7DD08DE8D}"/>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3FEFCC-4ACB-4A5B-A4AC-E10B7B40D568}"/>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928E7C7-CF83-449D-ACC7-0141E70E6AD9}"/>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7D6AC6-B8C6-4A02-8F99-A7E0F493353C}"/>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8F8F52BC-C951-4B70-9938-2B204E1F4B9C}"/>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733799-1F0E-4495-8FE1-72980475DDDD}"/>
              </a:ext>
            </a:extLst>
          </p:cNvPr>
          <p:cNvSpPr>
            <a:spLocks noGrp="1"/>
          </p:cNvSpPr>
          <p:nvPr>
            <p:ph type="dt" sz="half" idx="10"/>
          </p:nvPr>
        </p:nvSpPr>
        <p:spPr/>
        <p:txBody>
          <a:bodyPr/>
          <a:lstStyle/>
          <a:p>
            <a:fld id="{EEA2FC0F-490E-4037-809F-EE94D2F34D5E}" type="datetimeFigureOut">
              <a:rPr lang="en-US" smtClean="0"/>
              <a:t>11/1/2021</a:t>
            </a:fld>
            <a:endParaRPr lang="en-US"/>
          </a:p>
        </p:txBody>
      </p:sp>
      <p:sp>
        <p:nvSpPr>
          <p:cNvPr id="8" name="Footer Placeholder 7">
            <a:extLst>
              <a:ext uri="{FF2B5EF4-FFF2-40B4-BE49-F238E27FC236}">
                <a16:creationId xmlns:a16="http://schemas.microsoft.com/office/drawing/2014/main" id="{27F4A26C-594B-4849-ADE7-BDD65FA6FD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10AB182-1C5B-41A4-992A-A46157BC102D}"/>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1589604878"/>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4E026-9521-49F9-9910-4E59D0EE7E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390F577-9C03-4D72-B18C-3DB7A3079E7A}"/>
              </a:ext>
            </a:extLst>
          </p:cNvPr>
          <p:cNvSpPr>
            <a:spLocks noGrp="1"/>
          </p:cNvSpPr>
          <p:nvPr>
            <p:ph type="dt" sz="half" idx="10"/>
          </p:nvPr>
        </p:nvSpPr>
        <p:spPr/>
        <p:txBody>
          <a:bodyPr/>
          <a:lstStyle/>
          <a:p>
            <a:fld id="{EEA2FC0F-490E-4037-809F-EE94D2F34D5E}" type="datetimeFigureOut">
              <a:rPr lang="en-US" smtClean="0"/>
              <a:t>11/1/2021</a:t>
            </a:fld>
            <a:endParaRPr lang="en-US"/>
          </a:p>
        </p:txBody>
      </p:sp>
      <p:sp>
        <p:nvSpPr>
          <p:cNvPr id="4" name="Footer Placeholder 3">
            <a:extLst>
              <a:ext uri="{FF2B5EF4-FFF2-40B4-BE49-F238E27FC236}">
                <a16:creationId xmlns:a16="http://schemas.microsoft.com/office/drawing/2014/main" id="{2A5D3A2E-13DC-495D-90A7-7A4E5FDF7D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97EF5E-5D2B-4CCD-B2BC-2A9FAD1D2DA4}"/>
              </a:ext>
            </a:extLst>
          </p:cNvPr>
          <p:cNvSpPr>
            <a:spLocks noGrp="1"/>
          </p:cNvSpPr>
          <p:nvPr>
            <p:ph type="sldNum" sz="quarter" idx="12"/>
          </p:nvPr>
        </p:nvSpPr>
        <p:spPr/>
        <p:txBody>
          <a:bodyPr/>
          <a:lstStyle/>
          <a:p>
            <a:fld id="{8ECA14B2-F45F-4421-8663-2E4CBFF6CDB4}" type="slidenum">
              <a:rPr lang="en-US" smtClean="0"/>
              <a:t>‹#›</a:t>
            </a:fld>
            <a:endParaRPr lang="en-US"/>
          </a:p>
        </p:txBody>
      </p:sp>
      <p:sp>
        <p:nvSpPr>
          <p:cNvPr id="6" name="Rectangle 5">
            <a:extLst>
              <a:ext uri="{FF2B5EF4-FFF2-40B4-BE49-F238E27FC236}">
                <a16:creationId xmlns:a16="http://schemas.microsoft.com/office/drawing/2014/main" id="{B10C55AE-6A42-40C6-97AE-E89CE4E6C939}"/>
              </a:ext>
            </a:extLst>
          </p:cNvPr>
          <p:cNvSpPr/>
          <p:nvPr userDrawn="1"/>
        </p:nvSpPr>
        <p:spPr>
          <a:xfrm>
            <a:off x="313381" y="4915450"/>
            <a:ext cx="4065124" cy="228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30" tIns="45715" rIns="91430" bIns="45715" rtlCol="0" anchor="ctr"/>
          <a:lstStyle/>
          <a:p>
            <a:pPr algn="ctr"/>
            <a:endParaRPr lang="en-US" dirty="0"/>
          </a:p>
        </p:txBody>
      </p:sp>
    </p:spTree>
    <p:extLst>
      <p:ext uri="{BB962C8B-B14F-4D97-AF65-F5344CB8AC3E}">
        <p14:creationId xmlns:p14="http://schemas.microsoft.com/office/powerpoint/2010/main" val="3153467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418A9C-B077-499A-8FA9-DFFA04A07D06}"/>
              </a:ext>
            </a:extLst>
          </p:cNvPr>
          <p:cNvSpPr>
            <a:spLocks noGrp="1"/>
          </p:cNvSpPr>
          <p:nvPr>
            <p:ph type="dt" sz="half" idx="10"/>
          </p:nvPr>
        </p:nvSpPr>
        <p:spPr/>
        <p:txBody>
          <a:bodyPr/>
          <a:lstStyle/>
          <a:p>
            <a:fld id="{EEA2FC0F-490E-4037-809F-EE94D2F34D5E}" type="datetimeFigureOut">
              <a:rPr lang="en-US" smtClean="0"/>
              <a:t>11/1/2021</a:t>
            </a:fld>
            <a:endParaRPr lang="en-US"/>
          </a:p>
        </p:txBody>
      </p:sp>
      <p:sp>
        <p:nvSpPr>
          <p:cNvPr id="3" name="Footer Placeholder 2">
            <a:extLst>
              <a:ext uri="{FF2B5EF4-FFF2-40B4-BE49-F238E27FC236}">
                <a16:creationId xmlns:a16="http://schemas.microsoft.com/office/drawing/2014/main" id="{463B566F-A0BB-400C-A181-7DA718D963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758D3B-0ADC-4EE2-8119-D2FEA44A894F}"/>
              </a:ext>
            </a:extLst>
          </p:cNvPr>
          <p:cNvSpPr>
            <a:spLocks noGrp="1"/>
          </p:cNvSpPr>
          <p:nvPr>
            <p:ph type="sldNum" sz="quarter" idx="12"/>
          </p:nvPr>
        </p:nvSpPr>
        <p:spPr/>
        <p:txBody>
          <a:bodyPr/>
          <a:lstStyle/>
          <a:p>
            <a:fld id="{8ECA14B2-F45F-4421-8663-2E4CBFF6CDB4}" type="slidenum">
              <a:rPr lang="en-US" smtClean="0"/>
              <a:t>‹#›</a:t>
            </a:fld>
            <a:endParaRPr lang="en-US"/>
          </a:p>
        </p:txBody>
      </p:sp>
      <p:sp>
        <p:nvSpPr>
          <p:cNvPr id="5" name="Graphic 5">
            <a:extLst>
              <a:ext uri="{FF2B5EF4-FFF2-40B4-BE49-F238E27FC236}">
                <a16:creationId xmlns:a16="http://schemas.microsoft.com/office/drawing/2014/main" id="{B8F8BF69-64D7-4398-A323-00B3D8B0C0C0}"/>
              </a:ext>
            </a:extLst>
          </p:cNvPr>
          <p:cNvSpPr>
            <a:spLocks noChangeAspect="1"/>
          </p:cNvSpPr>
          <p:nvPr userDrawn="1"/>
        </p:nvSpPr>
        <p:spPr>
          <a:xfrm>
            <a:off x="3079321" y="1"/>
            <a:ext cx="2985359" cy="290786"/>
          </a:xfrm>
          <a:custGeom>
            <a:avLst/>
            <a:gdLst>
              <a:gd name="connsiteX0" fmla="*/ 5298019 w 5298018"/>
              <a:gd name="connsiteY0" fmla="*/ 0 h 475749"/>
              <a:gd name="connsiteX1" fmla="*/ 4792594 w 5298018"/>
              <a:gd name="connsiteY1" fmla="*/ 475749 h 475749"/>
              <a:gd name="connsiteX2" fmla="*/ 505473 w 5298018"/>
              <a:gd name="connsiteY2" fmla="*/ 475749 h 475749"/>
              <a:gd name="connsiteX3" fmla="*/ 0 w 5298018"/>
              <a:gd name="connsiteY3" fmla="*/ 0 h 475749"/>
            </a:gdLst>
            <a:ahLst/>
            <a:cxnLst>
              <a:cxn ang="0">
                <a:pos x="connsiteX0" y="connsiteY0"/>
              </a:cxn>
              <a:cxn ang="0">
                <a:pos x="connsiteX1" y="connsiteY1"/>
              </a:cxn>
              <a:cxn ang="0">
                <a:pos x="connsiteX2" y="connsiteY2"/>
              </a:cxn>
              <a:cxn ang="0">
                <a:pos x="connsiteX3" y="connsiteY3"/>
              </a:cxn>
            </a:cxnLst>
            <a:rect l="l" t="t" r="r" b="b"/>
            <a:pathLst>
              <a:path w="5298018" h="475749">
                <a:moveTo>
                  <a:pt x="5298019" y="0"/>
                </a:moveTo>
                <a:cubicBezTo>
                  <a:pt x="4930695" y="172726"/>
                  <a:pt x="5133304" y="475749"/>
                  <a:pt x="4792594" y="475749"/>
                </a:cubicBezTo>
                <a:lnTo>
                  <a:pt x="505473" y="475749"/>
                </a:lnTo>
                <a:cubicBezTo>
                  <a:pt x="164763" y="475749"/>
                  <a:pt x="367324" y="172726"/>
                  <a:pt x="0" y="0"/>
                </a:cubicBezTo>
                <a:close/>
              </a:path>
            </a:pathLst>
          </a:custGeom>
          <a:solidFill>
            <a:schemeClr val="accent1"/>
          </a:solidFill>
          <a:ln w="4881" cap="flat">
            <a:noFill/>
            <a:prstDash val="solid"/>
            <a:miter/>
          </a:ln>
        </p:spPr>
        <p:txBody>
          <a:bodyPr rtlCol="0" anchor="ctr"/>
          <a:lstStyle/>
          <a:p>
            <a:endParaRPr lang="en-EG" sz="1350"/>
          </a:p>
        </p:txBody>
      </p:sp>
    </p:spTree>
    <p:extLst>
      <p:ext uri="{BB962C8B-B14F-4D97-AF65-F5344CB8AC3E}">
        <p14:creationId xmlns:p14="http://schemas.microsoft.com/office/powerpoint/2010/main" val="3760809805"/>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AE1F1-69D8-4AB9-A2CB-D1008002AAAC}"/>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F920CFE4-0CFA-4BB0-99D2-46954FDDAFD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C256C7-FCFA-43F1-94D2-4A905D203211}"/>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6D5FC62-A4D6-4E31-874E-E2F7D31AD553}"/>
              </a:ext>
            </a:extLst>
          </p:cNvPr>
          <p:cNvSpPr>
            <a:spLocks noGrp="1"/>
          </p:cNvSpPr>
          <p:nvPr>
            <p:ph type="dt" sz="half" idx="10"/>
          </p:nvPr>
        </p:nvSpPr>
        <p:spPr/>
        <p:txBody>
          <a:bodyPr/>
          <a:lstStyle/>
          <a:p>
            <a:fld id="{EEA2FC0F-490E-4037-809F-EE94D2F34D5E}" type="datetimeFigureOut">
              <a:rPr lang="en-US" smtClean="0"/>
              <a:t>11/1/2021</a:t>
            </a:fld>
            <a:endParaRPr lang="en-US"/>
          </a:p>
        </p:txBody>
      </p:sp>
      <p:sp>
        <p:nvSpPr>
          <p:cNvPr id="6" name="Footer Placeholder 5">
            <a:extLst>
              <a:ext uri="{FF2B5EF4-FFF2-40B4-BE49-F238E27FC236}">
                <a16:creationId xmlns:a16="http://schemas.microsoft.com/office/drawing/2014/main" id="{7A567646-D893-4414-BAEC-A3578E0E0F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CF64B9-EAA5-4849-872E-8A5B5815208D}"/>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1836220739"/>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309EF-03C5-4888-88B5-4EA70E425490}"/>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08A5960-079A-48E1-843B-4F5A89112DBB}"/>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DED5F0BC-0F2D-4FBE-B9F3-4AA42F04CC1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89127A3-FA32-49FB-9287-668F7ED6DF56}"/>
              </a:ext>
            </a:extLst>
          </p:cNvPr>
          <p:cNvSpPr>
            <a:spLocks noGrp="1"/>
          </p:cNvSpPr>
          <p:nvPr>
            <p:ph type="dt" sz="half" idx="10"/>
          </p:nvPr>
        </p:nvSpPr>
        <p:spPr/>
        <p:txBody>
          <a:bodyPr/>
          <a:lstStyle/>
          <a:p>
            <a:fld id="{EEA2FC0F-490E-4037-809F-EE94D2F34D5E}" type="datetimeFigureOut">
              <a:rPr lang="en-US" smtClean="0"/>
              <a:t>11/1/2021</a:t>
            </a:fld>
            <a:endParaRPr lang="en-US"/>
          </a:p>
        </p:txBody>
      </p:sp>
      <p:sp>
        <p:nvSpPr>
          <p:cNvPr id="6" name="Footer Placeholder 5">
            <a:extLst>
              <a:ext uri="{FF2B5EF4-FFF2-40B4-BE49-F238E27FC236}">
                <a16:creationId xmlns:a16="http://schemas.microsoft.com/office/drawing/2014/main" id="{E7882F0A-7C33-4891-8DDC-058E2B9CE8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04B07F-B89D-44C8-9955-21F878CB4029}"/>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78031905"/>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F3897-2A10-48CC-B46F-A4984195FF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8313DE-D904-4D6D-A071-8078EACABB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08042B-5B4A-4A4A-91CB-597523F4FBF3}"/>
              </a:ext>
            </a:extLst>
          </p:cNvPr>
          <p:cNvSpPr>
            <a:spLocks noGrp="1"/>
          </p:cNvSpPr>
          <p:nvPr>
            <p:ph type="dt" sz="half" idx="10"/>
          </p:nvPr>
        </p:nvSpPr>
        <p:spPr/>
        <p:txBody>
          <a:bodyPr/>
          <a:lstStyle/>
          <a:p>
            <a:fld id="{EEA2FC0F-490E-4037-809F-EE94D2F34D5E}" type="datetimeFigureOut">
              <a:rPr lang="en-US" smtClean="0"/>
              <a:t>11/1/2021</a:t>
            </a:fld>
            <a:endParaRPr lang="en-US"/>
          </a:p>
        </p:txBody>
      </p:sp>
      <p:sp>
        <p:nvSpPr>
          <p:cNvPr id="5" name="Footer Placeholder 4">
            <a:extLst>
              <a:ext uri="{FF2B5EF4-FFF2-40B4-BE49-F238E27FC236}">
                <a16:creationId xmlns:a16="http://schemas.microsoft.com/office/drawing/2014/main" id="{AD9FBA54-D886-4643-8534-A20CFD9E3A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8AA205-DC56-4C6D-B193-E25F0A4A1D59}"/>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661360278"/>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43D52B-5A56-4B4C-9B42-D9A53D157502}"/>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2A10A3-6943-4364-97E4-E652E32B323F}"/>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11A199-B825-4041-8038-B421CFEF7369}"/>
              </a:ext>
            </a:extLst>
          </p:cNvPr>
          <p:cNvSpPr>
            <a:spLocks noGrp="1"/>
          </p:cNvSpPr>
          <p:nvPr>
            <p:ph type="dt" sz="half" idx="10"/>
          </p:nvPr>
        </p:nvSpPr>
        <p:spPr/>
        <p:txBody>
          <a:bodyPr/>
          <a:lstStyle/>
          <a:p>
            <a:fld id="{EEA2FC0F-490E-4037-809F-EE94D2F34D5E}" type="datetimeFigureOut">
              <a:rPr lang="en-US" smtClean="0"/>
              <a:t>11/1/2021</a:t>
            </a:fld>
            <a:endParaRPr lang="en-US"/>
          </a:p>
        </p:txBody>
      </p:sp>
      <p:sp>
        <p:nvSpPr>
          <p:cNvPr id="5" name="Footer Placeholder 4">
            <a:extLst>
              <a:ext uri="{FF2B5EF4-FFF2-40B4-BE49-F238E27FC236}">
                <a16:creationId xmlns:a16="http://schemas.microsoft.com/office/drawing/2014/main" id="{630F5A77-474F-4406-90D1-B956A7B3E3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88F4A5-AF5C-4AA5-BA15-0F4D22CF1B24}"/>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837694370"/>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andard Body Slide with Headline and Subhea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atin typeface="Arial"/>
              </a:defRPr>
            </a:lvl1pPr>
          </a:lstStyle>
          <a:p>
            <a:r>
              <a:rPr lang="en-US" dirty="0"/>
              <a:t>Slide Title</a:t>
            </a:r>
          </a:p>
        </p:txBody>
      </p:sp>
      <p:sp>
        <p:nvSpPr>
          <p:cNvPr id="6" name="Text Placeholder 12"/>
          <p:cNvSpPr>
            <a:spLocks noGrp="1"/>
          </p:cNvSpPr>
          <p:nvPr>
            <p:ph type="body" sz="quarter" idx="13"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sp>
        <p:nvSpPr>
          <p:cNvPr id="7" name="Text Placeholder 12"/>
          <p:cNvSpPr>
            <a:spLocks noGrp="1"/>
          </p:cNvSpPr>
          <p:nvPr>
            <p:ph type="body" sz="quarter" idx="14"/>
          </p:nvPr>
        </p:nvSpPr>
        <p:spPr>
          <a:xfrm>
            <a:off x="230188" y="1200150"/>
            <a:ext cx="8686800" cy="3429000"/>
          </a:xfrm>
        </p:spPr>
        <p:txBody>
          <a:bodyPr lIns="0" tIns="0" rIns="0" bIns="0">
            <a:noAutofit/>
          </a:bodyPr>
          <a:lstStyle>
            <a:lvl1pPr marL="0" indent="0">
              <a:spcBef>
                <a:spcPts val="0"/>
              </a:spcBef>
              <a:buFontTx/>
              <a:buNone/>
              <a:defRPr sz="1200" baseline="0">
                <a:solidFill>
                  <a:srgbClr val="000000"/>
                </a:solidFill>
              </a:defRPr>
            </a:lvl1pPr>
          </a:lstStyle>
          <a:p>
            <a:pPr lvl="0"/>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9" name="Date Placeholder 3"/>
          <p:cNvSpPr>
            <a:spLocks noGrp="1"/>
          </p:cNvSpPr>
          <p:nvPr>
            <p:ph type="dt" sz="half" idx="2"/>
          </p:nvPr>
        </p:nvSpPr>
        <p:spPr>
          <a:xfrm>
            <a:off x="6775704" y="4830696"/>
            <a:ext cx="1682496" cy="228600"/>
          </a:xfrm>
          <a:prstGeom prst="rect">
            <a:avLst/>
          </a:prstGeom>
        </p:spPr>
        <p:txBody>
          <a:bodyPr vert="horz" lIns="0" tIns="0" rIns="0" bIns="0" rtlCol="0" anchor="ctr"/>
          <a:lstStyle>
            <a:lvl1pPr algn="r">
              <a:defRPr sz="800">
                <a:solidFill>
                  <a:schemeClr val="tx1">
                    <a:tint val="75000"/>
                  </a:schemeClr>
                </a:solidFill>
                <a:latin typeface="Arial"/>
              </a:defRPr>
            </a:lvl1pPr>
          </a:lstStyle>
          <a:p>
            <a:fld id="{D6EC5702-CC6C-449A-9363-23B4FFE00979}" type="datetime1">
              <a:rPr lang="en-US" smtClean="0"/>
              <a:t>11/1/2021</a:t>
            </a:fld>
            <a:endParaRPr lang="en-US" dirty="0"/>
          </a:p>
        </p:txBody>
      </p:sp>
      <p:sp>
        <p:nvSpPr>
          <p:cNvPr id="10" name="Slide Number Placeholder 5"/>
          <p:cNvSpPr>
            <a:spLocks noGrp="1"/>
          </p:cNvSpPr>
          <p:nvPr>
            <p:ph type="sldNum" sz="quarter" idx="4"/>
          </p:nvPr>
        </p:nvSpPr>
        <p:spPr>
          <a:xfrm>
            <a:off x="8688499" y="4830692"/>
            <a:ext cx="228600" cy="228600"/>
          </a:xfrm>
          <a:prstGeom prst="rect">
            <a:avLst/>
          </a:prstGeom>
        </p:spPr>
        <p:txBody>
          <a:bodyPr vert="horz" lIns="0" tIns="0" rIns="0" bIns="0" rtlCol="0" anchor="ctr"/>
          <a:lstStyle>
            <a:lvl1pPr algn="l">
              <a:defRPr sz="800">
                <a:solidFill>
                  <a:schemeClr val="tx1">
                    <a:tint val="75000"/>
                  </a:schemeClr>
                </a:solidFill>
                <a:latin typeface="Arial"/>
              </a:defRPr>
            </a:lvl1pPr>
          </a:lstStyle>
          <a:p>
            <a:fld id="{4D82F6D6-BD64-564F-BDB4-3E98167DF08D}" type="slidenum">
              <a:rPr lang="en-US" smtClean="0"/>
              <a:pPr/>
              <a:t>‹#›</a:t>
            </a:fld>
            <a:endParaRPr lang="en-US" dirty="0"/>
          </a:p>
        </p:txBody>
      </p:sp>
      <p:cxnSp>
        <p:nvCxnSpPr>
          <p:cNvPr id="11" name="Straight Connector 10"/>
          <p:cNvCxnSpPr/>
          <p:nvPr userDrawn="1"/>
        </p:nvCxnSpPr>
        <p:spPr>
          <a:xfrm rot="5400000">
            <a:off x="8529532" y="4946102"/>
            <a:ext cx="77629" cy="1588"/>
          </a:xfrm>
          <a:prstGeom prst="line">
            <a:avLst/>
          </a:prstGeom>
          <a:ln w="6350">
            <a:solidFill>
              <a:srgbClr val="DA291C"/>
            </a:solidFill>
          </a:ln>
          <a:effectLst/>
        </p:spPr>
        <p:style>
          <a:lnRef idx="2">
            <a:schemeClr val="accent1"/>
          </a:lnRef>
          <a:fillRef idx="0">
            <a:schemeClr val="accent1"/>
          </a:fillRef>
          <a:effectRef idx="1">
            <a:schemeClr val="accent1"/>
          </a:effectRef>
          <a:fontRef idx="minor">
            <a:schemeClr val="tx1"/>
          </a:fontRef>
        </p:style>
      </p:cxnSp>
      <p:sp>
        <p:nvSpPr>
          <p:cNvPr id="36"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ver Slide Option 2">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0" y="1885949"/>
            <a:ext cx="9144000" cy="2743201"/>
          </a:xfrm>
        </p:spPr>
        <p:txBody>
          <a:bodyPr anchor="ctr" anchorCtr="0"/>
          <a:lstStyle>
            <a:lvl1pPr marL="0" indent="0" algn="ctr">
              <a:buFontTx/>
              <a:buNone/>
              <a:defRPr sz="1200"/>
            </a:lvl1pPr>
          </a:lstStyle>
          <a:p>
            <a:endParaRPr lang="en-US" dirty="0"/>
          </a:p>
        </p:txBody>
      </p:sp>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baseline="0"/>
            </a:lvl1pPr>
          </a:lstStyle>
          <a:p>
            <a:r>
              <a:rPr lang="en-US" dirty="0"/>
              <a:t>Slide Title</a:t>
            </a:r>
          </a:p>
        </p:txBody>
      </p:sp>
      <p:sp>
        <p:nvSpPr>
          <p:cNvPr id="6" name="Text Placeholder 12"/>
          <p:cNvSpPr>
            <a:spLocks noGrp="1"/>
          </p:cNvSpPr>
          <p:nvPr>
            <p:ph type="body" sz="quarter" idx="12" hasCustomPrompt="1"/>
          </p:nvPr>
        </p:nvSpPr>
        <p:spPr>
          <a:xfrm>
            <a:off x="228600" y="731520"/>
            <a:ext cx="6483096" cy="457200"/>
          </a:xfrm>
        </p:spPr>
        <p:txBody>
          <a:bodyPr lIns="0" tIns="0" rIns="0" bIns="0">
            <a:noAutofit/>
          </a:bodyPr>
          <a:lstStyle>
            <a:lvl1pPr marL="0" indent="0">
              <a:spcBef>
                <a:spcPts val="0"/>
              </a:spcBef>
              <a:buFontTx/>
              <a:buNone/>
              <a:defRPr sz="1800"/>
            </a:lvl1pPr>
          </a:lstStyle>
          <a:p>
            <a:pPr lvl="0"/>
            <a:r>
              <a:rPr lang="en-US" dirty="0"/>
              <a:t>Subhead</a:t>
            </a:r>
          </a:p>
        </p:txBody>
      </p:sp>
      <p:sp>
        <p:nvSpPr>
          <p:cNvPr id="10" name="Rectangle 9"/>
          <p:cNvSpPr/>
          <p:nvPr userDrawn="1"/>
        </p:nvSpPr>
        <p:spPr>
          <a:xfrm>
            <a:off x="8704716" y="4879337"/>
            <a:ext cx="218782" cy="159035"/>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11" name="Picture 10" descr="hitachi-consulting-logo-rendered.png"/>
          <p:cNvPicPr>
            <a:picLocks noChangeAspect="1"/>
          </p:cNvPicPr>
          <p:nvPr userDrawn="1"/>
        </p:nvPicPr>
        <p:blipFill>
          <a:blip r:embed="rId2"/>
          <a:stretch>
            <a:fillRect/>
          </a:stretch>
        </p:blipFill>
        <p:spPr>
          <a:xfrm>
            <a:off x="230188" y="4714875"/>
            <a:ext cx="1798009" cy="352519"/>
          </a:xfrm>
          <a:prstGeom prst="rect">
            <a:avLst/>
          </a:prstGeom>
        </p:spPr>
      </p:pic>
      <p:pic>
        <p:nvPicPr>
          <p:cNvPr id="13" name="Picture 12" descr="hitachi-inspire-the-next-logo.png"/>
          <p:cNvPicPr>
            <a:picLocks noChangeAspect="1"/>
          </p:cNvPicPr>
          <p:nvPr userDrawn="1"/>
        </p:nvPicPr>
        <p:blipFill>
          <a:blip r:embed="rId3">
            <a:alphaModFix/>
          </a:blip>
          <a:stretch>
            <a:fillRect/>
          </a:stretch>
        </p:blipFill>
        <p:spPr>
          <a:xfrm>
            <a:off x="7740438" y="128016"/>
            <a:ext cx="1289130" cy="52232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Divider Option 1">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0" y="1200150"/>
            <a:ext cx="9144000" cy="3429000"/>
          </a:xfrm>
        </p:spPr>
        <p:txBody>
          <a:bodyPr anchor="ctr" anchorCtr="0">
            <a:noAutofit/>
          </a:bodyPr>
          <a:lstStyle>
            <a:lvl1pPr marL="0" indent="0" algn="ctr">
              <a:buFontTx/>
              <a:buNone/>
              <a:defRPr sz="1200"/>
            </a:lvl1pPr>
          </a:lstStyle>
          <a:p>
            <a:endParaRPr lang="en-US" dirty="0"/>
          </a:p>
        </p:txBody>
      </p:sp>
      <p:pic>
        <p:nvPicPr>
          <p:cNvPr id="7" name="Picture 6"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11"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Divider Option 2">
    <p:spTree>
      <p:nvGrpSpPr>
        <p:cNvPr id="1" name=""/>
        <p:cNvGrpSpPr/>
        <p:nvPr/>
      </p:nvGrpSpPr>
      <p:grpSpPr>
        <a:xfrm>
          <a:off x="0" y="0"/>
          <a:ext cx="0" cy="0"/>
          <a:chOff x="0" y="0"/>
          <a:chExt cx="0" cy="0"/>
        </a:xfrm>
      </p:grpSpPr>
      <p:sp>
        <p:nvSpPr>
          <p:cNvPr id="18" name="Picture Placeholder 16"/>
          <p:cNvSpPr>
            <a:spLocks noGrp="1"/>
          </p:cNvSpPr>
          <p:nvPr>
            <p:ph type="pic" sz="quarter" idx="15"/>
          </p:nvPr>
        </p:nvSpPr>
        <p:spPr>
          <a:xfrm>
            <a:off x="0" y="1200151"/>
            <a:ext cx="5430837" cy="3428999"/>
          </a:xfrm>
        </p:spPr>
        <p:txBody>
          <a:bodyPr anchor="ctr" anchorCtr="0">
            <a:noAutofit/>
          </a:bodyPr>
          <a:lstStyle>
            <a:lvl1pPr algn="ctr">
              <a:buNone/>
              <a:defRPr sz="1200"/>
            </a:lvl1pPr>
          </a:lstStyle>
          <a:p>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14"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Divider Option 3">
    <p:spTree>
      <p:nvGrpSpPr>
        <p:cNvPr id="1" name=""/>
        <p:cNvGrpSpPr/>
        <p:nvPr/>
      </p:nvGrpSpPr>
      <p:grpSpPr>
        <a:xfrm>
          <a:off x="0" y="0"/>
          <a:ext cx="0" cy="0"/>
          <a:chOff x="0" y="0"/>
          <a:chExt cx="0" cy="0"/>
        </a:xfrm>
      </p:grpSpPr>
      <p:sp>
        <p:nvSpPr>
          <p:cNvPr id="15" name="Picture Placeholder 14"/>
          <p:cNvSpPr>
            <a:spLocks noGrp="1"/>
          </p:cNvSpPr>
          <p:nvPr>
            <p:ph type="pic" sz="quarter" idx="15"/>
          </p:nvPr>
        </p:nvSpPr>
        <p:spPr>
          <a:xfrm>
            <a:off x="0" y="1889125"/>
            <a:ext cx="9144000" cy="2740025"/>
          </a:xfrm>
        </p:spPr>
        <p:txBody>
          <a:bodyPr anchor="ctr" anchorCtr="0">
            <a:noAutofit/>
          </a:bodyPr>
          <a:lstStyle>
            <a:lvl1pPr algn="ctr">
              <a:buNone/>
              <a:defRPr sz="1200"/>
            </a:lvl1pPr>
          </a:lstStyle>
          <a:p>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16"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C Background Mas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vl1pPr>
          </a:lstStyle>
          <a:p>
            <a:r>
              <a:rPr lang="en-US" dirty="0"/>
              <a:t>Slide Title</a:t>
            </a:r>
          </a:p>
        </p:txBody>
      </p:sp>
      <p:sp>
        <p:nvSpPr>
          <p:cNvPr id="24" name="Text Placeholder 12"/>
          <p:cNvSpPr>
            <a:spLocks noGrp="1"/>
          </p:cNvSpPr>
          <p:nvPr>
            <p:ph type="body" sz="quarter" idx="24"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pic>
        <p:nvPicPr>
          <p:cNvPr id="23" name="Picture 22"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28"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extLst>
      <p:ext uri="{BB962C8B-B14F-4D97-AF65-F5344CB8AC3E}">
        <p14:creationId xmlns:p14="http://schemas.microsoft.com/office/powerpoint/2010/main" val="17479664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cess and Table Mas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vl1pPr>
          </a:lstStyle>
          <a:p>
            <a:r>
              <a:rPr lang="en-US" dirty="0"/>
              <a:t>Slide Title</a:t>
            </a:r>
          </a:p>
        </p:txBody>
      </p:sp>
      <p:sp>
        <p:nvSpPr>
          <p:cNvPr id="24" name="Text Placeholder 12"/>
          <p:cNvSpPr>
            <a:spLocks noGrp="1"/>
          </p:cNvSpPr>
          <p:nvPr>
            <p:ph type="body" sz="quarter" idx="24"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pic>
        <p:nvPicPr>
          <p:cNvPr id="23" name="Picture 22"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25" name="Date Placeholder 3"/>
          <p:cNvSpPr>
            <a:spLocks noGrp="1"/>
          </p:cNvSpPr>
          <p:nvPr>
            <p:ph type="dt" sz="half" idx="2"/>
          </p:nvPr>
        </p:nvSpPr>
        <p:spPr>
          <a:xfrm>
            <a:off x="6775704" y="4830696"/>
            <a:ext cx="1682496" cy="228600"/>
          </a:xfrm>
          <a:prstGeom prst="rect">
            <a:avLst/>
          </a:prstGeom>
        </p:spPr>
        <p:txBody>
          <a:bodyPr vert="horz" lIns="0" tIns="0" rIns="0" bIns="0" rtlCol="0" anchor="ctr"/>
          <a:lstStyle>
            <a:lvl1pPr algn="r">
              <a:defRPr sz="800">
                <a:solidFill>
                  <a:schemeClr val="tx1">
                    <a:tint val="75000"/>
                  </a:schemeClr>
                </a:solidFill>
                <a:latin typeface="Arial"/>
              </a:defRPr>
            </a:lvl1pPr>
          </a:lstStyle>
          <a:p>
            <a:fld id="{69235B16-92EC-4ADE-AC67-A1F32B564842}" type="datetime1">
              <a:rPr lang="en-US" smtClean="0"/>
              <a:t>11/1/2021</a:t>
            </a:fld>
            <a:endParaRPr lang="en-US" dirty="0"/>
          </a:p>
        </p:txBody>
      </p:sp>
      <p:sp>
        <p:nvSpPr>
          <p:cNvPr id="26" name="Slide Number Placeholder 5"/>
          <p:cNvSpPr>
            <a:spLocks noGrp="1"/>
          </p:cNvSpPr>
          <p:nvPr>
            <p:ph type="sldNum" sz="quarter" idx="4"/>
          </p:nvPr>
        </p:nvSpPr>
        <p:spPr>
          <a:xfrm>
            <a:off x="8688499" y="4830692"/>
            <a:ext cx="228600" cy="228600"/>
          </a:xfrm>
          <a:prstGeom prst="rect">
            <a:avLst/>
          </a:prstGeom>
        </p:spPr>
        <p:txBody>
          <a:bodyPr vert="horz" lIns="0" tIns="0" rIns="0" bIns="0" rtlCol="0" anchor="ctr"/>
          <a:lstStyle>
            <a:lvl1pPr algn="l">
              <a:defRPr sz="800">
                <a:solidFill>
                  <a:schemeClr val="tx1">
                    <a:tint val="75000"/>
                  </a:schemeClr>
                </a:solidFill>
                <a:latin typeface="Arial"/>
              </a:defRPr>
            </a:lvl1pPr>
          </a:lstStyle>
          <a:p>
            <a:fld id="{4D82F6D6-BD64-564F-BDB4-3E98167DF08D}" type="slidenum">
              <a:rPr lang="en-US" smtClean="0"/>
              <a:pPr/>
              <a:t>‹#›</a:t>
            </a:fld>
            <a:endParaRPr lang="en-US" dirty="0"/>
          </a:p>
        </p:txBody>
      </p:sp>
      <p:cxnSp>
        <p:nvCxnSpPr>
          <p:cNvPr id="27" name="Straight Connector 26"/>
          <p:cNvCxnSpPr/>
          <p:nvPr userDrawn="1"/>
        </p:nvCxnSpPr>
        <p:spPr>
          <a:xfrm rot="5400000">
            <a:off x="8529532" y="4946102"/>
            <a:ext cx="77629" cy="1588"/>
          </a:xfrm>
          <a:prstGeom prst="line">
            <a:avLst/>
          </a:prstGeom>
          <a:ln w="6350">
            <a:solidFill>
              <a:srgbClr val="DA291C"/>
            </a:solidFill>
          </a:ln>
          <a:effectLst/>
        </p:spPr>
        <p:style>
          <a:lnRef idx="2">
            <a:schemeClr val="accent1"/>
          </a:lnRef>
          <a:fillRef idx="0">
            <a:schemeClr val="accent1"/>
          </a:fillRef>
          <a:effectRef idx="1">
            <a:schemeClr val="accent1"/>
          </a:effectRef>
          <a:fontRef idx="minor">
            <a:schemeClr val="tx1"/>
          </a:fontRef>
        </p:style>
      </p:cxnSp>
      <p:sp>
        <p:nvSpPr>
          <p:cNvPr id="28"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
        <p:nvSpPr>
          <p:cNvPr id="22" name="Picture Placeholder 16"/>
          <p:cNvSpPr>
            <a:spLocks noGrp="1"/>
          </p:cNvSpPr>
          <p:nvPr>
            <p:ph type="pic" sz="quarter" idx="15"/>
          </p:nvPr>
        </p:nvSpPr>
        <p:spPr>
          <a:xfrm>
            <a:off x="230186" y="1889125"/>
            <a:ext cx="2286000" cy="457200"/>
          </a:xfrm>
        </p:spPr>
        <p:txBody>
          <a:bodyPr anchor="ctr" anchorCtr="0">
            <a:noAutofit/>
          </a:bodyPr>
          <a:lstStyle>
            <a:lvl1pPr algn="ctr">
              <a:buNone/>
              <a:defRPr sz="1200"/>
            </a:lvl1pPr>
          </a:lstStyle>
          <a:p>
            <a:endParaRPr lang="en-US" dirty="0"/>
          </a:p>
        </p:txBody>
      </p:sp>
      <p:sp>
        <p:nvSpPr>
          <p:cNvPr id="29" name="Picture Placeholder 16"/>
          <p:cNvSpPr>
            <a:spLocks noGrp="1"/>
          </p:cNvSpPr>
          <p:nvPr>
            <p:ph type="pic" sz="quarter" idx="25"/>
          </p:nvPr>
        </p:nvSpPr>
        <p:spPr>
          <a:xfrm>
            <a:off x="230188" y="2452688"/>
            <a:ext cx="2286000" cy="457200"/>
          </a:xfrm>
        </p:spPr>
        <p:txBody>
          <a:bodyPr anchor="ctr" anchorCtr="0">
            <a:noAutofit/>
          </a:bodyPr>
          <a:lstStyle>
            <a:lvl1pPr algn="ctr">
              <a:buNone/>
              <a:defRPr sz="1200"/>
            </a:lvl1pPr>
          </a:lstStyle>
          <a:p>
            <a:endParaRPr lang="en-US" dirty="0"/>
          </a:p>
        </p:txBody>
      </p:sp>
      <p:sp>
        <p:nvSpPr>
          <p:cNvPr id="30" name="Picture Placeholder 16"/>
          <p:cNvSpPr>
            <a:spLocks noGrp="1"/>
          </p:cNvSpPr>
          <p:nvPr>
            <p:ph type="pic" sz="quarter" idx="26"/>
          </p:nvPr>
        </p:nvSpPr>
        <p:spPr>
          <a:xfrm>
            <a:off x="230188" y="3014663"/>
            <a:ext cx="2286000" cy="457200"/>
          </a:xfrm>
        </p:spPr>
        <p:txBody>
          <a:bodyPr anchor="ctr" anchorCtr="0">
            <a:noAutofit/>
          </a:bodyPr>
          <a:lstStyle>
            <a:lvl1pPr algn="ctr">
              <a:buNone/>
              <a:defRPr sz="1200"/>
            </a:lvl1pPr>
          </a:lstStyle>
          <a:p>
            <a:endParaRPr lang="en-US" dirty="0"/>
          </a:p>
        </p:txBody>
      </p:sp>
      <p:sp>
        <p:nvSpPr>
          <p:cNvPr id="31" name="Picture Placeholder 16"/>
          <p:cNvSpPr>
            <a:spLocks noGrp="1"/>
          </p:cNvSpPr>
          <p:nvPr>
            <p:ph type="pic" sz="quarter" idx="27"/>
          </p:nvPr>
        </p:nvSpPr>
        <p:spPr>
          <a:xfrm>
            <a:off x="230188" y="3578225"/>
            <a:ext cx="2286000" cy="457200"/>
          </a:xfrm>
        </p:spPr>
        <p:txBody>
          <a:bodyPr anchor="ctr" anchorCtr="0">
            <a:noAutofit/>
          </a:bodyPr>
          <a:lstStyle>
            <a:lvl1pPr algn="ctr">
              <a:buNone/>
              <a:defRPr sz="1200"/>
            </a:lvl1pPr>
          </a:lstStyle>
          <a:p>
            <a:endParaRPr lang="en-US" dirty="0"/>
          </a:p>
        </p:txBody>
      </p:sp>
      <p:sp>
        <p:nvSpPr>
          <p:cNvPr id="32" name="Picture Placeholder 16"/>
          <p:cNvSpPr>
            <a:spLocks noGrp="1"/>
          </p:cNvSpPr>
          <p:nvPr>
            <p:ph type="pic" sz="quarter" idx="28"/>
          </p:nvPr>
        </p:nvSpPr>
        <p:spPr>
          <a:xfrm>
            <a:off x="230188" y="4141788"/>
            <a:ext cx="2286000" cy="457200"/>
          </a:xfrm>
        </p:spPr>
        <p:txBody>
          <a:bodyPr anchor="ctr" anchorCtr="0">
            <a:noAutofit/>
          </a:bodyPr>
          <a:lstStyle>
            <a:lvl1pPr algn="ctr">
              <a:buNone/>
              <a:defRPr sz="1200"/>
            </a:lvl1pPr>
          </a:lstStyle>
          <a:p>
            <a:endParaRPr lang="en-US" dirty="0"/>
          </a:p>
        </p:txBody>
      </p:sp>
    </p:spTree>
    <p:extLst>
      <p:ext uri="{BB962C8B-B14F-4D97-AF65-F5344CB8AC3E}">
        <p14:creationId xmlns:p14="http://schemas.microsoft.com/office/powerpoint/2010/main" val="27602922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ultiple Graph Option 1 Mas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atin typeface="Arial"/>
              </a:defRPr>
            </a:lvl1pPr>
          </a:lstStyle>
          <a:p>
            <a:r>
              <a:rPr lang="en-US" dirty="0"/>
              <a:t>Slide Title</a:t>
            </a:r>
          </a:p>
        </p:txBody>
      </p:sp>
      <p:sp>
        <p:nvSpPr>
          <p:cNvPr id="6" name="Text Placeholder 12"/>
          <p:cNvSpPr>
            <a:spLocks noGrp="1"/>
          </p:cNvSpPr>
          <p:nvPr>
            <p:ph type="body" sz="quarter" idx="13"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sp>
        <p:nvSpPr>
          <p:cNvPr id="7" name="Text Placeholder 12"/>
          <p:cNvSpPr>
            <a:spLocks noGrp="1"/>
          </p:cNvSpPr>
          <p:nvPr>
            <p:ph type="body" sz="quarter" idx="14"/>
          </p:nvPr>
        </p:nvSpPr>
        <p:spPr>
          <a:xfrm>
            <a:off x="230188" y="1200150"/>
            <a:ext cx="8686800" cy="688975"/>
          </a:xfrm>
        </p:spPr>
        <p:txBody>
          <a:bodyPr lIns="0" tIns="0" rIns="0" bIns="0">
            <a:noAutofit/>
          </a:bodyPr>
          <a:lstStyle>
            <a:lvl1pPr marL="0" indent="0">
              <a:spcBef>
                <a:spcPts val="0"/>
              </a:spcBef>
              <a:buFontTx/>
              <a:buNone/>
              <a:defRPr sz="1200" baseline="0">
                <a:solidFill>
                  <a:srgbClr val="000000"/>
                </a:solidFill>
              </a:defRPr>
            </a:lvl1pPr>
          </a:lstStyle>
          <a:p>
            <a:pPr lvl="0"/>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9" name="Date Placeholder 3"/>
          <p:cNvSpPr>
            <a:spLocks noGrp="1"/>
          </p:cNvSpPr>
          <p:nvPr>
            <p:ph type="dt" sz="half" idx="2"/>
          </p:nvPr>
        </p:nvSpPr>
        <p:spPr>
          <a:xfrm>
            <a:off x="6775704" y="4830696"/>
            <a:ext cx="1682496" cy="228600"/>
          </a:xfrm>
          <a:prstGeom prst="rect">
            <a:avLst/>
          </a:prstGeom>
        </p:spPr>
        <p:txBody>
          <a:bodyPr vert="horz" lIns="0" tIns="0" rIns="0" bIns="0" rtlCol="0" anchor="ctr"/>
          <a:lstStyle>
            <a:lvl1pPr algn="r">
              <a:defRPr sz="800">
                <a:solidFill>
                  <a:schemeClr val="tx1">
                    <a:tint val="75000"/>
                  </a:schemeClr>
                </a:solidFill>
                <a:latin typeface="Arial"/>
              </a:defRPr>
            </a:lvl1pPr>
          </a:lstStyle>
          <a:p>
            <a:fld id="{C48BA28F-F5EE-4CA9-83D1-C0DADD8673A3}" type="datetime1">
              <a:rPr lang="en-US" smtClean="0"/>
              <a:t>11/1/2021</a:t>
            </a:fld>
            <a:endParaRPr lang="en-US" dirty="0"/>
          </a:p>
        </p:txBody>
      </p:sp>
      <p:sp>
        <p:nvSpPr>
          <p:cNvPr id="10" name="Slide Number Placeholder 5"/>
          <p:cNvSpPr>
            <a:spLocks noGrp="1"/>
          </p:cNvSpPr>
          <p:nvPr>
            <p:ph type="sldNum" sz="quarter" idx="4"/>
          </p:nvPr>
        </p:nvSpPr>
        <p:spPr>
          <a:xfrm>
            <a:off x="8688499" y="4830692"/>
            <a:ext cx="228600" cy="228600"/>
          </a:xfrm>
          <a:prstGeom prst="rect">
            <a:avLst/>
          </a:prstGeom>
        </p:spPr>
        <p:txBody>
          <a:bodyPr vert="horz" lIns="0" tIns="0" rIns="0" bIns="0" rtlCol="0" anchor="ctr"/>
          <a:lstStyle>
            <a:lvl1pPr algn="l">
              <a:defRPr sz="800">
                <a:solidFill>
                  <a:schemeClr val="tx1">
                    <a:tint val="75000"/>
                  </a:schemeClr>
                </a:solidFill>
                <a:latin typeface="Arial"/>
              </a:defRPr>
            </a:lvl1pPr>
          </a:lstStyle>
          <a:p>
            <a:fld id="{4D82F6D6-BD64-564F-BDB4-3E98167DF08D}" type="slidenum">
              <a:rPr lang="en-US" smtClean="0"/>
              <a:pPr/>
              <a:t>‹#›</a:t>
            </a:fld>
            <a:endParaRPr lang="en-US" dirty="0"/>
          </a:p>
        </p:txBody>
      </p:sp>
      <p:cxnSp>
        <p:nvCxnSpPr>
          <p:cNvPr id="11" name="Straight Connector 10"/>
          <p:cNvCxnSpPr/>
          <p:nvPr userDrawn="1"/>
        </p:nvCxnSpPr>
        <p:spPr>
          <a:xfrm rot="5400000">
            <a:off x="8529532" y="4946102"/>
            <a:ext cx="77629" cy="1588"/>
          </a:xfrm>
          <a:prstGeom prst="line">
            <a:avLst/>
          </a:prstGeom>
          <a:ln w="6350">
            <a:solidFill>
              <a:srgbClr val="DA291C"/>
            </a:solidFill>
          </a:ln>
          <a:effectLst/>
        </p:spPr>
        <p:style>
          <a:lnRef idx="2">
            <a:schemeClr val="accent1"/>
          </a:lnRef>
          <a:fillRef idx="0">
            <a:schemeClr val="accent1"/>
          </a:fillRef>
          <a:effectRef idx="1">
            <a:schemeClr val="accent1"/>
          </a:effectRef>
          <a:fontRef idx="minor">
            <a:schemeClr val="tx1"/>
          </a:fontRef>
        </p:style>
      </p:cxnSp>
      <p:sp>
        <p:nvSpPr>
          <p:cNvPr id="36"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
        <p:nvSpPr>
          <p:cNvPr id="22" name="Picture Placeholder 16"/>
          <p:cNvSpPr>
            <a:spLocks noGrp="1"/>
          </p:cNvSpPr>
          <p:nvPr>
            <p:ph type="pic" sz="quarter" idx="15"/>
          </p:nvPr>
        </p:nvSpPr>
        <p:spPr>
          <a:xfrm>
            <a:off x="230186" y="1889125"/>
            <a:ext cx="4233672" cy="1225296"/>
          </a:xfrm>
        </p:spPr>
        <p:txBody>
          <a:bodyPr anchor="ctr" anchorCtr="0">
            <a:noAutofit/>
          </a:bodyPr>
          <a:lstStyle>
            <a:lvl1pPr algn="ctr">
              <a:buNone/>
              <a:defRPr sz="1200"/>
            </a:lvl1pPr>
          </a:lstStyle>
          <a:p>
            <a:endParaRPr lang="en-US" dirty="0"/>
          </a:p>
        </p:txBody>
      </p:sp>
      <p:sp>
        <p:nvSpPr>
          <p:cNvPr id="23" name="Picture Placeholder 16"/>
          <p:cNvSpPr>
            <a:spLocks noGrp="1"/>
          </p:cNvSpPr>
          <p:nvPr>
            <p:ph type="pic" sz="quarter" idx="16"/>
          </p:nvPr>
        </p:nvSpPr>
        <p:spPr>
          <a:xfrm>
            <a:off x="4680462" y="1889125"/>
            <a:ext cx="4233672" cy="1225296"/>
          </a:xfrm>
        </p:spPr>
        <p:txBody>
          <a:bodyPr anchor="ctr" anchorCtr="0">
            <a:noAutofit/>
          </a:bodyPr>
          <a:lstStyle>
            <a:lvl1pPr algn="ctr">
              <a:buNone/>
              <a:defRPr sz="1200"/>
            </a:lvl1pPr>
          </a:lstStyle>
          <a:p>
            <a:endParaRPr lang="en-US" dirty="0"/>
          </a:p>
        </p:txBody>
      </p:sp>
      <p:sp>
        <p:nvSpPr>
          <p:cNvPr id="24" name="Picture Placeholder 16"/>
          <p:cNvSpPr>
            <a:spLocks noGrp="1"/>
          </p:cNvSpPr>
          <p:nvPr>
            <p:ph type="pic" sz="quarter" idx="17"/>
          </p:nvPr>
        </p:nvSpPr>
        <p:spPr>
          <a:xfrm>
            <a:off x="230186" y="3378816"/>
            <a:ext cx="4233672" cy="1225296"/>
          </a:xfrm>
        </p:spPr>
        <p:txBody>
          <a:bodyPr anchor="ctr" anchorCtr="0">
            <a:noAutofit/>
          </a:bodyPr>
          <a:lstStyle>
            <a:lvl1pPr algn="ctr">
              <a:buNone/>
              <a:defRPr sz="1200"/>
            </a:lvl1pPr>
          </a:lstStyle>
          <a:p>
            <a:endParaRPr lang="en-US" dirty="0"/>
          </a:p>
        </p:txBody>
      </p:sp>
      <p:sp>
        <p:nvSpPr>
          <p:cNvPr id="25" name="Picture Placeholder 16"/>
          <p:cNvSpPr>
            <a:spLocks noGrp="1"/>
          </p:cNvSpPr>
          <p:nvPr>
            <p:ph type="pic" sz="quarter" idx="18"/>
          </p:nvPr>
        </p:nvSpPr>
        <p:spPr>
          <a:xfrm>
            <a:off x="4680462" y="3378816"/>
            <a:ext cx="4233672" cy="1225296"/>
          </a:xfrm>
        </p:spPr>
        <p:txBody>
          <a:bodyPr anchor="ctr" anchorCtr="0">
            <a:noAutofit/>
          </a:bodyPr>
          <a:lstStyle>
            <a:lvl1pPr algn="ctr">
              <a:buNone/>
              <a:defRPr sz="1200"/>
            </a:lvl1pPr>
          </a:lstStyle>
          <a:p>
            <a:endParaRPr lang="en-US" dirty="0"/>
          </a:p>
        </p:txBody>
      </p:sp>
    </p:spTree>
    <p:extLst>
      <p:ext uri="{BB962C8B-B14F-4D97-AF65-F5344CB8AC3E}">
        <p14:creationId xmlns:p14="http://schemas.microsoft.com/office/powerpoint/2010/main" val="18695324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Rectangle 2"/>
          <p:cNvSpPr/>
          <p:nvPr userDrawn="1"/>
        </p:nvSpPr>
        <p:spPr>
          <a:xfrm>
            <a:off x="313381" y="4915450"/>
            <a:ext cx="4065124" cy="228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30" tIns="45715" rIns="91430" bIns="45715" rtlCol="0" anchor="ctr"/>
          <a:lstStyle/>
          <a:p>
            <a:pPr algn="ctr"/>
            <a:endParaRPr lang="en-US" dirty="0"/>
          </a:p>
        </p:txBody>
      </p:sp>
    </p:spTree>
    <p:extLst>
      <p:ext uri="{BB962C8B-B14F-4D97-AF65-F5344CB8AC3E}">
        <p14:creationId xmlns:p14="http://schemas.microsoft.com/office/powerpoint/2010/main" val="8921103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53"/>
          <p:cNvSpPr>
            <a:spLocks noGrp="1"/>
          </p:cNvSpPr>
          <p:nvPr>
            <p:ph idx="1" hasCustomPrompt="1"/>
          </p:nvPr>
        </p:nvSpPr>
        <p:spPr>
          <a:xfrm>
            <a:off x="264161" y="1244666"/>
            <a:ext cx="8575039" cy="1494768"/>
          </a:xfrm>
          <a:prstGeom prst="rect">
            <a:avLst/>
          </a:prstGeom>
        </p:spPr>
        <p:txBody>
          <a:bodyPr vert="horz" wrap="square" lIns="91430" tIns="91440" rIns="91430" bIns="91440" rtlCol="0">
            <a:spAutoFit/>
          </a:bodyPr>
          <a:lstStyle>
            <a:lvl1pPr marL="280953" indent="-280953">
              <a:buSzPct val="55000"/>
              <a:buFont typeface="Wingdings" charset="2"/>
              <a:buChar char="u"/>
              <a:defRPr sz="1800"/>
            </a:lvl1pPr>
            <a:lvl2pPr>
              <a:defRPr sz="1600"/>
            </a:lvl2pPr>
            <a:lvl3pPr marL="855557" indent="-280953">
              <a:buClr>
                <a:schemeClr val="tx2"/>
              </a:buClr>
              <a:buFont typeface="Wingdings" charset="2"/>
              <a:buChar char="§"/>
              <a:defRPr sz="1600"/>
            </a:lvl3pPr>
            <a:lvl4pPr>
              <a:defRPr sz="1600" baseline="0"/>
            </a:lvl4pPr>
          </a:lstStyle>
          <a:p>
            <a:pPr lvl="0"/>
            <a:r>
              <a:rPr lang="en-US" dirty="0"/>
              <a:t>Click to add text</a:t>
            </a:r>
          </a:p>
          <a:p>
            <a:pPr lvl="1"/>
            <a:r>
              <a:rPr lang="en-US" dirty="0"/>
              <a:t>Second level</a:t>
            </a:r>
          </a:p>
          <a:p>
            <a:pPr lvl="2"/>
            <a:r>
              <a:rPr lang="en-US" dirty="0"/>
              <a:t>Third level</a:t>
            </a:r>
          </a:p>
          <a:p>
            <a:pPr lvl="3"/>
            <a:r>
              <a:rPr lang="en-US" dirty="0"/>
              <a:t>Forth level</a:t>
            </a:r>
          </a:p>
        </p:txBody>
      </p:sp>
      <p:sp>
        <p:nvSpPr>
          <p:cNvPr id="4" name="Text Placeholder 5"/>
          <p:cNvSpPr>
            <a:spLocks noGrp="1"/>
          </p:cNvSpPr>
          <p:nvPr>
            <p:ph type="body" sz="quarter" idx="24"/>
          </p:nvPr>
        </p:nvSpPr>
        <p:spPr>
          <a:xfrm>
            <a:off x="264160" y="877455"/>
            <a:ext cx="8575040" cy="369332"/>
          </a:xfrm>
          <a:prstGeom prst="rect">
            <a:avLst/>
          </a:prstGeom>
        </p:spPr>
        <p:txBody>
          <a:bodyPr>
            <a:spAutoFit/>
          </a:bodyPr>
          <a:lstStyle>
            <a:lvl1pPr marL="0" indent="0">
              <a:buNone/>
              <a:defRPr sz="1800" b="0"/>
            </a:lvl1pPr>
          </a:lstStyle>
          <a:p>
            <a:r>
              <a:rPr lang="en-US" dirty="0"/>
              <a:t>Slide subtitle</a:t>
            </a:r>
          </a:p>
        </p:txBody>
      </p:sp>
    </p:spTree>
    <p:extLst>
      <p:ext uri="{BB962C8B-B14F-4D97-AF65-F5344CB8AC3E}">
        <p14:creationId xmlns:p14="http://schemas.microsoft.com/office/powerpoint/2010/main" val="38905931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 Client Title and Content : Line">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65941"/>
            <a:ext cx="8229600" cy="3428286"/>
          </a:xfrm>
        </p:spPr>
        <p:txBody>
          <a:bodyPr/>
          <a:lstStyle>
            <a:lvl1pPr marL="0" indent="0">
              <a:buClr>
                <a:schemeClr val="tx1">
                  <a:lumMod val="75000"/>
                  <a:lumOff val="25000"/>
                </a:schemeClr>
              </a:buClr>
              <a:buFont typeface="Arial"/>
              <a:buNone/>
              <a:defRPr/>
            </a:lvl1pPr>
            <a:lvl2pPr marL="274320" indent="0">
              <a:buClr>
                <a:schemeClr val="accent6"/>
              </a:buClr>
              <a:buFont typeface="Arial"/>
              <a:buNone/>
              <a:defRPr sz="1100"/>
            </a:lvl2pPr>
            <a:lvl3pPr marL="548640" indent="0">
              <a:buClr>
                <a:schemeClr val="tx2"/>
              </a:buClr>
              <a:buFont typeface="Arial"/>
              <a:buNone/>
              <a:defRPr sz="1050"/>
            </a:lvl3pPr>
            <a:lvl4pPr marL="822960" indent="0">
              <a:buNone/>
              <a:defRPr sz="1000"/>
            </a:lvl4pPr>
            <a:lvl5pPr marL="1143000" indent="0">
              <a:buNone/>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8" name="Straight Connector 27"/>
          <p:cNvCxnSpPr/>
          <p:nvPr userDrawn="1"/>
        </p:nvCxnSpPr>
        <p:spPr>
          <a:xfrm>
            <a:off x="457200" y="879284"/>
            <a:ext cx="8229600" cy="0"/>
          </a:xfrm>
          <a:prstGeom prst="line">
            <a:avLst/>
          </a:prstGeom>
          <a:ln w="12700" cap="flat" cmpd="sng" algn="ctr">
            <a:solidFill>
              <a:schemeClr val="bg1">
                <a:lumMod val="7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0"/>
            <a:ext cx="9144000" cy="108857"/>
          </a:xfrm>
          <a:prstGeom prst="rect">
            <a:avLst/>
          </a:prstGeom>
          <a:solidFill>
            <a:srgbClr val="C6002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lt1"/>
              </a:solidFill>
            </a:endParaRPr>
          </a:p>
        </p:txBody>
      </p:sp>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3328990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4536B8-BC4D-477E-BD3E-1E14E11F4311}"/>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B19134-91FE-46CC-B0FB-BEDBEF5880F1}"/>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8AF512-084F-4371-A0B6-8088CB77895C}"/>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EEA2FC0F-490E-4037-809F-EE94D2F34D5E}" type="datetimeFigureOut">
              <a:rPr lang="en-US" smtClean="0"/>
              <a:t>11/1/2021</a:t>
            </a:fld>
            <a:endParaRPr lang="en-US"/>
          </a:p>
        </p:txBody>
      </p:sp>
      <p:sp>
        <p:nvSpPr>
          <p:cNvPr id="5" name="Footer Placeholder 4">
            <a:extLst>
              <a:ext uri="{FF2B5EF4-FFF2-40B4-BE49-F238E27FC236}">
                <a16:creationId xmlns:a16="http://schemas.microsoft.com/office/drawing/2014/main" id="{1E09B006-DED5-43AC-A255-C435A76BF942}"/>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95B28A4-A031-40DC-89D6-956EADB64DCD}"/>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ECA14B2-F45F-4421-8663-2E4CBFF6CDB4}" type="slidenum">
              <a:rPr lang="en-US" smtClean="0"/>
              <a:t>‹#›</a:t>
            </a:fld>
            <a:endParaRPr lang="en-US"/>
          </a:p>
        </p:txBody>
      </p:sp>
    </p:spTree>
    <p:extLst>
      <p:ext uri="{BB962C8B-B14F-4D97-AF65-F5344CB8AC3E}">
        <p14:creationId xmlns:p14="http://schemas.microsoft.com/office/powerpoint/2010/main" val="3421864977"/>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654" r:id="rId12"/>
    <p:sldLayoutId id="2147483701" r:id="rId13"/>
    <p:sldLayoutId id="2147483668" r:id="rId14"/>
    <p:sldLayoutId id="2147483670" r:id="rId15"/>
    <p:sldLayoutId id="2147483671" r:id="rId16"/>
    <p:sldLayoutId id="2147483716" r:id="rId17"/>
    <p:sldLayoutId id="2147483708" r:id="rId18"/>
    <p:sldLayoutId id="2147483709" r:id="rId19"/>
    <p:sldLayoutId id="2147483718" r:id="rId20"/>
    <p:sldLayoutId id="2147483719" r:id="rId21"/>
    <p:sldLayoutId id="2147483735" r:id="rId22"/>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E6DC59F-7012-4FA1-AC29-1A5E05966793}"/>
              </a:ext>
            </a:extLst>
          </p:cNvPr>
          <p:cNvSpPr txBox="1"/>
          <p:nvPr/>
        </p:nvSpPr>
        <p:spPr>
          <a:xfrm>
            <a:off x="3112503" y="2173"/>
            <a:ext cx="2918995" cy="276999"/>
          </a:xfrm>
          <a:prstGeom prst="rect">
            <a:avLst/>
          </a:prstGeom>
          <a:noFill/>
        </p:spPr>
        <p:txBody>
          <a:bodyPr wrap="square" rtlCol="0">
            <a:spAutoFit/>
          </a:bodyPr>
          <a:lstStyle/>
          <a:p>
            <a:pPr algn="ctr"/>
            <a:r>
              <a:rPr lang="en-IN" sz="1200" dirty="0">
                <a:solidFill>
                  <a:schemeClr val="bg1"/>
                </a:solidFill>
                <a:latin typeface="Raleway SemiBold" pitchFamily="2" charset="0"/>
              </a:rPr>
              <a:t>Product Team</a:t>
            </a:r>
          </a:p>
        </p:txBody>
      </p:sp>
      <p:sp>
        <p:nvSpPr>
          <p:cNvPr id="72" name="TextBox 71">
            <a:extLst>
              <a:ext uri="{FF2B5EF4-FFF2-40B4-BE49-F238E27FC236}">
                <a16:creationId xmlns:a16="http://schemas.microsoft.com/office/drawing/2014/main" id="{0E665C42-3E40-4B64-A83D-A1233A0F8592}"/>
              </a:ext>
            </a:extLst>
          </p:cNvPr>
          <p:cNvSpPr txBox="1"/>
          <p:nvPr/>
        </p:nvSpPr>
        <p:spPr>
          <a:xfrm>
            <a:off x="6247862" y="5015729"/>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grpSp>
        <p:nvGrpSpPr>
          <p:cNvPr id="73" name="Group 72">
            <a:extLst>
              <a:ext uri="{FF2B5EF4-FFF2-40B4-BE49-F238E27FC236}">
                <a16:creationId xmlns:a16="http://schemas.microsoft.com/office/drawing/2014/main" id="{C674D8CC-D81B-4B4A-B022-57B1E6434C30}"/>
              </a:ext>
            </a:extLst>
          </p:cNvPr>
          <p:cNvGrpSpPr/>
          <p:nvPr/>
        </p:nvGrpSpPr>
        <p:grpSpPr>
          <a:xfrm>
            <a:off x="3109440" y="413409"/>
            <a:ext cx="2222042" cy="584775"/>
            <a:chOff x="461064" y="748855"/>
            <a:chExt cx="2222042" cy="584775"/>
          </a:xfrm>
        </p:grpSpPr>
        <p:sp>
          <p:nvSpPr>
            <p:cNvPr id="74" name="TextBox 73">
              <a:extLst>
                <a:ext uri="{FF2B5EF4-FFF2-40B4-BE49-F238E27FC236}">
                  <a16:creationId xmlns:a16="http://schemas.microsoft.com/office/drawing/2014/main" id="{D3506CCE-62DE-4E05-BA59-351A9FDBC8D1}"/>
                </a:ext>
              </a:extLst>
            </p:cNvPr>
            <p:cNvSpPr txBox="1"/>
            <p:nvPr/>
          </p:nvSpPr>
          <p:spPr>
            <a:xfrm>
              <a:off x="918264" y="748855"/>
              <a:ext cx="1764842" cy="584775"/>
            </a:xfrm>
            <a:prstGeom prst="rect">
              <a:avLst/>
            </a:prstGeom>
            <a:noFill/>
          </p:spPr>
          <p:txBody>
            <a:bodyPr wrap="none" rtlCol="0">
              <a:spAutoFit/>
            </a:bodyPr>
            <a:lstStyle/>
            <a:p>
              <a:r>
                <a:rPr lang="en-US" sz="1600" b="1" dirty="0"/>
                <a:t>Domain Analyst(1)</a:t>
              </a:r>
            </a:p>
            <a:p>
              <a:r>
                <a:rPr lang="en-US" sz="1600" dirty="0"/>
                <a:t>Product Owner</a:t>
              </a:r>
            </a:p>
          </p:txBody>
        </p:sp>
        <p:pic>
          <p:nvPicPr>
            <p:cNvPr id="75" name="Picture 74">
              <a:extLst>
                <a:ext uri="{FF2B5EF4-FFF2-40B4-BE49-F238E27FC236}">
                  <a16:creationId xmlns:a16="http://schemas.microsoft.com/office/drawing/2014/main" id="{326E3A6A-3E28-4FBD-93D4-11811FC967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064" y="812642"/>
              <a:ext cx="457200" cy="457200"/>
            </a:xfrm>
            <a:prstGeom prst="rect">
              <a:avLst/>
            </a:prstGeom>
          </p:spPr>
        </p:pic>
      </p:grpSp>
      <p:grpSp>
        <p:nvGrpSpPr>
          <p:cNvPr id="76" name="Group 75">
            <a:extLst>
              <a:ext uri="{FF2B5EF4-FFF2-40B4-BE49-F238E27FC236}">
                <a16:creationId xmlns:a16="http://schemas.microsoft.com/office/drawing/2014/main" id="{12D14555-4FCA-4948-BE25-050E2F7ECCB3}"/>
              </a:ext>
            </a:extLst>
          </p:cNvPr>
          <p:cNvGrpSpPr/>
          <p:nvPr/>
        </p:nvGrpSpPr>
        <p:grpSpPr>
          <a:xfrm>
            <a:off x="402884" y="3992131"/>
            <a:ext cx="1317885" cy="461665"/>
            <a:chOff x="5643895" y="829389"/>
            <a:chExt cx="1317885" cy="461665"/>
          </a:xfrm>
        </p:grpSpPr>
        <p:pic>
          <p:nvPicPr>
            <p:cNvPr id="77" name="Picture 76">
              <a:extLst>
                <a:ext uri="{FF2B5EF4-FFF2-40B4-BE49-F238E27FC236}">
                  <a16:creationId xmlns:a16="http://schemas.microsoft.com/office/drawing/2014/main" id="{2FE509B9-D75E-4217-9B7F-7AA65D1332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43895" y="831621"/>
              <a:ext cx="457200" cy="457200"/>
            </a:xfrm>
            <a:prstGeom prst="rect">
              <a:avLst/>
            </a:prstGeom>
          </p:spPr>
        </p:pic>
        <p:sp>
          <p:nvSpPr>
            <p:cNvPr id="78" name="TextBox 77">
              <a:extLst>
                <a:ext uri="{FF2B5EF4-FFF2-40B4-BE49-F238E27FC236}">
                  <a16:creationId xmlns:a16="http://schemas.microsoft.com/office/drawing/2014/main" id="{F671BF80-EB80-4AC4-AB00-1F08CA06B35F}"/>
                </a:ext>
              </a:extLst>
            </p:cNvPr>
            <p:cNvSpPr txBox="1"/>
            <p:nvPr/>
          </p:nvSpPr>
          <p:spPr>
            <a:xfrm>
              <a:off x="6101095" y="829389"/>
              <a:ext cx="860685" cy="461665"/>
            </a:xfrm>
            <a:prstGeom prst="rect">
              <a:avLst/>
            </a:prstGeom>
            <a:noFill/>
          </p:spPr>
          <p:txBody>
            <a:bodyPr wrap="none" rtlCol="0">
              <a:spAutoFit/>
            </a:bodyPr>
            <a:lstStyle/>
            <a:p>
              <a:r>
                <a:rPr lang="en-US" sz="1200" b="1" dirty="0"/>
                <a:t>FSD-API(5)</a:t>
              </a:r>
            </a:p>
            <a:p>
              <a:r>
                <a:rPr lang="en-US" sz="1200" dirty="0"/>
                <a:t>Developer</a:t>
              </a:r>
            </a:p>
          </p:txBody>
        </p:sp>
      </p:grpSp>
      <p:grpSp>
        <p:nvGrpSpPr>
          <p:cNvPr id="79" name="Group 78">
            <a:extLst>
              <a:ext uri="{FF2B5EF4-FFF2-40B4-BE49-F238E27FC236}">
                <a16:creationId xmlns:a16="http://schemas.microsoft.com/office/drawing/2014/main" id="{EFD67EB5-53A2-41ED-96C1-16375005D5DF}"/>
              </a:ext>
            </a:extLst>
          </p:cNvPr>
          <p:cNvGrpSpPr/>
          <p:nvPr/>
        </p:nvGrpSpPr>
        <p:grpSpPr>
          <a:xfrm>
            <a:off x="402884" y="2928166"/>
            <a:ext cx="1614248" cy="461665"/>
            <a:chOff x="461064" y="1597890"/>
            <a:chExt cx="1614248" cy="461665"/>
          </a:xfrm>
        </p:grpSpPr>
        <p:sp>
          <p:nvSpPr>
            <p:cNvPr id="80" name="TextBox 79">
              <a:extLst>
                <a:ext uri="{FF2B5EF4-FFF2-40B4-BE49-F238E27FC236}">
                  <a16:creationId xmlns:a16="http://schemas.microsoft.com/office/drawing/2014/main" id="{2F5C501E-78DB-4AC9-B681-7CFDF9266787}"/>
                </a:ext>
              </a:extLst>
            </p:cNvPr>
            <p:cNvSpPr txBox="1"/>
            <p:nvPr/>
          </p:nvSpPr>
          <p:spPr>
            <a:xfrm>
              <a:off x="918264" y="1597890"/>
              <a:ext cx="1157048" cy="461665"/>
            </a:xfrm>
            <a:prstGeom prst="rect">
              <a:avLst/>
            </a:prstGeom>
            <a:noFill/>
          </p:spPr>
          <p:txBody>
            <a:bodyPr wrap="none" rtlCol="0">
              <a:spAutoFit/>
            </a:bodyPr>
            <a:lstStyle/>
            <a:p>
              <a:r>
                <a:rPr lang="en-US" sz="1200" b="1" dirty="0"/>
                <a:t>FSD-API (1)</a:t>
              </a:r>
            </a:p>
            <a:p>
              <a:r>
                <a:rPr lang="en-US" sz="1200" dirty="0"/>
                <a:t>Lead Developer</a:t>
              </a:r>
            </a:p>
          </p:txBody>
        </p:sp>
        <p:pic>
          <p:nvPicPr>
            <p:cNvPr id="81" name="Picture 80">
              <a:extLst>
                <a:ext uri="{FF2B5EF4-FFF2-40B4-BE49-F238E27FC236}">
                  <a16:creationId xmlns:a16="http://schemas.microsoft.com/office/drawing/2014/main" id="{C7D5FCF7-B288-4840-948B-5DA7A9EE652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064" y="1600122"/>
              <a:ext cx="457200" cy="457200"/>
            </a:xfrm>
            <a:prstGeom prst="rect">
              <a:avLst/>
            </a:prstGeom>
          </p:spPr>
        </p:pic>
      </p:grpSp>
      <p:grpSp>
        <p:nvGrpSpPr>
          <p:cNvPr id="82" name="Group 81">
            <a:extLst>
              <a:ext uri="{FF2B5EF4-FFF2-40B4-BE49-F238E27FC236}">
                <a16:creationId xmlns:a16="http://schemas.microsoft.com/office/drawing/2014/main" id="{497C94FF-1735-4F63-9352-69A3A217AFFC}"/>
              </a:ext>
            </a:extLst>
          </p:cNvPr>
          <p:cNvGrpSpPr/>
          <p:nvPr/>
        </p:nvGrpSpPr>
        <p:grpSpPr>
          <a:xfrm>
            <a:off x="2602508" y="2928166"/>
            <a:ext cx="1614248" cy="461665"/>
            <a:chOff x="5693999" y="1597890"/>
            <a:chExt cx="1614248" cy="461665"/>
          </a:xfrm>
        </p:grpSpPr>
        <p:sp>
          <p:nvSpPr>
            <p:cNvPr id="83" name="TextBox 82">
              <a:extLst>
                <a:ext uri="{FF2B5EF4-FFF2-40B4-BE49-F238E27FC236}">
                  <a16:creationId xmlns:a16="http://schemas.microsoft.com/office/drawing/2014/main" id="{72A83FE1-9328-4200-8EE3-8370B1A4B01A}"/>
                </a:ext>
              </a:extLst>
            </p:cNvPr>
            <p:cNvSpPr txBox="1"/>
            <p:nvPr/>
          </p:nvSpPr>
          <p:spPr>
            <a:xfrm>
              <a:off x="6151199" y="1597890"/>
              <a:ext cx="1157048" cy="461665"/>
            </a:xfrm>
            <a:prstGeom prst="rect">
              <a:avLst/>
            </a:prstGeom>
            <a:noFill/>
          </p:spPr>
          <p:txBody>
            <a:bodyPr wrap="none" rtlCol="0">
              <a:spAutoFit/>
            </a:bodyPr>
            <a:lstStyle/>
            <a:p>
              <a:r>
                <a:rPr lang="en-US" sz="1200" b="1" dirty="0"/>
                <a:t>FSD-UI(1)</a:t>
              </a:r>
            </a:p>
            <a:p>
              <a:r>
                <a:rPr lang="en-US" sz="1200" dirty="0"/>
                <a:t>Lead Developer</a:t>
              </a:r>
            </a:p>
          </p:txBody>
        </p:sp>
        <p:pic>
          <p:nvPicPr>
            <p:cNvPr id="84" name="Picture 83">
              <a:extLst>
                <a:ext uri="{FF2B5EF4-FFF2-40B4-BE49-F238E27FC236}">
                  <a16:creationId xmlns:a16="http://schemas.microsoft.com/office/drawing/2014/main" id="{997A5D8B-5CB7-4862-BE1E-4214771EE99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93999" y="1600122"/>
              <a:ext cx="457200" cy="457200"/>
            </a:xfrm>
            <a:prstGeom prst="rect">
              <a:avLst/>
            </a:prstGeom>
          </p:spPr>
        </p:pic>
      </p:grpSp>
      <p:grpSp>
        <p:nvGrpSpPr>
          <p:cNvPr id="85" name="Group 84">
            <a:extLst>
              <a:ext uri="{FF2B5EF4-FFF2-40B4-BE49-F238E27FC236}">
                <a16:creationId xmlns:a16="http://schemas.microsoft.com/office/drawing/2014/main" id="{7C68E903-AD67-4B81-90CF-A036F5A1DDC6}"/>
              </a:ext>
            </a:extLst>
          </p:cNvPr>
          <p:cNvGrpSpPr/>
          <p:nvPr/>
        </p:nvGrpSpPr>
        <p:grpSpPr>
          <a:xfrm>
            <a:off x="2602508" y="3992131"/>
            <a:ext cx="1284029" cy="461665"/>
            <a:chOff x="461064" y="2417106"/>
            <a:chExt cx="1284029" cy="461665"/>
          </a:xfrm>
        </p:grpSpPr>
        <p:sp>
          <p:nvSpPr>
            <p:cNvPr id="86" name="TextBox 85">
              <a:extLst>
                <a:ext uri="{FF2B5EF4-FFF2-40B4-BE49-F238E27FC236}">
                  <a16:creationId xmlns:a16="http://schemas.microsoft.com/office/drawing/2014/main" id="{97D8CBF0-A97C-4358-BEBB-D35075B37D66}"/>
                </a:ext>
              </a:extLst>
            </p:cNvPr>
            <p:cNvSpPr txBox="1"/>
            <p:nvPr/>
          </p:nvSpPr>
          <p:spPr>
            <a:xfrm>
              <a:off x="918264" y="2417106"/>
              <a:ext cx="826829" cy="461665"/>
            </a:xfrm>
            <a:prstGeom prst="rect">
              <a:avLst/>
            </a:prstGeom>
            <a:noFill/>
          </p:spPr>
          <p:txBody>
            <a:bodyPr wrap="none" rtlCol="0">
              <a:spAutoFit/>
            </a:bodyPr>
            <a:lstStyle/>
            <a:p>
              <a:r>
                <a:rPr lang="en-US" sz="1200" b="1" dirty="0"/>
                <a:t>FSD-UI(4)</a:t>
              </a:r>
            </a:p>
            <a:p>
              <a:r>
                <a:rPr lang="en-US" sz="1200" dirty="0"/>
                <a:t>Developer</a:t>
              </a:r>
            </a:p>
          </p:txBody>
        </p:sp>
        <p:pic>
          <p:nvPicPr>
            <p:cNvPr id="87" name="Picture 86">
              <a:extLst>
                <a:ext uri="{FF2B5EF4-FFF2-40B4-BE49-F238E27FC236}">
                  <a16:creationId xmlns:a16="http://schemas.microsoft.com/office/drawing/2014/main" id="{D819076C-EFFE-4707-B8CA-483E0652BF9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1064" y="2419338"/>
              <a:ext cx="457200" cy="457200"/>
            </a:xfrm>
            <a:prstGeom prst="rect">
              <a:avLst/>
            </a:prstGeom>
          </p:spPr>
        </p:pic>
      </p:grpSp>
      <p:grpSp>
        <p:nvGrpSpPr>
          <p:cNvPr id="88" name="Group 87">
            <a:extLst>
              <a:ext uri="{FF2B5EF4-FFF2-40B4-BE49-F238E27FC236}">
                <a16:creationId xmlns:a16="http://schemas.microsoft.com/office/drawing/2014/main" id="{4C4309AD-02C6-417B-B32B-132DA3594D35}"/>
              </a:ext>
            </a:extLst>
          </p:cNvPr>
          <p:cNvGrpSpPr/>
          <p:nvPr/>
        </p:nvGrpSpPr>
        <p:grpSpPr>
          <a:xfrm>
            <a:off x="4802132" y="2928007"/>
            <a:ext cx="1523582" cy="461665"/>
            <a:chOff x="461064" y="3236321"/>
            <a:chExt cx="1523582" cy="461665"/>
          </a:xfrm>
        </p:grpSpPr>
        <p:sp>
          <p:nvSpPr>
            <p:cNvPr id="89" name="TextBox 88">
              <a:extLst>
                <a:ext uri="{FF2B5EF4-FFF2-40B4-BE49-F238E27FC236}">
                  <a16:creationId xmlns:a16="http://schemas.microsoft.com/office/drawing/2014/main" id="{66D02DEE-2772-4DBD-8F5B-0F90ACE4CCE7}"/>
                </a:ext>
              </a:extLst>
            </p:cNvPr>
            <p:cNvSpPr txBox="1"/>
            <p:nvPr/>
          </p:nvSpPr>
          <p:spPr>
            <a:xfrm>
              <a:off x="918264" y="3236321"/>
              <a:ext cx="1066382" cy="461665"/>
            </a:xfrm>
            <a:prstGeom prst="rect">
              <a:avLst/>
            </a:prstGeom>
            <a:noFill/>
          </p:spPr>
          <p:txBody>
            <a:bodyPr wrap="none" rtlCol="0">
              <a:spAutoFit/>
            </a:bodyPr>
            <a:lstStyle/>
            <a:p>
              <a:r>
                <a:rPr lang="en-US" sz="1200" b="1" dirty="0" err="1"/>
                <a:t>DevSecOps</a:t>
              </a:r>
              <a:r>
                <a:rPr lang="en-US" sz="1200" b="1" dirty="0"/>
                <a:t>(4)</a:t>
              </a:r>
            </a:p>
            <a:p>
              <a:r>
                <a:rPr lang="en-US" sz="1200" dirty="0"/>
                <a:t>Azure DevOps</a:t>
              </a:r>
            </a:p>
          </p:txBody>
        </p:sp>
        <p:pic>
          <p:nvPicPr>
            <p:cNvPr id="90" name="Picture 89">
              <a:extLst>
                <a:ext uri="{FF2B5EF4-FFF2-40B4-BE49-F238E27FC236}">
                  <a16:creationId xmlns:a16="http://schemas.microsoft.com/office/drawing/2014/main" id="{04A5AEA1-FBB3-473A-8B62-A3FB3893728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1064" y="3238553"/>
              <a:ext cx="457200" cy="457200"/>
            </a:xfrm>
            <a:prstGeom prst="rect">
              <a:avLst/>
            </a:prstGeom>
          </p:spPr>
        </p:pic>
      </p:grpSp>
      <p:grpSp>
        <p:nvGrpSpPr>
          <p:cNvPr id="91" name="Group 90">
            <a:extLst>
              <a:ext uri="{FF2B5EF4-FFF2-40B4-BE49-F238E27FC236}">
                <a16:creationId xmlns:a16="http://schemas.microsoft.com/office/drawing/2014/main" id="{BDE5624C-E4AB-4EB8-9AC6-5A05D9A1B9BE}"/>
              </a:ext>
            </a:extLst>
          </p:cNvPr>
          <p:cNvGrpSpPr/>
          <p:nvPr/>
        </p:nvGrpSpPr>
        <p:grpSpPr>
          <a:xfrm>
            <a:off x="6911090" y="2864139"/>
            <a:ext cx="1803996" cy="461665"/>
            <a:chOff x="457200" y="4055697"/>
            <a:chExt cx="1803996" cy="461665"/>
          </a:xfrm>
        </p:grpSpPr>
        <p:sp>
          <p:nvSpPr>
            <p:cNvPr id="92" name="TextBox 91">
              <a:extLst>
                <a:ext uri="{FF2B5EF4-FFF2-40B4-BE49-F238E27FC236}">
                  <a16:creationId xmlns:a16="http://schemas.microsoft.com/office/drawing/2014/main" id="{A76EB730-81C0-433E-B782-3ED5ECDC1337}"/>
                </a:ext>
              </a:extLst>
            </p:cNvPr>
            <p:cNvSpPr txBox="1"/>
            <p:nvPr/>
          </p:nvSpPr>
          <p:spPr>
            <a:xfrm>
              <a:off x="918264" y="4055697"/>
              <a:ext cx="1342932" cy="461665"/>
            </a:xfrm>
            <a:prstGeom prst="rect">
              <a:avLst/>
            </a:prstGeom>
            <a:noFill/>
          </p:spPr>
          <p:txBody>
            <a:bodyPr wrap="none" rtlCol="0">
              <a:spAutoFit/>
            </a:bodyPr>
            <a:lstStyle/>
            <a:p>
              <a:r>
                <a:rPr lang="en-US" sz="1200" b="1" dirty="0"/>
                <a:t>Tester(2)</a:t>
              </a:r>
            </a:p>
            <a:p>
              <a:r>
                <a:rPr lang="en-US" sz="1200" dirty="0"/>
                <a:t>Automation Tester</a:t>
              </a:r>
            </a:p>
          </p:txBody>
        </p:sp>
        <p:pic>
          <p:nvPicPr>
            <p:cNvPr id="93" name="Picture 92">
              <a:extLst>
                <a:ext uri="{FF2B5EF4-FFF2-40B4-BE49-F238E27FC236}">
                  <a16:creationId xmlns:a16="http://schemas.microsoft.com/office/drawing/2014/main" id="{12865823-DF9E-4D02-B8E7-E8558029AA4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57200" y="4057929"/>
              <a:ext cx="457200" cy="457200"/>
            </a:xfrm>
            <a:prstGeom prst="rect">
              <a:avLst/>
            </a:prstGeom>
          </p:spPr>
        </p:pic>
      </p:grpSp>
      <p:grpSp>
        <p:nvGrpSpPr>
          <p:cNvPr id="94" name="Group 93">
            <a:extLst>
              <a:ext uri="{FF2B5EF4-FFF2-40B4-BE49-F238E27FC236}">
                <a16:creationId xmlns:a16="http://schemas.microsoft.com/office/drawing/2014/main" id="{C8F3AC23-95A0-4B5C-ACC2-80204BA81A60}"/>
              </a:ext>
            </a:extLst>
          </p:cNvPr>
          <p:cNvGrpSpPr/>
          <p:nvPr/>
        </p:nvGrpSpPr>
        <p:grpSpPr>
          <a:xfrm>
            <a:off x="3076322" y="1423422"/>
            <a:ext cx="2288279" cy="584775"/>
            <a:chOff x="5643895" y="2437548"/>
            <a:chExt cx="2288279" cy="584775"/>
          </a:xfrm>
        </p:grpSpPr>
        <p:sp>
          <p:nvSpPr>
            <p:cNvPr id="95" name="TextBox 94">
              <a:extLst>
                <a:ext uri="{FF2B5EF4-FFF2-40B4-BE49-F238E27FC236}">
                  <a16:creationId xmlns:a16="http://schemas.microsoft.com/office/drawing/2014/main" id="{554FB737-8D16-4D36-A6C6-BF9BF46C63A0}"/>
                </a:ext>
              </a:extLst>
            </p:cNvPr>
            <p:cNvSpPr txBox="1"/>
            <p:nvPr/>
          </p:nvSpPr>
          <p:spPr>
            <a:xfrm>
              <a:off x="6101095" y="2437548"/>
              <a:ext cx="1831079" cy="584775"/>
            </a:xfrm>
            <a:prstGeom prst="rect">
              <a:avLst/>
            </a:prstGeom>
            <a:noFill/>
          </p:spPr>
          <p:txBody>
            <a:bodyPr wrap="none" rtlCol="0">
              <a:spAutoFit/>
            </a:bodyPr>
            <a:lstStyle/>
            <a:p>
              <a:r>
                <a:rPr lang="en-US" sz="1600" b="1" dirty="0"/>
                <a:t>Project Manager(1)</a:t>
              </a:r>
            </a:p>
            <a:p>
              <a:r>
                <a:rPr lang="en-US" sz="1600" dirty="0"/>
                <a:t>Scrum Master</a:t>
              </a:r>
            </a:p>
          </p:txBody>
        </p:sp>
        <p:pic>
          <p:nvPicPr>
            <p:cNvPr id="96" name="Picture 95">
              <a:extLst>
                <a:ext uri="{FF2B5EF4-FFF2-40B4-BE49-F238E27FC236}">
                  <a16:creationId xmlns:a16="http://schemas.microsoft.com/office/drawing/2014/main" id="{FBA15542-BF60-4BEF-A35F-B62FA3C5C0E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643895" y="2501335"/>
              <a:ext cx="457200" cy="457200"/>
            </a:xfrm>
            <a:prstGeom prst="rect">
              <a:avLst/>
            </a:prstGeom>
          </p:spPr>
        </p:pic>
      </p:grpSp>
      <p:sp>
        <p:nvSpPr>
          <p:cNvPr id="2" name="Rectangle 1">
            <a:extLst>
              <a:ext uri="{FF2B5EF4-FFF2-40B4-BE49-F238E27FC236}">
                <a16:creationId xmlns:a16="http://schemas.microsoft.com/office/drawing/2014/main" id="{583C00EA-8658-400A-A88E-F55A7BC164BD}"/>
              </a:ext>
            </a:extLst>
          </p:cNvPr>
          <p:cNvSpPr/>
          <p:nvPr/>
        </p:nvSpPr>
        <p:spPr>
          <a:xfrm>
            <a:off x="260350" y="2609850"/>
            <a:ext cx="8595066" cy="2012950"/>
          </a:xfrm>
          <a:prstGeom prst="rect">
            <a:avLst/>
          </a:prstGeom>
          <a:noFill/>
          <a:ln w="19050">
            <a:solidFill>
              <a:srgbClr val="FFC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 name="Straight Arrow Connector 3">
            <a:extLst>
              <a:ext uri="{FF2B5EF4-FFF2-40B4-BE49-F238E27FC236}">
                <a16:creationId xmlns:a16="http://schemas.microsoft.com/office/drawing/2014/main" id="{BB4A9565-33D4-4E1E-BAD7-D476B3C0BAB6}"/>
              </a:ext>
            </a:extLst>
          </p:cNvPr>
          <p:cNvCxnSpPr>
            <a:stCxn id="74" idx="2"/>
            <a:endCxn id="95" idx="0"/>
          </p:cNvCxnSpPr>
          <p:nvPr/>
        </p:nvCxnSpPr>
        <p:spPr>
          <a:xfrm>
            <a:off x="4449061" y="998184"/>
            <a:ext cx="1" cy="425238"/>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D3104298-9B9D-4F05-B78B-F2B742B48175}"/>
              </a:ext>
            </a:extLst>
          </p:cNvPr>
          <p:cNvCxnSpPr>
            <a:cxnSpLocks/>
          </p:cNvCxnSpPr>
          <p:nvPr/>
        </p:nvCxnSpPr>
        <p:spPr>
          <a:xfrm flipH="1">
            <a:off x="4449061" y="1957397"/>
            <a:ext cx="1" cy="601653"/>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423E46E-9955-4217-ADED-F3F0846DE440}"/>
              </a:ext>
            </a:extLst>
          </p:cNvPr>
          <p:cNvCxnSpPr>
            <a:cxnSpLocks/>
          </p:cNvCxnSpPr>
          <p:nvPr/>
        </p:nvCxnSpPr>
        <p:spPr>
          <a:xfrm>
            <a:off x="1314450" y="3429000"/>
            <a:ext cx="0" cy="518681"/>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79BF7522-88FE-4754-AF60-7D97E94BA502}"/>
              </a:ext>
            </a:extLst>
          </p:cNvPr>
          <p:cNvCxnSpPr>
            <a:cxnSpLocks/>
          </p:cNvCxnSpPr>
          <p:nvPr/>
        </p:nvCxnSpPr>
        <p:spPr>
          <a:xfrm>
            <a:off x="3422650" y="3429000"/>
            <a:ext cx="0" cy="518681"/>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5490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E6DC59F-7012-4FA1-AC29-1A5E05966793}"/>
              </a:ext>
            </a:extLst>
          </p:cNvPr>
          <p:cNvSpPr txBox="1"/>
          <p:nvPr/>
        </p:nvSpPr>
        <p:spPr>
          <a:xfrm>
            <a:off x="3112503" y="2173"/>
            <a:ext cx="2918995" cy="276999"/>
          </a:xfrm>
          <a:prstGeom prst="rect">
            <a:avLst/>
          </a:prstGeom>
          <a:noFill/>
        </p:spPr>
        <p:txBody>
          <a:bodyPr wrap="square" rtlCol="0">
            <a:spAutoFit/>
          </a:bodyPr>
          <a:lstStyle/>
          <a:p>
            <a:pPr algn="ctr"/>
            <a:r>
              <a:rPr lang="en-IN" sz="1200" dirty="0">
                <a:solidFill>
                  <a:schemeClr val="bg1"/>
                </a:solidFill>
                <a:latin typeface="Raleway SemiBold" pitchFamily="2" charset="0"/>
              </a:rPr>
              <a:t>Project Team</a:t>
            </a:r>
          </a:p>
        </p:txBody>
      </p:sp>
      <p:sp>
        <p:nvSpPr>
          <p:cNvPr id="133" name="Rectangle: Rounded Corners 132">
            <a:extLst>
              <a:ext uri="{FF2B5EF4-FFF2-40B4-BE49-F238E27FC236}">
                <a16:creationId xmlns:a16="http://schemas.microsoft.com/office/drawing/2014/main" id="{23257882-F7B7-456C-8DCA-D638535B32D1}"/>
              </a:ext>
            </a:extLst>
          </p:cNvPr>
          <p:cNvSpPr/>
          <p:nvPr/>
        </p:nvSpPr>
        <p:spPr>
          <a:xfrm>
            <a:off x="2019727" y="1265916"/>
            <a:ext cx="6613023" cy="1167514"/>
          </a:xfrm>
          <a:prstGeom prst="roundRect">
            <a:avLst>
              <a:gd name="adj" fmla="val 5021"/>
            </a:avLst>
          </a:prstGeom>
          <a:solidFill>
            <a:srgbClr val="E9EBF5"/>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a:p>
        </p:txBody>
      </p:sp>
      <p:grpSp>
        <p:nvGrpSpPr>
          <p:cNvPr id="132" name="Group 131">
            <a:extLst>
              <a:ext uri="{FF2B5EF4-FFF2-40B4-BE49-F238E27FC236}">
                <a16:creationId xmlns:a16="http://schemas.microsoft.com/office/drawing/2014/main" id="{94922B13-2D45-4DA9-AC05-5823BD97F6D0}"/>
              </a:ext>
            </a:extLst>
          </p:cNvPr>
          <p:cNvGrpSpPr/>
          <p:nvPr/>
        </p:nvGrpSpPr>
        <p:grpSpPr>
          <a:xfrm>
            <a:off x="3974147" y="1358687"/>
            <a:ext cx="2581697" cy="1006399"/>
            <a:chOff x="3320372" y="577784"/>
            <a:chExt cx="2503256" cy="1246051"/>
          </a:xfrm>
        </p:grpSpPr>
        <p:grpSp>
          <p:nvGrpSpPr>
            <p:cNvPr id="41" name="Group 40">
              <a:extLst>
                <a:ext uri="{FF2B5EF4-FFF2-40B4-BE49-F238E27FC236}">
                  <a16:creationId xmlns:a16="http://schemas.microsoft.com/office/drawing/2014/main" id="{F14982A0-34F8-4928-BD9E-4CF535E389E0}"/>
                </a:ext>
              </a:extLst>
            </p:cNvPr>
            <p:cNvGrpSpPr/>
            <p:nvPr/>
          </p:nvGrpSpPr>
          <p:grpSpPr>
            <a:xfrm>
              <a:off x="4017166" y="577784"/>
              <a:ext cx="1111137" cy="510436"/>
              <a:chOff x="1450964" y="740269"/>
              <a:chExt cx="1111137" cy="510436"/>
            </a:xfrm>
          </p:grpSpPr>
          <p:sp>
            <p:nvSpPr>
              <p:cNvPr id="57" name="Rectangle 56">
                <a:extLst>
                  <a:ext uri="{FF2B5EF4-FFF2-40B4-BE49-F238E27FC236}">
                    <a16:creationId xmlns:a16="http://schemas.microsoft.com/office/drawing/2014/main" id="{3D040892-78CE-4156-B9C3-08DFE7C6ACF3}"/>
                  </a:ext>
                </a:extLst>
              </p:cNvPr>
              <p:cNvSpPr/>
              <p:nvPr/>
            </p:nvSpPr>
            <p:spPr>
              <a:xfrm>
                <a:off x="1450964" y="740269"/>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dirty="0">
                  <a:solidFill>
                    <a:schemeClr val="tx1"/>
                  </a:solidFill>
                </a:endParaRPr>
              </a:p>
            </p:txBody>
          </p:sp>
          <p:sp>
            <p:nvSpPr>
              <p:cNvPr id="58" name="Rectangle 57">
                <a:extLst>
                  <a:ext uri="{FF2B5EF4-FFF2-40B4-BE49-F238E27FC236}">
                    <a16:creationId xmlns:a16="http://schemas.microsoft.com/office/drawing/2014/main" id="{784FC47D-1217-40A5-9DB0-C0CE888AA0E9}"/>
                  </a:ext>
                </a:extLst>
              </p:cNvPr>
              <p:cNvSpPr/>
              <p:nvPr/>
            </p:nvSpPr>
            <p:spPr>
              <a:xfrm>
                <a:off x="1497860" y="778373"/>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UX Lead </a:t>
                </a:r>
              </a:p>
              <a:p>
                <a:pPr algn="ctr"/>
                <a:r>
                  <a:rPr lang="en-IN" sz="900" dirty="0">
                    <a:solidFill>
                      <a:schemeClr val="tx1"/>
                    </a:solidFill>
                  </a:rPr>
                  <a:t>Architect</a:t>
                </a:r>
              </a:p>
            </p:txBody>
          </p:sp>
        </p:grpSp>
        <p:grpSp>
          <p:nvGrpSpPr>
            <p:cNvPr id="46" name="Group 45">
              <a:extLst>
                <a:ext uri="{FF2B5EF4-FFF2-40B4-BE49-F238E27FC236}">
                  <a16:creationId xmlns:a16="http://schemas.microsoft.com/office/drawing/2014/main" id="{87A37A7C-E28D-4CB1-9B76-0469AA8DE719}"/>
                </a:ext>
              </a:extLst>
            </p:cNvPr>
            <p:cNvGrpSpPr/>
            <p:nvPr/>
          </p:nvGrpSpPr>
          <p:grpSpPr>
            <a:xfrm>
              <a:off x="3320372" y="1304607"/>
              <a:ext cx="1111137" cy="519228"/>
              <a:chOff x="1450964" y="678725"/>
              <a:chExt cx="1111137" cy="519228"/>
            </a:xfrm>
          </p:grpSpPr>
          <p:sp>
            <p:nvSpPr>
              <p:cNvPr id="55" name="Rectangle 54">
                <a:extLst>
                  <a:ext uri="{FF2B5EF4-FFF2-40B4-BE49-F238E27FC236}">
                    <a16:creationId xmlns:a16="http://schemas.microsoft.com/office/drawing/2014/main" id="{5DFB013D-0866-47F0-8B29-878B44B1A9EB}"/>
                  </a:ext>
                </a:extLst>
              </p:cNvPr>
              <p:cNvSpPr/>
              <p:nvPr/>
            </p:nvSpPr>
            <p:spPr>
              <a:xfrm>
                <a:off x="1450964" y="678725"/>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dirty="0">
                  <a:solidFill>
                    <a:schemeClr val="tx1"/>
                  </a:solidFill>
                </a:endParaRPr>
              </a:p>
            </p:txBody>
          </p:sp>
          <p:sp>
            <p:nvSpPr>
              <p:cNvPr id="56" name="Rectangle 55">
                <a:extLst>
                  <a:ext uri="{FF2B5EF4-FFF2-40B4-BE49-F238E27FC236}">
                    <a16:creationId xmlns:a16="http://schemas.microsoft.com/office/drawing/2014/main" id="{1EAA1A02-1A9C-425B-A01F-99F34DABA59B}"/>
                  </a:ext>
                </a:extLst>
              </p:cNvPr>
              <p:cNvSpPr/>
              <p:nvPr/>
            </p:nvSpPr>
            <p:spPr>
              <a:xfrm>
                <a:off x="1497860" y="725621"/>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UX Senior </a:t>
                </a:r>
              </a:p>
              <a:p>
                <a:pPr algn="ctr"/>
                <a:r>
                  <a:rPr lang="en-IN" sz="900" dirty="0">
                    <a:solidFill>
                      <a:schemeClr val="tx1"/>
                    </a:solidFill>
                  </a:rPr>
                  <a:t>Engineer</a:t>
                </a:r>
              </a:p>
            </p:txBody>
          </p:sp>
        </p:grpSp>
        <p:grpSp>
          <p:nvGrpSpPr>
            <p:cNvPr id="48" name="Group 47">
              <a:extLst>
                <a:ext uri="{FF2B5EF4-FFF2-40B4-BE49-F238E27FC236}">
                  <a16:creationId xmlns:a16="http://schemas.microsoft.com/office/drawing/2014/main" id="{BC59975D-6032-4539-9CE6-32FDA8940AB7}"/>
                </a:ext>
              </a:extLst>
            </p:cNvPr>
            <p:cNvGrpSpPr/>
            <p:nvPr/>
          </p:nvGrpSpPr>
          <p:grpSpPr>
            <a:xfrm>
              <a:off x="4712491" y="1304607"/>
              <a:ext cx="1111137" cy="519228"/>
              <a:chOff x="1450964" y="678725"/>
              <a:chExt cx="1111137" cy="519228"/>
            </a:xfrm>
          </p:grpSpPr>
          <p:sp>
            <p:nvSpPr>
              <p:cNvPr id="53" name="Rectangle 52">
                <a:extLst>
                  <a:ext uri="{FF2B5EF4-FFF2-40B4-BE49-F238E27FC236}">
                    <a16:creationId xmlns:a16="http://schemas.microsoft.com/office/drawing/2014/main" id="{A44D4734-4AE7-4DD2-B586-4534F1C989DA}"/>
                  </a:ext>
                </a:extLst>
              </p:cNvPr>
              <p:cNvSpPr/>
              <p:nvPr/>
            </p:nvSpPr>
            <p:spPr>
              <a:xfrm>
                <a:off x="1450964" y="678725"/>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dirty="0">
                  <a:solidFill>
                    <a:schemeClr val="tx1"/>
                  </a:solidFill>
                </a:endParaRPr>
              </a:p>
            </p:txBody>
          </p:sp>
          <p:sp>
            <p:nvSpPr>
              <p:cNvPr id="54" name="Rectangle 53">
                <a:extLst>
                  <a:ext uri="{FF2B5EF4-FFF2-40B4-BE49-F238E27FC236}">
                    <a16:creationId xmlns:a16="http://schemas.microsoft.com/office/drawing/2014/main" id="{247D7AF0-D595-44E4-809B-6C0B6E8EA4B5}"/>
                  </a:ext>
                </a:extLst>
              </p:cNvPr>
              <p:cNvSpPr/>
              <p:nvPr/>
            </p:nvSpPr>
            <p:spPr>
              <a:xfrm>
                <a:off x="1497860" y="725621"/>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UX Senior </a:t>
                </a:r>
              </a:p>
              <a:p>
                <a:pPr algn="ctr"/>
                <a:r>
                  <a:rPr lang="en-IN" sz="900" dirty="0">
                    <a:solidFill>
                      <a:schemeClr val="tx1"/>
                    </a:solidFill>
                  </a:rPr>
                  <a:t>Engineer</a:t>
                </a:r>
              </a:p>
            </p:txBody>
          </p:sp>
        </p:grpSp>
        <p:cxnSp>
          <p:nvCxnSpPr>
            <p:cNvPr id="50" name="Straight Connector 49">
              <a:extLst>
                <a:ext uri="{FF2B5EF4-FFF2-40B4-BE49-F238E27FC236}">
                  <a16:creationId xmlns:a16="http://schemas.microsoft.com/office/drawing/2014/main" id="{DFAFD299-20C3-42E0-AEA7-51159C848DC2}"/>
                </a:ext>
              </a:extLst>
            </p:cNvPr>
            <p:cNvCxnSpPr>
              <a:cxnSpLocks/>
            </p:cNvCxnSpPr>
            <p:nvPr/>
          </p:nvCxnSpPr>
          <p:spPr>
            <a:xfrm>
              <a:off x="3875940" y="1194998"/>
              <a:ext cx="1" cy="108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B1D62F9-D059-4BCA-BB1C-FCE753EAB1F6}"/>
                </a:ext>
              </a:extLst>
            </p:cNvPr>
            <p:cNvCxnSpPr>
              <a:cxnSpLocks/>
            </p:cNvCxnSpPr>
            <p:nvPr/>
          </p:nvCxnSpPr>
          <p:spPr>
            <a:xfrm>
              <a:off x="3877409" y="1197663"/>
              <a:ext cx="13906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096DA73B-AF28-4996-A37D-4543AC5F0916}"/>
                </a:ext>
              </a:extLst>
            </p:cNvPr>
            <p:cNvCxnSpPr>
              <a:cxnSpLocks/>
            </p:cNvCxnSpPr>
            <p:nvPr/>
          </p:nvCxnSpPr>
          <p:spPr>
            <a:xfrm>
              <a:off x="4577129" y="1089925"/>
              <a:ext cx="1" cy="108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3E577B84-11C6-40F0-B715-A6E3C455B0AC}"/>
                </a:ext>
              </a:extLst>
            </p:cNvPr>
            <p:cNvCxnSpPr>
              <a:cxnSpLocks/>
            </p:cNvCxnSpPr>
            <p:nvPr/>
          </p:nvCxnSpPr>
          <p:spPr>
            <a:xfrm>
              <a:off x="5265211" y="1197337"/>
              <a:ext cx="1" cy="108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7" name="Rectangle: Rounded Corners 136">
            <a:extLst>
              <a:ext uri="{FF2B5EF4-FFF2-40B4-BE49-F238E27FC236}">
                <a16:creationId xmlns:a16="http://schemas.microsoft.com/office/drawing/2014/main" id="{4ACF6D3D-FCED-4B77-A565-829765A06FC0}"/>
              </a:ext>
            </a:extLst>
          </p:cNvPr>
          <p:cNvSpPr/>
          <p:nvPr/>
        </p:nvSpPr>
        <p:spPr>
          <a:xfrm>
            <a:off x="2019728" y="2485358"/>
            <a:ext cx="6613023" cy="1180802"/>
          </a:xfrm>
          <a:prstGeom prst="roundRect">
            <a:avLst>
              <a:gd name="adj" fmla="val 5020"/>
            </a:avLst>
          </a:prstGeom>
          <a:solidFill>
            <a:srgbClr val="CFD5EA"/>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a:p>
        </p:txBody>
      </p:sp>
      <p:sp>
        <p:nvSpPr>
          <p:cNvPr id="153" name="Rectangle: Rounded Corners 152">
            <a:extLst>
              <a:ext uri="{FF2B5EF4-FFF2-40B4-BE49-F238E27FC236}">
                <a16:creationId xmlns:a16="http://schemas.microsoft.com/office/drawing/2014/main" id="{1AF0971E-63F4-4ED3-97C8-A9C88F5D9C56}"/>
              </a:ext>
            </a:extLst>
          </p:cNvPr>
          <p:cNvSpPr/>
          <p:nvPr/>
        </p:nvSpPr>
        <p:spPr>
          <a:xfrm>
            <a:off x="2019727" y="3726070"/>
            <a:ext cx="6613023" cy="580325"/>
          </a:xfrm>
          <a:prstGeom prst="roundRect">
            <a:avLst>
              <a:gd name="adj" fmla="val 8152"/>
            </a:avLst>
          </a:prstGeom>
          <a:solidFill>
            <a:schemeClr val="accent1">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a:p>
        </p:txBody>
      </p:sp>
      <p:grpSp>
        <p:nvGrpSpPr>
          <p:cNvPr id="155" name="Group 154">
            <a:extLst>
              <a:ext uri="{FF2B5EF4-FFF2-40B4-BE49-F238E27FC236}">
                <a16:creationId xmlns:a16="http://schemas.microsoft.com/office/drawing/2014/main" id="{891BBF7A-8FB4-42C8-812A-D128DC511CBD}"/>
              </a:ext>
            </a:extLst>
          </p:cNvPr>
          <p:cNvGrpSpPr/>
          <p:nvPr/>
        </p:nvGrpSpPr>
        <p:grpSpPr>
          <a:xfrm>
            <a:off x="3965039" y="3818842"/>
            <a:ext cx="1145955" cy="412264"/>
            <a:chOff x="1450964" y="740269"/>
            <a:chExt cx="1111137" cy="510436"/>
          </a:xfrm>
        </p:grpSpPr>
        <p:sp>
          <p:nvSpPr>
            <p:cNvPr id="166" name="Rectangle 165">
              <a:extLst>
                <a:ext uri="{FF2B5EF4-FFF2-40B4-BE49-F238E27FC236}">
                  <a16:creationId xmlns:a16="http://schemas.microsoft.com/office/drawing/2014/main" id="{976D5EA9-280B-495F-9C46-27C69C65C944}"/>
                </a:ext>
              </a:extLst>
            </p:cNvPr>
            <p:cNvSpPr/>
            <p:nvPr/>
          </p:nvSpPr>
          <p:spPr>
            <a:xfrm>
              <a:off x="1450964" y="740269"/>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dirty="0">
                <a:solidFill>
                  <a:schemeClr val="tx1"/>
                </a:solidFill>
              </a:endParaRPr>
            </a:p>
          </p:txBody>
        </p:sp>
        <p:sp>
          <p:nvSpPr>
            <p:cNvPr id="167" name="Rectangle 166">
              <a:extLst>
                <a:ext uri="{FF2B5EF4-FFF2-40B4-BE49-F238E27FC236}">
                  <a16:creationId xmlns:a16="http://schemas.microsoft.com/office/drawing/2014/main" id="{A6A5AB5A-9CDF-49D6-86DF-B72DCF835A17}"/>
                </a:ext>
              </a:extLst>
            </p:cNvPr>
            <p:cNvSpPr/>
            <p:nvPr/>
          </p:nvSpPr>
          <p:spPr>
            <a:xfrm>
              <a:off x="1497860" y="778373"/>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Test</a:t>
              </a:r>
            </a:p>
            <a:p>
              <a:pPr algn="ctr"/>
              <a:r>
                <a:rPr lang="en-IN" sz="900" dirty="0">
                  <a:solidFill>
                    <a:schemeClr val="tx1"/>
                  </a:solidFill>
                </a:rPr>
                <a:t>Engineer</a:t>
              </a:r>
            </a:p>
          </p:txBody>
        </p:sp>
      </p:grpSp>
      <p:sp>
        <p:nvSpPr>
          <p:cNvPr id="170" name="Rectangle: Rounded Corners 169">
            <a:extLst>
              <a:ext uri="{FF2B5EF4-FFF2-40B4-BE49-F238E27FC236}">
                <a16:creationId xmlns:a16="http://schemas.microsoft.com/office/drawing/2014/main" id="{A3D85846-ABE4-4D14-B694-4A63035664EF}"/>
              </a:ext>
            </a:extLst>
          </p:cNvPr>
          <p:cNvSpPr/>
          <p:nvPr/>
        </p:nvSpPr>
        <p:spPr>
          <a:xfrm>
            <a:off x="2019727" y="4381531"/>
            <a:ext cx="6613023" cy="580325"/>
          </a:xfrm>
          <a:prstGeom prst="roundRect">
            <a:avLst>
              <a:gd name="adj" fmla="val 8152"/>
            </a:avLst>
          </a:prstGeom>
          <a:solidFill>
            <a:schemeClr val="accent1">
              <a:lumMod val="60000"/>
              <a:lumOff val="4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a:p>
        </p:txBody>
      </p:sp>
      <p:grpSp>
        <p:nvGrpSpPr>
          <p:cNvPr id="171" name="Group 170">
            <a:extLst>
              <a:ext uri="{FF2B5EF4-FFF2-40B4-BE49-F238E27FC236}">
                <a16:creationId xmlns:a16="http://schemas.microsoft.com/office/drawing/2014/main" id="{B5BA24DA-73B5-47A9-ACA9-FEA2541104B3}"/>
              </a:ext>
            </a:extLst>
          </p:cNvPr>
          <p:cNvGrpSpPr/>
          <p:nvPr/>
        </p:nvGrpSpPr>
        <p:grpSpPr>
          <a:xfrm>
            <a:off x="4670208" y="4474303"/>
            <a:ext cx="1145955" cy="412264"/>
            <a:chOff x="1450964" y="740269"/>
            <a:chExt cx="1111137" cy="510436"/>
          </a:xfrm>
        </p:grpSpPr>
        <p:sp>
          <p:nvSpPr>
            <p:cNvPr id="172" name="Rectangle 171">
              <a:extLst>
                <a:ext uri="{FF2B5EF4-FFF2-40B4-BE49-F238E27FC236}">
                  <a16:creationId xmlns:a16="http://schemas.microsoft.com/office/drawing/2014/main" id="{9085AFAD-CFD3-4A36-96D3-BBC42C180FCD}"/>
                </a:ext>
              </a:extLst>
            </p:cNvPr>
            <p:cNvSpPr/>
            <p:nvPr/>
          </p:nvSpPr>
          <p:spPr>
            <a:xfrm>
              <a:off x="1450964" y="740269"/>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dirty="0">
                <a:solidFill>
                  <a:schemeClr val="tx1"/>
                </a:solidFill>
              </a:endParaRPr>
            </a:p>
          </p:txBody>
        </p:sp>
        <p:sp>
          <p:nvSpPr>
            <p:cNvPr id="173" name="Rectangle 172">
              <a:extLst>
                <a:ext uri="{FF2B5EF4-FFF2-40B4-BE49-F238E27FC236}">
                  <a16:creationId xmlns:a16="http://schemas.microsoft.com/office/drawing/2014/main" id="{648BC18A-EBE6-413F-B20D-92A295458AE7}"/>
                </a:ext>
              </a:extLst>
            </p:cNvPr>
            <p:cNvSpPr/>
            <p:nvPr/>
          </p:nvSpPr>
          <p:spPr>
            <a:xfrm>
              <a:off x="1497860" y="778373"/>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DevSecOps Engineer</a:t>
              </a:r>
            </a:p>
          </p:txBody>
        </p:sp>
      </p:grpSp>
      <p:grpSp>
        <p:nvGrpSpPr>
          <p:cNvPr id="189" name="Group 188">
            <a:extLst>
              <a:ext uri="{FF2B5EF4-FFF2-40B4-BE49-F238E27FC236}">
                <a16:creationId xmlns:a16="http://schemas.microsoft.com/office/drawing/2014/main" id="{91025C37-DEAD-4317-947A-27A329AFA5A0}"/>
              </a:ext>
            </a:extLst>
          </p:cNvPr>
          <p:cNvGrpSpPr/>
          <p:nvPr/>
        </p:nvGrpSpPr>
        <p:grpSpPr>
          <a:xfrm>
            <a:off x="5383142" y="3818842"/>
            <a:ext cx="1145955" cy="412264"/>
            <a:chOff x="1450964" y="740269"/>
            <a:chExt cx="1111137" cy="510436"/>
          </a:xfrm>
        </p:grpSpPr>
        <p:sp>
          <p:nvSpPr>
            <p:cNvPr id="190" name="Rectangle 189">
              <a:extLst>
                <a:ext uri="{FF2B5EF4-FFF2-40B4-BE49-F238E27FC236}">
                  <a16:creationId xmlns:a16="http://schemas.microsoft.com/office/drawing/2014/main" id="{E1F4757A-6A54-49E8-8A96-2A501F80F35D}"/>
                </a:ext>
              </a:extLst>
            </p:cNvPr>
            <p:cNvSpPr/>
            <p:nvPr/>
          </p:nvSpPr>
          <p:spPr>
            <a:xfrm>
              <a:off x="1450964" y="740269"/>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dirty="0">
                <a:solidFill>
                  <a:schemeClr val="tx1"/>
                </a:solidFill>
              </a:endParaRPr>
            </a:p>
          </p:txBody>
        </p:sp>
        <p:sp>
          <p:nvSpPr>
            <p:cNvPr id="191" name="Rectangle 190">
              <a:extLst>
                <a:ext uri="{FF2B5EF4-FFF2-40B4-BE49-F238E27FC236}">
                  <a16:creationId xmlns:a16="http://schemas.microsoft.com/office/drawing/2014/main" id="{0DC9ED00-2687-418B-A3A3-9DC264245A17}"/>
                </a:ext>
              </a:extLst>
            </p:cNvPr>
            <p:cNvSpPr/>
            <p:nvPr/>
          </p:nvSpPr>
          <p:spPr>
            <a:xfrm>
              <a:off x="1497860" y="778373"/>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Test</a:t>
              </a:r>
            </a:p>
            <a:p>
              <a:pPr algn="ctr"/>
              <a:r>
                <a:rPr lang="en-IN" sz="900" dirty="0">
                  <a:solidFill>
                    <a:schemeClr val="tx1"/>
                  </a:solidFill>
                </a:rPr>
                <a:t>Engineer</a:t>
              </a:r>
            </a:p>
          </p:txBody>
        </p:sp>
      </p:grpSp>
      <p:sp>
        <p:nvSpPr>
          <p:cNvPr id="192" name="Rectangle 191">
            <a:extLst>
              <a:ext uri="{FF2B5EF4-FFF2-40B4-BE49-F238E27FC236}">
                <a16:creationId xmlns:a16="http://schemas.microsoft.com/office/drawing/2014/main" id="{31816D1F-ABB0-46CF-8A09-D502EA76D29A}"/>
              </a:ext>
            </a:extLst>
          </p:cNvPr>
          <p:cNvSpPr/>
          <p:nvPr/>
        </p:nvSpPr>
        <p:spPr>
          <a:xfrm>
            <a:off x="659426" y="457853"/>
            <a:ext cx="89610" cy="4500432"/>
          </a:xfrm>
          <a:prstGeom prst="rect">
            <a:avLst/>
          </a:prstGeom>
          <a:gradFill flip="none" rotWithShape="1">
            <a:gsLst>
              <a:gs pos="0">
                <a:srgbClr val="E9EBF5"/>
              </a:gs>
              <a:gs pos="34000">
                <a:srgbClr val="CFD5EA"/>
              </a:gs>
              <a:gs pos="69000">
                <a:srgbClr val="B4C7E7"/>
              </a:gs>
              <a:gs pos="99000">
                <a:srgbClr val="ADB9CA"/>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a:p>
        </p:txBody>
      </p:sp>
      <p:cxnSp>
        <p:nvCxnSpPr>
          <p:cNvPr id="194" name="Straight Connector 193">
            <a:extLst>
              <a:ext uri="{FF2B5EF4-FFF2-40B4-BE49-F238E27FC236}">
                <a16:creationId xmlns:a16="http://schemas.microsoft.com/office/drawing/2014/main" id="{9F4FB794-3F35-4BDB-B375-9C67C2448DFC}"/>
              </a:ext>
            </a:extLst>
          </p:cNvPr>
          <p:cNvCxnSpPr>
            <a:cxnSpLocks/>
          </p:cNvCxnSpPr>
          <p:nvPr/>
        </p:nvCxnSpPr>
        <p:spPr>
          <a:xfrm>
            <a:off x="741516" y="1848311"/>
            <a:ext cx="128030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7B410D5A-2EAD-4CE8-A4F6-D9448FCC75AC}"/>
              </a:ext>
            </a:extLst>
          </p:cNvPr>
          <p:cNvCxnSpPr>
            <a:cxnSpLocks/>
          </p:cNvCxnSpPr>
          <p:nvPr/>
        </p:nvCxnSpPr>
        <p:spPr>
          <a:xfrm>
            <a:off x="741516" y="3059271"/>
            <a:ext cx="128030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8548A265-B52A-4AD4-846B-D1897E797CA4}"/>
              </a:ext>
            </a:extLst>
          </p:cNvPr>
          <p:cNvCxnSpPr>
            <a:cxnSpLocks/>
          </p:cNvCxnSpPr>
          <p:nvPr/>
        </p:nvCxnSpPr>
        <p:spPr>
          <a:xfrm>
            <a:off x="741516" y="4085328"/>
            <a:ext cx="128030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C4E8EC42-2974-4ACC-BAA3-36D411E014EF}"/>
              </a:ext>
            </a:extLst>
          </p:cNvPr>
          <p:cNvCxnSpPr>
            <a:cxnSpLocks/>
          </p:cNvCxnSpPr>
          <p:nvPr/>
        </p:nvCxnSpPr>
        <p:spPr>
          <a:xfrm>
            <a:off x="741516" y="4740789"/>
            <a:ext cx="128030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8" name="TextBox 197">
            <a:extLst>
              <a:ext uri="{FF2B5EF4-FFF2-40B4-BE49-F238E27FC236}">
                <a16:creationId xmlns:a16="http://schemas.microsoft.com/office/drawing/2014/main" id="{FAB5E6B0-3CE2-41A6-9A7E-4364756508B2}"/>
              </a:ext>
            </a:extLst>
          </p:cNvPr>
          <p:cNvSpPr txBox="1"/>
          <p:nvPr/>
        </p:nvSpPr>
        <p:spPr>
          <a:xfrm>
            <a:off x="1041179" y="1554411"/>
            <a:ext cx="686406" cy="230832"/>
          </a:xfrm>
          <a:prstGeom prst="rect">
            <a:avLst/>
          </a:prstGeom>
          <a:noFill/>
        </p:spPr>
        <p:txBody>
          <a:bodyPr wrap="none" rtlCol="0">
            <a:spAutoFit/>
          </a:bodyPr>
          <a:lstStyle/>
          <a:p>
            <a:pPr algn="ctr"/>
            <a:r>
              <a:rPr lang="en-IN" sz="900" dirty="0">
                <a:latin typeface="Raleway SemiBold" pitchFamily="2" charset="0"/>
              </a:rPr>
              <a:t>UX Team</a:t>
            </a:r>
          </a:p>
        </p:txBody>
      </p:sp>
      <p:sp>
        <p:nvSpPr>
          <p:cNvPr id="199" name="TextBox 198">
            <a:extLst>
              <a:ext uri="{FF2B5EF4-FFF2-40B4-BE49-F238E27FC236}">
                <a16:creationId xmlns:a16="http://schemas.microsoft.com/office/drawing/2014/main" id="{8AB39AE3-90EE-4E34-A3F3-C970B0570C8C}"/>
              </a:ext>
            </a:extLst>
          </p:cNvPr>
          <p:cNvSpPr txBox="1"/>
          <p:nvPr/>
        </p:nvSpPr>
        <p:spPr>
          <a:xfrm>
            <a:off x="1002707" y="2751908"/>
            <a:ext cx="763349" cy="230832"/>
          </a:xfrm>
          <a:prstGeom prst="rect">
            <a:avLst/>
          </a:prstGeom>
          <a:noFill/>
        </p:spPr>
        <p:txBody>
          <a:bodyPr wrap="none" rtlCol="0">
            <a:spAutoFit/>
          </a:bodyPr>
          <a:lstStyle/>
          <a:p>
            <a:pPr algn="ctr"/>
            <a:r>
              <a:rPr lang="en-IN" sz="900" dirty="0">
                <a:latin typeface="Raleway SemiBold" pitchFamily="2" charset="0"/>
              </a:rPr>
              <a:t>DEV TEAM</a:t>
            </a:r>
          </a:p>
        </p:txBody>
      </p:sp>
      <p:sp>
        <p:nvSpPr>
          <p:cNvPr id="200" name="TextBox 199">
            <a:extLst>
              <a:ext uri="{FF2B5EF4-FFF2-40B4-BE49-F238E27FC236}">
                <a16:creationId xmlns:a16="http://schemas.microsoft.com/office/drawing/2014/main" id="{44AF5454-9961-403C-9D18-9EB3848614A8}"/>
              </a:ext>
            </a:extLst>
          </p:cNvPr>
          <p:cNvSpPr txBox="1"/>
          <p:nvPr/>
        </p:nvSpPr>
        <p:spPr>
          <a:xfrm>
            <a:off x="977863" y="3790908"/>
            <a:ext cx="813043" cy="230832"/>
          </a:xfrm>
          <a:prstGeom prst="rect">
            <a:avLst/>
          </a:prstGeom>
          <a:noFill/>
        </p:spPr>
        <p:txBody>
          <a:bodyPr wrap="none" rtlCol="0">
            <a:spAutoFit/>
          </a:bodyPr>
          <a:lstStyle/>
          <a:p>
            <a:pPr algn="ctr"/>
            <a:r>
              <a:rPr lang="en-IN" sz="900" dirty="0">
                <a:latin typeface="Raleway SemiBold" pitchFamily="2" charset="0"/>
              </a:rPr>
              <a:t>TEST TEAM</a:t>
            </a:r>
          </a:p>
        </p:txBody>
      </p:sp>
      <p:sp>
        <p:nvSpPr>
          <p:cNvPr id="201" name="TextBox 200">
            <a:extLst>
              <a:ext uri="{FF2B5EF4-FFF2-40B4-BE49-F238E27FC236}">
                <a16:creationId xmlns:a16="http://schemas.microsoft.com/office/drawing/2014/main" id="{AB670E04-61E1-44A5-A306-9831AF4BA49D}"/>
              </a:ext>
            </a:extLst>
          </p:cNvPr>
          <p:cNvSpPr txBox="1"/>
          <p:nvPr/>
        </p:nvSpPr>
        <p:spPr>
          <a:xfrm>
            <a:off x="953015" y="4445436"/>
            <a:ext cx="862737" cy="230832"/>
          </a:xfrm>
          <a:prstGeom prst="rect">
            <a:avLst/>
          </a:prstGeom>
          <a:noFill/>
        </p:spPr>
        <p:txBody>
          <a:bodyPr wrap="none" rtlCol="0">
            <a:spAutoFit/>
          </a:bodyPr>
          <a:lstStyle/>
          <a:p>
            <a:pPr algn="ctr"/>
            <a:r>
              <a:rPr lang="en-IN" sz="900" dirty="0">
                <a:latin typeface="Raleway SemiBold" pitchFamily="2" charset="0"/>
              </a:rPr>
              <a:t>DEVSECOPS</a:t>
            </a:r>
          </a:p>
        </p:txBody>
      </p:sp>
      <p:sp>
        <p:nvSpPr>
          <p:cNvPr id="202" name="TextBox 201">
            <a:extLst>
              <a:ext uri="{FF2B5EF4-FFF2-40B4-BE49-F238E27FC236}">
                <a16:creationId xmlns:a16="http://schemas.microsoft.com/office/drawing/2014/main" id="{8CA88005-B1E0-4E8A-87DC-16E5C4EC8B12}"/>
              </a:ext>
            </a:extLst>
          </p:cNvPr>
          <p:cNvSpPr txBox="1"/>
          <p:nvPr/>
        </p:nvSpPr>
        <p:spPr>
          <a:xfrm rot="16200000">
            <a:off x="-45340" y="2592653"/>
            <a:ext cx="1087157" cy="230832"/>
          </a:xfrm>
          <a:prstGeom prst="rect">
            <a:avLst/>
          </a:prstGeom>
          <a:noFill/>
        </p:spPr>
        <p:txBody>
          <a:bodyPr wrap="none" rtlCol="0">
            <a:spAutoFit/>
          </a:bodyPr>
          <a:lstStyle/>
          <a:p>
            <a:pPr algn="ctr"/>
            <a:r>
              <a:rPr lang="en-IN" sz="900" dirty="0">
                <a:latin typeface="Raleway SemiBold" pitchFamily="2" charset="0"/>
              </a:rPr>
              <a:t>PRODUCT TEAM</a:t>
            </a:r>
          </a:p>
        </p:txBody>
      </p:sp>
      <p:sp>
        <p:nvSpPr>
          <p:cNvPr id="205" name="Rectangle: Rounded Corners 204">
            <a:extLst>
              <a:ext uri="{FF2B5EF4-FFF2-40B4-BE49-F238E27FC236}">
                <a16:creationId xmlns:a16="http://schemas.microsoft.com/office/drawing/2014/main" id="{10BC9F92-C92E-4DA1-A205-71B299760149}"/>
              </a:ext>
            </a:extLst>
          </p:cNvPr>
          <p:cNvSpPr/>
          <p:nvPr/>
        </p:nvSpPr>
        <p:spPr>
          <a:xfrm>
            <a:off x="2194830" y="2526200"/>
            <a:ext cx="3047372" cy="1092041"/>
          </a:xfrm>
          <a:prstGeom prst="roundRect">
            <a:avLst>
              <a:gd name="adj" fmla="val 0"/>
            </a:avLst>
          </a:prstGeom>
          <a:solidFill>
            <a:schemeClr val="bg1">
              <a:lumMod val="95000"/>
            </a:schemeClr>
          </a:solidFill>
          <a:ln>
            <a:solidFill>
              <a:schemeClr val="accent1">
                <a:lumMod val="60000"/>
                <a:lumOff val="4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dirty="0"/>
          </a:p>
        </p:txBody>
      </p:sp>
      <p:sp>
        <p:nvSpPr>
          <p:cNvPr id="207" name="Rectangle: Rounded Corners 206">
            <a:extLst>
              <a:ext uri="{FF2B5EF4-FFF2-40B4-BE49-F238E27FC236}">
                <a16:creationId xmlns:a16="http://schemas.microsoft.com/office/drawing/2014/main" id="{E62478CC-2688-429D-BB4B-1794B5906EA8}"/>
              </a:ext>
            </a:extLst>
          </p:cNvPr>
          <p:cNvSpPr/>
          <p:nvPr/>
        </p:nvSpPr>
        <p:spPr>
          <a:xfrm>
            <a:off x="5302020" y="2519804"/>
            <a:ext cx="3048216" cy="1098437"/>
          </a:xfrm>
          <a:prstGeom prst="roundRect">
            <a:avLst>
              <a:gd name="adj" fmla="val 0"/>
            </a:avLst>
          </a:prstGeom>
          <a:solidFill>
            <a:schemeClr val="bg1">
              <a:lumMod val="95000"/>
            </a:schemeClr>
          </a:solidFill>
          <a:ln>
            <a:solidFill>
              <a:schemeClr val="accent1">
                <a:lumMod val="60000"/>
                <a:lumOff val="4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dirty="0"/>
          </a:p>
        </p:txBody>
      </p:sp>
      <p:grpSp>
        <p:nvGrpSpPr>
          <p:cNvPr id="138" name="Group 137">
            <a:extLst>
              <a:ext uri="{FF2B5EF4-FFF2-40B4-BE49-F238E27FC236}">
                <a16:creationId xmlns:a16="http://schemas.microsoft.com/office/drawing/2014/main" id="{F0A29DD3-2BA1-4E0B-9972-1AD55CBDFF1E}"/>
              </a:ext>
            </a:extLst>
          </p:cNvPr>
          <p:cNvGrpSpPr/>
          <p:nvPr/>
        </p:nvGrpSpPr>
        <p:grpSpPr>
          <a:xfrm>
            <a:off x="2422378" y="2578129"/>
            <a:ext cx="2581697" cy="1006399"/>
            <a:chOff x="3320372" y="577784"/>
            <a:chExt cx="2503256" cy="1246051"/>
          </a:xfrm>
        </p:grpSpPr>
        <p:grpSp>
          <p:nvGrpSpPr>
            <p:cNvPr id="139" name="Group 138">
              <a:extLst>
                <a:ext uri="{FF2B5EF4-FFF2-40B4-BE49-F238E27FC236}">
                  <a16:creationId xmlns:a16="http://schemas.microsoft.com/office/drawing/2014/main" id="{7095230D-6556-4B28-868B-D5E736C9A37F}"/>
                </a:ext>
              </a:extLst>
            </p:cNvPr>
            <p:cNvGrpSpPr/>
            <p:nvPr/>
          </p:nvGrpSpPr>
          <p:grpSpPr>
            <a:xfrm>
              <a:off x="4017166" y="577784"/>
              <a:ext cx="1111137" cy="510436"/>
              <a:chOff x="1450964" y="740269"/>
              <a:chExt cx="1111137" cy="510436"/>
            </a:xfrm>
          </p:grpSpPr>
          <p:sp>
            <p:nvSpPr>
              <p:cNvPr id="150" name="Rectangle 149">
                <a:extLst>
                  <a:ext uri="{FF2B5EF4-FFF2-40B4-BE49-F238E27FC236}">
                    <a16:creationId xmlns:a16="http://schemas.microsoft.com/office/drawing/2014/main" id="{A92C3621-0B3F-4896-9A4C-D90AB0C635AE}"/>
                  </a:ext>
                </a:extLst>
              </p:cNvPr>
              <p:cNvSpPr/>
              <p:nvPr/>
            </p:nvSpPr>
            <p:spPr>
              <a:xfrm>
                <a:off x="1450964" y="740269"/>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dirty="0">
                  <a:solidFill>
                    <a:schemeClr val="tx1"/>
                  </a:solidFill>
                </a:endParaRPr>
              </a:p>
            </p:txBody>
          </p:sp>
          <p:sp>
            <p:nvSpPr>
              <p:cNvPr id="151" name="Rectangle 150">
                <a:extLst>
                  <a:ext uri="{FF2B5EF4-FFF2-40B4-BE49-F238E27FC236}">
                    <a16:creationId xmlns:a16="http://schemas.microsoft.com/office/drawing/2014/main" id="{72BB3E4C-4A0A-4BF8-B942-E767AF3B7C7D}"/>
                  </a:ext>
                </a:extLst>
              </p:cNvPr>
              <p:cNvSpPr/>
              <p:nvPr/>
            </p:nvSpPr>
            <p:spPr>
              <a:xfrm>
                <a:off x="1497860" y="778373"/>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FSD-</a:t>
                </a:r>
                <a:r>
                  <a:rPr lang="en-IN" sz="900" dirty="0" err="1">
                    <a:solidFill>
                      <a:schemeClr val="tx1"/>
                    </a:solidFill>
                  </a:rPr>
                  <a:t>Api</a:t>
                </a:r>
                <a:r>
                  <a:rPr lang="en-IN" sz="900" dirty="0">
                    <a:solidFill>
                      <a:schemeClr val="tx1"/>
                    </a:solidFill>
                  </a:rPr>
                  <a:t>- Lead </a:t>
                </a:r>
              </a:p>
              <a:p>
                <a:pPr algn="ctr"/>
                <a:r>
                  <a:rPr lang="en-IN" sz="900" dirty="0">
                    <a:solidFill>
                      <a:schemeClr val="tx1"/>
                    </a:solidFill>
                  </a:rPr>
                  <a:t>Architect</a:t>
                </a:r>
              </a:p>
            </p:txBody>
          </p:sp>
        </p:grpSp>
        <p:grpSp>
          <p:nvGrpSpPr>
            <p:cNvPr id="140" name="Group 139">
              <a:extLst>
                <a:ext uri="{FF2B5EF4-FFF2-40B4-BE49-F238E27FC236}">
                  <a16:creationId xmlns:a16="http://schemas.microsoft.com/office/drawing/2014/main" id="{F5E8604D-F1EA-47CE-BED2-2093515A039E}"/>
                </a:ext>
              </a:extLst>
            </p:cNvPr>
            <p:cNvGrpSpPr/>
            <p:nvPr/>
          </p:nvGrpSpPr>
          <p:grpSpPr>
            <a:xfrm>
              <a:off x="3320372" y="1304607"/>
              <a:ext cx="1111137" cy="519228"/>
              <a:chOff x="1450964" y="678725"/>
              <a:chExt cx="1111137" cy="519228"/>
            </a:xfrm>
          </p:grpSpPr>
          <p:sp>
            <p:nvSpPr>
              <p:cNvPr id="148" name="Rectangle 147">
                <a:extLst>
                  <a:ext uri="{FF2B5EF4-FFF2-40B4-BE49-F238E27FC236}">
                    <a16:creationId xmlns:a16="http://schemas.microsoft.com/office/drawing/2014/main" id="{3820171D-E2ED-4288-9044-EBBB5C5CAA27}"/>
                  </a:ext>
                </a:extLst>
              </p:cNvPr>
              <p:cNvSpPr/>
              <p:nvPr/>
            </p:nvSpPr>
            <p:spPr>
              <a:xfrm>
                <a:off x="1450964" y="678725"/>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dirty="0">
                  <a:solidFill>
                    <a:schemeClr val="tx1"/>
                  </a:solidFill>
                </a:endParaRPr>
              </a:p>
            </p:txBody>
          </p:sp>
          <p:sp>
            <p:nvSpPr>
              <p:cNvPr id="149" name="Rectangle 148">
                <a:extLst>
                  <a:ext uri="{FF2B5EF4-FFF2-40B4-BE49-F238E27FC236}">
                    <a16:creationId xmlns:a16="http://schemas.microsoft.com/office/drawing/2014/main" id="{5405F818-1847-4C72-B81B-FFF255C5BD99}"/>
                  </a:ext>
                </a:extLst>
              </p:cNvPr>
              <p:cNvSpPr/>
              <p:nvPr/>
            </p:nvSpPr>
            <p:spPr>
              <a:xfrm>
                <a:off x="1497860" y="725621"/>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FSD-</a:t>
                </a:r>
                <a:r>
                  <a:rPr lang="en-IN" sz="900" dirty="0" err="1">
                    <a:solidFill>
                      <a:schemeClr val="tx1"/>
                    </a:solidFill>
                  </a:rPr>
                  <a:t>Api</a:t>
                </a:r>
                <a:r>
                  <a:rPr lang="en-IN" sz="900" dirty="0">
                    <a:solidFill>
                      <a:schemeClr val="tx1"/>
                    </a:solidFill>
                  </a:rPr>
                  <a:t> Senior </a:t>
                </a:r>
              </a:p>
              <a:p>
                <a:pPr algn="ctr"/>
                <a:r>
                  <a:rPr lang="en-IN" sz="900" dirty="0">
                    <a:solidFill>
                      <a:schemeClr val="tx1"/>
                    </a:solidFill>
                  </a:rPr>
                  <a:t>Engineer</a:t>
                </a:r>
              </a:p>
            </p:txBody>
          </p:sp>
        </p:grpSp>
        <p:grpSp>
          <p:nvGrpSpPr>
            <p:cNvPr id="141" name="Group 140">
              <a:extLst>
                <a:ext uri="{FF2B5EF4-FFF2-40B4-BE49-F238E27FC236}">
                  <a16:creationId xmlns:a16="http://schemas.microsoft.com/office/drawing/2014/main" id="{836FBF46-1DE6-4BFC-A4E4-FD578A41272C}"/>
                </a:ext>
              </a:extLst>
            </p:cNvPr>
            <p:cNvGrpSpPr/>
            <p:nvPr/>
          </p:nvGrpSpPr>
          <p:grpSpPr>
            <a:xfrm>
              <a:off x="4712491" y="1304607"/>
              <a:ext cx="1111137" cy="519228"/>
              <a:chOff x="1450964" y="678725"/>
              <a:chExt cx="1111137" cy="519228"/>
            </a:xfrm>
          </p:grpSpPr>
          <p:sp>
            <p:nvSpPr>
              <p:cNvPr id="146" name="Rectangle 145">
                <a:extLst>
                  <a:ext uri="{FF2B5EF4-FFF2-40B4-BE49-F238E27FC236}">
                    <a16:creationId xmlns:a16="http://schemas.microsoft.com/office/drawing/2014/main" id="{35788C6D-891C-49D4-82F6-6CD6C24951D2}"/>
                  </a:ext>
                </a:extLst>
              </p:cNvPr>
              <p:cNvSpPr/>
              <p:nvPr/>
            </p:nvSpPr>
            <p:spPr>
              <a:xfrm>
                <a:off x="1450964" y="678725"/>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dirty="0">
                  <a:solidFill>
                    <a:schemeClr val="tx1"/>
                  </a:solidFill>
                </a:endParaRPr>
              </a:p>
            </p:txBody>
          </p:sp>
          <p:sp>
            <p:nvSpPr>
              <p:cNvPr id="147" name="Rectangle 146">
                <a:extLst>
                  <a:ext uri="{FF2B5EF4-FFF2-40B4-BE49-F238E27FC236}">
                    <a16:creationId xmlns:a16="http://schemas.microsoft.com/office/drawing/2014/main" id="{9438ED70-13F0-4486-A3C6-D3E20A5B8A50}"/>
                  </a:ext>
                </a:extLst>
              </p:cNvPr>
              <p:cNvSpPr/>
              <p:nvPr/>
            </p:nvSpPr>
            <p:spPr>
              <a:xfrm>
                <a:off x="1497860" y="725621"/>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FSD-</a:t>
                </a:r>
                <a:r>
                  <a:rPr lang="en-IN" sz="900" dirty="0" err="1">
                    <a:solidFill>
                      <a:schemeClr val="tx1"/>
                    </a:solidFill>
                  </a:rPr>
                  <a:t>Api</a:t>
                </a:r>
                <a:r>
                  <a:rPr lang="en-IN" sz="900" dirty="0">
                    <a:solidFill>
                      <a:schemeClr val="tx1"/>
                    </a:solidFill>
                  </a:rPr>
                  <a:t> Senior </a:t>
                </a:r>
              </a:p>
              <a:p>
                <a:pPr algn="ctr"/>
                <a:r>
                  <a:rPr lang="en-IN" sz="900" dirty="0">
                    <a:solidFill>
                      <a:schemeClr val="tx1"/>
                    </a:solidFill>
                  </a:rPr>
                  <a:t>Engineer</a:t>
                </a:r>
              </a:p>
            </p:txBody>
          </p:sp>
        </p:grpSp>
        <p:cxnSp>
          <p:nvCxnSpPr>
            <p:cNvPr id="142" name="Straight Connector 141">
              <a:extLst>
                <a:ext uri="{FF2B5EF4-FFF2-40B4-BE49-F238E27FC236}">
                  <a16:creationId xmlns:a16="http://schemas.microsoft.com/office/drawing/2014/main" id="{D7F42E83-CD3E-41C8-8EAA-FEBCD656D34A}"/>
                </a:ext>
              </a:extLst>
            </p:cNvPr>
            <p:cNvCxnSpPr>
              <a:cxnSpLocks/>
            </p:cNvCxnSpPr>
            <p:nvPr/>
          </p:nvCxnSpPr>
          <p:spPr>
            <a:xfrm>
              <a:off x="3875940" y="1194998"/>
              <a:ext cx="1" cy="108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948A0F8-1FAC-495A-A52D-4A07D3A37C61}"/>
                </a:ext>
              </a:extLst>
            </p:cNvPr>
            <p:cNvCxnSpPr>
              <a:cxnSpLocks/>
            </p:cNvCxnSpPr>
            <p:nvPr/>
          </p:nvCxnSpPr>
          <p:spPr>
            <a:xfrm>
              <a:off x="3877409" y="1197663"/>
              <a:ext cx="13906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2A9C10C3-E1C9-412F-8B44-C71DE2D3A56A}"/>
                </a:ext>
              </a:extLst>
            </p:cNvPr>
            <p:cNvCxnSpPr>
              <a:cxnSpLocks/>
            </p:cNvCxnSpPr>
            <p:nvPr/>
          </p:nvCxnSpPr>
          <p:spPr>
            <a:xfrm>
              <a:off x="4577129" y="1089925"/>
              <a:ext cx="1" cy="108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210A73C6-4734-4784-A9B4-0ACD13FA665B}"/>
                </a:ext>
              </a:extLst>
            </p:cNvPr>
            <p:cNvCxnSpPr>
              <a:cxnSpLocks/>
            </p:cNvCxnSpPr>
            <p:nvPr/>
          </p:nvCxnSpPr>
          <p:spPr>
            <a:xfrm>
              <a:off x="5265211" y="1197337"/>
              <a:ext cx="1" cy="108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4" name="Group 173">
            <a:extLst>
              <a:ext uri="{FF2B5EF4-FFF2-40B4-BE49-F238E27FC236}">
                <a16:creationId xmlns:a16="http://schemas.microsoft.com/office/drawing/2014/main" id="{381DDDB0-5250-495F-B345-DDF2972DB738}"/>
              </a:ext>
            </a:extLst>
          </p:cNvPr>
          <p:cNvGrpSpPr/>
          <p:nvPr/>
        </p:nvGrpSpPr>
        <p:grpSpPr>
          <a:xfrm>
            <a:off x="5529977" y="2578129"/>
            <a:ext cx="2581697" cy="1006399"/>
            <a:chOff x="3320372" y="577784"/>
            <a:chExt cx="2503256" cy="1246051"/>
          </a:xfrm>
        </p:grpSpPr>
        <p:grpSp>
          <p:nvGrpSpPr>
            <p:cNvPr id="175" name="Group 174">
              <a:extLst>
                <a:ext uri="{FF2B5EF4-FFF2-40B4-BE49-F238E27FC236}">
                  <a16:creationId xmlns:a16="http://schemas.microsoft.com/office/drawing/2014/main" id="{D9A8E239-09DE-490D-BC73-1DC4731663D9}"/>
                </a:ext>
              </a:extLst>
            </p:cNvPr>
            <p:cNvGrpSpPr/>
            <p:nvPr/>
          </p:nvGrpSpPr>
          <p:grpSpPr>
            <a:xfrm>
              <a:off x="4017166" y="577784"/>
              <a:ext cx="1111137" cy="510436"/>
              <a:chOff x="1450964" y="740269"/>
              <a:chExt cx="1111137" cy="510436"/>
            </a:xfrm>
          </p:grpSpPr>
          <p:sp>
            <p:nvSpPr>
              <p:cNvPr id="186" name="Rectangle 185">
                <a:extLst>
                  <a:ext uri="{FF2B5EF4-FFF2-40B4-BE49-F238E27FC236}">
                    <a16:creationId xmlns:a16="http://schemas.microsoft.com/office/drawing/2014/main" id="{BBE68308-4CE3-41A2-8FA0-A62A0ACBD7CC}"/>
                  </a:ext>
                </a:extLst>
              </p:cNvPr>
              <p:cNvSpPr/>
              <p:nvPr/>
            </p:nvSpPr>
            <p:spPr>
              <a:xfrm>
                <a:off x="1450964" y="740269"/>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dirty="0">
                  <a:solidFill>
                    <a:schemeClr val="tx1"/>
                  </a:solidFill>
                </a:endParaRPr>
              </a:p>
            </p:txBody>
          </p:sp>
          <p:sp>
            <p:nvSpPr>
              <p:cNvPr id="187" name="Rectangle 186">
                <a:extLst>
                  <a:ext uri="{FF2B5EF4-FFF2-40B4-BE49-F238E27FC236}">
                    <a16:creationId xmlns:a16="http://schemas.microsoft.com/office/drawing/2014/main" id="{35470E48-553D-423F-9A00-CA0C9AEAB982}"/>
                  </a:ext>
                </a:extLst>
              </p:cNvPr>
              <p:cNvSpPr/>
              <p:nvPr/>
            </p:nvSpPr>
            <p:spPr>
              <a:xfrm>
                <a:off x="1497860" y="778373"/>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FSD-UI- Lead </a:t>
                </a:r>
              </a:p>
              <a:p>
                <a:pPr algn="ctr"/>
                <a:r>
                  <a:rPr lang="en-IN" sz="900" dirty="0">
                    <a:solidFill>
                      <a:schemeClr val="tx1"/>
                    </a:solidFill>
                  </a:rPr>
                  <a:t>Architect</a:t>
                </a:r>
              </a:p>
            </p:txBody>
          </p:sp>
        </p:grpSp>
        <p:grpSp>
          <p:nvGrpSpPr>
            <p:cNvPr id="176" name="Group 175">
              <a:extLst>
                <a:ext uri="{FF2B5EF4-FFF2-40B4-BE49-F238E27FC236}">
                  <a16:creationId xmlns:a16="http://schemas.microsoft.com/office/drawing/2014/main" id="{57C90ABE-D5C7-4B27-A3AB-E7F5B4A9D088}"/>
                </a:ext>
              </a:extLst>
            </p:cNvPr>
            <p:cNvGrpSpPr/>
            <p:nvPr/>
          </p:nvGrpSpPr>
          <p:grpSpPr>
            <a:xfrm>
              <a:off x="3320372" y="1304607"/>
              <a:ext cx="1111137" cy="519228"/>
              <a:chOff x="1450964" y="678725"/>
              <a:chExt cx="1111137" cy="519228"/>
            </a:xfrm>
          </p:grpSpPr>
          <p:sp>
            <p:nvSpPr>
              <p:cNvPr id="184" name="Rectangle 183">
                <a:extLst>
                  <a:ext uri="{FF2B5EF4-FFF2-40B4-BE49-F238E27FC236}">
                    <a16:creationId xmlns:a16="http://schemas.microsoft.com/office/drawing/2014/main" id="{77D7066B-7591-4138-914C-2A2EB73A428E}"/>
                  </a:ext>
                </a:extLst>
              </p:cNvPr>
              <p:cNvSpPr/>
              <p:nvPr/>
            </p:nvSpPr>
            <p:spPr>
              <a:xfrm>
                <a:off x="1450964" y="678725"/>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dirty="0">
                  <a:solidFill>
                    <a:schemeClr val="tx1"/>
                  </a:solidFill>
                </a:endParaRPr>
              </a:p>
            </p:txBody>
          </p:sp>
          <p:sp>
            <p:nvSpPr>
              <p:cNvPr id="185" name="Rectangle 184">
                <a:extLst>
                  <a:ext uri="{FF2B5EF4-FFF2-40B4-BE49-F238E27FC236}">
                    <a16:creationId xmlns:a16="http://schemas.microsoft.com/office/drawing/2014/main" id="{DEC1835F-693C-4AAA-B9F4-E20A69E4D0D9}"/>
                  </a:ext>
                </a:extLst>
              </p:cNvPr>
              <p:cNvSpPr/>
              <p:nvPr/>
            </p:nvSpPr>
            <p:spPr>
              <a:xfrm>
                <a:off x="1497860" y="725621"/>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FSD-UI Senior </a:t>
                </a:r>
              </a:p>
              <a:p>
                <a:pPr algn="ctr"/>
                <a:r>
                  <a:rPr lang="en-IN" sz="900" dirty="0">
                    <a:solidFill>
                      <a:schemeClr val="tx1"/>
                    </a:solidFill>
                  </a:rPr>
                  <a:t>Engineer</a:t>
                </a:r>
              </a:p>
            </p:txBody>
          </p:sp>
        </p:grpSp>
        <p:grpSp>
          <p:nvGrpSpPr>
            <p:cNvPr id="177" name="Group 176">
              <a:extLst>
                <a:ext uri="{FF2B5EF4-FFF2-40B4-BE49-F238E27FC236}">
                  <a16:creationId xmlns:a16="http://schemas.microsoft.com/office/drawing/2014/main" id="{4BF54B65-298F-468C-B741-52A14569F06A}"/>
                </a:ext>
              </a:extLst>
            </p:cNvPr>
            <p:cNvGrpSpPr/>
            <p:nvPr/>
          </p:nvGrpSpPr>
          <p:grpSpPr>
            <a:xfrm>
              <a:off x="4712491" y="1304607"/>
              <a:ext cx="1111137" cy="519228"/>
              <a:chOff x="1450964" y="678725"/>
              <a:chExt cx="1111137" cy="519228"/>
            </a:xfrm>
          </p:grpSpPr>
          <p:sp>
            <p:nvSpPr>
              <p:cNvPr id="182" name="Rectangle 181">
                <a:extLst>
                  <a:ext uri="{FF2B5EF4-FFF2-40B4-BE49-F238E27FC236}">
                    <a16:creationId xmlns:a16="http://schemas.microsoft.com/office/drawing/2014/main" id="{B03EE697-E8C3-4E21-BC8C-671A5D2F304B}"/>
                  </a:ext>
                </a:extLst>
              </p:cNvPr>
              <p:cNvSpPr/>
              <p:nvPr/>
            </p:nvSpPr>
            <p:spPr>
              <a:xfrm>
                <a:off x="1450964" y="678725"/>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dirty="0">
                  <a:solidFill>
                    <a:schemeClr val="tx1"/>
                  </a:solidFill>
                </a:endParaRPr>
              </a:p>
            </p:txBody>
          </p:sp>
          <p:sp>
            <p:nvSpPr>
              <p:cNvPr id="183" name="Rectangle 182">
                <a:extLst>
                  <a:ext uri="{FF2B5EF4-FFF2-40B4-BE49-F238E27FC236}">
                    <a16:creationId xmlns:a16="http://schemas.microsoft.com/office/drawing/2014/main" id="{7EF53C17-CAAD-458C-946C-3246E5F2C7CB}"/>
                  </a:ext>
                </a:extLst>
              </p:cNvPr>
              <p:cNvSpPr/>
              <p:nvPr/>
            </p:nvSpPr>
            <p:spPr>
              <a:xfrm>
                <a:off x="1497860" y="725621"/>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FSD-UI Senior </a:t>
                </a:r>
              </a:p>
              <a:p>
                <a:pPr algn="ctr"/>
                <a:r>
                  <a:rPr lang="en-IN" sz="900" dirty="0">
                    <a:solidFill>
                      <a:schemeClr val="tx1"/>
                    </a:solidFill>
                  </a:rPr>
                  <a:t>Engineer</a:t>
                </a:r>
              </a:p>
            </p:txBody>
          </p:sp>
        </p:grpSp>
        <p:cxnSp>
          <p:nvCxnSpPr>
            <p:cNvPr id="178" name="Straight Connector 177">
              <a:extLst>
                <a:ext uri="{FF2B5EF4-FFF2-40B4-BE49-F238E27FC236}">
                  <a16:creationId xmlns:a16="http://schemas.microsoft.com/office/drawing/2014/main" id="{7D49E546-7509-437C-8E5A-7792A27CF998}"/>
                </a:ext>
              </a:extLst>
            </p:cNvPr>
            <p:cNvCxnSpPr>
              <a:cxnSpLocks/>
            </p:cNvCxnSpPr>
            <p:nvPr/>
          </p:nvCxnSpPr>
          <p:spPr>
            <a:xfrm>
              <a:off x="3875940" y="1194998"/>
              <a:ext cx="1" cy="108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C2A508B6-EB21-4910-AE53-67E9D912F094}"/>
                </a:ext>
              </a:extLst>
            </p:cNvPr>
            <p:cNvCxnSpPr>
              <a:cxnSpLocks/>
            </p:cNvCxnSpPr>
            <p:nvPr/>
          </p:nvCxnSpPr>
          <p:spPr>
            <a:xfrm>
              <a:off x="3877409" y="1197663"/>
              <a:ext cx="13906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C2129270-F283-4821-A430-9A7EBAFA4338}"/>
                </a:ext>
              </a:extLst>
            </p:cNvPr>
            <p:cNvCxnSpPr>
              <a:cxnSpLocks/>
            </p:cNvCxnSpPr>
            <p:nvPr/>
          </p:nvCxnSpPr>
          <p:spPr>
            <a:xfrm>
              <a:off x="4577129" y="1089925"/>
              <a:ext cx="1" cy="108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BEF448D4-907A-47D2-8273-C44ED46F4F73}"/>
                </a:ext>
              </a:extLst>
            </p:cNvPr>
            <p:cNvCxnSpPr>
              <a:cxnSpLocks/>
            </p:cNvCxnSpPr>
            <p:nvPr/>
          </p:nvCxnSpPr>
          <p:spPr>
            <a:xfrm>
              <a:off x="5265211" y="1197337"/>
              <a:ext cx="1" cy="108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8" name="TextBox 207">
            <a:extLst>
              <a:ext uri="{FF2B5EF4-FFF2-40B4-BE49-F238E27FC236}">
                <a16:creationId xmlns:a16="http://schemas.microsoft.com/office/drawing/2014/main" id="{0AB491FE-6CD5-48A2-A3C3-8BAF817E8518}"/>
              </a:ext>
            </a:extLst>
          </p:cNvPr>
          <p:cNvSpPr txBox="1"/>
          <p:nvPr/>
        </p:nvSpPr>
        <p:spPr>
          <a:xfrm>
            <a:off x="2236061" y="2570291"/>
            <a:ext cx="883157" cy="230832"/>
          </a:xfrm>
          <a:prstGeom prst="rect">
            <a:avLst/>
          </a:prstGeom>
          <a:noFill/>
        </p:spPr>
        <p:txBody>
          <a:bodyPr wrap="square" rtlCol="0">
            <a:spAutoFit/>
          </a:bodyPr>
          <a:lstStyle/>
          <a:p>
            <a:pPr algn="ctr"/>
            <a:r>
              <a:rPr lang="en-IN" sz="900" dirty="0">
                <a:latin typeface="Raleway SemiBold" pitchFamily="2" charset="0"/>
              </a:rPr>
              <a:t>BACKEND</a:t>
            </a:r>
          </a:p>
        </p:txBody>
      </p:sp>
      <p:sp>
        <p:nvSpPr>
          <p:cNvPr id="209" name="TextBox 208">
            <a:extLst>
              <a:ext uri="{FF2B5EF4-FFF2-40B4-BE49-F238E27FC236}">
                <a16:creationId xmlns:a16="http://schemas.microsoft.com/office/drawing/2014/main" id="{CC522A71-D63B-40A4-BE82-C71B9259FB87}"/>
              </a:ext>
            </a:extLst>
          </p:cNvPr>
          <p:cNvSpPr txBox="1"/>
          <p:nvPr/>
        </p:nvSpPr>
        <p:spPr>
          <a:xfrm>
            <a:off x="5275484" y="2570291"/>
            <a:ext cx="982352" cy="230832"/>
          </a:xfrm>
          <a:prstGeom prst="rect">
            <a:avLst/>
          </a:prstGeom>
          <a:noFill/>
        </p:spPr>
        <p:txBody>
          <a:bodyPr wrap="square" rtlCol="0">
            <a:spAutoFit/>
          </a:bodyPr>
          <a:lstStyle/>
          <a:p>
            <a:pPr algn="ctr"/>
            <a:r>
              <a:rPr lang="en-IN" sz="900" dirty="0">
                <a:latin typeface="Raleway SemiBold" pitchFamily="2" charset="0"/>
              </a:rPr>
              <a:t>FRONTEND</a:t>
            </a:r>
          </a:p>
        </p:txBody>
      </p:sp>
      <p:sp>
        <p:nvSpPr>
          <p:cNvPr id="72" name="TextBox 71">
            <a:extLst>
              <a:ext uri="{FF2B5EF4-FFF2-40B4-BE49-F238E27FC236}">
                <a16:creationId xmlns:a16="http://schemas.microsoft.com/office/drawing/2014/main" id="{0E665C42-3E40-4B64-A83D-A1233A0F8592}"/>
              </a:ext>
            </a:extLst>
          </p:cNvPr>
          <p:cNvSpPr txBox="1"/>
          <p:nvPr/>
        </p:nvSpPr>
        <p:spPr>
          <a:xfrm>
            <a:off x="6247862" y="5015729"/>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
        <p:nvSpPr>
          <p:cNvPr id="73" name="Rectangle: Rounded Corners 72">
            <a:extLst>
              <a:ext uri="{FF2B5EF4-FFF2-40B4-BE49-F238E27FC236}">
                <a16:creationId xmlns:a16="http://schemas.microsoft.com/office/drawing/2014/main" id="{A46E53F4-54E2-40BB-BA74-7F65C6608733}"/>
              </a:ext>
            </a:extLst>
          </p:cNvPr>
          <p:cNvSpPr/>
          <p:nvPr/>
        </p:nvSpPr>
        <p:spPr>
          <a:xfrm>
            <a:off x="2016188" y="542158"/>
            <a:ext cx="6613023" cy="652167"/>
          </a:xfrm>
          <a:prstGeom prst="roundRect">
            <a:avLst>
              <a:gd name="adj" fmla="val 5021"/>
            </a:avLst>
          </a:prstGeom>
          <a:solidFill>
            <a:srgbClr val="E9EBF5"/>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a:p>
        </p:txBody>
      </p:sp>
      <p:cxnSp>
        <p:nvCxnSpPr>
          <p:cNvPr id="74" name="Straight Connector 73">
            <a:extLst>
              <a:ext uri="{FF2B5EF4-FFF2-40B4-BE49-F238E27FC236}">
                <a16:creationId xmlns:a16="http://schemas.microsoft.com/office/drawing/2014/main" id="{B997B32C-FB8E-4BEE-A130-2C095EF4CFF3}"/>
              </a:ext>
            </a:extLst>
          </p:cNvPr>
          <p:cNvCxnSpPr>
            <a:cxnSpLocks/>
          </p:cNvCxnSpPr>
          <p:nvPr/>
        </p:nvCxnSpPr>
        <p:spPr>
          <a:xfrm>
            <a:off x="737977" y="887841"/>
            <a:ext cx="128030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6A17E914-60D7-40BD-812C-1401B8A0DB66}"/>
              </a:ext>
            </a:extLst>
          </p:cNvPr>
          <p:cNvSpPr txBox="1"/>
          <p:nvPr/>
        </p:nvSpPr>
        <p:spPr>
          <a:xfrm>
            <a:off x="692197" y="615206"/>
            <a:ext cx="1377301" cy="230832"/>
          </a:xfrm>
          <a:prstGeom prst="rect">
            <a:avLst/>
          </a:prstGeom>
          <a:noFill/>
        </p:spPr>
        <p:txBody>
          <a:bodyPr wrap="none" rtlCol="0">
            <a:spAutoFit/>
          </a:bodyPr>
          <a:lstStyle/>
          <a:p>
            <a:pPr algn="ctr"/>
            <a:r>
              <a:rPr lang="en-IN" sz="900" dirty="0">
                <a:latin typeface="Raleway SemiBold" pitchFamily="2" charset="0"/>
              </a:rPr>
              <a:t>Product Management</a:t>
            </a:r>
          </a:p>
        </p:txBody>
      </p:sp>
      <p:grpSp>
        <p:nvGrpSpPr>
          <p:cNvPr id="91" name="Group 90">
            <a:extLst>
              <a:ext uri="{FF2B5EF4-FFF2-40B4-BE49-F238E27FC236}">
                <a16:creationId xmlns:a16="http://schemas.microsoft.com/office/drawing/2014/main" id="{8F67C7FC-1265-44EB-9DA7-5BE415CDDFFD}"/>
              </a:ext>
            </a:extLst>
          </p:cNvPr>
          <p:cNvGrpSpPr/>
          <p:nvPr/>
        </p:nvGrpSpPr>
        <p:grpSpPr>
          <a:xfrm>
            <a:off x="2480499" y="668054"/>
            <a:ext cx="1145955" cy="412264"/>
            <a:chOff x="1450964" y="740269"/>
            <a:chExt cx="1111137" cy="510436"/>
          </a:xfrm>
        </p:grpSpPr>
        <p:sp>
          <p:nvSpPr>
            <p:cNvPr id="92" name="Rectangle 91">
              <a:extLst>
                <a:ext uri="{FF2B5EF4-FFF2-40B4-BE49-F238E27FC236}">
                  <a16:creationId xmlns:a16="http://schemas.microsoft.com/office/drawing/2014/main" id="{8FE7A0E0-4F2B-4CF9-A4B0-B8A079A9E7E2}"/>
                </a:ext>
              </a:extLst>
            </p:cNvPr>
            <p:cNvSpPr/>
            <p:nvPr/>
          </p:nvSpPr>
          <p:spPr>
            <a:xfrm>
              <a:off x="1450964" y="740269"/>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dirty="0">
                <a:solidFill>
                  <a:schemeClr val="tx1"/>
                </a:solidFill>
              </a:endParaRPr>
            </a:p>
          </p:txBody>
        </p:sp>
        <p:sp>
          <p:nvSpPr>
            <p:cNvPr id="93" name="Rectangle 92">
              <a:extLst>
                <a:ext uri="{FF2B5EF4-FFF2-40B4-BE49-F238E27FC236}">
                  <a16:creationId xmlns:a16="http://schemas.microsoft.com/office/drawing/2014/main" id="{266B2740-3C2C-4AF7-980D-2A9748D5D67C}"/>
                </a:ext>
              </a:extLst>
            </p:cNvPr>
            <p:cNvSpPr/>
            <p:nvPr/>
          </p:nvSpPr>
          <p:spPr>
            <a:xfrm>
              <a:off x="1497860" y="778373"/>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Product Owner</a:t>
              </a:r>
            </a:p>
          </p:txBody>
        </p:sp>
      </p:grpSp>
      <p:grpSp>
        <p:nvGrpSpPr>
          <p:cNvPr id="94" name="Group 93">
            <a:extLst>
              <a:ext uri="{FF2B5EF4-FFF2-40B4-BE49-F238E27FC236}">
                <a16:creationId xmlns:a16="http://schemas.microsoft.com/office/drawing/2014/main" id="{BB52494E-AC69-46E7-A771-53CA0D1E579A}"/>
              </a:ext>
            </a:extLst>
          </p:cNvPr>
          <p:cNvGrpSpPr/>
          <p:nvPr/>
        </p:nvGrpSpPr>
        <p:grpSpPr>
          <a:xfrm>
            <a:off x="4674345" y="671597"/>
            <a:ext cx="1145955" cy="412264"/>
            <a:chOff x="1450964" y="740269"/>
            <a:chExt cx="1111137" cy="510436"/>
          </a:xfrm>
        </p:grpSpPr>
        <p:sp>
          <p:nvSpPr>
            <p:cNvPr id="95" name="Rectangle 94">
              <a:extLst>
                <a:ext uri="{FF2B5EF4-FFF2-40B4-BE49-F238E27FC236}">
                  <a16:creationId xmlns:a16="http://schemas.microsoft.com/office/drawing/2014/main" id="{D1039352-5DA4-4EA1-8663-8F4B9B33EEF4}"/>
                </a:ext>
              </a:extLst>
            </p:cNvPr>
            <p:cNvSpPr/>
            <p:nvPr/>
          </p:nvSpPr>
          <p:spPr>
            <a:xfrm>
              <a:off x="1450964" y="740269"/>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900" dirty="0">
                <a:solidFill>
                  <a:schemeClr val="tx1"/>
                </a:solidFill>
              </a:endParaRPr>
            </a:p>
          </p:txBody>
        </p:sp>
        <p:sp>
          <p:nvSpPr>
            <p:cNvPr id="96" name="Rectangle 95">
              <a:extLst>
                <a:ext uri="{FF2B5EF4-FFF2-40B4-BE49-F238E27FC236}">
                  <a16:creationId xmlns:a16="http://schemas.microsoft.com/office/drawing/2014/main" id="{251979A4-906E-45EC-9A5B-DC669B209193}"/>
                </a:ext>
              </a:extLst>
            </p:cNvPr>
            <p:cNvSpPr/>
            <p:nvPr/>
          </p:nvSpPr>
          <p:spPr>
            <a:xfrm>
              <a:off x="1497860" y="778373"/>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Project Manager</a:t>
              </a:r>
            </a:p>
          </p:txBody>
        </p:sp>
      </p:grpSp>
      <p:cxnSp>
        <p:nvCxnSpPr>
          <p:cNvPr id="4" name="Straight Connector 3">
            <a:extLst>
              <a:ext uri="{FF2B5EF4-FFF2-40B4-BE49-F238E27FC236}">
                <a16:creationId xmlns:a16="http://schemas.microsoft.com/office/drawing/2014/main" id="{DB4BBDDA-B895-4A46-9D22-1F4064BCE36A}"/>
              </a:ext>
            </a:extLst>
          </p:cNvPr>
          <p:cNvCxnSpPr>
            <a:cxnSpLocks/>
            <a:stCxn id="93" idx="3"/>
          </p:cNvCxnSpPr>
          <p:nvPr/>
        </p:nvCxnSpPr>
        <p:spPr>
          <a:xfrm>
            <a:off x="3626454" y="889574"/>
            <a:ext cx="10478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2680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Graphic 5">
            <a:extLst>
              <a:ext uri="{FF2B5EF4-FFF2-40B4-BE49-F238E27FC236}">
                <a16:creationId xmlns:a16="http://schemas.microsoft.com/office/drawing/2014/main" id="{EE8208B9-9262-4F51-B0F5-90ADB3900F27}"/>
              </a:ext>
            </a:extLst>
          </p:cNvPr>
          <p:cNvSpPr>
            <a:spLocks noChangeAspect="1"/>
          </p:cNvSpPr>
          <p:nvPr/>
        </p:nvSpPr>
        <p:spPr>
          <a:xfrm>
            <a:off x="3079321" y="1"/>
            <a:ext cx="2985359" cy="290786"/>
          </a:xfrm>
          <a:custGeom>
            <a:avLst/>
            <a:gdLst>
              <a:gd name="connsiteX0" fmla="*/ 5298019 w 5298018"/>
              <a:gd name="connsiteY0" fmla="*/ 0 h 475749"/>
              <a:gd name="connsiteX1" fmla="*/ 4792594 w 5298018"/>
              <a:gd name="connsiteY1" fmla="*/ 475749 h 475749"/>
              <a:gd name="connsiteX2" fmla="*/ 505473 w 5298018"/>
              <a:gd name="connsiteY2" fmla="*/ 475749 h 475749"/>
              <a:gd name="connsiteX3" fmla="*/ 0 w 5298018"/>
              <a:gd name="connsiteY3" fmla="*/ 0 h 475749"/>
            </a:gdLst>
            <a:ahLst/>
            <a:cxnLst>
              <a:cxn ang="0">
                <a:pos x="connsiteX0" y="connsiteY0"/>
              </a:cxn>
              <a:cxn ang="0">
                <a:pos x="connsiteX1" y="connsiteY1"/>
              </a:cxn>
              <a:cxn ang="0">
                <a:pos x="connsiteX2" y="connsiteY2"/>
              </a:cxn>
              <a:cxn ang="0">
                <a:pos x="connsiteX3" y="connsiteY3"/>
              </a:cxn>
            </a:cxnLst>
            <a:rect l="l" t="t" r="r" b="b"/>
            <a:pathLst>
              <a:path w="5298018" h="475749">
                <a:moveTo>
                  <a:pt x="5298019" y="0"/>
                </a:moveTo>
                <a:cubicBezTo>
                  <a:pt x="4930695" y="172726"/>
                  <a:pt x="5133304" y="475749"/>
                  <a:pt x="4792594" y="475749"/>
                </a:cubicBezTo>
                <a:lnTo>
                  <a:pt x="505473" y="475749"/>
                </a:lnTo>
                <a:cubicBezTo>
                  <a:pt x="164763" y="475749"/>
                  <a:pt x="367324" y="172726"/>
                  <a:pt x="0" y="0"/>
                </a:cubicBezTo>
                <a:close/>
              </a:path>
            </a:pathLst>
          </a:custGeom>
          <a:solidFill>
            <a:schemeClr val="accent1"/>
          </a:solidFill>
          <a:ln w="4881" cap="flat">
            <a:noFill/>
            <a:prstDash val="solid"/>
            <a:miter/>
          </a:ln>
        </p:spPr>
        <p:txBody>
          <a:bodyPr rtlCol="0" anchor="ctr"/>
          <a:lstStyle/>
          <a:p>
            <a:endParaRPr lang="en-EG" sz="1200" dirty="0">
              <a:latin typeface="Raleway SemiBold" pitchFamily="2" charset="0"/>
            </a:endParaRPr>
          </a:p>
        </p:txBody>
      </p:sp>
      <p:sp>
        <p:nvSpPr>
          <p:cNvPr id="37" name="TextBox 36">
            <a:extLst>
              <a:ext uri="{FF2B5EF4-FFF2-40B4-BE49-F238E27FC236}">
                <a16:creationId xmlns:a16="http://schemas.microsoft.com/office/drawing/2014/main" id="{A32FCD10-DA02-4D55-B283-1225D1AF3794}"/>
              </a:ext>
            </a:extLst>
          </p:cNvPr>
          <p:cNvSpPr txBox="1"/>
          <p:nvPr/>
        </p:nvSpPr>
        <p:spPr>
          <a:xfrm>
            <a:off x="3494638" y="51663"/>
            <a:ext cx="2154725" cy="184666"/>
          </a:xfrm>
          <a:prstGeom prst="rect">
            <a:avLst/>
          </a:prstGeom>
          <a:noFill/>
        </p:spPr>
        <p:txBody>
          <a:bodyPr wrap="square" lIns="0" tIns="0" rIns="0" bIns="0" rtlCol="0">
            <a:spAutoFit/>
          </a:bodyPr>
          <a:lstStyle/>
          <a:p>
            <a:pPr algn="ctr"/>
            <a:r>
              <a:rPr lang="en-US" sz="1200" dirty="0">
                <a:solidFill>
                  <a:srgbClr val="FFFFFF"/>
                </a:solidFill>
                <a:latin typeface="Raleway SemiBold" pitchFamily="2" charset="0"/>
                <a:ea typeface="Roboto" panose="02000000000000000000" pitchFamily="2" charset="0"/>
                <a:cs typeface="Open Sans" panose="020B0606030504020204" pitchFamily="34" charset="0"/>
              </a:rPr>
              <a:t>Team</a:t>
            </a:r>
          </a:p>
        </p:txBody>
      </p:sp>
      <p:graphicFrame>
        <p:nvGraphicFramePr>
          <p:cNvPr id="6" name="Table 6">
            <a:extLst>
              <a:ext uri="{FF2B5EF4-FFF2-40B4-BE49-F238E27FC236}">
                <a16:creationId xmlns:a16="http://schemas.microsoft.com/office/drawing/2014/main" id="{A689305A-2907-4D9A-B1BD-AF10A275E219}"/>
              </a:ext>
            </a:extLst>
          </p:cNvPr>
          <p:cNvGraphicFramePr>
            <a:graphicFrameLocks noGrp="1"/>
          </p:cNvGraphicFramePr>
          <p:nvPr>
            <p:extLst>
              <p:ext uri="{D42A27DB-BD31-4B8C-83A1-F6EECF244321}">
                <p14:modId xmlns:p14="http://schemas.microsoft.com/office/powerpoint/2010/main" val="3885969956"/>
              </p:ext>
            </p:extLst>
          </p:nvPr>
        </p:nvGraphicFramePr>
        <p:xfrm>
          <a:off x="99237" y="339998"/>
          <a:ext cx="8973880" cy="4716076"/>
        </p:xfrm>
        <a:graphic>
          <a:graphicData uri="http://schemas.openxmlformats.org/drawingml/2006/table">
            <a:tbl>
              <a:tblPr firstRow="1" bandRow="1">
                <a:tableStyleId>{5C22544A-7EE6-4342-B048-85BDC9FD1C3A}</a:tableStyleId>
              </a:tblPr>
              <a:tblGrid>
                <a:gridCol w="1435975">
                  <a:extLst>
                    <a:ext uri="{9D8B030D-6E8A-4147-A177-3AD203B41FA5}">
                      <a16:colId xmlns:a16="http://schemas.microsoft.com/office/drawing/2014/main" val="3779735484"/>
                    </a:ext>
                  </a:extLst>
                </a:gridCol>
                <a:gridCol w="773859">
                  <a:extLst>
                    <a:ext uri="{9D8B030D-6E8A-4147-A177-3AD203B41FA5}">
                      <a16:colId xmlns:a16="http://schemas.microsoft.com/office/drawing/2014/main" val="2142967613"/>
                    </a:ext>
                  </a:extLst>
                </a:gridCol>
                <a:gridCol w="859775">
                  <a:extLst>
                    <a:ext uri="{9D8B030D-6E8A-4147-A177-3AD203B41FA5}">
                      <a16:colId xmlns:a16="http://schemas.microsoft.com/office/drawing/2014/main" val="1126084801"/>
                    </a:ext>
                  </a:extLst>
                </a:gridCol>
                <a:gridCol w="5904271">
                  <a:extLst>
                    <a:ext uri="{9D8B030D-6E8A-4147-A177-3AD203B41FA5}">
                      <a16:colId xmlns:a16="http://schemas.microsoft.com/office/drawing/2014/main" val="2697330320"/>
                    </a:ext>
                  </a:extLst>
                </a:gridCol>
              </a:tblGrid>
              <a:tr h="288396">
                <a:tc>
                  <a:txBody>
                    <a:bodyPr/>
                    <a:lstStyle/>
                    <a:p>
                      <a:pPr algn="ctr">
                        <a:lnSpc>
                          <a:spcPct val="100000"/>
                        </a:lnSpc>
                      </a:pPr>
                      <a:r>
                        <a:rPr lang="en-US" sz="1000" b="1" dirty="0"/>
                        <a:t>Role</a:t>
                      </a:r>
                    </a:p>
                  </a:txBody>
                  <a:tcPr anchor="ctr"/>
                </a:tc>
                <a:tc>
                  <a:txBody>
                    <a:bodyPr/>
                    <a:lstStyle/>
                    <a:p>
                      <a:pPr algn="ctr">
                        <a:lnSpc>
                          <a:spcPct val="100000"/>
                        </a:lnSpc>
                      </a:pPr>
                      <a:r>
                        <a:rPr lang="en-US" sz="1000" b="1" dirty="0"/>
                        <a:t>Resources</a:t>
                      </a:r>
                    </a:p>
                  </a:txBody>
                  <a:tcPr anchor="ctr"/>
                </a:tc>
                <a:tc>
                  <a:txBody>
                    <a:bodyPr/>
                    <a:lstStyle/>
                    <a:p>
                      <a:pPr algn="ctr">
                        <a:lnSpc>
                          <a:spcPct val="100000"/>
                        </a:lnSpc>
                      </a:pPr>
                      <a:r>
                        <a:rPr lang="en-US" sz="1000" b="1" dirty="0"/>
                        <a:t>Experience</a:t>
                      </a:r>
                    </a:p>
                  </a:txBody>
                  <a:tcPr anchor="ctr"/>
                </a:tc>
                <a:tc>
                  <a:txBody>
                    <a:bodyPr/>
                    <a:lstStyle/>
                    <a:p>
                      <a:pPr algn="ctr"/>
                      <a:r>
                        <a:rPr lang="en-US" sz="1000" b="1" dirty="0"/>
                        <a:t>Responsibility</a:t>
                      </a:r>
                    </a:p>
                  </a:txBody>
                  <a:tcPr anchor="ctr"/>
                </a:tc>
                <a:extLst>
                  <a:ext uri="{0D108BD9-81ED-4DB2-BD59-A6C34878D82A}">
                    <a16:rowId xmlns:a16="http://schemas.microsoft.com/office/drawing/2014/main" val="1995526989"/>
                  </a:ext>
                </a:extLst>
              </a:tr>
              <a:tr h="390827">
                <a:tc>
                  <a:txBody>
                    <a:bodyPr/>
                    <a:lstStyle/>
                    <a:p>
                      <a:pPr algn="ctr"/>
                      <a:r>
                        <a:rPr lang="en-US" sz="1000" dirty="0"/>
                        <a:t>Product Owner /Domain Analyst</a:t>
                      </a:r>
                    </a:p>
                  </a:txBody>
                  <a:tcPr anchor="ctr"/>
                </a:tc>
                <a:tc>
                  <a:txBody>
                    <a:bodyPr/>
                    <a:lstStyle/>
                    <a:p>
                      <a:pPr algn="ctr"/>
                      <a:r>
                        <a:rPr lang="en-US" sz="1000" dirty="0"/>
                        <a:t>1</a:t>
                      </a:r>
                    </a:p>
                  </a:txBody>
                  <a:tcPr anchor="ctr"/>
                </a:tc>
                <a:tc>
                  <a:txBody>
                    <a:bodyPr/>
                    <a:lstStyle/>
                    <a:p>
                      <a:pPr algn="ctr"/>
                      <a:r>
                        <a:rPr lang="en-US" sz="1000" dirty="0"/>
                        <a:t>15</a:t>
                      </a:r>
                    </a:p>
                  </a:txBody>
                  <a:tcPr anchor="ctr"/>
                </a:tc>
                <a:tc>
                  <a:txBody>
                    <a:bodyPr/>
                    <a:lstStyle/>
                    <a:p>
                      <a:r>
                        <a:rPr lang="en-US" sz="1000" dirty="0"/>
                        <a:t>Responsible for </a:t>
                      </a:r>
                      <a:r>
                        <a:rPr lang="en-US" sz="1000" baseline="0" dirty="0"/>
                        <a:t>product vision and communicate to stakeholders. Prioritize product backlog to deliver highest value and adjust long term expectations. Decides when to release product.</a:t>
                      </a:r>
                    </a:p>
                  </a:txBody>
                  <a:tcPr anchor="ctr"/>
                </a:tc>
                <a:extLst>
                  <a:ext uri="{0D108BD9-81ED-4DB2-BD59-A6C34878D82A}">
                    <a16:rowId xmlns:a16="http://schemas.microsoft.com/office/drawing/2014/main" val="3907289037"/>
                  </a:ext>
                </a:extLst>
              </a:tr>
              <a:tr h="404870">
                <a:tc>
                  <a:txBody>
                    <a:bodyPr/>
                    <a:lstStyle/>
                    <a:p>
                      <a:pPr algn="ctr"/>
                      <a:r>
                        <a:rPr lang="en-US" sz="1000" dirty="0"/>
                        <a:t>Product Manager</a:t>
                      </a:r>
                    </a:p>
                  </a:txBody>
                  <a:tcPr anchor="ctr"/>
                </a:tc>
                <a:tc>
                  <a:txBody>
                    <a:bodyPr/>
                    <a:lstStyle/>
                    <a:p>
                      <a:pPr algn="ctr"/>
                      <a:r>
                        <a:rPr lang="en-US" sz="1000" dirty="0"/>
                        <a:t>1</a:t>
                      </a:r>
                    </a:p>
                  </a:txBody>
                  <a:tcPr anchor="ctr"/>
                </a:tc>
                <a:tc>
                  <a:txBody>
                    <a:bodyPr/>
                    <a:lstStyle/>
                    <a:p>
                      <a:pPr algn="ctr"/>
                      <a:r>
                        <a:rPr lang="en-US" sz="1000" dirty="0"/>
                        <a:t>10</a:t>
                      </a:r>
                    </a:p>
                  </a:txBody>
                  <a:tcPr anchor="ctr"/>
                </a:tc>
                <a:tc>
                  <a:txBody>
                    <a:bodyPr/>
                    <a:lstStyle/>
                    <a:p>
                      <a:r>
                        <a:rPr lang="en-US" sz="1000" dirty="0"/>
                        <a:t>Facilitates Scrum process</a:t>
                      </a:r>
                      <a:r>
                        <a:rPr lang="en-US" sz="1000" baseline="0" dirty="0"/>
                        <a:t> and helps resolve impediments. Keeps scrum artifacts visible, enforces 2-weeks sprint timebox.</a:t>
                      </a:r>
                    </a:p>
                  </a:txBody>
                  <a:tcPr anchor="ctr"/>
                </a:tc>
                <a:extLst>
                  <a:ext uri="{0D108BD9-81ED-4DB2-BD59-A6C34878D82A}">
                    <a16:rowId xmlns:a16="http://schemas.microsoft.com/office/drawing/2014/main" val="3064907197"/>
                  </a:ext>
                </a:extLst>
              </a:tr>
              <a:tr h="404870">
                <a:tc>
                  <a:txBody>
                    <a:bodyPr/>
                    <a:lstStyle/>
                    <a:p>
                      <a:pPr algn="ctr"/>
                      <a:r>
                        <a:rPr lang="en-US" sz="1000" dirty="0"/>
                        <a:t>FSD-</a:t>
                      </a:r>
                      <a:r>
                        <a:rPr lang="en-US" sz="1000" dirty="0" err="1"/>
                        <a:t>Api</a:t>
                      </a:r>
                      <a:r>
                        <a:rPr lang="en-US" sz="1000" dirty="0"/>
                        <a:t> </a:t>
                      </a:r>
                    </a:p>
                    <a:p>
                      <a:pPr algn="ctr"/>
                      <a:r>
                        <a:rPr lang="en-US" sz="1000" dirty="0"/>
                        <a:t>Lead Architect</a:t>
                      </a:r>
                    </a:p>
                  </a:txBody>
                  <a:tcPr anchor="ctr"/>
                </a:tc>
                <a:tc>
                  <a:txBody>
                    <a:bodyPr/>
                    <a:lstStyle/>
                    <a:p>
                      <a:pPr algn="ctr"/>
                      <a:r>
                        <a:rPr lang="en-US" sz="1000" dirty="0"/>
                        <a:t>1</a:t>
                      </a:r>
                    </a:p>
                  </a:txBody>
                  <a:tcPr anchor="ctr"/>
                </a:tc>
                <a:tc>
                  <a:txBody>
                    <a:bodyPr/>
                    <a:lstStyle/>
                    <a:p>
                      <a:pPr algn="ctr"/>
                      <a:r>
                        <a:rPr lang="en-US" sz="1000" dirty="0"/>
                        <a:t>15</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00" dirty="0"/>
                        <a:t>Ensure Enterprise SOA architectures, write SDKs, Framework. Works</a:t>
                      </a:r>
                      <a:r>
                        <a:rPr lang="en-US" sz="1000" baseline="0" dirty="0"/>
                        <a:t> with team to define user stories, provides technical guidance on development. Will contribute as developer.</a:t>
                      </a:r>
                      <a:endParaRPr lang="en-US" sz="1000" dirty="0"/>
                    </a:p>
                  </a:txBody>
                  <a:tcPr anchor="ctr"/>
                </a:tc>
                <a:extLst>
                  <a:ext uri="{0D108BD9-81ED-4DB2-BD59-A6C34878D82A}">
                    <a16:rowId xmlns:a16="http://schemas.microsoft.com/office/drawing/2014/main" val="2450084464"/>
                  </a:ext>
                </a:extLst>
              </a:tr>
              <a:tr h="404870">
                <a:tc>
                  <a:txBody>
                    <a:bodyPr/>
                    <a:lstStyle/>
                    <a:p>
                      <a:pPr algn="ctr"/>
                      <a:r>
                        <a:rPr lang="en-US" sz="1000" dirty="0"/>
                        <a:t>FSD-</a:t>
                      </a:r>
                      <a:r>
                        <a:rPr lang="en-US" sz="1000" dirty="0" err="1"/>
                        <a:t>Api</a:t>
                      </a:r>
                      <a:r>
                        <a:rPr lang="en-US" sz="1000" dirty="0"/>
                        <a:t> – </a:t>
                      </a:r>
                    </a:p>
                    <a:p>
                      <a:pPr algn="ctr"/>
                      <a:r>
                        <a:rPr lang="en-US" sz="1000" dirty="0"/>
                        <a:t>Senior Developer</a:t>
                      </a:r>
                    </a:p>
                  </a:txBody>
                  <a:tcPr anchor="ctr"/>
                </a:tc>
                <a:tc>
                  <a:txBody>
                    <a:bodyPr/>
                    <a:lstStyle/>
                    <a:p>
                      <a:pPr algn="ctr"/>
                      <a:r>
                        <a:rPr lang="en-US" sz="1000" dirty="0"/>
                        <a:t>5</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dirty="0"/>
                        <a:t>5</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00" dirty="0"/>
                        <a:t>Self organizing</a:t>
                      </a:r>
                      <a:r>
                        <a:rPr lang="en-US" sz="1000" baseline="0" dirty="0"/>
                        <a:t> development team to perform tasks from product backlog.</a:t>
                      </a:r>
                    </a:p>
                    <a:p>
                      <a:pPr algn="l"/>
                      <a:r>
                        <a:rPr lang="en-US" sz="1000" dirty="0"/>
                        <a:t>Work primarily on SDK’s and frameworks</a:t>
                      </a:r>
                    </a:p>
                  </a:txBody>
                  <a:tcPr anchor="ctr"/>
                </a:tc>
                <a:extLst>
                  <a:ext uri="{0D108BD9-81ED-4DB2-BD59-A6C34878D82A}">
                    <a16:rowId xmlns:a16="http://schemas.microsoft.com/office/drawing/2014/main" val="687617810"/>
                  </a:ext>
                </a:extLst>
              </a:tr>
              <a:tr h="390827">
                <a:tc>
                  <a:txBody>
                    <a:bodyPr/>
                    <a:lstStyle/>
                    <a:p>
                      <a:pPr algn="ctr"/>
                      <a:r>
                        <a:rPr lang="en-US" sz="1000" dirty="0"/>
                        <a:t>FSD-UI – </a:t>
                      </a:r>
                    </a:p>
                    <a:p>
                      <a:pPr algn="ctr"/>
                      <a:r>
                        <a:rPr lang="en-US" sz="1000" dirty="0"/>
                        <a:t>Lead Architect</a:t>
                      </a:r>
                    </a:p>
                  </a:txBody>
                  <a:tcPr anchor="ctr"/>
                </a:tc>
                <a:tc>
                  <a:txBody>
                    <a:bodyPr/>
                    <a:lstStyle/>
                    <a:p>
                      <a:pPr algn="ctr"/>
                      <a:r>
                        <a:rPr lang="en-US" sz="1000" dirty="0"/>
                        <a:t>1</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dirty="0"/>
                        <a:t>10</a:t>
                      </a:r>
                    </a:p>
                    <a:p>
                      <a:pPr algn="ctr"/>
                      <a:endParaRPr lang="en-US" sz="1000" dirty="0"/>
                    </a:p>
                  </a:txBody>
                  <a:tcPr anchor="ctr"/>
                </a:tc>
                <a:tc>
                  <a:txBody>
                    <a:bodyPr/>
                    <a:lstStyle/>
                    <a:p>
                      <a:pPr algn="l"/>
                      <a:r>
                        <a:rPr lang="en-US" sz="1000" dirty="0"/>
                        <a:t>Write UI libraries and components. Works</a:t>
                      </a:r>
                      <a:r>
                        <a:rPr lang="en-US" sz="1000" baseline="0" dirty="0"/>
                        <a:t> with team to define user stories, provides technical guidance on development. Will contribute as developer.</a:t>
                      </a:r>
                      <a:endParaRPr lang="en-US" sz="1000" dirty="0"/>
                    </a:p>
                  </a:txBody>
                  <a:tcPr anchor="ctr"/>
                </a:tc>
                <a:extLst>
                  <a:ext uri="{0D108BD9-81ED-4DB2-BD59-A6C34878D82A}">
                    <a16:rowId xmlns:a16="http://schemas.microsoft.com/office/drawing/2014/main" val="3271388599"/>
                  </a:ext>
                </a:extLst>
              </a:tr>
              <a:tr h="404870">
                <a:tc>
                  <a:txBody>
                    <a:bodyPr/>
                    <a:lstStyle/>
                    <a:p>
                      <a:pPr algn="ctr"/>
                      <a:r>
                        <a:rPr lang="en-US" sz="1000" dirty="0"/>
                        <a:t>FSD-UI – </a:t>
                      </a:r>
                    </a:p>
                    <a:p>
                      <a:pPr algn="ctr"/>
                      <a:r>
                        <a:rPr lang="en-US" sz="1000" dirty="0"/>
                        <a:t>Senior Developer</a:t>
                      </a:r>
                    </a:p>
                  </a:txBody>
                  <a:tcPr anchor="ctr"/>
                </a:tc>
                <a:tc>
                  <a:txBody>
                    <a:bodyPr/>
                    <a:lstStyle/>
                    <a:p>
                      <a:pPr algn="ctr"/>
                      <a:r>
                        <a:rPr lang="en-US" sz="1000" dirty="0"/>
                        <a:t>4</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dirty="0"/>
                        <a:t>5 </a:t>
                      </a:r>
                    </a:p>
                    <a:p>
                      <a:pPr algn="ctr"/>
                      <a:endParaRPr lang="en-US" sz="1000" dirty="0"/>
                    </a:p>
                  </a:txBody>
                  <a:tcPr anchor="ctr"/>
                </a:tc>
                <a:tc>
                  <a:txBody>
                    <a:bodyPr/>
                    <a:lstStyle/>
                    <a:p>
                      <a:pPr algn="l"/>
                      <a:r>
                        <a:rPr lang="en-US" sz="1000" dirty="0"/>
                        <a:t>Self organizing</a:t>
                      </a:r>
                      <a:r>
                        <a:rPr lang="en-US" sz="1000" baseline="0" dirty="0"/>
                        <a:t> development team to perform tasks from product backlog.</a:t>
                      </a:r>
                    </a:p>
                    <a:p>
                      <a:pPr algn="l"/>
                      <a:r>
                        <a:rPr lang="en-US" sz="1000" dirty="0"/>
                        <a:t>Write UI components using libraries &amp; framework.</a:t>
                      </a:r>
                    </a:p>
                  </a:txBody>
                  <a:tcPr anchor="ctr"/>
                </a:tc>
                <a:extLst>
                  <a:ext uri="{0D108BD9-81ED-4DB2-BD59-A6C34878D82A}">
                    <a16:rowId xmlns:a16="http://schemas.microsoft.com/office/drawing/2014/main" val="1127115572"/>
                  </a:ext>
                </a:extLst>
              </a:tr>
              <a:tr h="404870">
                <a:tc>
                  <a:txBody>
                    <a:bodyPr/>
                    <a:lstStyle/>
                    <a:p>
                      <a:pPr algn="ctr"/>
                      <a:r>
                        <a:rPr lang="en-US" sz="1000" dirty="0"/>
                        <a:t>UX Designer Lead</a:t>
                      </a:r>
                    </a:p>
                  </a:txBody>
                  <a:tcPr anchor="ctr"/>
                </a:tc>
                <a:tc>
                  <a:txBody>
                    <a:bodyPr/>
                    <a:lstStyle/>
                    <a:p>
                      <a:pPr algn="ctr"/>
                      <a:r>
                        <a:rPr lang="en-US" sz="1000" dirty="0"/>
                        <a:t>1</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dirty="0"/>
                        <a:t>10 </a:t>
                      </a:r>
                    </a:p>
                    <a:p>
                      <a:pPr algn="ctr"/>
                      <a:endParaRPr lang="en-US" sz="1000" dirty="0"/>
                    </a:p>
                  </a:txBody>
                  <a:tcPr anchor="ctr"/>
                </a:tc>
                <a:tc>
                  <a:txBody>
                    <a:bodyPr/>
                    <a:lstStyle/>
                    <a:p>
                      <a:pPr algn="l"/>
                      <a:r>
                        <a:rPr lang="en-US" sz="1000" dirty="0"/>
                        <a:t>Does business analysis , Information architecture, Themes , Designs. Works</a:t>
                      </a:r>
                      <a:r>
                        <a:rPr lang="en-US" sz="1000" baseline="0" dirty="0"/>
                        <a:t> with team to define user stories, provides technical guidance on User Experience development. </a:t>
                      </a:r>
                      <a:endParaRPr lang="en-US" sz="1000" dirty="0"/>
                    </a:p>
                  </a:txBody>
                  <a:tcPr anchor="ctr"/>
                </a:tc>
                <a:extLst>
                  <a:ext uri="{0D108BD9-81ED-4DB2-BD59-A6C34878D82A}">
                    <a16:rowId xmlns:a16="http://schemas.microsoft.com/office/drawing/2014/main" val="4227696826"/>
                  </a:ext>
                </a:extLst>
              </a:tr>
              <a:tr h="404870">
                <a:tc>
                  <a:txBody>
                    <a:bodyPr/>
                    <a:lstStyle/>
                    <a:p>
                      <a:pPr algn="ctr"/>
                      <a:r>
                        <a:rPr lang="en-US" sz="1000" dirty="0"/>
                        <a:t>UX Designer</a:t>
                      </a:r>
                    </a:p>
                  </a:txBody>
                  <a:tcPr anchor="ctr"/>
                </a:tc>
                <a:tc>
                  <a:txBody>
                    <a:bodyPr/>
                    <a:lstStyle/>
                    <a:p>
                      <a:pPr algn="ctr"/>
                      <a:r>
                        <a:rPr lang="en-US" sz="1000" dirty="0"/>
                        <a:t>5</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dirty="0"/>
                        <a:t>6 </a:t>
                      </a:r>
                    </a:p>
                    <a:p>
                      <a:pPr algn="ctr"/>
                      <a:endParaRPr lang="en-US" sz="1000" dirty="0"/>
                    </a:p>
                  </a:txBody>
                  <a:tcPr anchor="ctr"/>
                </a:tc>
                <a:tc>
                  <a:txBody>
                    <a:bodyPr/>
                    <a:lstStyle/>
                    <a:p>
                      <a:pPr algn="l"/>
                      <a:r>
                        <a:rPr lang="en-US" sz="1000" dirty="0"/>
                        <a:t>Self organizing</a:t>
                      </a:r>
                      <a:r>
                        <a:rPr lang="en-US" sz="1000" baseline="0" dirty="0"/>
                        <a:t> development team to perform tasks from product backlog. </a:t>
                      </a:r>
                      <a:r>
                        <a:rPr lang="en-US" sz="1000" dirty="0"/>
                        <a:t>Does business analysis and </a:t>
                      </a:r>
                      <a:r>
                        <a:rPr lang="en-US" sz="1000" dirty="0" err="1"/>
                        <a:t>Ux</a:t>
                      </a:r>
                      <a:r>
                        <a:rPr lang="en-US" sz="1000" dirty="0"/>
                        <a:t> Designs.</a:t>
                      </a:r>
                    </a:p>
                  </a:txBody>
                  <a:tcPr anchor="ctr"/>
                </a:tc>
                <a:extLst>
                  <a:ext uri="{0D108BD9-81ED-4DB2-BD59-A6C34878D82A}">
                    <a16:rowId xmlns:a16="http://schemas.microsoft.com/office/drawing/2014/main" val="2329890652"/>
                  </a:ext>
                </a:extLst>
              </a:tr>
              <a:tr h="40487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dirty="0"/>
                        <a:t>Azure DevOps Engineer</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dirty="0"/>
                        <a:t>2</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dirty="0"/>
                        <a:t>8 </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dirty="0"/>
                    </a:p>
                  </a:txBody>
                  <a:tcPr anchor="ctr"/>
                </a:tc>
                <a:tc>
                  <a:txBody>
                    <a:bodyPr/>
                    <a:lstStyle/>
                    <a:p>
                      <a:pPr algn="l"/>
                      <a:r>
                        <a:rPr lang="en-US" sz="1000" dirty="0"/>
                        <a:t>Provision/ Automate Azure cloud services, maintain Env’s and  automate CI/CD, operations</a:t>
                      </a:r>
                    </a:p>
                  </a:txBody>
                  <a:tcPr anchor="ctr"/>
                </a:tc>
                <a:extLst>
                  <a:ext uri="{0D108BD9-81ED-4DB2-BD59-A6C34878D82A}">
                    <a16:rowId xmlns:a16="http://schemas.microsoft.com/office/drawing/2014/main" val="1504316383"/>
                  </a:ext>
                </a:extLst>
              </a:tr>
              <a:tr h="390827">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dirty="0"/>
                        <a:t>Test Engineer</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dirty="0"/>
                        <a:t>4</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dirty="0"/>
                        <a:t>4</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dirty="0"/>
                    </a:p>
                  </a:txBody>
                  <a:tcPr anchor="ctr"/>
                </a:tc>
                <a:tc>
                  <a:txBody>
                    <a:bodyPr/>
                    <a:lstStyle/>
                    <a:p>
                      <a:pPr algn="l"/>
                      <a:r>
                        <a:rPr lang="en-US" sz="1000" dirty="0"/>
                        <a:t>Do functional/</a:t>
                      </a:r>
                      <a:r>
                        <a:rPr lang="en-US" sz="1000" dirty="0" err="1"/>
                        <a:t>api</a:t>
                      </a:r>
                      <a:r>
                        <a:rPr lang="en-US" sz="1000" dirty="0"/>
                        <a:t>/performance testing with cucumber/postman gatling/JMeter</a:t>
                      </a:r>
                    </a:p>
                  </a:txBody>
                  <a:tcPr anchor="ctr"/>
                </a:tc>
                <a:extLst>
                  <a:ext uri="{0D108BD9-81ED-4DB2-BD59-A6C34878D82A}">
                    <a16:rowId xmlns:a16="http://schemas.microsoft.com/office/drawing/2014/main" val="1281348985"/>
                  </a:ext>
                </a:extLst>
              </a:tr>
              <a:tr h="40487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dirty="0"/>
                        <a:t>24*7 Support Engineer</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dirty="0"/>
                        <a:t>4</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dirty="0"/>
                        <a:t>5</a:t>
                      </a:r>
                    </a:p>
                  </a:txBody>
                  <a:tcPr anchor="ctr"/>
                </a:tc>
                <a:tc>
                  <a:txBody>
                    <a:bodyPr/>
                    <a:lstStyle/>
                    <a:p>
                      <a:pPr algn="l"/>
                      <a:endParaRPr lang="en-US" sz="1000" dirty="0"/>
                    </a:p>
                  </a:txBody>
                  <a:tcPr anchor="ctr"/>
                </a:tc>
                <a:extLst>
                  <a:ext uri="{0D108BD9-81ED-4DB2-BD59-A6C34878D82A}">
                    <a16:rowId xmlns:a16="http://schemas.microsoft.com/office/drawing/2014/main" val="61251800"/>
                  </a:ext>
                </a:extLst>
              </a:tr>
            </a:tbl>
          </a:graphicData>
        </a:graphic>
      </p:graphicFrame>
    </p:spTree>
    <p:extLst>
      <p:ext uri="{BB962C8B-B14F-4D97-AF65-F5344CB8AC3E}">
        <p14:creationId xmlns:p14="http://schemas.microsoft.com/office/powerpoint/2010/main" val="3342166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Graphic 5">
            <a:extLst>
              <a:ext uri="{FF2B5EF4-FFF2-40B4-BE49-F238E27FC236}">
                <a16:creationId xmlns:a16="http://schemas.microsoft.com/office/drawing/2014/main" id="{EE8208B9-9262-4F51-B0F5-90ADB3900F27}"/>
              </a:ext>
            </a:extLst>
          </p:cNvPr>
          <p:cNvSpPr>
            <a:spLocks noChangeAspect="1"/>
          </p:cNvSpPr>
          <p:nvPr/>
        </p:nvSpPr>
        <p:spPr>
          <a:xfrm>
            <a:off x="3079321" y="1"/>
            <a:ext cx="2985359" cy="290786"/>
          </a:xfrm>
          <a:custGeom>
            <a:avLst/>
            <a:gdLst>
              <a:gd name="connsiteX0" fmla="*/ 5298019 w 5298018"/>
              <a:gd name="connsiteY0" fmla="*/ 0 h 475749"/>
              <a:gd name="connsiteX1" fmla="*/ 4792594 w 5298018"/>
              <a:gd name="connsiteY1" fmla="*/ 475749 h 475749"/>
              <a:gd name="connsiteX2" fmla="*/ 505473 w 5298018"/>
              <a:gd name="connsiteY2" fmla="*/ 475749 h 475749"/>
              <a:gd name="connsiteX3" fmla="*/ 0 w 5298018"/>
              <a:gd name="connsiteY3" fmla="*/ 0 h 475749"/>
            </a:gdLst>
            <a:ahLst/>
            <a:cxnLst>
              <a:cxn ang="0">
                <a:pos x="connsiteX0" y="connsiteY0"/>
              </a:cxn>
              <a:cxn ang="0">
                <a:pos x="connsiteX1" y="connsiteY1"/>
              </a:cxn>
              <a:cxn ang="0">
                <a:pos x="connsiteX2" y="connsiteY2"/>
              </a:cxn>
              <a:cxn ang="0">
                <a:pos x="connsiteX3" y="connsiteY3"/>
              </a:cxn>
            </a:cxnLst>
            <a:rect l="l" t="t" r="r" b="b"/>
            <a:pathLst>
              <a:path w="5298018" h="475749">
                <a:moveTo>
                  <a:pt x="5298019" y="0"/>
                </a:moveTo>
                <a:cubicBezTo>
                  <a:pt x="4930695" y="172726"/>
                  <a:pt x="5133304" y="475749"/>
                  <a:pt x="4792594" y="475749"/>
                </a:cubicBezTo>
                <a:lnTo>
                  <a:pt x="505473" y="475749"/>
                </a:lnTo>
                <a:cubicBezTo>
                  <a:pt x="164763" y="475749"/>
                  <a:pt x="367324" y="172726"/>
                  <a:pt x="0" y="0"/>
                </a:cubicBezTo>
                <a:close/>
              </a:path>
            </a:pathLst>
          </a:custGeom>
          <a:solidFill>
            <a:schemeClr val="accent1"/>
          </a:solidFill>
          <a:ln w="4881" cap="flat">
            <a:noFill/>
            <a:prstDash val="solid"/>
            <a:miter/>
          </a:ln>
        </p:spPr>
        <p:txBody>
          <a:bodyPr rtlCol="0" anchor="ctr"/>
          <a:lstStyle/>
          <a:p>
            <a:endParaRPr lang="en-EG" sz="1200" dirty="0">
              <a:latin typeface="Raleway SemiBold" pitchFamily="2" charset="0"/>
            </a:endParaRPr>
          </a:p>
        </p:txBody>
      </p:sp>
      <p:sp>
        <p:nvSpPr>
          <p:cNvPr id="37" name="TextBox 36">
            <a:extLst>
              <a:ext uri="{FF2B5EF4-FFF2-40B4-BE49-F238E27FC236}">
                <a16:creationId xmlns:a16="http://schemas.microsoft.com/office/drawing/2014/main" id="{A32FCD10-DA02-4D55-B283-1225D1AF3794}"/>
              </a:ext>
            </a:extLst>
          </p:cNvPr>
          <p:cNvSpPr txBox="1"/>
          <p:nvPr/>
        </p:nvSpPr>
        <p:spPr>
          <a:xfrm>
            <a:off x="3494638" y="51663"/>
            <a:ext cx="2154725" cy="184666"/>
          </a:xfrm>
          <a:prstGeom prst="rect">
            <a:avLst/>
          </a:prstGeom>
          <a:noFill/>
        </p:spPr>
        <p:txBody>
          <a:bodyPr wrap="square" lIns="0" tIns="0" rIns="0" bIns="0" rtlCol="0">
            <a:spAutoFit/>
          </a:bodyPr>
          <a:lstStyle/>
          <a:p>
            <a:pPr algn="ctr"/>
            <a:r>
              <a:rPr lang="en-US" sz="1200" dirty="0">
                <a:solidFill>
                  <a:srgbClr val="FFFFFF"/>
                </a:solidFill>
                <a:latin typeface="Raleway SemiBold" pitchFamily="2" charset="0"/>
                <a:ea typeface="Roboto" panose="02000000000000000000" pitchFamily="2" charset="0"/>
                <a:cs typeface="Open Sans" panose="020B0606030504020204" pitchFamily="34" charset="0"/>
              </a:rPr>
              <a:t>Relevant Experience</a:t>
            </a:r>
          </a:p>
        </p:txBody>
      </p:sp>
      <p:graphicFrame>
        <p:nvGraphicFramePr>
          <p:cNvPr id="6" name="Table 6">
            <a:extLst>
              <a:ext uri="{FF2B5EF4-FFF2-40B4-BE49-F238E27FC236}">
                <a16:creationId xmlns:a16="http://schemas.microsoft.com/office/drawing/2014/main" id="{A689305A-2907-4D9A-B1BD-AF10A275E219}"/>
              </a:ext>
            </a:extLst>
          </p:cNvPr>
          <p:cNvGraphicFramePr>
            <a:graphicFrameLocks noGrp="1"/>
          </p:cNvGraphicFramePr>
          <p:nvPr/>
        </p:nvGraphicFramePr>
        <p:xfrm>
          <a:off x="316522" y="332763"/>
          <a:ext cx="8827477" cy="5136174"/>
        </p:xfrm>
        <a:graphic>
          <a:graphicData uri="http://schemas.openxmlformats.org/drawingml/2006/table">
            <a:tbl>
              <a:tblPr firstRow="1" bandRow="1">
                <a:tableStyleId>{5C22544A-7EE6-4342-B048-85BDC9FD1C3A}</a:tableStyleId>
              </a:tblPr>
              <a:tblGrid>
                <a:gridCol w="1639873">
                  <a:extLst>
                    <a:ext uri="{9D8B030D-6E8A-4147-A177-3AD203B41FA5}">
                      <a16:colId xmlns:a16="http://schemas.microsoft.com/office/drawing/2014/main" val="3779735484"/>
                    </a:ext>
                  </a:extLst>
                </a:gridCol>
                <a:gridCol w="7187604">
                  <a:extLst>
                    <a:ext uri="{9D8B030D-6E8A-4147-A177-3AD203B41FA5}">
                      <a16:colId xmlns:a16="http://schemas.microsoft.com/office/drawing/2014/main" val="2697330320"/>
                    </a:ext>
                  </a:extLst>
                </a:gridCol>
              </a:tblGrid>
              <a:tr h="428446">
                <a:tc>
                  <a:txBody>
                    <a:bodyPr/>
                    <a:lstStyle/>
                    <a:p>
                      <a:pPr algn="ctr">
                        <a:lnSpc>
                          <a:spcPct val="100000"/>
                        </a:lnSpc>
                      </a:pPr>
                      <a:r>
                        <a:rPr lang="en-US" sz="1200" b="1" dirty="0"/>
                        <a:t>Role</a:t>
                      </a:r>
                    </a:p>
                  </a:txBody>
                  <a:tcPr anchor="ctr"/>
                </a:tc>
                <a:tc>
                  <a:txBody>
                    <a:bodyPr/>
                    <a:lstStyle/>
                    <a:p>
                      <a:pPr algn="ctr"/>
                      <a:r>
                        <a:rPr lang="en-US" sz="1200" b="1" dirty="0"/>
                        <a:t>Relevant Experience</a:t>
                      </a:r>
                    </a:p>
                  </a:txBody>
                  <a:tcPr anchor="ctr"/>
                </a:tc>
                <a:extLst>
                  <a:ext uri="{0D108BD9-81ED-4DB2-BD59-A6C34878D82A}">
                    <a16:rowId xmlns:a16="http://schemas.microsoft.com/office/drawing/2014/main" val="1995526989"/>
                  </a:ext>
                </a:extLst>
              </a:tr>
              <a:tr h="428446">
                <a:tc>
                  <a:txBody>
                    <a:bodyPr/>
                    <a:lstStyle/>
                    <a:p>
                      <a:pPr algn="ctr"/>
                      <a:r>
                        <a:rPr lang="en-US" sz="1100" dirty="0"/>
                        <a:t>Product Owner /Domain Analyst</a:t>
                      </a:r>
                    </a:p>
                  </a:txBody>
                  <a:tcPr anchor="ctr"/>
                </a:tc>
                <a:tc>
                  <a:txBody>
                    <a:bodyPr/>
                    <a:lstStyle/>
                    <a:p>
                      <a:r>
                        <a:rPr lang="en-US" sz="1100" baseline="0" dirty="0"/>
                        <a:t>Have 15+ Year’s of experience in  procurement and supply chain management , made major implementation of procurement / bidding / supply chain processes and software application.</a:t>
                      </a:r>
                    </a:p>
                    <a:p>
                      <a:r>
                        <a:rPr lang="en-US" sz="1100" baseline="0" dirty="0"/>
                        <a:t>Recent Engagements – ICRISAT procurement and bidding management.</a:t>
                      </a:r>
                    </a:p>
                  </a:txBody>
                  <a:tcPr anchor="ctr"/>
                </a:tc>
                <a:extLst>
                  <a:ext uri="{0D108BD9-81ED-4DB2-BD59-A6C34878D82A}">
                    <a16:rowId xmlns:a16="http://schemas.microsoft.com/office/drawing/2014/main" val="3907289037"/>
                  </a:ext>
                </a:extLst>
              </a:tr>
              <a:tr h="428446">
                <a:tc>
                  <a:txBody>
                    <a:bodyPr/>
                    <a:lstStyle/>
                    <a:p>
                      <a:pPr algn="ctr"/>
                      <a:r>
                        <a:rPr lang="en-US" sz="1100" dirty="0"/>
                        <a:t>Product Manager</a:t>
                      </a:r>
                    </a:p>
                  </a:txBody>
                  <a:tcPr anchor="ctr"/>
                </a:tc>
                <a:tc>
                  <a:txBody>
                    <a:bodyPr/>
                    <a:lstStyle/>
                    <a:p>
                      <a:r>
                        <a:rPr lang="en-US" sz="1100" baseline="0" dirty="0"/>
                        <a:t>Managed product development pertaining to Procurement and ERP solution and understand the workflows.</a:t>
                      </a:r>
                    </a:p>
                  </a:txBody>
                  <a:tcPr anchor="ctr"/>
                </a:tc>
                <a:extLst>
                  <a:ext uri="{0D108BD9-81ED-4DB2-BD59-A6C34878D82A}">
                    <a16:rowId xmlns:a16="http://schemas.microsoft.com/office/drawing/2014/main" val="3064907197"/>
                  </a:ext>
                </a:extLst>
              </a:tr>
              <a:tr h="428446">
                <a:tc>
                  <a:txBody>
                    <a:bodyPr/>
                    <a:lstStyle/>
                    <a:p>
                      <a:pPr algn="ctr"/>
                      <a:r>
                        <a:rPr lang="en-US" sz="1100" dirty="0"/>
                        <a:t>FSD-</a:t>
                      </a:r>
                      <a:r>
                        <a:rPr lang="en-US" sz="1100" dirty="0" err="1"/>
                        <a:t>Api</a:t>
                      </a:r>
                      <a:r>
                        <a:rPr lang="en-US" sz="1100" dirty="0"/>
                        <a:t> </a:t>
                      </a:r>
                    </a:p>
                    <a:p>
                      <a:pPr algn="ctr"/>
                      <a:r>
                        <a:rPr lang="en-US" sz="1100" dirty="0"/>
                        <a:t>Lead Architect</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dirty="0"/>
                        <a:t>Developed highly scalable and distributed backend framework for Microservices based cloud native solution.</a:t>
                      </a:r>
                    </a:p>
                  </a:txBody>
                  <a:tcPr anchor="ctr"/>
                </a:tc>
                <a:extLst>
                  <a:ext uri="{0D108BD9-81ED-4DB2-BD59-A6C34878D82A}">
                    <a16:rowId xmlns:a16="http://schemas.microsoft.com/office/drawing/2014/main" val="2450084464"/>
                  </a:ext>
                </a:extLst>
              </a:tr>
              <a:tr h="428446">
                <a:tc>
                  <a:txBody>
                    <a:bodyPr/>
                    <a:lstStyle/>
                    <a:p>
                      <a:pPr algn="ctr"/>
                      <a:r>
                        <a:rPr lang="en-US" sz="1100" dirty="0"/>
                        <a:t>FSD-</a:t>
                      </a:r>
                      <a:r>
                        <a:rPr lang="en-US" sz="1100" dirty="0" err="1"/>
                        <a:t>Api</a:t>
                      </a:r>
                      <a:r>
                        <a:rPr lang="en-US" sz="1100" dirty="0"/>
                        <a:t> – </a:t>
                      </a:r>
                    </a:p>
                    <a:p>
                      <a:pPr algn="ctr"/>
                      <a:r>
                        <a:rPr lang="en-US" sz="1100" dirty="0"/>
                        <a:t>Senior Developer</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dirty="0"/>
                        <a:t>Developed backend API for 5+ years with best practices</a:t>
                      </a:r>
                    </a:p>
                  </a:txBody>
                  <a:tcPr anchor="ctr"/>
                </a:tc>
                <a:extLst>
                  <a:ext uri="{0D108BD9-81ED-4DB2-BD59-A6C34878D82A}">
                    <a16:rowId xmlns:a16="http://schemas.microsoft.com/office/drawing/2014/main" val="687617810"/>
                  </a:ext>
                </a:extLst>
              </a:tr>
              <a:tr h="0">
                <a:tc>
                  <a:txBody>
                    <a:bodyPr/>
                    <a:lstStyle/>
                    <a:p>
                      <a:pPr algn="ctr"/>
                      <a:r>
                        <a:rPr lang="en-US" sz="1100" dirty="0"/>
                        <a:t>FSD-UI – </a:t>
                      </a:r>
                    </a:p>
                    <a:p>
                      <a:pPr algn="ctr"/>
                      <a:r>
                        <a:rPr lang="en-US" sz="1100" dirty="0"/>
                        <a:t>Lead Architect</a:t>
                      </a:r>
                    </a:p>
                  </a:txBody>
                  <a:tcPr anchor="ctr"/>
                </a:tc>
                <a:tc>
                  <a:txBody>
                    <a:bodyPr/>
                    <a:lstStyle/>
                    <a:p>
                      <a:pPr algn="l"/>
                      <a:r>
                        <a:rPr lang="en-US" sz="1100" dirty="0"/>
                        <a:t>Wrote UI component and libraries need for this kind of ERP solution and aware of all UI best practices.</a:t>
                      </a:r>
                    </a:p>
                  </a:txBody>
                  <a:tcPr anchor="ctr"/>
                </a:tc>
                <a:extLst>
                  <a:ext uri="{0D108BD9-81ED-4DB2-BD59-A6C34878D82A}">
                    <a16:rowId xmlns:a16="http://schemas.microsoft.com/office/drawing/2014/main" val="3271388599"/>
                  </a:ext>
                </a:extLst>
              </a:tr>
              <a:tr h="428446">
                <a:tc>
                  <a:txBody>
                    <a:bodyPr/>
                    <a:lstStyle/>
                    <a:p>
                      <a:pPr algn="ctr"/>
                      <a:r>
                        <a:rPr lang="en-US" sz="1100" dirty="0"/>
                        <a:t>FSD-UI – </a:t>
                      </a:r>
                    </a:p>
                    <a:p>
                      <a:pPr algn="ctr"/>
                      <a:r>
                        <a:rPr lang="en-US" sz="1100" dirty="0"/>
                        <a:t>Senior Developer</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dirty="0"/>
                        <a:t>Developed Front-end UI for 5+ years with best practices</a:t>
                      </a:r>
                    </a:p>
                  </a:txBody>
                  <a:tcPr anchor="ctr"/>
                </a:tc>
                <a:extLst>
                  <a:ext uri="{0D108BD9-81ED-4DB2-BD59-A6C34878D82A}">
                    <a16:rowId xmlns:a16="http://schemas.microsoft.com/office/drawing/2014/main" val="1127115572"/>
                  </a:ext>
                </a:extLst>
              </a:tr>
              <a:tr h="428446">
                <a:tc>
                  <a:txBody>
                    <a:bodyPr/>
                    <a:lstStyle/>
                    <a:p>
                      <a:pPr algn="ctr"/>
                      <a:r>
                        <a:rPr lang="en-US" sz="1100" dirty="0"/>
                        <a:t>UX Designer Lead</a:t>
                      </a:r>
                    </a:p>
                  </a:txBody>
                  <a:tcPr anchor="ctr"/>
                </a:tc>
                <a:tc>
                  <a:txBody>
                    <a:bodyPr/>
                    <a:lstStyle/>
                    <a:p>
                      <a:pPr algn="l"/>
                      <a:r>
                        <a:rPr lang="en-US" sz="1100" dirty="0"/>
                        <a:t>Did perform business analysis and design for procurement and supply chain management application. </a:t>
                      </a:r>
                    </a:p>
                  </a:txBody>
                  <a:tcPr anchor="ctr"/>
                </a:tc>
                <a:extLst>
                  <a:ext uri="{0D108BD9-81ED-4DB2-BD59-A6C34878D82A}">
                    <a16:rowId xmlns:a16="http://schemas.microsoft.com/office/drawing/2014/main" val="4227696826"/>
                  </a:ext>
                </a:extLst>
              </a:tr>
              <a:tr h="428446">
                <a:tc>
                  <a:txBody>
                    <a:bodyPr/>
                    <a:lstStyle/>
                    <a:p>
                      <a:pPr algn="ctr"/>
                      <a:r>
                        <a:rPr lang="en-US" sz="1100" dirty="0"/>
                        <a:t>UX Designer</a:t>
                      </a:r>
                    </a:p>
                  </a:txBody>
                  <a:tcPr anchor="ctr"/>
                </a:tc>
                <a:tc>
                  <a:txBody>
                    <a:bodyPr/>
                    <a:lstStyle/>
                    <a:p>
                      <a:pPr algn="l"/>
                      <a:r>
                        <a:rPr lang="en-US" sz="1100" dirty="0"/>
                        <a:t>Have done UX screens in this domain.</a:t>
                      </a:r>
                    </a:p>
                  </a:txBody>
                  <a:tcPr anchor="ctr"/>
                </a:tc>
                <a:extLst>
                  <a:ext uri="{0D108BD9-81ED-4DB2-BD59-A6C34878D82A}">
                    <a16:rowId xmlns:a16="http://schemas.microsoft.com/office/drawing/2014/main" val="2329890652"/>
                  </a:ext>
                </a:extLst>
              </a:tr>
              <a:tr h="42844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t>Azure DevOps Engineer</a:t>
                      </a:r>
                    </a:p>
                  </a:txBody>
                  <a:tcPr anchor="ctr"/>
                </a:tc>
                <a:tc>
                  <a:txBody>
                    <a:bodyPr/>
                    <a:lstStyle/>
                    <a:p>
                      <a:pPr algn="l"/>
                      <a:r>
                        <a:rPr lang="en-US" sz="1100" dirty="0"/>
                        <a:t>Have worked on Azure Kubernetes Services and have experience in managing the security and operational challenges of enterprise application.</a:t>
                      </a:r>
                    </a:p>
                  </a:txBody>
                  <a:tcPr anchor="ctr"/>
                </a:tc>
                <a:extLst>
                  <a:ext uri="{0D108BD9-81ED-4DB2-BD59-A6C34878D82A}">
                    <a16:rowId xmlns:a16="http://schemas.microsoft.com/office/drawing/2014/main" val="1504316383"/>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t>Test Engineer</a:t>
                      </a:r>
                    </a:p>
                  </a:txBody>
                  <a:tcPr anchor="ctr"/>
                </a:tc>
                <a:tc>
                  <a:txBody>
                    <a:bodyPr/>
                    <a:lstStyle/>
                    <a:p>
                      <a:pPr algn="l"/>
                      <a:r>
                        <a:rPr lang="en-US" sz="1100" dirty="0"/>
                        <a:t>Do have domain knowledge in procurement and supply chain area</a:t>
                      </a:r>
                    </a:p>
                  </a:txBody>
                  <a:tcPr anchor="ctr"/>
                </a:tc>
                <a:extLst>
                  <a:ext uri="{0D108BD9-81ED-4DB2-BD59-A6C34878D82A}">
                    <a16:rowId xmlns:a16="http://schemas.microsoft.com/office/drawing/2014/main" val="1281348985"/>
                  </a:ext>
                </a:extLst>
              </a:tr>
              <a:tr h="42844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t>24*7 Support Engineer</a:t>
                      </a:r>
                    </a:p>
                  </a:txBody>
                  <a:tcPr anchor="ctr"/>
                </a:tc>
                <a:tc>
                  <a:txBody>
                    <a:bodyPr/>
                    <a:lstStyle/>
                    <a:p>
                      <a:pPr algn="l"/>
                      <a:endParaRPr lang="en-US" sz="1100" dirty="0"/>
                    </a:p>
                  </a:txBody>
                  <a:tcPr anchor="ctr"/>
                </a:tc>
                <a:extLst>
                  <a:ext uri="{0D108BD9-81ED-4DB2-BD59-A6C34878D82A}">
                    <a16:rowId xmlns:a16="http://schemas.microsoft.com/office/drawing/2014/main" val="61251800"/>
                  </a:ext>
                </a:extLst>
              </a:tr>
            </a:tbl>
          </a:graphicData>
        </a:graphic>
      </p:graphicFrame>
    </p:spTree>
    <p:extLst>
      <p:ext uri="{BB962C8B-B14F-4D97-AF65-F5344CB8AC3E}">
        <p14:creationId xmlns:p14="http://schemas.microsoft.com/office/powerpoint/2010/main" val="2022205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67692" y="231569"/>
            <a:ext cx="7319108" cy="656953"/>
          </a:xfrm>
        </p:spPr>
        <p:txBody>
          <a:bodyPr>
            <a:normAutofit/>
          </a:bodyPr>
          <a:lstStyle/>
          <a:p>
            <a:pPr algn="l"/>
            <a:r>
              <a:rPr lang="en-US" sz="2800" b="1" dirty="0"/>
              <a:t>Domain Analyst - Product Owner</a:t>
            </a:r>
          </a:p>
        </p:txBody>
      </p:sp>
      <p:sp>
        <p:nvSpPr>
          <p:cNvPr id="13" name="Snip Single Corner Rectangle 12"/>
          <p:cNvSpPr/>
          <p:nvPr/>
        </p:nvSpPr>
        <p:spPr>
          <a:xfrm>
            <a:off x="468922" y="960541"/>
            <a:ext cx="1930400" cy="1272704"/>
          </a:xfrm>
          <a:prstGeom prst="snip1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dirty="0"/>
              <a:t>Manage Product Backlog</a:t>
            </a:r>
          </a:p>
        </p:txBody>
      </p:sp>
      <p:sp>
        <p:nvSpPr>
          <p:cNvPr id="15" name="Snip Single Corner Rectangle 14"/>
          <p:cNvSpPr/>
          <p:nvPr/>
        </p:nvSpPr>
        <p:spPr>
          <a:xfrm>
            <a:off x="468922" y="3366742"/>
            <a:ext cx="1930400" cy="698734"/>
          </a:xfrm>
          <a:prstGeom prst="snip1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dirty="0"/>
              <a:t>Manage Team</a:t>
            </a:r>
          </a:p>
        </p:txBody>
      </p:sp>
      <p:sp>
        <p:nvSpPr>
          <p:cNvPr id="16" name="Snip Single Corner Rectangle 15"/>
          <p:cNvSpPr/>
          <p:nvPr/>
        </p:nvSpPr>
        <p:spPr>
          <a:xfrm>
            <a:off x="468922" y="2376144"/>
            <a:ext cx="1930400" cy="883139"/>
          </a:xfrm>
          <a:prstGeom prst="snip1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dirty="0"/>
              <a:t>Release Planning</a:t>
            </a:r>
          </a:p>
        </p:txBody>
      </p:sp>
      <p:sp>
        <p:nvSpPr>
          <p:cNvPr id="20" name="Rounded Rectangle 19"/>
          <p:cNvSpPr/>
          <p:nvPr/>
        </p:nvSpPr>
        <p:spPr>
          <a:xfrm>
            <a:off x="2602525" y="961652"/>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Meet with stakeholders</a:t>
            </a:r>
          </a:p>
        </p:txBody>
      </p:sp>
      <p:sp>
        <p:nvSpPr>
          <p:cNvPr id="22" name="Rounded Rectangle 21"/>
          <p:cNvSpPr/>
          <p:nvPr/>
        </p:nvSpPr>
        <p:spPr>
          <a:xfrm>
            <a:off x="4206632" y="974534"/>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Accept / Reject Stories</a:t>
            </a:r>
          </a:p>
        </p:txBody>
      </p:sp>
      <p:sp>
        <p:nvSpPr>
          <p:cNvPr id="24" name="Rounded Rectangle 23"/>
          <p:cNvSpPr/>
          <p:nvPr/>
        </p:nvSpPr>
        <p:spPr>
          <a:xfrm>
            <a:off x="4206632" y="2521288"/>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Approve/Reject Prod Release</a:t>
            </a:r>
          </a:p>
        </p:txBody>
      </p:sp>
      <p:sp>
        <p:nvSpPr>
          <p:cNvPr id="25" name="Rounded Rectangle 24"/>
          <p:cNvSpPr/>
          <p:nvPr/>
        </p:nvSpPr>
        <p:spPr>
          <a:xfrm>
            <a:off x="2602525" y="1639283"/>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Update product Wiki / release notes</a:t>
            </a:r>
          </a:p>
        </p:txBody>
      </p:sp>
      <p:sp>
        <p:nvSpPr>
          <p:cNvPr id="27" name="Rounded Rectangle 26"/>
          <p:cNvSpPr/>
          <p:nvPr/>
        </p:nvSpPr>
        <p:spPr>
          <a:xfrm>
            <a:off x="5812696" y="2521288"/>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Manage Business Impact</a:t>
            </a:r>
          </a:p>
        </p:txBody>
      </p:sp>
      <p:sp>
        <p:nvSpPr>
          <p:cNvPr id="28" name="Snip Single Corner Rectangle 27"/>
          <p:cNvSpPr/>
          <p:nvPr/>
        </p:nvSpPr>
        <p:spPr>
          <a:xfrm>
            <a:off x="468922" y="4157305"/>
            <a:ext cx="1930400" cy="698734"/>
          </a:xfrm>
          <a:prstGeom prst="snip1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dirty="0"/>
              <a:t>Troubleshoot</a:t>
            </a:r>
          </a:p>
        </p:txBody>
      </p:sp>
      <p:cxnSp>
        <p:nvCxnSpPr>
          <p:cNvPr id="30" name="Straight Connector 29"/>
          <p:cNvCxnSpPr>
            <a:cxnSpLocks/>
          </p:cNvCxnSpPr>
          <p:nvPr/>
        </p:nvCxnSpPr>
        <p:spPr>
          <a:xfrm>
            <a:off x="476733" y="2321439"/>
            <a:ext cx="848946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cxnSpLocks/>
          </p:cNvCxnSpPr>
          <p:nvPr/>
        </p:nvCxnSpPr>
        <p:spPr>
          <a:xfrm>
            <a:off x="468920" y="3314735"/>
            <a:ext cx="848946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cxnSpLocks/>
          </p:cNvCxnSpPr>
          <p:nvPr/>
        </p:nvCxnSpPr>
        <p:spPr>
          <a:xfrm>
            <a:off x="472827" y="4113112"/>
            <a:ext cx="848946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ounded Rectangle 33"/>
          <p:cNvSpPr/>
          <p:nvPr/>
        </p:nvSpPr>
        <p:spPr>
          <a:xfrm>
            <a:off x="2602525" y="4210247"/>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Mitigate Project Risk</a:t>
            </a:r>
          </a:p>
        </p:txBody>
      </p:sp>
      <p:sp>
        <p:nvSpPr>
          <p:cNvPr id="29" name="Rounded Rectangle 28"/>
          <p:cNvSpPr/>
          <p:nvPr/>
        </p:nvSpPr>
        <p:spPr>
          <a:xfrm>
            <a:off x="2602525" y="3419684"/>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Staff team based on priority</a:t>
            </a:r>
          </a:p>
        </p:txBody>
      </p:sp>
      <p:sp>
        <p:nvSpPr>
          <p:cNvPr id="31" name="Rounded Rectangle 30"/>
          <p:cNvSpPr/>
          <p:nvPr/>
        </p:nvSpPr>
        <p:spPr>
          <a:xfrm>
            <a:off x="4192955" y="3419684"/>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 Manage SLA’s</a:t>
            </a:r>
          </a:p>
        </p:txBody>
      </p:sp>
      <p:sp>
        <p:nvSpPr>
          <p:cNvPr id="37" name="Rounded Rectangle 36"/>
          <p:cNvSpPr/>
          <p:nvPr/>
        </p:nvSpPr>
        <p:spPr>
          <a:xfrm>
            <a:off x="5783385" y="3419684"/>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Manage People Risks</a:t>
            </a:r>
          </a:p>
        </p:txBody>
      </p:sp>
      <p:sp>
        <p:nvSpPr>
          <p:cNvPr id="38" name="Rounded Rectangle 37"/>
          <p:cNvSpPr/>
          <p:nvPr/>
        </p:nvSpPr>
        <p:spPr>
          <a:xfrm>
            <a:off x="2600568" y="2521288"/>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Establish Roadmap and communication</a:t>
            </a:r>
          </a:p>
        </p:txBody>
      </p:sp>
      <p:sp>
        <p:nvSpPr>
          <p:cNvPr id="40" name="Rounded Rectangle 39"/>
          <p:cNvSpPr/>
          <p:nvPr/>
        </p:nvSpPr>
        <p:spPr>
          <a:xfrm>
            <a:off x="5783385" y="974533"/>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Evangelize re-use of product</a:t>
            </a:r>
          </a:p>
        </p:txBody>
      </p:sp>
      <p:pic>
        <p:nvPicPr>
          <p:cNvPr id="41" name="Picture 4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0492" y="276094"/>
            <a:ext cx="457200" cy="457200"/>
          </a:xfrm>
          <a:prstGeom prst="rect">
            <a:avLst/>
          </a:prstGeom>
        </p:spPr>
      </p:pic>
      <p:sp>
        <p:nvSpPr>
          <p:cNvPr id="35" name="Rounded Rectangle 33">
            <a:extLst>
              <a:ext uri="{FF2B5EF4-FFF2-40B4-BE49-F238E27FC236}">
                <a16:creationId xmlns:a16="http://schemas.microsoft.com/office/drawing/2014/main" id="{C5D27BFC-90BC-4C4C-8C0F-F4AEDA5F1C2A}"/>
              </a:ext>
            </a:extLst>
          </p:cNvPr>
          <p:cNvSpPr/>
          <p:nvPr/>
        </p:nvSpPr>
        <p:spPr>
          <a:xfrm>
            <a:off x="4192955" y="4210247"/>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Mitigate Cloud Risk</a:t>
            </a:r>
          </a:p>
        </p:txBody>
      </p:sp>
    </p:spTree>
    <p:extLst>
      <p:ext uri="{BB962C8B-B14F-4D97-AF65-F5344CB8AC3E}">
        <p14:creationId xmlns:p14="http://schemas.microsoft.com/office/powerpoint/2010/main" val="843014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marL="285750" indent="-285750">
              <a:buFont typeface="Arial" panose="020B0604020202020204" pitchFamily="34" charset="0"/>
              <a:buChar char="•"/>
            </a:pPr>
            <a:r>
              <a:rPr lang="en-US" sz="1600" dirty="0"/>
              <a:t>Main interface  with the customer</a:t>
            </a:r>
          </a:p>
          <a:p>
            <a:pPr marL="285750" indent="-285750">
              <a:buFont typeface="Arial" panose="020B0604020202020204" pitchFamily="34" charset="0"/>
              <a:buChar char="•"/>
            </a:pPr>
            <a:r>
              <a:rPr lang="en-US" sz="1600" dirty="0"/>
              <a:t>Visionary of the product</a:t>
            </a:r>
          </a:p>
          <a:p>
            <a:pPr marL="285750" indent="-285750">
              <a:buFont typeface="Arial" panose="020B0604020202020204" pitchFamily="34" charset="0"/>
              <a:buChar char="•"/>
            </a:pPr>
            <a:r>
              <a:rPr lang="en-US" sz="1600" dirty="0"/>
              <a:t>Understand and evangelize the value and use of the product</a:t>
            </a:r>
          </a:p>
          <a:p>
            <a:pPr marL="285750" indent="-285750">
              <a:buFont typeface="Arial" panose="020B0604020202020204" pitchFamily="34" charset="0"/>
              <a:buChar char="•"/>
            </a:pPr>
            <a:r>
              <a:rPr lang="en-US" sz="1600" dirty="0"/>
              <a:t>Gather requirements  and write stories with clear acceptance criteria</a:t>
            </a:r>
          </a:p>
          <a:p>
            <a:pPr marL="285750" indent="-285750">
              <a:buFont typeface="Arial" panose="020B0604020202020204" pitchFamily="34" charset="0"/>
              <a:buChar char="•"/>
            </a:pPr>
            <a:r>
              <a:rPr lang="en-US" sz="1600" dirty="0"/>
              <a:t>Manage and prioritize the Product Backlog </a:t>
            </a:r>
          </a:p>
          <a:p>
            <a:pPr marL="285750" indent="-285750">
              <a:buFont typeface="Arial" panose="020B0604020202020204" pitchFamily="34" charset="0"/>
              <a:buChar char="•"/>
            </a:pPr>
            <a:r>
              <a:rPr lang="en-US" sz="1600" dirty="0"/>
              <a:t>Mange Business Impact</a:t>
            </a:r>
          </a:p>
          <a:p>
            <a:pPr marL="285750" indent="-285750">
              <a:buFont typeface="Arial" panose="020B0604020202020204" pitchFamily="34" charset="0"/>
              <a:buChar char="•"/>
            </a:pPr>
            <a:r>
              <a:rPr lang="en-US" sz="1600" dirty="0"/>
              <a:t>Review and accept delivered functionality (stories)</a:t>
            </a:r>
          </a:p>
          <a:p>
            <a:pPr marL="285750" indent="-285750">
              <a:buFont typeface="Arial" panose="020B0604020202020204" pitchFamily="34" charset="0"/>
              <a:buChar char="•"/>
            </a:pPr>
            <a:r>
              <a:rPr lang="en-US" sz="1600" dirty="0"/>
              <a:t>Organize, control, perform user testing</a:t>
            </a:r>
          </a:p>
          <a:p>
            <a:pPr marL="285750" indent="-285750">
              <a:buFont typeface="Arial" panose="020B0604020202020204" pitchFamily="34" charset="0"/>
              <a:buChar char="•"/>
            </a:pPr>
            <a:r>
              <a:rPr lang="en-US" sz="1600" dirty="0"/>
              <a:t>User documentation, communications, training</a:t>
            </a:r>
          </a:p>
          <a:p>
            <a:pPr marL="285750" indent="-285750">
              <a:buFont typeface="Arial" panose="020B0604020202020204" pitchFamily="34" charset="0"/>
              <a:buChar char="•"/>
            </a:pPr>
            <a:r>
              <a:rPr lang="en-US" sz="1600" dirty="0"/>
              <a:t>Release planning</a:t>
            </a:r>
          </a:p>
          <a:p>
            <a:pPr marL="285750" indent="-285750">
              <a:buFont typeface="Arial" panose="020B0604020202020204" pitchFamily="34" charset="0"/>
              <a:buChar char="•"/>
            </a:pPr>
            <a:r>
              <a:rPr lang="en-US" sz="1600" dirty="0"/>
              <a:t>Manage licensing, budget, acquisition process</a:t>
            </a:r>
          </a:p>
          <a:p>
            <a:pPr marL="285750" indent="-285750">
              <a:buFont typeface="Arial" panose="020B0604020202020204" pitchFamily="34" charset="0"/>
              <a:buChar char="•"/>
            </a:pPr>
            <a:endParaRPr lang="en-US" sz="1600" dirty="0"/>
          </a:p>
        </p:txBody>
      </p:sp>
      <p:sp>
        <p:nvSpPr>
          <p:cNvPr id="3" name="Title 2"/>
          <p:cNvSpPr>
            <a:spLocks noGrp="1"/>
          </p:cNvSpPr>
          <p:nvPr>
            <p:ph type="title"/>
          </p:nvPr>
        </p:nvSpPr>
        <p:spPr>
          <a:xfrm>
            <a:off x="628650" y="273844"/>
            <a:ext cx="7886700" cy="753970"/>
          </a:xfrm>
        </p:spPr>
        <p:txBody>
          <a:bodyPr>
            <a:normAutofit/>
          </a:bodyPr>
          <a:lstStyle/>
          <a:p>
            <a:r>
              <a:rPr lang="en-US" sz="2800" b="1" dirty="0"/>
              <a:t>Product Owner Key Responsibilities</a:t>
            </a:r>
          </a:p>
        </p:txBody>
      </p:sp>
    </p:spTree>
    <p:extLst>
      <p:ext uri="{BB962C8B-B14F-4D97-AF65-F5344CB8AC3E}">
        <p14:creationId xmlns:p14="http://schemas.microsoft.com/office/powerpoint/2010/main" val="2517874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67692" y="231569"/>
            <a:ext cx="7319108" cy="708229"/>
          </a:xfrm>
        </p:spPr>
        <p:txBody>
          <a:bodyPr>
            <a:normAutofit/>
          </a:bodyPr>
          <a:lstStyle/>
          <a:p>
            <a:pPr algn="l"/>
            <a:r>
              <a:rPr lang="en-US" sz="2800" b="1" dirty="0"/>
              <a:t>Project Manager</a:t>
            </a:r>
          </a:p>
        </p:txBody>
      </p:sp>
      <p:sp>
        <p:nvSpPr>
          <p:cNvPr id="13" name="Snip Single Corner Rectangle 12"/>
          <p:cNvSpPr/>
          <p:nvPr/>
        </p:nvSpPr>
        <p:spPr>
          <a:xfrm>
            <a:off x="468922" y="953453"/>
            <a:ext cx="1930400" cy="1272704"/>
          </a:xfrm>
          <a:prstGeom prst="snip1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dirty="0"/>
              <a:t>Manage Product Backlog</a:t>
            </a:r>
          </a:p>
        </p:txBody>
      </p:sp>
      <p:sp>
        <p:nvSpPr>
          <p:cNvPr id="15" name="Snip Single Corner Rectangle 14"/>
          <p:cNvSpPr/>
          <p:nvPr/>
        </p:nvSpPr>
        <p:spPr>
          <a:xfrm>
            <a:off x="468922" y="3366742"/>
            <a:ext cx="1930400" cy="698734"/>
          </a:xfrm>
          <a:prstGeom prst="snip1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dirty="0"/>
              <a:t>Manage Team</a:t>
            </a:r>
          </a:p>
        </p:txBody>
      </p:sp>
      <p:sp>
        <p:nvSpPr>
          <p:cNvPr id="16" name="Snip Single Corner Rectangle 15"/>
          <p:cNvSpPr/>
          <p:nvPr/>
        </p:nvSpPr>
        <p:spPr>
          <a:xfrm>
            <a:off x="468922" y="2376144"/>
            <a:ext cx="1930400" cy="883139"/>
          </a:xfrm>
          <a:prstGeom prst="snip1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dirty="0"/>
              <a:t>Release Planning</a:t>
            </a:r>
          </a:p>
        </p:txBody>
      </p:sp>
      <p:sp>
        <p:nvSpPr>
          <p:cNvPr id="17" name="Rounded Rectangle 16"/>
          <p:cNvSpPr/>
          <p:nvPr/>
        </p:nvSpPr>
        <p:spPr>
          <a:xfrm>
            <a:off x="2600568" y="962584"/>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Write stories w/ acceptance criteria</a:t>
            </a:r>
          </a:p>
        </p:txBody>
      </p:sp>
      <p:sp>
        <p:nvSpPr>
          <p:cNvPr id="22" name="Rounded Rectangle 21"/>
          <p:cNvSpPr/>
          <p:nvPr/>
        </p:nvSpPr>
        <p:spPr>
          <a:xfrm>
            <a:off x="4192955" y="946625"/>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Accept / Reject Stories</a:t>
            </a:r>
          </a:p>
        </p:txBody>
      </p:sp>
      <p:sp>
        <p:nvSpPr>
          <p:cNvPr id="25" name="Rounded Rectangle 24"/>
          <p:cNvSpPr/>
          <p:nvPr/>
        </p:nvSpPr>
        <p:spPr>
          <a:xfrm>
            <a:off x="2600568" y="1632195"/>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Update product Wiki / release notes</a:t>
            </a:r>
          </a:p>
        </p:txBody>
      </p:sp>
      <p:sp>
        <p:nvSpPr>
          <p:cNvPr id="27" name="Rounded Rectangle 26"/>
          <p:cNvSpPr/>
          <p:nvPr/>
        </p:nvSpPr>
        <p:spPr>
          <a:xfrm>
            <a:off x="4192955" y="2521288"/>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Manage Prod Release</a:t>
            </a:r>
          </a:p>
        </p:txBody>
      </p:sp>
      <p:sp>
        <p:nvSpPr>
          <p:cNvPr id="28" name="Snip Single Corner Rectangle 27"/>
          <p:cNvSpPr/>
          <p:nvPr/>
        </p:nvSpPr>
        <p:spPr>
          <a:xfrm>
            <a:off x="468922" y="4157305"/>
            <a:ext cx="1930400" cy="698734"/>
          </a:xfrm>
          <a:prstGeom prst="snip1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dirty="0"/>
              <a:t>Troubleshoot</a:t>
            </a:r>
          </a:p>
        </p:txBody>
      </p:sp>
      <p:cxnSp>
        <p:nvCxnSpPr>
          <p:cNvPr id="30" name="Straight Connector 29"/>
          <p:cNvCxnSpPr/>
          <p:nvPr/>
        </p:nvCxnSpPr>
        <p:spPr>
          <a:xfrm>
            <a:off x="476733" y="2321439"/>
            <a:ext cx="848946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468920" y="3314735"/>
            <a:ext cx="848946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472827" y="4113112"/>
            <a:ext cx="848946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ounded Rectangle 33"/>
          <p:cNvSpPr/>
          <p:nvPr/>
        </p:nvSpPr>
        <p:spPr>
          <a:xfrm>
            <a:off x="2600568" y="4210247"/>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Mitigate Project Risk</a:t>
            </a:r>
          </a:p>
        </p:txBody>
      </p:sp>
      <p:sp>
        <p:nvSpPr>
          <p:cNvPr id="26" name="Rounded Rectangle 25"/>
          <p:cNvSpPr/>
          <p:nvPr/>
        </p:nvSpPr>
        <p:spPr>
          <a:xfrm>
            <a:off x="4192955" y="1637057"/>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Set priority of stories/sprints</a:t>
            </a:r>
          </a:p>
        </p:txBody>
      </p:sp>
      <p:sp>
        <p:nvSpPr>
          <p:cNvPr id="29" name="Rounded Rectangle 28"/>
          <p:cNvSpPr/>
          <p:nvPr/>
        </p:nvSpPr>
        <p:spPr>
          <a:xfrm>
            <a:off x="2600568" y="3419684"/>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Staff team based on priority</a:t>
            </a:r>
          </a:p>
        </p:txBody>
      </p:sp>
      <p:sp>
        <p:nvSpPr>
          <p:cNvPr id="31" name="Rounded Rectangle 30"/>
          <p:cNvSpPr/>
          <p:nvPr/>
        </p:nvSpPr>
        <p:spPr>
          <a:xfrm>
            <a:off x="4192955" y="3419684"/>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 Manage SLA’s</a:t>
            </a:r>
          </a:p>
        </p:txBody>
      </p:sp>
      <p:sp>
        <p:nvSpPr>
          <p:cNvPr id="37" name="Rounded Rectangle 36"/>
          <p:cNvSpPr/>
          <p:nvPr/>
        </p:nvSpPr>
        <p:spPr>
          <a:xfrm>
            <a:off x="5783385" y="3419684"/>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Manage People Risks</a:t>
            </a:r>
          </a:p>
        </p:txBody>
      </p:sp>
      <p:sp>
        <p:nvSpPr>
          <p:cNvPr id="38" name="Rounded Rectangle 37"/>
          <p:cNvSpPr/>
          <p:nvPr/>
        </p:nvSpPr>
        <p:spPr>
          <a:xfrm>
            <a:off x="2600568" y="2521288"/>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Establish Roadmap and communication</a:t>
            </a:r>
          </a:p>
        </p:txBody>
      </p:sp>
      <p:sp>
        <p:nvSpPr>
          <p:cNvPr id="40" name="Rounded Rectangle 39"/>
          <p:cNvSpPr/>
          <p:nvPr/>
        </p:nvSpPr>
        <p:spPr>
          <a:xfrm>
            <a:off x="5783385" y="1638232"/>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Evangelize re-use of product</a:t>
            </a:r>
          </a:p>
        </p:txBody>
      </p:sp>
      <p:pic>
        <p:nvPicPr>
          <p:cNvPr id="41" name="Picture 4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0492" y="276094"/>
            <a:ext cx="457200" cy="457200"/>
          </a:xfrm>
          <a:prstGeom prst="rect">
            <a:avLst/>
          </a:prstGeom>
        </p:spPr>
      </p:pic>
      <p:sp>
        <p:nvSpPr>
          <p:cNvPr id="35" name="Rounded Rectangle 33">
            <a:extLst>
              <a:ext uri="{FF2B5EF4-FFF2-40B4-BE49-F238E27FC236}">
                <a16:creationId xmlns:a16="http://schemas.microsoft.com/office/drawing/2014/main" id="{C5D27BFC-90BC-4C4C-8C0F-F4AEDA5F1C2A}"/>
              </a:ext>
            </a:extLst>
          </p:cNvPr>
          <p:cNvSpPr/>
          <p:nvPr/>
        </p:nvSpPr>
        <p:spPr>
          <a:xfrm>
            <a:off x="4192955" y="4210247"/>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Mitigate Cloud Risk</a:t>
            </a:r>
          </a:p>
        </p:txBody>
      </p:sp>
    </p:spTree>
    <p:extLst>
      <p:ext uri="{BB962C8B-B14F-4D97-AF65-F5344CB8AC3E}">
        <p14:creationId xmlns:p14="http://schemas.microsoft.com/office/powerpoint/2010/main" val="1504588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285750" indent="-285750">
              <a:buFont typeface="Arial" panose="020B0604020202020204" pitchFamily="34" charset="0"/>
              <a:buChar char="•"/>
            </a:pPr>
            <a:r>
              <a:rPr lang="en-US" sz="1600" dirty="0"/>
              <a:t>Facilitator</a:t>
            </a:r>
          </a:p>
          <a:p>
            <a:pPr marL="285750" indent="-285750">
              <a:buFont typeface="Arial" panose="020B0604020202020204" pitchFamily="34" charset="0"/>
              <a:buChar char="•"/>
            </a:pPr>
            <a:r>
              <a:rPr lang="en-US" sz="1600" dirty="0"/>
              <a:t>Coach</a:t>
            </a:r>
          </a:p>
          <a:p>
            <a:pPr marL="285750" indent="-285750">
              <a:buFont typeface="Arial" panose="020B0604020202020204" pitchFamily="34" charset="0"/>
              <a:buChar char="•"/>
            </a:pPr>
            <a:r>
              <a:rPr lang="en-US" sz="1600" dirty="0"/>
              <a:t>Framework custodian</a:t>
            </a:r>
          </a:p>
          <a:p>
            <a:pPr marL="285750" indent="-285750">
              <a:buFont typeface="Arial" panose="020B0604020202020204" pitchFamily="34" charset="0"/>
              <a:buChar char="•"/>
            </a:pPr>
            <a:r>
              <a:rPr lang="en-US" sz="1600" dirty="0"/>
              <a:t>Remove impediments</a:t>
            </a:r>
          </a:p>
          <a:p>
            <a:pPr marL="285750" indent="-285750">
              <a:buFont typeface="Arial" panose="020B0604020202020204" pitchFamily="34" charset="0"/>
              <a:buChar char="•"/>
            </a:pPr>
            <a:r>
              <a:rPr lang="en-US" sz="1600" dirty="0"/>
              <a:t>Radiate information – ensure that team’s progress and successes are highly visible to all stakeholders, including the team itself</a:t>
            </a:r>
          </a:p>
          <a:p>
            <a:pPr marL="285750" indent="-285750">
              <a:buFont typeface="Arial" panose="020B0604020202020204" pitchFamily="34" charset="0"/>
              <a:buChar char="•"/>
            </a:pPr>
            <a:r>
              <a:rPr lang="en-US" sz="1600" dirty="0"/>
              <a:t>Support the Product Owner with communicating updates, impediments, backlog and release planning maintenance</a:t>
            </a:r>
          </a:p>
          <a:p>
            <a:pPr marL="285750" indent="-285750">
              <a:buFont typeface="Arial" panose="020B0604020202020204" pitchFamily="34" charset="0"/>
              <a:buChar char="•"/>
            </a:pPr>
            <a:r>
              <a:rPr lang="en-US" sz="1600" dirty="0"/>
              <a:t>Facilitate creativity and empowerment for the development team</a:t>
            </a:r>
          </a:p>
          <a:p>
            <a:pPr marL="285750" indent="-285750">
              <a:buFont typeface="Arial" panose="020B0604020202020204" pitchFamily="34" charset="0"/>
              <a:buChar char="•"/>
            </a:pPr>
            <a:r>
              <a:rPr lang="en-US" sz="1600" dirty="0"/>
              <a:t>Improve team’s engineering practices and processes as needed</a:t>
            </a:r>
          </a:p>
          <a:p>
            <a:pPr marL="285750" indent="-285750">
              <a:buFont typeface="Arial" panose="020B0604020202020204" pitchFamily="34" charset="0"/>
              <a:buChar char="•"/>
            </a:pPr>
            <a:r>
              <a:rPr lang="en-US" sz="1600" dirty="0"/>
              <a:t>Communicate with clear and frequent communication among all stakeholders</a:t>
            </a:r>
          </a:p>
          <a:p>
            <a:pPr marL="285750" indent="-285750">
              <a:buFont typeface="Arial" panose="020B0604020202020204" pitchFamily="34" charset="0"/>
              <a:buChar char="•"/>
            </a:pPr>
            <a:endParaRPr lang="en-US" sz="1600" dirty="0"/>
          </a:p>
        </p:txBody>
      </p:sp>
      <p:sp>
        <p:nvSpPr>
          <p:cNvPr id="3" name="Title 2"/>
          <p:cNvSpPr>
            <a:spLocks noGrp="1"/>
          </p:cNvSpPr>
          <p:nvPr>
            <p:ph type="title"/>
          </p:nvPr>
        </p:nvSpPr>
        <p:spPr>
          <a:xfrm>
            <a:off x="628650" y="139166"/>
            <a:ext cx="7886700" cy="994172"/>
          </a:xfrm>
        </p:spPr>
        <p:txBody>
          <a:bodyPr>
            <a:normAutofit/>
          </a:bodyPr>
          <a:lstStyle/>
          <a:p>
            <a:r>
              <a:rPr lang="en-US" sz="2800" b="1" dirty="0"/>
              <a:t>Scrum Master Key Responsibilities</a:t>
            </a:r>
          </a:p>
        </p:txBody>
      </p:sp>
    </p:spTree>
    <p:extLst>
      <p:ext uri="{BB962C8B-B14F-4D97-AF65-F5344CB8AC3E}">
        <p14:creationId xmlns:p14="http://schemas.microsoft.com/office/powerpoint/2010/main" val="1881723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67692" y="115561"/>
            <a:ext cx="7776308" cy="708229"/>
          </a:xfrm>
        </p:spPr>
        <p:txBody>
          <a:bodyPr>
            <a:normAutofit/>
          </a:bodyPr>
          <a:lstStyle/>
          <a:p>
            <a:pPr algn="l"/>
            <a:r>
              <a:rPr lang="en-US" sz="2800" b="1" dirty="0"/>
              <a:t>Lead Full Scale Developer </a:t>
            </a:r>
          </a:p>
        </p:txBody>
      </p:sp>
      <p:sp>
        <p:nvSpPr>
          <p:cNvPr id="13" name="Snip Single Corner Rectangle 12"/>
          <p:cNvSpPr/>
          <p:nvPr/>
        </p:nvSpPr>
        <p:spPr>
          <a:xfrm>
            <a:off x="468922" y="960541"/>
            <a:ext cx="1930400" cy="1272704"/>
          </a:xfrm>
          <a:prstGeom prst="snip1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t>Deliver a story</a:t>
            </a:r>
          </a:p>
          <a:p>
            <a:pPr algn="ctr"/>
            <a:r>
              <a:rPr lang="en-US" b="1" dirty="0"/>
              <a:t>Accept a story</a:t>
            </a:r>
          </a:p>
          <a:p>
            <a:pPr algn="ctr"/>
            <a:endParaRPr lang="en-US" b="1" dirty="0"/>
          </a:p>
        </p:txBody>
      </p:sp>
      <p:sp>
        <p:nvSpPr>
          <p:cNvPr id="15" name="Snip Single Corner Rectangle 14"/>
          <p:cNvSpPr/>
          <p:nvPr/>
        </p:nvSpPr>
        <p:spPr>
          <a:xfrm>
            <a:off x="468922" y="3678760"/>
            <a:ext cx="1930400" cy="632202"/>
          </a:xfrm>
          <a:prstGeom prst="snip1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t>Review/Merge a Pull Request</a:t>
            </a:r>
          </a:p>
        </p:txBody>
      </p:sp>
      <p:sp>
        <p:nvSpPr>
          <p:cNvPr id="16" name="Snip Single Corner Rectangle 15"/>
          <p:cNvSpPr/>
          <p:nvPr/>
        </p:nvSpPr>
        <p:spPr>
          <a:xfrm>
            <a:off x="468922" y="2353722"/>
            <a:ext cx="1930400" cy="1186337"/>
          </a:xfrm>
          <a:prstGeom prst="snip1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dirty="0"/>
              <a:t>Execute Technical Spike</a:t>
            </a:r>
            <a:endParaRPr lang="en-US" sz="1600" b="1" dirty="0">
              <a:solidFill>
                <a:schemeClr val="tx2"/>
              </a:solidFill>
            </a:endParaRPr>
          </a:p>
        </p:txBody>
      </p:sp>
      <p:sp>
        <p:nvSpPr>
          <p:cNvPr id="22" name="Rounded Rectangle 21"/>
          <p:cNvSpPr/>
          <p:nvPr/>
        </p:nvSpPr>
        <p:spPr>
          <a:xfrm>
            <a:off x="2602525" y="2348848"/>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Alter dev cloud </a:t>
            </a:r>
            <a:r>
              <a:rPr lang="en-US" sz="1200" dirty="0" err="1"/>
              <a:t>config</a:t>
            </a:r>
            <a:r>
              <a:rPr lang="en-US" sz="1200" dirty="0"/>
              <a:t>/</a:t>
            </a:r>
            <a:r>
              <a:rPr lang="en-US" sz="1200" dirty="0" err="1"/>
              <a:t>env</a:t>
            </a:r>
            <a:endParaRPr lang="en-US" sz="1200" dirty="0"/>
          </a:p>
        </p:txBody>
      </p:sp>
      <p:sp>
        <p:nvSpPr>
          <p:cNvPr id="23" name="Rounded Rectangle 22"/>
          <p:cNvSpPr/>
          <p:nvPr/>
        </p:nvSpPr>
        <p:spPr>
          <a:xfrm>
            <a:off x="4206632" y="3698436"/>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Merge changes to release branch</a:t>
            </a:r>
          </a:p>
        </p:txBody>
      </p:sp>
      <p:sp>
        <p:nvSpPr>
          <p:cNvPr id="24" name="Rounded Rectangle 23"/>
          <p:cNvSpPr/>
          <p:nvPr/>
        </p:nvSpPr>
        <p:spPr>
          <a:xfrm>
            <a:off x="4206632" y="2360558"/>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Update spike/gist in Docs</a:t>
            </a:r>
          </a:p>
        </p:txBody>
      </p:sp>
      <p:sp>
        <p:nvSpPr>
          <p:cNvPr id="27" name="Rounded Rectangle 26"/>
          <p:cNvSpPr/>
          <p:nvPr/>
        </p:nvSpPr>
        <p:spPr>
          <a:xfrm>
            <a:off x="5810739" y="2368377"/>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Commit change to spike branch</a:t>
            </a:r>
          </a:p>
        </p:txBody>
      </p:sp>
      <p:sp>
        <p:nvSpPr>
          <p:cNvPr id="28" name="Snip Single Corner Rectangle 27"/>
          <p:cNvSpPr/>
          <p:nvPr/>
        </p:nvSpPr>
        <p:spPr>
          <a:xfrm>
            <a:off x="468922" y="4451481"/>
            <a:ext cx="1930400" cy="585863"/>
          </a:xfrm>
          <a:prstGeom prst="snip1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t>Troubleshoot</a:t>
            </a:r>
          </a:p>
        </p:txBody>
      </p:sp>
      <p:cxnSp>
        <p:nvCxnSpPr>
          <p:cNvPr id="30" name="Straight Connector 29"/>
          <p:cNvCxnSpPr/>
          <p:nvPr/>
        </p:nvCxnSpPr>
        <p:spPr>
          <a:xfrm>
            <a:off x="476733" y="2293615"/>
            <a:ext cx="848946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468920" y="3609223"/>
            <a:ext cx="848946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472827" y="4389240"/>
            <a:ext cx="848946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ounded Rectangle 33"/>
          <p:cNvSpPr/>
          <p:nvPr/>
        </p:nvSpPr>
        <p:spPr>
          <a:xfrm>
            <a:off x="2602525" y="4447987"/>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View cloud </a:t>
            </a:r>
            <a:r>
              <a:rPr lang="en-US" sz="1200" dirty="0" err="1"/>
              <a:t>config</a:t>
            </a:r>
            <a:r>
              <a:rPr lang="en-US" sz="1200" dirty="0"/>
              <a:t>/</a:t>
            </a:r>
            <a:r>
              <a:rPr lang="en-US" sz="1200" dirty="0" err="1"/>
              <a:t>env</a:t>
            </a:r>
            <a:endParaRPr lang="en-US" sz="1200" dirty="0"/>
          </a:p>
        </p:txBody>
      </p:sp>
      <p:sp>
        <p:nvSpPr>
          <p:cNvPr id="35" name="Rounded Rectangle 34"/>
          <p:cNvSpPr/>
          <p:nvPr/>
        </p:nvSpPr>
        <p:spPr>
          <a:xfrm>
            <a:off x="4206632" y="4447987"/>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View cloud and app logs</a:t>
            </a:r>
          </a:p>
        </p:txBody>
      </p:sp>
      <p:sp>
        <p:nvSpPr>
          <p:cNvPr id="36" name="Rounded Rectangle 35"/>
          <p:cNvSpPr/>
          <p:nvPr/>
        </p:nvSpPr>
        <p:spPr>
          <a:xfrm>
            <a:off x="5810739" y="4447987"/>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Alter cloud </a:t>
            </a:r>
            <a:r>
              <a:rPr lang="en-US" sz="1200" dirty="0" err="1"/>
              <a:t>config</a:t>
            </a:r>
            <a:r>
              <a:rPr lang="en-US" sz="1200" dirty="0"/>
              <a:t>/app </a:t>
            </a:r>
            <a:r>
              <a:rPr lang="en-US" sz="1200" dirty="0" err="1"/>
              <a:t>env</a:t>
            </a:r>
            <a:endParaRPr lang="en-US" sz="1200" dirty="0"/>
          </a:p>
        </p:txBody>
      </p:sp>
      <p:sp>
        <p:nvSpPr>
          <p:cNvPr id="29" name="Rounded Rectangle 28"/>
          <p:cNvSpPr/>
          <p:nvPr/>
        </p:nvSpPr>
        <p:spPr>
          <a:xfrm>
            <a:off x="2602525" y="3698436"/>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Merge changes to dev branch</a:t>
            </a:r>
          </a:p>
        </p:txBody>
      </p:sp>
      <p:sp>
        <p:nvSpPr>
          <p:cNvPr id="31" name="Rounded Rectangle 30"/>
          <p:cNvSpPr/>
          <p:nvPr/>
        </p:nvSpPr>
        <p:spPr>
          <a:xfrm>
            <a:off x="5810739" y="3698436"/>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Merge changes to master branch</a:t>
            </a: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726" y="241075"/>
            <a:ext cx="457200" cy="457200"/>
          </a:xfrm>
          <a:prstGeom prst="rect">
            <a:avLst/>
          </a:prstGeom>
        </p:spPr>
      </p:pic>
      <p:sp>
        <p:nvSpPr>
          <p:cNvPr id="39" name="Rounded Rectangle 38"/>
          <p:cNvSpPr/>
          <p:nvPr/>
        </p:nvSpPr>
        <p:spPr>
          <a:xfrm>
            <a:off x="4206632" y="958335"/>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Update story in Scrum Board</a:t>
            </a:r>
          </a:p>
        </p:txBody>
      </p:sp>
      <p:sp>
        <p:nvSpPr>
          <p:cNvPr id="40" name="Rounded Rectangle 39"/>
          <p:cNvSpPr/>
          <p:nvPr/>
        </p:nvSpPr>
        <p:spPr>
          <a:xfrm>
            <a:off x="5810739" y="958338"/>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Commit tests to feature branch</a:t>
            </a:r>
          </a:p>
        </p:txBody>
      </p:sp>
      <p:sp>
        <p:nvSpPr>
          <p:cNvPr id="41" name="Rounded Rectangle 40"/>
          <p:cNvSpPr/>
          <p:nvPr/>
        </p:nvSpPr>
        <p:spPr>
          <a:xfrm>
            <a:off x="2602525" y="958336"/>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Commit code change to feature branch</a:t>
            </a:r>
          </a:p>
        </p:txBody>
      </p:sp>
      <p:sp>
        <p:nvSpPr>
          <p:cNvPr id="42" name="Rounded Rectangle 41"/>
          <p:cNvSpPr/>
          <p:nvPr/>
        </p:nvSpPr>
        <p:spPr>
          <a:xfrm>
            <a:off x="7418759" y="958334"/>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Submit a Pull Request</a:t>
            </a:r>
          </a:p>
        </p:txBody>
      </p:sp>
      <p:sp>
        <p:nvSpPr>
          <p:cNvPr id="43" name="Rounded Rectangle 42"/>
          <p:cNvSpPr/>
          <p:nvPr/>
        </p:nvSpPr>
        <p:spPr>
          <a:xfrm>
            <a:off x="2602525" y="1635967"/>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Update product Wiki / release notes</a:t>
            </a:r>
          </a:p>
        </p:txBody>
      </p:sp>
      <p:sp>
        <p:nvSpPr>
          <p:cNvPr id="44" name="Rounded Rectangle 43"/>
          <p:cNvSpPr/>
          <p:nvPr/>
        </p:nvSpPr>
        <p:spPr>
          <a:xfrm>
            <a:off x="4206632" y="1635128"/>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Provision ad-hoc environment</a:t>
            </a:r>
          </a:p>
        </p:txBody>
      </p:sp>
      <p:sp>
        <p:nvSpPr>
          <p:cNvPr id="45" name="Rounded Rectangle 44"/>
          <p:cNvSpPr/>
          <p:nvPr/>
        </p:nvSpPr>
        <p:spPr>
          <a:xfrm>
            <a:off x="5810739" y="1635127"/>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Configure test pipeline stages</a:t>
            </a:r>
          </a:p>
        </p:txBody>
      </p:sp>
      <p:sp>
        <p:nvSpPr>
          <p:cNvPr id="46" name="Rounded Rectangle 45"/>
          <p:cNvSpPr/>
          <p:nvPr/>
        </p:nvSpPr>
        <p:spPr>
          <a:xfrm>
            <a:off x="7418759" y="1630259"/>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Create a bug</a:t>
            </a:r>
          </a:p>
        </p:txBody>
      </p:sp>
      <p:sp>
        <p:nvSpPr>
          <p:cNvPr id="38" name="Rounded Rectangle 21">
            <a:extLst>
              <a:ext uri="{FF2B5EF4-FFF2-40B4-BE49-F238E27FC236}">
                <a16:creationId xmlns:a16="http://schemas.microsoft.com/office/drawing/2014/main" id="{02FB6C97-D5CB-4A11-BBAE-AD788085AE4D}"/>
              </a:ext>
            </a:extLst>
          </p:cNvPr>
          <p:cNvSpPr/>
          <p:nvPr/>
        </p:nvSpPr>
        <p:spPr>
          <a:xfrm>
            <a:off x="2602525" y="2968491"/>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Write process / guidelines to be </a:t>
            </a:r>
            <a:r>
              <a:rPr lang="en-US" sz="1200" dirty="0" err="1"/>
              <a:t>adopeted</a:t>
            </a:r>
            <a:endParaRPr lang="en-US" sz="1200" dirty="0"/>
          </a:p>
        </p:txBody>
      </p:sp>
      <p:sp>
        <p:nvSpPr>
          <p:cNvPr id="47" name="Rounded Rectangle 21">
            <a:extLst>
              <a:ext uri="{FF2B5EF4-FFF2-40B4-BE49-F238E27FC236}">
                <a16:creationId xmlns:a16="http://schemas.microsoft.com/office/drawing/2014/main" id="{441FD254-BF21-4A0A-975A-D53760A7CEC1}"/>
              </a:ext>
            </a:extLst>
          </p:cNvPr>
          <p:cNvSpPr/>
          <p:nvPr/>
        </p:nvSpPr>
        <p:spPr>
          <a:xfrm>
            <a:off x="4206632" y="2994221"/>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Decide Libraries/</a:t>
            </a:r>
          </a:p>
          <a:p>
            <a:pPr algn="ctr"/>
            <a:r>
              <a:rPr lang="en-US" sz="1200" dirty="0"/>
              <a:t>Frameworks</a:t>
            </a:r>
          </a:p>
        </p:txBody>
      </p:sp>
    </p:spTree>
    <p:extLst>
      <p:ext uri="{BB962C8B-B14F-4D97-AF65-F5344CB8AC3E}">
        <p14:creationId xmlns:p14="http://schemas.microsoft.com/office/powerpoint/2010/main" val="4247900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47572"/>
            <a:ext cx="8686800" cy="4195927"/>
          </a:xfrm>
        </p:spPr>
        <p:txBody>
          <a:bodyPr>
            <a:noAutofit/>
          </a:bodyPr>
          <a:lstStyle/>
          <a:p>
            <a:r>
              <a:rPr lang="en-US" sz="1200" dirty="0"/>
              <a:t>Leads team in alignment on design and architecture</a:t>
            </a:r>
          </a:p>
          <a:p>
            <a:pPr marL="285750" indent="-285750">
              <a:buFont typeface="Arial" panose="020B0604020202020204" pitchFamily="34" charset="0"/>
              <a:buChar char="•"/>
            </a:pPr>
            <a:r>
              <a:rPr lang="en-US" sz="1200" dirty="0"/>
              <a:t>Accountable for team’s code quality and delivery</a:t>
            </a:r>
          </a:p>
          <a:p>
            <a:pPr marL="285750" indent="-285750">
              <a:buFont typeface="Arial" panose="020B0604020202020204" pitchFamily="34" charset="0"/>
              <a:buChar char="•"/>
            </a:pPr>
            <a:r>
              <a:rPr lang="en-US" sz="1200" dirty="0"/>
              <a:t>Leads team in alignment on a unified vision and technical direction</a:t>
            </a:r>
          </a:p>
          <a:p>
            <a:pPr marL="285750" indent="-285750">
              <a:buFont typeface="Arial" panose="020B0604020202020204" pitchFamily="34" charset="0"/>
              <a:buChar char="•"/>
            </a:pPr>
            <a:r>
              <a:rPr lang="en-US" sz="1200" dirty="0"/>
              <a:t>Ensure architectural integrity is maintained</a:t>
            </a:r>
          </a:p>
          <a:p>
            <a:pPr marL="285750" indent="-285750">
              <a:buFont typeface="Arial" panose="020B0604020202020204" pitchFamily="34" charset="0"/>
              <a:buChar char="•"/>
            </a:pPr>
            <a:r>
              <a:rPr lang="en-US" sz="1200" dirty="0"/>
              <a:t>Sets the standard (coding and otherwise). Mentor other technical staff.</a:t>
            </a:r>
          </a:p>
          <a:p>
            <a:pPr marL="285750" indent="-285750">
              <a:buFont typeface="Arial" panose="020B0604020202020204" pitchFamily="34" charset="0"/>
              <a:buChar char="•"/>
            </a:pPr>
            <a:r>
              <a:rPr lang="en-US" sz="1200" dirty="0"/>
              <a:t>Co-ordinate team’s day-to-day technical activities. </a:t>
            </a:r>
          </a:p>
          <a:p>
            <a:pPr marL="285750" indent="-285750">
              <a:buFont typeface="Arial" panose="020B0604020202020204" pitchFamily="34" charset="0"/>
              <a:buChar char="•"/>
            </a:pPr>
            <a:r>
              <a:rPr lang="en-US" sz="1200" dirty="0">
                <a:solidFill>
                  <a:schemeClr val="tx2"/>
                </a:solidFill>
              </a:rPr>
              <a:t>For Production, partners with Product Owner to ensure appropriate approvals are obtained and logged</a:t>
            </a:r>
          </a:p>
          <a:p>
            <a:pPr marL="285750" indent="-285750">
              <a:buFont typeface="Arial" panose="020B0604020202020204" pitchFamily="34" charset="0"/>
              <a:buChar char="•"/>
            </a:pPr>
            <a:r>
              <a:rPr lang="en-US" sz="1200" dirty="0">
                <a:solidFill>
                  <a:schemeClr val="tx2"/>
                </a:solidFill>
              </a:rPr>
              <a:t>Collaborate with enterprise architects to understand technology solution roadmap, and technical requirements with focus on IT automation outcomes</a:t>
            </a:r>
            <a:endParaRPr lang="en-US" sz="1000" b="1" dirty="0"/>
          </a:p>
          <a:p>
            <a:pPr marL="285750" indent="-285750">
              <a:buFont typeface="Arial" panose="020B0604020202020204" pitchFamily="34" charset="0"/>
              <a:buChar char="•"/>
            </a:pPr>
            <a:r>
              <a:rPr lang="en-US" sz="1200" dirty="0"/>
              <a:t>Leads team in alignment on a unified vision and technical direction</a:t>
            </a:r>
          </a:p>
          <a:p>
            <a:pPr marL="285750" indent="-285750">
              <a:buFont typeface="Arial" panose="020B0604020202020204" pitchFamily="34" charset="0"/>
              <a:buChar char="•"/>
            </a:pPr>
            <a:r>
              <a:rPr lang="en-US" sz="1200" dirty="0"/>
              <a:t>Accountable for team’s code quality and delivery</a:t>
            </a:r>
          </a:p>
          <a:p>
            <a:pPr marL="285750" indent="-285750">
              <a:buFont typeface="Arial" panose="020B0604020202020204" pitchFamily="34" charset="0"/>
              <a:buChar char="•"/>
            </a:pPr>
            <a:r>
              <a:rPr lang="en-US" sz="1200" dirty="0"/>
              <a:t>Sets the standard (coding and otherwise)</a:t>
            </a:r>
          </a:p>
          <a:p>
            <a:pPr marL="285750" indent="-285750">
              <a:buFont typeface="Arial" panose="020B0604020202020204" pitchFamily="34" charset="0"/>
              <a:buChar char="•"/>
            </a:pPr>
            <a:r>
              <a:rPr lang="en-US" sz="1200" dirty="0"/>
              <a:t>Ensure adherence to best practices and standards (source code control, </a:t>
            </a:r>
            <a:r>
              <a:rPr lang="en-US" sz="1200" dirty="0" err="1"/>
              <a:t>etc</a:t>
            </a:r>
            <a:r>
              <a:rPr lang="en-US" sz="1200" dirty="0"/>
              <a:t>). Mentor other technical staff.</a:t>
            </a:r>
          </a:p>
          <a:p>
            <a:pPr marL="285750" indent="-285750">
              <a:buFont typeface="Arial" panose="020B0604020202020204" pitchFamily="34" charset="0"/>
              <a:buChar char="•"/>
            </a:pPr>
            <a:r>
              <a:rPr lang="en-US" sz="1200" dirty="0"/>
              <a:t>Co-ordinate team’s day-to-day technical activities. </a:t>
            </a:r>
          </a:p>
          <a:p>
            <a:pPr marL="285750" indent="-285750">
              <a:buFont typeface="Arial" panose="020B0604020202020204" pitchFamily="34" charset="0"/>
              <a:buChar char="•"/>
            </a:pPr>
            <a:r>
              <a:rPr lang="en-US" sz="1200" dirty="0">
                <a:solidFill>
                  <a:schemeClr val="tx2"/>
                </a:solidFill>
              </a:rPr>
              <a:t>Troubleshoot – has keys to all environments</a:t>
            </a:r>
          </a:p>
          <a:p>
            <a:pPr marL="285750" indent="-285750">
              <a:buFont typeface="Arial" panose="020B0604020202020204" pitchFamily="34" charset="0"/>
              <a:buChar char="•"/>
            </a:pPr>
            <a:r>
              <a:rPr lang="en-US" sz="1200" dirty="0">
                <a:solidFill>
                  <a:schemeClr val="tx2"/>
                </a:solidFill>
              </a:rPr>
              <a:t>Document process in wiki for developers to get started in local environment</a:t>
            </a:r>
          </a:p>
        </p:txBody>
      </p:sp>
      <p:sp>
        <p:nvSpPr>
          <p:cNvPr id="3" name="Title 2"/>
          <p:cNvSpPr>
            <a:spLocks noGrp="1"/>
          </p:cNvSpPr>
          <p:nvPr>
            <p:ph type="title"/>
          </p:nvPr>
        </p:nvSpPr>
        <p:spPr>
          <a:xfrm>
            <a:off x="457200" y="92145"/>
            <a:ext cx="8176562" cy="848616"/>
          </a:xfrm>
        </p:spPr>
        <p:txBody>
          <a:bodyPr>
            <a:noAutofit/>
          </a:bodyPr>
          <a:lstStyle/>
          <a:p>
            <a:r>
              <a:rPr lang="en-US" sz="2000" b="1" dirty="0"/>
              <a:t>The Full-Scale Lead Developer have key responsibilities beyond being contributing Developers</a:t>
            </a:r>
          </a:p>
        </p:txBody>
      </p:sp>
    </p:spTree>
    <p:extLst>
      <p:ext uri="{BB962C8B-B14F-4D97-AF65-F5344CB8AC3E}">
        <p14:creationId xmlns:p14="http://schemas.microsoft.com/office/powerpoint/2010/main" val="1273162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67692" y="231569"/>
            <a:ext cx="7776308" cy="708229"/>
          </a:xfrm>
        </p:spPr>
        <p:txBody>
          <a:bodyPr>
            <a:normAutofit/>
          </a:bodyPr>
          <a:lstStyle/>
          <a:p>
            <a:pPr algn="l"/>
            <a:r>
              <a:rPr lang="en-US" sz="2800" b="1" dirty="0"/>
              <a:t>Full Scale Developer </a:t>
            </a:r>
          </a:p>
        </p:txBody>
      </p:sp>
      <p:sp>
        <p:nvSpPr>
          <p:cNvPr id="13" name="Snip Single Corner Rectangle 12"/>
          <p:cNvSpPr/>
          <p:nvPr/>
        </p:nvSpPr>
        <p:spPr>
          <a:xfrm>
            <a:off x="468922" y="1047257"/>
            <a:ext cx="1930400" cy="1272704"/>
          </a:xfrm>
          <a:prstGeom prst="snip1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t>Deliver a story</a:t>
            </a:r>
          </a:p>
          <a:p>
            <a:pPr algn="ctr"/>
            <a:r>
              <a:rPr lang="en-US" b="1" dirty="0"/>
              <a:t>Accept a story</a:t>
            </a:r>
          </a:p>
        </p:txBody>
      </p:sp>
      <p:sp>
        <p:nvSpPr>
          <p:cNvPr id="15" name="Snip Single Corner Rectangle 14"/>
          <p:cNvSpPr/>
          <p:nvPr/>
        </p:nvSpPr>
        <p:spPr>
          <a:xfrm>
            <a:off x="468922" y="3415833"/>
            <a:ext cx="1930400" cy="698734"/>
          </a:xfrm>
          <a:prstGeom prst="snip1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t>Review/Merge a Pull Request</a:t>
            </a:r>
          </a:p>
        </p:txBody>
      </p:sp>
      <p:sp>
        <p:nvSpPr>
          <p:cNvPr id="16" name="Snip Single Corner Rectangle 15"/>
          <p:cNvSpPr/>
          <p:nvPr/>
        </p:nvSpPr>
        <p:spPr>
          <a:xfrm>
            <a:off x="468922" y="2427420"/>
            <a:ext cx="1930400" cy="883139"/>
          </a:xfrm>
          <a:prstGeom prst="snip1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t>Execute Technical Spike</a:t>
            </a:r>
          </a:p>
        </p:txBody>
      </p:sp>
      <p:sp>
        <p:nvSpPr>
          <p:cNvPr id="17" name="Rounded Rectangle 16"/>
          <p:cNvSpPr/>
          <p:nvPr/>
        </p:nvSpPr>
        <p:spPr>
          <a:xfrm>
            <a:off x="4206632" y="1048367"/>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Update story in Scrum Board</a:t>
            </a:r>
          </a:p>
        </p:txBody>
      </p:sp>
      <p:sp>
        <p:nvSpPr>
          <p:cNvPr id="18" name="Rounded Rectangle 17"/>
          <p:cNvSpPr/>
          <p:nvPr/>
        </p:nvSpPr>
        <p:spPr>
          <a:xfrm>
            <a:off x="5810739" y="1048370"/>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Commit tests to feature branch</a:t>
            </a:r>
          </a:p>
        </p:txBody>
      </p:sp>
      <p:sp>
        <p:nvSpPr>
          <p:cNvPr id="20" name="Rounded Rectangle 19"/>
          <p:cNvSpPr/>
          <p:nvPr/>
        </p:nvSpPr>
        <p:spPr>
          <a:xfrm>
            <a:off x="2602525" y="1048368"/>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Commit code change to feature branch</a:t>
            </a:r>
          </a:p>
        </p:txBody>
      </p:sp>
      <p:sp>
        <p:nvSpPr>
          <p:cNvPr id="21" name="Rounded Rectangle 20"/>
          <p:cNvSpPr/>
          <p:nvPr/>
        </p:nvSpPr>
        <p:spPr>
          <a:xfrm>
            <a:off x="7418759" y="1048366"/>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Submit a Pull Request</a:t>
            </a:r>
          </a:p>
        </p:txBody>
      </p:sp>
      <p:sp>
        <p:nvSpPr>
          <p:cNvPr id="22" name="Rounded Rectangle 21"/>
          <p:cNvSpPr/>
          <p:nvPr/>
        </p:nvSpPr>
        <p:spPr>
          <a:xfrm>
            <a:off x="2602525" y="2572564"/>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Alter dev cloud </a:t>
            </a:r>
            <a:r>
              <a:rPr lang="en-US" sz="1200" dirty="0" err="1"/>
              <a:t>config</a:t>
            </a:r>
            <a:r>
              <a:rPr lang="en-US" sz="1200" dirty="0"/>
              <a:t>/app </a:t>
            </a:r>
            <a:r>
              <a:rPr lang="en-US" sz="1200" dirty="0" err="1"/>
              <a:t>env</a:t>
            </a:r>
            <a:endParaRPr lang="en-US" sz="1200" dirty="0"/>
          </a:p>
        </p:txBody>
      </p:sp>
      <p:sp>
        <p:nvSpPr>
          <p:cNvPr id="23" name="Rounded Rectangle 22"/>
          <p:cNvSpPr/>
          <p:nvPr/>
        </p:nvSpPr>
        <p:spPr>
          <a:xfrm>
            <a:off x="5810739" y="3468775"/>
            <a:ext cx="1438030" cy="592851"/>
          </a:xfrm>
          <a:prstGeom prst="roundRect">
            <a:avLst/>
          </a:prstGeom>
          <a:solidFill>
            <a:schemeClr val="accent1">
              <a:lumMod val="40000"/>
              <a:lumOff val="60000"/>
            </a:schemeClr>
          </a:solidFill>
          <a:ln w="19050">
            <a:solidFill>
              <a:schemeClr val="tx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rPr>
              <a:t>Merge changes to master branch</a:t>
            </a:r>
          </a:p>
        </p:txBody>
      </p:sp>
      <p:sp>
        <p:nvSpPr>
          <p:cNvPr id="24" name="Rounded Rectangle 23"/>
          <p:cNvSpPr/>
          <p:nvPr/>
        </p:nvSpPr>
        <p:spPr>
          <a:xfrm>
            <a:off x="4206632" y="2572564"/>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Update spike/gist in Confluence</a:t>
            </a:r>
          </a:p>
        </p:txBody>
      </p:sp>
      <p:sp>
        <p:nvSpPr>
          <p:cNvPr id="25" name="Rounded Rectangle 24"/>
          <p:cNvSpPr/>
          <p:nvPr/>
        </p:nvSpPr>
        <p:spPr>
          <a:xfrm>
            <a:off x="2602525" y="1725999"/>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Update product Wiki / release notes</a:t>
            </a:r>
          </a:p>
        </p:txBody>
      </p:sp>
      <p:sp>
        <p:nvSpPr>
          <p:cNvPr id="27" name="Rounded Rectangle 26"/>
          <p:cNvSpPr/>
          <p:nvPr/>
        </p:nvSpPr>
        <p:spPr>
          <a:xfrm>
            <a:off x="5812696" y="2572564"/>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Commit change to spike branch</a:t>
            </a:r>
          </a:p>
        </p:txBody>
      </p:sp>
      <p:sp>
        <p:nvSpPr>
          <p:cNvPr id="28" name="Snip Single Corner Rectangle 27"/>
          <p:cNvSpPr/>
          <p:nvPr/>
        </p:nvSpPr>
        <p:spPr>
          <a:xfrm>
            <a:off x="468922" y="4208581"/>
            <a:ext cx="1930400" cy="698734"/>
          </a:xfrm>
          <a:prstGeom prst="snip1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t>Troubleshoot</a:t>
            </a:r>
          </a:p>
        </p:txBody>
      </p:sp>
      <p:cxnSp>
        <p:nvCxnSpPr>
          <p:cNvPr id="30" name="Straight Connector 29"/>
          <p:cNvCxnSpPr/>
          <p:nvPr/>
        </p:nvCxnSpPr>
        <p:spPr>
          <a:xfrm>
            <a:off x="476733" y="2372715"/>
            <a:ext cx="848946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468920" y="3366011"/>
            <a:ext cx="848946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472827" y="4164388"/>
            <a:ext cx="848946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ounded Rectangle 33"/>
          <p:cNvSpPr/>
          <p:nvPr/>
        </p:nvSpPr>
        <p:spPr>
          <a:xfrm>
            <a:off x="2602525" y="4261523"/>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View cloud </a:t>
            </a:r>
            <a:r>
              <a:rPr lang="en-US" sz="1200" dirty="0" err="1"/>
              <a:t>config</a:t>
            </a:r>
            <a:r>
              <a:rPr lang="en-US" sz="1200" dirty="0"/>
              <a:t>/</a:t>
            </a:r>
            <a:r>
              <a:rPr lang="en-US" sz="1200" dirty="0" err="1"/>
              <a:t>env</a:t>
            </a:r>
            <a:endParaRPr lang="en-US" sz="1200" dirty="0"/>
          </a:p>
        </p:txBody>
      </p:sp>
      <p:sp>
        <p:nvSpPr>
          <p:cNvPr id="35" name="Rounded Rectangle 34"/>
          <p:cNvSpPr/>
          <p:nvPr/>
        </p:nvSpPr>
        <p:spPr>
          <a:xfrm>
            <a:off x="4206632" y="4261523"/>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View cloud and app logs</a:t>
            </a:r>
          </a:p>
        </p:txBody>
      </p:sp>
      <p:sp>
        <p:nvSpPr>
          <p:cNvPr id="36" name="Rounded Rectangle 35"/>
          <p:cNvSpPr/>
          <p:nvPr/>
        </p:nvSpPr>
        <p:spPr>
          <a:xfrm>
            <a:off x="5810739" y="4261523"/>
            <a:ext cx="1438030" cy="592851"/>
          </a:xfrm>
          <a:prstGeom prst="roundRect">
            <a:avLst/>
          </a:prstGeom>
          <a:solidFill>
            <a:schemeClr val="accent1">
              <a:lumMod val="40000"/>
              <a:lumOff val="60000"/>
            </a:schemeClr>
          </a:solidFill>
          <a:ln w="19050">
            <a:solidFill>
              <a:schemeClr val="tx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rPr>
              <a:t>Alter cloud </a:t>
            </a:r>
            <a:r>
              <a:rPr lang="en-US" sz="1200" dirty="0" err="1">
                <a:solidFill>
                  <a:schemeClr val="tx1"/>
                </a:solidFill>
              </a:rPr>
              <a:t>config</a:t>
            </a:r>
            <a:r>
              <a:rPr lang="en-US" sz="1200" dirty="0">
                <a:solidFill>
                  <a:schemeClr val="tx1"/>
                </a:solidFill>
              </a:rPr>
              <a:t>/app </a:t>
            </a:r>
            <a:r>
              <a:rPr lang="en-US" sz="1200" dirty="0" err="1">
                <a:solidFill>
                  <a:schemeClr val="tx1"/>
                </a:solidFill>
              </a:rPr>
              <a:t>env</a:t>
            </a:r>
            <a:endParaRPr lang="en-US" sz="1200" dirty="0">
              <a:solidFill>
                <a:schemeClr val="tx1"/>
              </a:solidFill>
            </a:endParaRPr>
          </a:p>
        </p:txBody>
      </p:sp>
      <p:sp>
        <p:nvSpPr>
          <p:cNvPr id="29" name="Rounded Rectangle 28"/>
          <p:cNvSpPr/>
          <p:nvPr/>
        </p:nvSpPr>
        <p:spPr>
          <a:xfrm>
            <a:off x="4206632" y="1725160"/>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Provision ad-hoc environment</a:t>
            </a:r>
          </a:p>
        </p:txBody>
      </p:sp>
      <p:sp>
        <p:nvSpPr>
          <p:cNvPr id="31" name="Rounded Rectangle 30"/>
          <p:cNvSpPr/>
          <p:nvPr/>
        </p:nvSpPr>
        <p:spPr>
          <a:xfrm>
            <a:off x="4206632" y="3468775"/>
            <a:ext cx="1438030" cy="592851"/>
          </a:xfrm>
          <a:prstGeom prst="roundRect">
            <a:avLst/>
          </a:prstGeom>
          <a:solidFill>
            <a:schemeClr val="accent1">
              <a:lumMod val="40000"/>
              <a:lumOff val="60000"/>
            </a:schemeClr>
          </a:solidFill>
          <a:ln w="19050">
            <a:solidFill>
              <a:schemeClr val="tx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rPr>
              <a:t>Merge changes to release branch</a:t>
            </a:r>
          </a:p>
        </p:txBody>
      </p:sp>
      <p:sp>
        <p:nvSpPr>
          <p:cNvPr id="37" name="Rounded Rectangle 36"/>
          <p:cNvSpPr/>
          <p:nvPr/>
        </p:nvSpPr>
        <p:spPr>
          <a:xfrm>
            <a:off x="2602525" y="3468775"/>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Merge changes to dev branch</a:t>
            </a:r>
          </a:p>
        </p:txBody>
      </p:sp>
      <p:pic>
        <p:nvPicPr>
          <p:cNvPr id="38" name="Picture 3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922" y="286578"/>
            <a:ext cx="457200" cy="457200"/>
          </a:xfrm>
          <a:prstGeom prst="rect">
            <a:avLst/>
          </a:prstGeom>
        </p:spPr>
      </p:pic>
      <p:pic>
        <p:nvPicPr>
          <p:cNvPr id="39" name="Picture 3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6122" y="288659"/>
            <a:ext cx="457200" cy="457200"/>
          </a:xfrm>
          <a:prstGeom prst="rect">
            <a:avLst/>
          </a:prstGeom>
        </p:spPr>
      </p:pic>
      <p:sp>
        <p:nvSpPr>
          <p:cNvPr id="41" name="Rounded Rectangle 40"/>
          <p:cNvSpPr/>
          <p:nvPr/>
        </p:nvSpPr>
        <p:spPr>
          <a:xfrm>
            <a:off x="5812696" y="1725159"/>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Configure test pipeline stages</a:t>
            </a:r>
          </a:p>
        </p:txBody>
      </p:sp>
      <p:sp>
        <p:nvSpPr>
          <p:cNvPr id="42" name="Rounded Rectangle 41"/>
          <p:cNvSpPr/>
          <p:nvPr/>
        </p:nvSpPr>
        <p:spPr>
          <a:xfrm>
            <a:off x="7444860" y="1720291"/>
            <a:ext cx="1438030" cy="592851"/>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Create a bug</a:t>
            </a:r>
          </a:p>
        </p:txBody>
      </p:sp>
    </p:spTree>
    <p:extLst>
      <p:ext uri="{BB962C8B-B14F-4D97-AF65-F5344CB8AC3E}">
        <p14:creationId xmlns:p14="http://schemas.microsoft.com/office/powerpoint/2010/main" val="4215544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65941"/>
            <a:ext cx="8229600" cy="4228310"/>
          </a:xfrm>
        </p:spPr>
        <p:txBody>
          <a:bodyPr>
            <a:noAutofit/>
          </a:bodyPr>
          <a:lstStyle/>
          <a:p>
            <a:pPr marL="285750" indent="-285750">
              <a:buFont typeface="Arial" panose="020B0604020202020204" pitchFamily="34" charset="0"/>
              <a:buChar char="•"/>
            </a:pPr>
            <a:r>
              <a:rPr lang="en-US" sz="1400" dirty="0"/>
              <a:t>Accountable for their code and delivery</a:t>
            </a:r>
          </a:p>
          <a:p>
            <a:pPr marL="285750" indent="-285750">
              <a:buFont typeface="Arial" panose="020B0604020202020204" pitchFamily="34" charset="0"/>
              <a:buChar char="•"/>
            </a:pPr>
            <a:r>
              <a:rPr lang="en-US" sz="1400" dirty="0"/>
              <a:t>Responsible for analysis, estimating, design, coding, testing</a:t>
            </a:r>
          </a:p>
          <a:p>
            <a:pPr marL="285750" indent="-285750">
              <a:buFont typeface="Arial" panose="020B0604020202020204" pitchFamily="34" charset="0"/>
              <a:buChar char="•"/>
            </a:pPr>
            <a:r>
              <a:rPr lang="en-US" sz="1400" dirty="0"/>
              <a:t>Develop to achieve sprint goals and deliver quality stories</a:t>
            </a:r>
          </a:p>
          <a:p>
            <a:pPr marL="285750" indent="-285750">
              <a:buFont typeface="Arial" panose="020B0604020202020204" pitchFamily="34" charset="0"/>
              <a:buChar char="•"/>
            </a:pPr>
            <a:r>
              <a:rPr lang="en-US" sz="1400" dirty="0"/>
              <a:t>Identify obstacles and inform Scrum Master</a:t>
            </a:r>
          </a:p>
          <a:p>
            <a:pPr marL="285750" indent="-285750">
              <a:buFont typeface="Arial" panose="020B0604020202020204" pitchFamily="34" charset="0"/>
              <a:buChar char="•"/>
            </a:pPr>
            <a:r>
              <a:rPr lang="en-US" sz="1400" dirty="0"/>
              <a:t>Self-organize</a:t>
            </a:r>
          </a:p>
          <a:p>
            <a:pPr marL="285750" indent="-285750">
              <a:buFont typeface="Arial" panose="020B0604020202020204" pitchFamily="34" charset="0"/>
              <a:buChar char="•"/>
            </a:pPr>
            <a:r>
              <a:rPr lang="en-US" sz="1400" dirty="0"/>
              <a:t>Commit test code to a feature branch and manage repository of tests</a:t>
            </a:r>
          </a:p>
          <a:p>
            <a:pPr marL="285750" indent="-285750">
              <a:buFont typeface="Arial" panose="020B0604020202020204" pitchFamily="34" charset="0"/>
              <a:buChar char="•"/>
            </a:pPr>
            <a:r>
              <a:rPr lang="en-US" sz="1400" dirty="0"/>
              <a:t>Submit pull request to merge tests into dev branch and pipeline</a:t>
            </a:r>
          </a:p>
          <a:p>
            <a:pPr marL="285750" indent="-285750">
              <a:buFont typeface="Arial" panose="020B0604020202020204" pitchFamily="34" charset="0"/>
              <a:buChar char="•"/>
            </a:pPr>
            <a:r>
              <a:rPr lang="en-US" sz="1400" dirty="0"/>
              <a:t>Regression testing required to ensure new story implementation does not break previous stories delivered</a:t>
            </a:r>
          </a:p>
          <a:p>
            <a:pPr marL="285750" indent="-285750">
              <a:buFont typeface="Arial" panose="020B0604020202020204" pitchFamily="34" charset="0"/>
              <a:buChar char="•"/>
            </a:pPr>
            <a:r>
              <a:rPr lang="en-US" sz="1400" dirty="0"/>
              <a:t>Update product wiki/release notes</a:t>
            </a:r>
          </a:p>
          <a:p>
            <a:pPr marL="285750" indent="-285750">
              <a:buFont typeface="Arial" panose="020B0604020202020204" pitchFamily="34" charset="0"/>
              <a:buChar char="•"/>
            </a:pPr>
            <a:r>
              <a:rPr lang="en-US" sz="1400" dirty="0"/>
              <a:t>Provision ad-hoc environment for performance testing</a:t>
            </a:r>
          </a:p>
          <a:p>
            <a:pPr marL="285750" indent="-285750">
              <a:buFont typeface="Arial" panose="020B0604020202020204" pitchFamily="34" charset="0"/>
              <a:buChar char="•"/>
            </a:pPr>
            <a:r>
              <a:rPr lang="en-US" sz="1400" dirty="0"/>
              <a:t>Establish a configuration-based method to introduce test into pipeline without altering pipeline</a:t>
            </a:r>
          </a:p>
          <a:p>
            <a:pPr marL="285750" indent="-285750">
              <a:buFont typeface="Arial" panose="020B0604020202020204" pitchFamily="34" charset="0"/>
              <a:buChar char="•"/>
            </a:pPr>
            <a:r>
              <a:rPr lang="en-US" sz="1400" dirty="0"/>
              <a:t>Share in the troubleshooting when stuff breaks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p:txBody>
      </p:sp>
      <p:sp>
        <p:nvSpPr>
          <p:cNvPr id="3" name="Title 2"/>
          <p:cNvSpPr>
            <a:spLocks noGrp="1"/>
          </p:cNvSpPr>
          <p:nvPr>
            <p:ph type="title"/>
          </p:nvPr>
        </p:nvSpPr>
        <p:spPr>
          <a:xfrm>
            <a:off x="457199" y="52187"/>
            <a:ext cx="8229600" cy="994172"/>
          </a:xfrm>
        </p:spPr>
        <p:txBody>
          <a:bodyPr>
            <a:normAutofit/>
          </a:bodyPr>
          <a:lstStyle/>
          <a:p>
            <a:r>
              <a:rPr lang="en-US" sz="2400" b="1" dirty="0"/>
              <a:t>As key performers, Developers do what it takes to deliver stories</a:t>
            </a:r>
          </a:p>
        </p:txBody>
      </p:sp>
    </p:spTree>
    <p:extLst>
      <p:ext uri="{BB962C8B-B14F-4D97-AF65-F5344CB8AC3E}">
        <p14:creationId xmlns:p14="http://schemas.microsoft.com/office/powerpoint/2010/main" val="1056779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67692" y="231569"/>
            <a:ext cx="7776308" cy="708229"/>
          </a:xfrm>
        </p:spPr>
        <p:txBody>
          <a:bodyPr/>
          <a:lstStyle/>
          <a:p>
            <a:pPr algn="l"/>
            <a:r>
              <a:rPr lang="en-US" dirty="0" err="1"/>
              <a:t>DevSecOps</a:t>
            </a:r>
            <a:r>
              <a:rPr lang="en-US" dirty="0"/>
              <a:t> Engineer</a:t>
            </a:r>
          </a:p>
        </p:txBody>
      </p:sp>
      <p:sp>
        <p:nvSpPr>
          <p:cNvPr id="13" name="Snip Single Corner Rectangle 12"/>
          <p:cNvSpPr/>
          <p:nvPr/>
        </p:nvSpPr>
        <p:spPr>
          <a:xfrm>
            <a:off x="468922" y="967629"/>
            <a:ext cx="1930400" cy="1272704"/>
          </a:xfrm>
          <a:prstGeom prst="snip1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dirty="0"/>
              <a:t>Manage CI/CD Pipeline(s)</a:t>
            </a:r>
          </a:p>
        </p:txBody>
      </p:sp>
      <p:sp>
        <p:nvSpPr>
          <p:cNvPr id="15" name="Snip Single Corner Rectangle 14"/>
          <p:cNvSpPr/>
          <p:nvPr/>
        </p:nvSpPr>
        <p:spPr>
          <a:xfrm>
            <a:off x="468922" y="3402182"/>
            <a:ext cx="1930400" cy="698734"/>
          </a:xfrm>
          <a:prstGeom prst="snip1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dirty="0"/>
              <a:t>Manage Cloud Account</a:t>
            </a:r>
          </a:p>
        </p:txBody>
      </p:sp>
      <p:sp>
        <p:nvSpPr>
          <p:cNvPr id="16" name="Snip Single Corner Rectangle 15"/>
          <p:cNvSpPr/>
          <p:nvPr/>
        </p:nvSpPr>
        <p:spPr>
          <a:xfrm>
            <a:off x="468922" y="2369056"/>
            <a:ext cx="1930400" cy="883139"/>
          </a:xfrm>
          <a:prstGeom prst="snip1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dirty="0"/>
              <a:t>Execute Technical Spike</a:t>
            </a:r>
          </a:p>
        </p:txBody>
      </p:sp>
      <p:sp>
        <p:nvSpPr>
          <p:cNvPr id="17" name="Rounded Rectangle 16"/>
          <p:cNvSpPr/>
          <p:nvPr/>
        </p:nvSpPr>
        <p:spPr>
          <a:xfrm>
            <a:off x="4192955" y="968739"/>
            <a:ext cx="1438030" cy="592851"/>
          </a:xfrm>
          <a:prstGeom prst="round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Update task in Scrum Board</a:t>
            </a:r>
          </a:p>
        </p:txBody>
      </p:sp>
      <p:sp>
        <p:nvSpPr>
          <p:cNvPr id="18" name="Rounded Rectangle 17"/>
          <p:cNvSpPr/>
          <p:nvPr/>
        </p:nvSpPr>
        <p:spPr>
          <a:xfrm>
            <a:off x="5783385" y="968742"/>
            <a:ext cx="1438030" cy="592851"/>
          </a:xfrm>
          <a:prstGeom prst="round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Commit change to feature branch</a:t>
            </a:r>
          </a:p>
        </p:txBody>
      </p:sp>
      <p:sp>
        <p:nvSpPr>
          <p:cNvPr id="20" name="Rounded Rectangle 19"/>
          <p:cNvSpPr/>
          <p:nvPr/>
        </p:nvSpPr>
        <p:spPr>
          <a:xfrm>
            <a:off x="2602525" y="968740"/>
            <a:ext cx="1438030" cy="592851"/>
          </a:xfrm>
          <a:prstGeom prst="round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Create CI/CD pipelines for services</a:t>
            </a:r>
          </a:p>
        </p:txBody>
      </p:sp>
      <p:sp>
        <p:nvSpPr>
          <p:cNvPr id="21" name="Rounded Rectangle 20"/>
          <p:cNvSpPr/>
          <p:nvPr/>
        </p:nvSpPr>
        <p:spPr>
          <a:xfrm>
            <a:off x="7366299" y="968738"/>
            <a:ext cx="1438030" cy="592851"/>
          </a:xfrm>
          <a:prstGeom prst="round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Submit a Pull Request</a:t>
            </a:r>
          </a:p>
        </p:txBody>
      </p:sp>
      <p:sp>
        <p:nvSpPr>
          <p:cNvPr id="22" name="Rounded Rectangle 21"/>
          <p:cNvSpPr/>
          <p:nvPr/>
        </p:nvSpPr>
        <p:spPr>
          <a:xfrm>
            <a:off x="2602525" y="2521288"/>
            <a:ext cx="1438030" cy="592851"/>
          </a:xfrm>
          <a:prstGeom prst="round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Alter dev cloud </a:t>
            </a:r>
            <a:r>
              <a:rPr lang="en-US" sz="1200" dirty="0" err="1"/>
              <a:t>config</a:t>
            </a:r>
            <a:r>
              <a:rPr lang="en-US" sz="1200" dirty="0"/>
              <a:t>/</a:t>
            </a:r>
            <a:r>
              <a:rPr lang="en-US" sz="1200" dirty="0" err="1"/>
              <a:t>env</a:t>
            </a:r>
            <a:endParaRPr lang="en-US" sz="1200" dirty="0"/>
          </a:p>
        </p:txBody>
      </p:sp>
      <p:sp>
        <p:nvSpPr>
          <p:cNvPr id="24" name="Rounded Rectangle 23"/>
          <p:cNvSpPr/>
          <p:nvPr/>
        </p:nvSpPr>
        <p:spPr>
          <a:xfrm>
            <a:off x="4192955" y="2514200"/>
            <a:ext cx="1438030" cy="592851"/>
          </a:xfrm>
          <a:prstGeom prst="round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Update spike/gist in wiki</a:t>
            </a:r>
          </a:p>
        </p:txBody>
      </p:sp>
      <p:sp>
        <p:nvSpPr>
          <p:cNvPr id="25" name="Rounded Rectangle 24"/>
          <p:cNvSpPr/>
          <p:nvPr/>
        </p:nvSpPr>
        <p:spPr>
          <a:xfrm>
            <a:off x="2602525" y="1646371"/>
            <a:ext cx="1438030" cy="592851"/>
          </a:xfrm>
          <a:prstGeom prst="round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Update product Wiki / release notes</a:t>
            </a:r>
          </a:p>
        </p:txBody>
      </p:sp>
      <p:sp>
        <p:nvSpPr>
          <p:cNvPr id="27" name="Rounded Rectangle 26"/>
          <p:cNvSpPr/>
          <p:nvPr/>
        </p:nvSpPr>
        <p:spPr>
          <a:xfrm>
            <a:off x="5783385" y="2514200"/>
            <a:ext cx="1438030" cy="592851"/>
          </a:xfrm>
          <a:prstGeom prst="round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Commit change to spike branch</a:t>
            </a:r>
          </a:p>
        </p:txBody>
      </p:sp>
      <p:sp>
        <p:nvSpPr>
          <p:cNvPr id="28" name="Snip Single Corner Rectangle 27"/>
          <p:cNvSpPr/>
          <p:nvPr/>
        </p:nvSpPr>
        <p:spPr>
          <a:xfrm>
            <a:off x="468922" y="4277804"/>
            <a:ext cx="1930400" cy="698734"/>
          </a:xfrm>
          <a:prstGeom prst="snip1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dirty="0"/>
              <a:t>Troubleshoot</a:t>
            </a:r>
          </a:p>
        </p:txBody>
      </p:sp>
      <p:cxnSp>
        <p:nvCxnSpPr>
          <p:cNvPr id="30" name="Straight Connector 29"/>
          <p:cNvCxnSpPr/>
          <p:nvPr/>
        </p:nvCxnSpPr>
        <p:spPr>
          <a:xfrm>
            <a:off x="476733" y="2321439"/>
            <a:ext cx="848946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468920" y="3314735"/>
            <a:ext cx="848946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472827" y="4198173"/>
            <a:ext cx="848946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ounded Rectangle 33"/>
          <p:cNvSpPr/>
          <p:nvPr/>
        </p:nvSpPr>
        <p:spPr>
          <a:xfrm>
            <a:off x="2602525" y="4330746"/>
            <a:ext cx="1438030" cy="592851"/>
          </a:xfrm>
          <a:prstGeom prst="round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View cloud </a:t>
            </a:r>
            <a:r>
              <a:rPr lang="en-US" sz="1200" dirty="0" err="1"/>
              <a:t>config</a:t>
            </a:r>
            <a:r>
              <a:rPr lang="en-US" sz="1200" dirty="0"/>
              <a:t>/</a:t>
            </a:r>
            <a:r>
              <a:rPr lang="en-US" sz="1200" dirty="0" err="1"/>
              <a:t>env</a:t>
            </a:r>
            <a:endParaRPr lang="en-US" sz="1200" dirty="0"/>
          </a:p>
        </p:txBody>
      </p:sp>
      <p:sp>
        <p:nvSpPr>
          <p:cNvPr id="35" name="Rounded Rectangle 34"/>
          <p:cNvSpPr/>
          <p:nvPr/>
        </p:nvSpPr>
        <p:spPr>
          <a:xfrm>
            <a:off x="4192955" y="4330746"/>
            <a:ext cx="1438030" cy="592851"/>
          </a:xfrm>
          <a:prstGeom prst="round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View cloud and app logs/metric/traces</a:t>
            </a:r>
          </a:p>
        </p:txBody>
      </p:sp>
      <p:sp>
        <p:nvSpPr>
          <p:cNvPr id="36" name="Rounded Rectangle 35"/>
          <p:cNvSpPr/>
          <p:nvPr/>
        </p:nvSpPr>
        <p:spPr>
          <a:xfrm>
            <a:off x="5783385" y="4330746"/>
            <a:ext cx="1438030" cy="592851"/>
          </a:xfrm>
          <a:prstGeom prst="round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Alter cloud </a:t>
            </a:r>
            <a:r>
              <a:rPr lang="en-US" sz="1200" dirty="0" err="1"/>
              <a:t>config</a:t>
            </a:r>
            <a:r>
              <a:rPr lang="en-US" sz="1200" dirty="0"/>
              <a:t>/app </a:t>
            </a:r>
            <a:r>
              <a:rPr lang="en-US" sz="1200" dirty="0" err="1"/>
              <a:t>env</a:t>
            </a:r>
            <a:endParaRPr lang="en-US" sz="1200" dirty="0"/>
          </a:p>
        </p:txBody>
      </p:sp>
      <p:sp>
        <p:nvSpPr>
          <p:cNvPr id="26" name="Rounded Rectangle 25"/>
          <p:cNvSpPr/>
          <p:nvPr/>
        </p:nvSpPr>
        <p:spPr>
          <a:xfrm>
            <a:off x="4192955" y="1651233"/>
            <a:ext cx="1438030" cy="592851"/>
          </a:xfrm>
          <a:prstGeom prst="round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Update CI/CD Pipeline</a:t>
            </a:r>
          </a:p>
        </p:txBody>
      </p:sp>
      <p:sp>
        <p:nvSpPr>
          <p:cNvPr id="29" name="Rounded Rectangle 28"/>
          <p:cNvSpPr/>
          <p:nvPr/>
        </p:nvSpPr>
        <p:spPr>
          <a:xfrm>
            <a:off x="2602525" y="3455124"/>
            <a:ext cx="1438030" cy="592851"/>
          </a:xfrm>
          <a:prstGeom prst="round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Configure cloud environment</a:t>
            </a:r>
          </a:p>
        </p:txBody>
      </p:sp>
      <p:sp>
        <p:nvSpPr>
          <p:cNvPr id="31" name="Rounded Rectangle 30"/>
          <p:cNvSpPr/>
          <p:nvPr/>
        </p:nvSpPr>
        <p:spPr>
          <a:xfrm>
            <a:off x="4192955" y="3455124"/>
            <a:ext cx="1438030" cy="592851"/>
          </a:xfrm>
          <a:prstGeom prst="round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Configure cost-saving automation</a:t>
            </a:r>
          </a:p>
        </p:txBody>
      </p:sp>
      <p:sp>
        <p:nvSpPr>
          <p:cNvPr id="37" name="Rounded Rectangle 36"/>
          <p:cNvSpPr/>
          <p:nvPr/>
        </p:nvSpPr>
        <p:spPr>
          <a:xfrm>
            <a:off x="5783385" y="3455124"/>
            <a:ext cx="1438030" cy="592851"/>
          </a:xfrm>
          <a:prstGeom prst="round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rPr>
              <a:t>Manage service accts &amp; keys</a:t>
            </a:r>
          </a:p>
        </p:txBody>
      </p:sp>
      <p:pic>
        <p:nvPicPr>
          <p:cNvPr id="38" name="Picture 3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0492" y="299913"/>
            <a:ext cx="457200" cy="457200"/>
          </a:xfrm>
          <a:prstGeom prst="rect">
            <a:avLst/>
          </a:prstGeom>
        </p:spPr>
      </p:pic>
      <p:sp>
        <p:nvSpPr>
          <p:cNvPr id="39" name="Rounded Rectangle 19">
            <a:extLst>
              <a:ext uri="{FF2B5EF4-FFF2-40B4-BE49-F238E27FC236}">
                <a16:creationId xmlns:a16="http://schemas.microsoft.com/office/drawing/2014/main" id="{B405424D-0B54-48B4-84BE-546FB3248862}"/>
              </a:ext>
            </a:extLst>
          </p:cNvPr>
          <p:cNvSpPr/>
          <p:nvPr/>
        </p:nvSpPr>
        <p:spPr>
          <a:xfrm>
            <a:off x="5783385" y="1654322"/>
            <a:ext cx="1438030" cy="592851"/>
          </a:xfrm>
          <a:prstGeom prst="round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Alter cloud </a:t>
            </a:r>
            <a:r>
              <a:rPr lang="en-US" sz="1200" dirty="0" err="1"/>
              <a:t>config</a:t>
            </a:r>
            <a:r>
              <a:rPr lang="en-US" sz="1200" dirty="0"/>
              <a:t>/</a:t>
            </a:r>
            <a:r>
              <a:rPr lang="en-US" sz="1200" dirty="0" err="1"/>
              <a:t>env</a:t>
            </a:r>
            <a:endParaRPr lang="en-US" sz="1200" dirty="0"/>
          </a:p>
        </p:txBody>
      </p:sp>
      <p:sp>
        <p:nvSpPr>
          <p:cNvPr id="40" name="Rounded Rectangle 26">
            <a:extLst>
              <a:ext uri="{FF2B5EF4-FFF2-40B4-BE49-F238E27FC236}">
                <a16:creationId xmlns:a16="http://schemas.microsoft.com/office/drawing/2014/main" id="{A78E4BAD-0718-477E-8CA5-B7787B7D86BD}"/>
              </a:ext>
            </a:extLst>
          </p:cNvPr>
          <p:cNvSpPr/>
          <p:nvPr/>
        </p:nvSpPr>
        <p:spPr>
          <a:xfrm>
            <a:off x="7366299" y="2514200"/>
            <a:ext cx="1438030" cy="592851"/>
          </a:xfrm>
          <a:prstGeom prst="round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Review Operation Readiness</a:t>
            </a:r>
          </a:p>
        </p:txBody>
      </p:sp>
    </p:spTree>
    <p:extLst>
      <p:ext uri="{BB962C8B-B14F-4D97-AF65-F5344CB8AC3E}">
        <p14:creationId xmlns:p14="http://schemas.microsoft.com/office/powerpoint/2010/main" val="4217811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8259" y="874876"/>
            <a:ext cx="8229600" cy="4124692"/>
          </a:xfrm>
        </p:spPr>
        <p:txBody>
          <a:bodyPr>
            <a:noAutofit/>
          </a:bodyPr>
          <a:lstStyle/>
          <a:p>
            <a:pPr lvl="0"/>
            <a:r>
              <a:rPr lang="en-US" sz="1100" dirty="0"/>
              <a:t>For team:</a:t>
            </a:r>
          </a:p>
          <a:p>
            <a:pPr marL="285750" indent="-285750">
              <a:buFont typeface="Arial" panose="020B0604020202020204" pitchFamily="34" charset="0"/>
              <a:buChar char="•"/>
            </a:pPr>
            <a:r>
              <a:rPr lang="en-US" sz="900" dirty="0"/>
              <a:t>Manage CI/CD pipeline – owns the pipeline soup to nuts</a:t>
            </a:r>
          </a:p>
          <a:p>
            <a:pPr marL="285750" indent="-285750">
              <a:buFont typeface="Arial" panose="020B0604020202020204" pitchFamily="34" charset="0"/>
              <a:buChar char="•"/>
            </a:pPr>
            <a:r>
              <a:rPr lang="en-US" sz="900" dirty="0"/>
              <a:t>Configure environments</a:t>
            </a:r>
          </a:p>
          <a:p>
            <a:pPr marL="285750" indent="-285750">
              <a:buFont typeface="Arial" panose="020B0604020202020204" pitchFamily="34" charset="0"/>
              <a:buChar char="•"/>
            </a:pPr>
            <a:r>
              <a:rPr lang="en-US" sz="900" dirty="0"/>
              <a:t>Commit changes to feature branches for those infrastructure/code artefacts in the pipeline</a:t>
            </a:r>
          </a:p>
          <a:p>
            <a:pPr marL="285750" indent="-285750">
              <a:buFont typeface="Arial" panose="020B0604020202020204" pitchFamily="34" charset="0"/>
              <a:buChar char="•"/>
            </a:pPr>
            <a:r>
              <a:rPr lang="en-US" sz="900" dirty="0"/>
              <a:t>Spike as needed</a:t>
            </a:r>
          </a:p>
          <a:p>
            <a:pPr marL="285750" indent="-285750">
              <a:buFont typeface="Arial" panose="020B0604020202020204" pitchFamily="34" charset="0"/>
              <a:buChar char="•"/>
            </a:pPr>
            <a:r>
              <a:rPr lang="en-US" sz="900" dirty="0"/>
              <a:t>Troubleshoot – has keys to all non-prod environments</a:t>
            </a:r>
          </a:p>
          <a:p>
            <a:pPr marL="285750" indent="-285750">
              <a:buFont typeface="Arial" panose="020B0604020202020204" pitchFamily="34" charset="0"/>
              <a:buChar char="•"/>
            </a:pPr>
            <a:r>
              <a:rPr lang="en-US" sz="900" dirty="0"/>
              <a:t>Manage Cloud Account:</a:t>
            </a:r>
          </a:p>
          <a:p>
            <a:pPr marL="445770" lvl="1" indent="-171450">
              <a:buFont typeface="Arial" panose="020B0604020202020204" pitchFamily="34" charset="0"/>
              <a:buChar char="•"/>
            </a:pPr>
            <a:r>
              <a:rPr lang="en-US" sz="900" dirty="0"/>
              <a:t>Help get team members on and off the dev cycle (buffer work)</a:t>
            </a:r>
          </a:p>
          <a:p>
            <a:pPr marL="445770" lvl="1" indent="-171450">
              <a:buFont typeface="Arial" panose="020B0604020202020204" pitchFamily="34" charset="0"/>
              <a:buChar char="•"/>
            </a:pPr>
            <a:r>
              <a:rPr lang="en-US" sz="900" dirty="0"/>
              <a:t>Generally doing the right things to reduce spend, largely through automation scripts like moving files to glacier after time,.. Trimming log streams or snapshots etc..</a:t>
            </a:r>
          </a:p>
          <a:p>
            <a:pPr marL="445770" lvl="1" indent="-171450">
              <a:buFont typeface="Arial" panose="020B0604020202020204" pitchFamily="34" charset="0"/>
              <a:buChar char="•"/>
            </a:pPr>
            <a:r>
              <a:rPr lang="en-US" sz="900" dirty="0"/>
              <a:t>Toyota Technical Architect will connect the scrum team with admins in charge of managing service accounts and their permissions.</a:t>
            </a:r>
          </a:p>
          <a:p>
            <a:pPr marL="445770" lvl="1" indent="-171450">
              <a:buFont typeface="Arial" panose="020B0604020202020204" pitchFamily="34" charset="0"/>
              <a:buChar char="•"/>
            </a:pPr>
            <a:r>
              <a:rPr lang="en-US" sz="900" dirty="0"/>
              <a:t>Implement broader  cloud governance.</a:t>
            </a:r>
          </a:p>
          <a:p>
            <a:pPr lvl="0"/>
            <a:r>
              <a:rPr lang="en-US" sz="1100" dirty="0"/>
              <a:t>For platform:</a:t>
            </a:r>
          </a:p>
          <a:p>
            <a:pPr marL="285750" lvl="0" indent="-285750">
              <a:buFont typeface="Arial" panose="020B0604020202020204" pitchFamily="34" charset="0"/>
              <a:buChar char="•"/>
            </a:pPr>
            <a:r>
              <a:rPr lang="en-US" sz="900" dirty="0"/>
              <a:t>Design, develop and deploy processes to enable end-to-end automation of cloud infrastructure to support software development teams</a:t>
            </a:r>
          </a:p>
          <a:p>
            <a:pPr marL="285750" lvl="0" indent="-285750">
              <a:buFont typeface="Arial" panose="020B0604020202020204" pitchFamily="34" charset="0"/>
              <a:buChar char="•"/>
            </a:pPr>
            <a:r>
              <a:rPr lang="en-US" sz="900" dirty="0"/>
              <a:t>Contribute towards the long-term vision for IaaS/PaaS solution options in the Cloud (Azure)</a:t>
            </a:r>
          </a:p>
          <a:p>
            <a:pPr marL="285750" lvl="0" indent="-285750">
              <a:buFont typeface="Arial" panose="020B0604020202020204" pitchFamily="34" charset="0"/>
              <a:buChar char="•"/>
            </a:pPr>
            <a:r>
              <a:rPr lang="en-US" sz="900" dirty="0"/>
              <a:t>Provision needed resource and install appropriate software packages –both on premise in our datacenter and on Cloud</a:t>
            </a:r>
          </a:p>
          <a:p>
            <a:pPr marL="285750" lvl="0" indent="-285750">
              <a:buFont typeface="Arial" panose="020B0604020202020204" pitchFamily="34" charset="0"/>
              <a:buChar char="•"/>
            </a:pPr>
            <a:r>
              <a:rPr lang="en-US" sz="900" dirty="0"/>
              <a:t>Manage and deploy periodic milestone &amp; patch releases of software package as needed</a:t>
            </a:r>
          </a:p>
          <a:p>
            <a:pPr marL="285750" lvl="0" indent="-285750">
              <a:buFont typeface="Arial" panose="020B0604020202020204" pitchFamily="34" charset="0"/>
              <a:buChar char="•"/>
            </a:pPr>
            <a:r>
              <a:rPr lang="en-US" sz="900" dirty="0"/>
              <a:t>Implement monitoring and metrics reporting for Cloud utilization</a:t>
            </a:r>
          </a:p>
          <a:p>
            <a:pPr marL="285750" lvl="0" indent="-285750">
              <a:buFont typeface="Arial" panose="020B0604020202020204" pitchFamily="34" charset="0"/>
              <a:buChar char="•"/>
            </a:pPr>
            <a:r>
              <a:rPr lang="en-US" sz="900" dirty="0"/>
              <a:t>Document and manage in supporting application interactions with 3rd party sub-systems</a:t>
            </a:r>
          </a:p>
          <a:p>
            <a:pPr marL="285750" lvl="0" indent="-285750">
              <a:buFont typeface="Arial" panose="020B0604020202020204" pitchFamily="34" charset="0"/>
              <a:buChar char="•"/>
            </a:pPr>
            <a:r>
              <a:rPr lang="en-US" sz="900" dirty="0"/>
              <a:t>Provide support, help test and debug the software, and ensure automated environment provisioning is operating successfully</a:t>
            </a:r>
          </a:p>
        </p:txBody>
      </p:sp>
      <p:sp>
        <p:nvSpPr>
          <p:cNvPr id="3" name="Title 2"/>
          <p:cNvSpPr>
            <a:spLocks noGrp="1"/>
          </p:cNvSpPr>
          <p:nvPr>
            <p:ph type="title"/>
          </p:nvPr>
        </p:nvSpPr>
        <p:spPr>
          <a:xfrm>
            <a:off x="457200" y="143932"/>
            <a:ext cx="8229600" cy="895830"/>
          </a:xfrm>
        </p:spPr>
        <p:txBody>
          <a:bodyPr>
            <a:normAutofit/>
          </a:bodyPr>
          <a:lstStyle/>
          <a:p>
            <a:r>
              <a:rPr lang="en-US" sz="1800" dirty="0"/>
              <a:t>The DevOps Engineer have key responsibilities for the team and platform a whole</a:t>
            </a:r>
          </a:p>
        </p:txBody>
      </p:sp>
    </p:spTree>
    <p:extLst>
      <p:ext uri="{BB962C8B-B14F-4D97-AF65-F5344CB8AC3E}">
        <p14:creationId xmlns:p14="http://schemas.microsoft.com/office/powerpoint/2010/main" val="1631842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3719CF4-6169-4B9F-8748-B4176F5625E0}"/>
              </a:ext>
            </a:extLst>
          </p:cNvPr>
          <p:cNvSpPr/>
          <p:nvPr/>
        </p:nvSpPr>
        <p:spPr>
          <a:xfrm>
            <a:off x="984272" y="409722"/>
            <a:ext cx="2221741" cy="456140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18" dirty="0"/>
          </a:p>
        </p:txBody>
      </p:sp>
      <p:sp>
        <p:nvSpPr>
          <p:cNvPr id="16" name="TextBox 15">
            <a:extLst>
              <a:ext uri="{FF2B5EF4-FFF2-40B4-BE49-F238E27FC236}">
                <a16:creationId xmlns:a16="http://schemas.microsoft.com/office/drawing/2014/main" id="{5E6DC59F-7012-4FA1-AC29-1A5E05966793}"/>
              </a:ext>
            </a:extLst>
          </p:cNvPr>
          <p:cNvSpPr txBox="1"/>
          <p:nvPr/>
        </p:nvSpPr>
        <p:spPr>
          <a:xfrm>
            <a:off x="1064406" y="90093"/>
            <a:ext cx="2918995" cy="302712"/>
          </a:xfrm>
          <a:prstGeom prst="rect">
            <a:avLst/>
          </a:prstGeom>
          <a:noFill/>
        </p:spPr>
        <p:txBody>
          <a:bodyPr wrap="square" rtlCol="0">
            <a:spAutoFit/>
          </a:bodyPr>
          <a:lstStyle/>
          <a:p>
            <a:r>
              <a:rPr lang="en-IN" sz="1367" dirty="0">
                <a:solidFill>
                  <a:srgbClr val="0070C0"/>
                </a:solidFill>
                <a:latin typeface="Raleway SemiBold" pitchFamily="2" charset="0"/>
              </a:rPr>
              <a:t>Product Manager  </a:t>
            </a:r>
            <a:r>
              <a:rPr lang="en-IN" sz="1367" dirty="0">
                <a:latin typeface="Raleway SemiBold" pitchFamily="2" charset="0"/>
              </a:rPr>
              <a:t> </a:t>
            </a:r>
            <a:r>
              <a:rPr lang="en-IN" sz="1367" dirty="0">
                <a:solidFill>
                  <a:srgbClr val="0070C0"/>
                </a:solidFill>
                <a:latin typeface="Raleway SemiBold" pitchFamily="2" charset="0"/>
              </a:rPr>
              <a:t>|</a:t>
            </a:r>
            <a:r>
              <a:rPr lang="en-IN" sz="1367" dirty="0">
                <a:latin typeface="Raleway SemiBold" pitchFamily="2" charset="0"/>
              </a:rPr>
              <a:t>   Siddhesh</a:t>
            </a:r>
          </a:p>
        </p:txBody>
      </p:sp>
      <p:sp>
        <p:nvSpPr>
          <p:cNvPr id="17" name="TextBox 16">
            <a:extLst>
              <a:ext uri="{FF2B5EF4-FFF2-40B4-BE49-F238E27FC236}">
                <a16:creationId xmlns:a16="http://schemas.microsoft.com/office/drawing/2014/main" id="{7F08DF72-6A34-4F54-B864-A22C1CE68FEC}"/>
              </a:ext>
            </a:extLst>
          </p:cNvPr>
          <p:cNvSpPr txBox="1"/>
          <p:nvPr/>
        </p:nvSpPr>
        <p:spPr>
          <a:xfrm>
            <a:off x="1064406" y="497513"/>
            <a:ext cx="2081415" cy="4391780"/>
          </a:xfrm>
          <a:prstGeom prst="rect">
            <a:avLst/>
          </a:prstGeom>
          <a:noFill/>
        </p:spPr>
        <p:txBody>
          <a:bodyPr wrap="square" rtlCol="0">
            <a:spAutoFit/>
          </a:bodyPr>
          <a:lstStyle/>
          <a:p>
            <a:r>
              <a:rPr lang="en-IN" sz="1118" dirty="0">
                <a:latin typeface="Raleway SemiBold" pitchFamily="2" charset="0"/>
              </a:rPr>
              <a:t>Summary</a:t>
            </a:r>
          </a:p>
          <a:p>
            <a:r>
              <a:rPr lang="en-US" sz="745" dirty="0">
                <a:latin typeface="Raleway Medium" panose="020B0604020202020204" pitchFamily="2" charset="0"/>
              </a:rPr>
              <a:t>Has good experience in managing and contributing to all aspects of Product Life Cycle Management including Information architecture ,requirement gathering , functional specifications,  Use Cases , UX Design, scrum management, release  and production support. Applied best project management and technology practices to deliver product releases in agile environment.</a:t>
            </a:r>
            <a:endParaRPr lang="en-IN" sz="1118" dirty="0"/>
          </a:p>
          <a:p>
            <a:r>
              <a:rPr lang="en-IN" sz="1118" dirty="0">
                <a:latin typeface="Raleway SemiBold" pitchFamily="2" charset="0"/>
              </a:rPr>
              <a:t>Expertise</a:t>
            </a:r>
          </a:p>
          <a:p>
            <a:pPr marL="106510" indent="-106510">
              <a:buFont typeface="Arial" panose="020B0604020202020204" pitchFamily="34" charset="0"/>
              <a:buChar char="•"/>
            </a:pPr>
            <a:r>
              <a:rPr lang="en-US" sz="745" dirty="0">
                <a:latin typeface="Raleway Medium" pitchFamily="2" charset="0"/>
              </a:rPr>
              <a:t>Developing, reviewing and executing on established technical road maps and continual product optimizations</a:t>
            </a:r>
          </a:p>
          <a:p>
            <a:pPr marL="106510" indent="-106510">
              <a:buFont typeface="Arial" panose="020B0604020202020204" pitchFamily="34" charset="0"/>
              <a:buChar char="•"/>
            </a:pPr>
            <a:r>
              <a:rPr lang="en-US" sz="745" dirty="0">
                <a:latin typeface="Raleway Medium" pitchFamily="2" charset="0"/>
              </a:rPr>
              <a:t>Leading team members in the delivery of technology solutions which meet business delivery expectations, maintain portfolio currency, and integrate best engineering practices.</a:t>
            </a:r>
          </a:p>
          <a:p>
            <a:pPr marL="106510" indent="-106510">
              <a:buFont typeface="Arial" panose="020B0604020202020204" pitchFamily="34" charset="0"/>
              <a:buChar char="•"/>
            </a:pPr>
            <a:r>
              <a:rPr lang="en-US" sz="745" dirty="0">
                <a:latin typeface="Raleway Medium" pitchFamily="2" charset="0"/>
              </a:rPr>
              <a:t>Work closely with product stakeholders to write complete user stories  including use case , UX design , test case.</a:t>
            </a:r>
          </a:p>
          <a:p>
            <a:pPr marL="106510" indent="-106510">
              <a:buFont typeface="Arial" panose="020B0604020202020204" pitchFamily="34" charset="0"/>
              <a:buChar char="•"/>
            </a:pPr>
            <a:r>
              <a:rPr lang="en-US" sz="745" dirty="0">
                <a:latin typeface="Raleway Medium" pitchFamily="2" charset="0"/>
              </a:rPr>
              <a:t>Manage dev priorities and daily scrum </a:t>
            </a:r>
          </a:p>
          <a:p>
            <a:pPr marL="106510" indent="-106510">
              <a:buFont typeface="Arial" panose="020B0604020202020204" pitchFamily="34" charset="0"/>
              <a:buChar char="•"/>
            </a:pPr>
            <a:r>
              <a:rPr lang="en-US" sz="745" dirty="0">
                <a:latin typeface="Raleway Medium" pitchFamily="2" charset="0"/>
              </a:rPr>
              <a:t>Do risk mitigation and risk contingency for dev projects.</a:t>
            </a:r>
          </a:p>
          <a:p>
            <a:pPr marL="106510" indent="-106510">
              <a:buFont typeface="Arial" panose="020B0604020202020204" pitchFamily="34" charset="0"/>
              <a:buChar char="•"/>
            </a:pPr>
            <a:r>
              <a:rPr lang="en-US" sz="745" dirty="0">
                <a:latin typeface="Raleway Medium" pitchFamily="2" charset="0"/>
              </a:rPr>
              <a:t>Do release management and release documentation.</a:t>
            </a:r>
          </a:p>
          <a:p>
            <a:pPr marL="106510" indent="-106510">
              <a:buFont typeface="Arial" panose="020B0604020202020204" pitchFamily="34" charset="0"/>
              <a:buChar char="•"/>
            </a:pPr>
            <a:r>
              <a:rPr lang="en-US" sz="745" dirty="0">
                <a:latin typeface="Raleway Medium" pitchFamily="2" charset="0"/>
              </a:rPr>
              <a:t>Do product promotion and presales support. </a:t>
            </a:r>
            <a:endParaRPr lang="en-IN" sz="745" dirty="0">
              <a:latin typeface="Raleway Medium" pitchFamily="2" charset="0"/>
            </a:endParaRPr>
          </a:p>
          <a:p>
            <a:pPr marL="106510" indent="-106510">
              <a:buFont typeface="Arial" panose="020B0604020202020204" pitchFamily="34" charset="0"/>
              <a:buChar char="•"/>
            </a:pPr>
            <a:r>
              <a:rPr lang="en-IN" sz="745" dirty="0">
                <a:latin typeface="Raleway ExtraBold" pitchFamily="2" charset="0"/>
              </a:rPr>
              <a:t>Tools Used  </a:t>
            </a:r>
            <a:r>
              <a:rPr lang="en-IN" sz="745" dirty="0">
                <a:latin typeface="Raleway Medium" pitchFamily="2" charset="0"/>
              </a:rPr>
              <a:t>-- Atlassian Jira , Microsoft project , Adobe XD , Microsoft Team Planner, OneNote </a:t>
            </a:r>
          </a:p>
          <a:p>
            <a:r>
              <a:rPr lang="en-IN" sz="1118" dirty="0">
                <a:latin typeface="Raleway SemiBold" pitchFamily="2" charset="0"/>
              </a:rPr>
              <a:t>Qualification</a:t>
            </a:r>
          </a:p>
          <a:p>
            <a:r>
              <a:rPr lang="en-IN" sz="745" dirty="0">
                <a:latin typeface="Raleway Medium" pitchFamily="2" charset="0"/>
              </a:rPr>
              <a:t>Has Master in International Business Management</a:t>
            </a:r>
          </a:p>
        </p:txBody>
      </p:sp>
      <p:sp>
        <p:nvSpPr>
          <p:cNvPr id="18" name="TextBox 17">
            <a:extLst>
              <a:ext uri="{FF2B5EF4-FFF2-40B4-BE49-F238E27FC236}">
                <a16:creationId xmlns:a16="http://schemas.microsoft.com/office/drawing/2014/main" id="{2F7DF6C4-C442-43BD-99B8-D9370A580957}"/>
              </a:ext>
            </a:extLst>
          </p:cNvPr>
          <p:cNvSpPr txBox="1"/>
          <p:nvPr/>
        </p:nvSpPr>
        <p:spPr>
          <a:xfrm>
            <a:off x="3336038" y="908346"/>
            <a:ext cx="4885601" cy="1869423"/>
          </a:xfrm>
          <a:prstGeom prst="rect">
            <a:avLst/>
          </a:prstGeom>
          <a:noFill/>
        </p:spPr>
        <p:txBody>
          <a:bodyPr wrap="square" rtlCol="0">
            <a:spAutoFit/>
          </a:bodyPr>
          <a:lstStyle/>
          <a:p>
            <a:r>
              <a:rPr lang="en-IN" sz="1118" dirty="0">
                <a:latin typeface="Raleway SemiBold" pitchFamily="2" charset="0"/>
              </a:rPr>
              <a:t>Synectiks Appkube Platform</a:t>
            </a:r>
          </a:p>
          <a:p>
            <a:r>
              <a:rPr lang="en-IN" sz="745" dirty="0">
                <a:solidFill>
                  <a:srgbClr val="0070C0"/>
                </a:solidFill>
                <a:latin typeface="Raleway SemiBold" pitchFamily="2" charset="0"/>
              </a:rPr>
              <a:t>(Microsoft Team Planner , Adobe XD , OneNote )</a:t>
            </a:r>
          </a:p>
          <a:p>
            <a:endParaRPr lang="en-IN" sz="745" dirty="0">
              <a:latin typeface="Raleway Medium" pitchFamily="2" charset="0"/>
            </a:endParaRPr>
          </a:p>
          <a:p>
            <a:pPr marL="106510" indent="-106510">
              <a:buFont typeface="Arial" panose="020B0604020202020204" pitchFamily="34" charset="0"/>
              <a:buChar char="•"/>
            </a:pPr>
            <a:r>
              <a:rPr lang="en-US" sz="745" dirty="0">
                <a:latin typeface="Raleway Medium" pitchFamily="2" charset="0"/>
              </a:rPr>
              <a:t>Worked with product stakeholders to define product roadmap and release schedule</a:t>
            </a:r>
          </a:p>
          <a:p>
            <a:pPr marL="106510" indent="-106510">
              <a:buFont typeface="Arial" panose="020B0604020202020204" pitchFamily="34" charset="0"/>
              <a:buChar char="•"/>
            </a:pPr>
            <a:r>
              <a:rPr lang="en-US" sz="745" dirty="0">
                <a:latin typeface="Raleway Medium" pitchFamily="2" charset="0"/>
              </a:rPr>
              <a:t>Worked on writing complete user stories for business use cases.</a:t>
            </a:r>
          </a:p>
          <a:p>
            <a:pPr marL="106510" indent="-106510">
              <a:buFont typeface="Arial" panose="020B0604020202020204" pitchFamily="34" charset="0"/>
              <a:buChar char="•"/>
            </a:pPr>
            <a:r>
              <a:rPr lang="en-US" sz="745" dirty="0">
                <a:latin typeface="Raleway Medium" pitchFamily="2" charset="0"/>
              </a:rPr>
              <a:t>Worked on </a:t>
            </a:r>
            <a:r>
              <a:rPr lang="en-US" sz="745" dirty="0" err="1">
                <a:latin typeface="Raleway Medium" pitchFamily="2" charset="0"/>
              </a:rPr>
              <a:t>Ux</a:t>
            </a:r>
            <a:r>
              <a:rPr lang="en-US" sz="745" dirty="0">
                <a:latin typeface="Raleway Medium" pitchFamily="2" charset="0"/>
              </a:rPr>
              <a:t> Design screen to define complete user experience.</a:t>
            </a:r>
          </a:p>
          <a:p>
            <a:pPr marL="106510" indent="-106510">
              <a:buFont typeface="Arial" panose="020B0604020202020204" pitchFamily="34" charset="0"/>
              <a:buChar char="•"/>
            </a:pPr>
            <a:r>
              <a:rPr lang="en-US" sz="745" dirty="0">
                <a:latin typeface="Raleway Medium" pitchFamily="2" charset="0"/>
              </a:rPr>
              <a:t>Worked on product gap analysis and SWOT analysis and GTM strategies</a:t>
            </a:r>
          </a:p>
          <a:p>
            <a:pPr marL="106510" indent="-106510">
              <a:buFont typeface="Arial" panose="020B0604020202020204" pitchFamily="34" charset="0"/>
              <a:buChar char="•"/>
            </a:pPr>
            <a:r>
              <a:rPr lang="en-US" sz="745" dirty="0">
                <a:latin typeface="Raleway Medium" pitchFamily="2" charset="0"/>
              </a:rPr>
              <a:t>Worked on  information architecture , workflows and BPM processes.  </a:t>
            </a:r>
          </a:p>
          <a:p>
            <a:pPr marL="106510" indent="-106510">
              <a:buFont typeface="Arial" panose="020B0604020202020204" pitchFamily="34" charset="0"/>
              <a:buChar char="•"/>
            </a:pPr>
            <a:r>
              <a:rPr lang="en-US" sz="745" dirty="0">
                <a:latin typeface="Raleway Medium" pitchFamily="2" charset="0"/>
              </a:rPr>
              <a:t>Worked on release management , release note preparation and release verification.</a:t>
            </a:r>
          </a:p>
          <a:p>
            <a:pPr marL="106510" indent="-106510">
              <a:buFont typeface="Arial" panose="020B0604020202020204" pitchFamily="34" charset="0"/>
              <a:buChar char="•"/>
            </a:pPr>
            <a:r>
              <a:rPr lang="en-US" sz="745" dirty="0">
                <a:latin typeface="Raleway Medium" pitchFamily="2" charset="0"/>
              </a:rPr>
              <a:t>Worked on daily scrum management , managed product backlog, </a:t>
            </a:r>
          </a:p>
          <a:p>
            <a:pPr marL="106510" indent="-106510">
              <a:buFont typeface="Arial" panose="020B0604020202020204" pitchFamily="34" charset="0"/>
              <a:buChar char="•"/>
            </a:pPr>
            <a:r>
              <a:rPr lang="en-US" sz="745" dirty="0">
                <a:latin typeface="Raleway Medium" pitchFamily="2" charset="0"/>
              </a:rPr>
              <a:t>Worked on risk mitigation and risk contingencies for any project dependencies , logistics </a:t>
            </a:r>
          </a:p>
          <a:p>
            <a:pPr marL="106510" indent="-106510">
              <a:buFont typeface="Arial" panose="020B0604020202020204" pitchFamily="34" charset="0"/>
              <a:buChar char="•"/>
            </a:pPr>
            <a:r>
              <a:rPr lang="en-US" sz="745" dirty="0">
                <a:latin typeface="Raleway Medium" pitchFamily="2" charset="0"/>
              </a:rPr>
              <a:t>Worked on defining analytics and workflows across the product </a:t>
            </a:r>
          </a:p>
          <a:p>
            <a:pPr marL="106510" indent="-106510">
              <a:buFont typeface="Arial" panose="020B0604020202020204" pitchFamily="34" charset="0"/>
              <a:buChar char="•"/>
            </a:pPr>
            <a:r>
              <a:rPr lang="en-US" sz="745" dirty="0">
                <a:latin typeface="Raleway Medium" pitchFamily="2" charset="0"/>
              </a:rPr>
              <a:t>Worked on managing testcases , test framework </a:t>
            </a:r>
          </a:p>
          <a:p>
            <a:pPr marL="106510" indent="-106510">
              <a:buFont typeface="Arial" panose="020B0604020202020204" pitchFamily="34" charset="0"/>
              <a:buChar char="•"/>
            </a:pPr>
            <a:r>
              <a:rPr lang="en-US" sz="745" dirty="0">
                <a:latin typeface="Raleway Medium" pitchFamily="2" charset="0"/>
              </a:rPr>
              <a:t>Worked on writing product user guide , marketing promotion guide.</a:t>
            </a:r>
          </a:p>
          <a:p>
            <a:pPr marL="106510" indent="-106510">
              <a:buFont typeface="Arial" panose="020B0604020202020204" pitchFamily="34" charset="0"/>
              <a:buChar char="•"/>
            </a:pPr>
            <a:r>
              <a:rPr lang="en-US" sz="745" dirty="0">
                <a:latin typeface="Raleway Medium" pitchFamily="2" charset="0"/>
              </a:rPr>
              <a:t>Worked on presales support for the product</a:t>
            </a:r>
          </a:p>
        </p:txBody>
      </p:sp>
      <p:sp>
        <p:nvSpPr>
          <p:cNvPr id="19" name="TextBox 18">
            <a:extLst>
              <a:ext uri="{FF2B5EF4-FFF2-40B4-BE49-F238E27FC236}">
                <a16:creationId xmlns:a16="http://schemas.microsoft.com/office/drawing/2014/main" id="{3A017297-9CC1-4E3A-B3E1-E59DD550B4F8}"/>
              </a:ext>
            </a:extLst>
          </p:cNvPr>
          <p:cNvSpPr txBox="1"/>
          <p:nvPr/>
        </p:nvSpPr>
        <p:spPr>
          <a:xfrm>
            <a:off x="3305719" y="2931625"/>
            <a:ext cx="4742574" cy="1984069"/>
          </a:xfrm>
          <a:prstGeom prst="rect">
            <a:avLst/>
          </a:prstGeom>
          <a:noFill/>
        </p:spPr>
        <p:txBody>
          <a:bodyPr wrap="square" rtlCol="0">
            <a:spAutoFit/>
          </a:bodyPr>
          <a:lstStyle/>
          <a:p>
            <a:r>
              <a:rPr lang="en-IN" sz="1118" dirty="0">
                <a:latin typeface="Raleway SemiBold" pitchFamily="2" charset="0"/>
              </a:rPr>
              <a:t>Education Management System</a:t>
            </a:r>
          </a:p>
          <a:p>
            <a:r>
              <a:rPr lang="en-IN" sz="745" dirty="0">
                <a:solidFill>
                  <a:srgbClr val="0070C0"/>
                </a:solidFill>
                <a:latin typeface="Raleway SemiBold" pitchFamily="2" charset="0"/>
              </a:rPr>
              <a:t>(Atlassian Jira , Confluence , Adobe XD)</a:t>
            </a:r>
          </a:p>
          <a:p>
            <a:endParaRPr lang="en-IN" sz="745" dirty="0">
              <a:latin typeface="Raleway Medium" pitchFamily="2" charset="0"/>
            </a:endParaRPr>
          </a:p>
          <a:p>
            <a:pPr marL="106510" indent="-106510">
              <a:buFont typeface="Arial" panose="020B0604020202020204" pitchFamily="34" charset="0"/>
              <a:buChar char="•"/>
            </a:pPr>
            <a:r>
              <a:rPr lang="en-US" sz="745" dirty="0">
                <a:latin typeface="Raleway Medium" pitchFamily="2" charset="0"/>
              </a:rPr>
              <a:t>Worked with product stakeholders to define product roadmap and release schedule</a:t>
            </a:r>
          </a:p>
          <a:p>
            <a:pPr marL="106510" indent="-106510">
              <a:buFont typeface="Arial" panose="020B0604020202020204" pitchFamily="34" charset="0"/>
              <a:buChar char="•"/>
            </a:pPr>
            <a:r>
              <a:rPr lang="en-US" sz="745" dirty="0">
                <a:latin typeface="Raleway Medium" pitchFamily="2" charset="0"/>
              </a:rPr>
              <a:t>Worked on writing complete user stories for business use cases.</a:t>
            </a:r>
          </a:p>
          <a:p>
            <a:pPr marL="106510" indent="-106510">
              <a:buFont typeface="Arial" panose="020B0604020202020204" pitchFamily="34" charset="0"/>
              <a:buChar char="•"/>
            </a:pPr>
            <a:r>
              <a:rPr lang="en-US" sz="745" dirty="0">
                <a:latin typeface="Raleway Medium" pitchFamily="2" charset="0"/>
              </a:rPr>
              <a:t>Worked on </a:t>
            </a:r>
            <a:r>
              <a:rPr lang="en-US" sz="745" dirty="0" err="1">
                <a:latin typeface="Raleway Medium" pitchFamily="2" charset="0"/>
              </a:rPr>
              <a:t>Ux</a:t>
            </a:r>
            <a:r>
              <a:rPr lang="en-US" sz="745" dirty="0">
                <a:latin typeface="Raleway Medium" pitchFamily="2" charset="0"/>
              </a:rPr>
              <a:t> Design screen to define complete user experience.</a:t>
            </a:r>
          </a:p>
          <a:p>
            <a:pPr marL="106510" indent="-106510">
              <a:buFont typeface="Arial" panose="020B0604020202020204" pitchFamily="34" charset="0"/>
              <a:buChar char="•"/>
            </a:pPr>
            <a:r>
              <a:rPr lang="en-US" sz="745" dirty="0">
                <a:latin typeface="Raleway Medium" pitchFamily="2" charset="0"/>
              </a:rPr>
              <a:t>Worked on product gap analysis and SWOT analysis and GTM strategies</a:t>
            </a:r>
          </a:p>
          <a:p>
            <a:pPr marL="106510" indent="-106510">
              <a:buFont typeface="Arial" panose="020B0604020202020204" pitchFamily="34" charset="0"/>
              <a:buChar char="•"/>
            </a:pPr>
            <a:r>
              <a:rPr lang="en-US" sz="745" dirty="0">
                <a:latin typeface="Raleway Medium" pitchFamily="2" charset="0"/>
              </a:rPr>
              <a:t>Worked on  information architecture , workflows and BPM processes.  </a:t>
            </a:r>
          </a:p>
          <a:p>
            <a:pPr marL="106510" indent="-106510">
              <a:buFont typeface="Arial" panose="020B0604020202020204" pitchFamily="34" charset="0"/>
              <a:buChar char="•"/>
            </a:pPr>
            <a:r>
              <a:rPr lang="en-US" sz="745" dirty="0">
                <a:latin typeface="Raleway Medium" pitchFamily="2" charset="0"/>
              </a:rPr>
              <a:t>Worked on release management , release note preparation and release verification.</a:t>
            </a:r>
          </a:p>
          <a:p>
            <a:pPr marL="106510" indent="-106510">
              <a:buFont typeface="Arial" panose="020B0604020202020204" pitchFamily="34" charset="0"/>
              <a:buChar char="•"/>
            </a:pPr>
            <a:r>
              <a:rPr lang="en-US" sz="745" dirty="0">
                <a:latin typeface="Raleway Medium" pitchFamily="2" charset="0"/>
              </a:rPr>
              <a:t>Worked on daily scrum management , managed product backlog, </a:t>
            </a:r>
          </a:p>
          <a:p>
            <a:pPr marL="106510" indent="-106510">
              <a:buFont typeface="Arial" panose="020B0604020202020204" pitchFamily="34" charset="0"/>
              <a:buChar char="•"/>
            </a:pPr>
            <a:r>
              <a:rPr lang="en-US" sz="745" dirty="0">
                <a:latin typeface="Raleway Medium" pitchFamily="2" charset="0"/>
              </a:rPr>
              <a:t>Worked on risk mitigation and risk contingencies for any project dependencies , logistics </a:t>
            </a:r>
          </a:p>
          <a:p>
            <a:pPr marL="106510" indent="-106510">
              <a:buFont typeface="Arial" panose="020B0604020202020204" pitchFamily="34" charset="0"/>
              <a:buChar char="•"/>
            </a:pPr>
            <a:r>
              <a:rPr lang="en-US" sz="745" dirty="0">
                <a:latin typeface="Raleway Medium" pitchFamily="2" charset="0"/>
              </a:rPr>
              <a:t>Worked on defining analytics and workflows across the product </a:t>
            </a:r>
          </a:p>
          <a:p>
            <a:pPr marL="106510" indent="-106510">
              <a:buFont typeface="Arial" panose="020B0604020202020204" pitchFamily="34" charset="0"/>
              <a:buChar char="•"/>
            </a:pPr>
            <a:r>
              <a:rPr lang="en-US" sz="745" dirty="0">
                <a:latin typeface="Raleway Medium" pitchFamily="2" charset="0"/>
              </a:rPr>
              <a:t>Worked on managing testcases , test framework </a:t>
            </a:r>
          </a:p>
          <a:p>
            <a:pPr marL="106510" indent="-106510">
              <a:buFont typeface="Arial" panose="020B0604020202020204" pitchFamily="34" charset="0"/>
              <a:buChar char="•"/>
            </a:pPr>
            <a:r>
              <a:rPr lang="en-US" sz="745" dirty="0">
                <a:latin typeface="Raleway Medium" pitchFamily="2" charset="0"/>
              </a:rPr>
              <a:t>Worked on writing product user guide , marketing promotion guide.</a:t>
            </a:r>
          </a:p>
          <a:p>
            <a:pPr marL="106510" indent="-106510">
              <a:buFont typeface="Arial" panose="020B0604020202020204" pitchFamily="34" charset="0"/>
              <a:buChar char="•"/>
            </a:pPr>
            <a:r>
              <a:rPr lang="en-US" sz="745" dirty="0">
                <a:latin typeface="Raleway Medium" pitchFamily="2" charset="0"/>
              </a:rPr>
              <a:t>Worked on presales support for the product</a:t>
            </a:r>
          </a:p>
          <a:p>
            <a:endParaRPr lang="en-US" sz="745" dirty="0">
              <a:latin typeface="Raleway Medium" pitchFamily="2" charset="0"/>
            </a:endParaRPr>
          </a:p>
        </p:txBody>
      </p:sp>
      <p:sp>
        <p:nvSpPr>
          <p:cNvPr id="20" name="Rectangle 19">
            <a:extLst>
              <a:ext uri="{FF2B5EF4-FFF2-40B4-BE49-F238E27FC236}">
                <a16:creationId xmlns:a16="http://schemas.microsoft.com/office/drawing/2014/main" id="{82826717-78D8-4D38-BDEC-7C607E613AFA}"/>
              </a:ext>
            </a:extLst>
          </p:cNvPr>
          <p:cNvSpPr/>
          <p:nvPr/>
        </p:nvSpPr>
        <p:spPr>
          <a:xfrm>
            <a:off x="3195269" y="409722"/>
            <a:ext cx="4963475" cy="416089"/>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18" dirty="0"/>
          </a:p>
        </p:txBody>
      </p:sp>
      <p:sp>
        <p:nvSpPr>
          <p:cNvPr id="21" name="TextBox 20">
            <a:extLst>
              <a:ext uri="{FF2B5EF4-FFF2-40B4-BE49-F238E27FC236}">
                <a16:creationId xmlns:a16="http://schemas.microsoft.com/office/drawing/2014/main" id="{EF6F2C2C-28C4-4BA9-8C16-39AFFF93DBFD}"/>
              </a:ext>
            </a:extLst>
          </p:cNvPr>
          <p:cNvSpPr txBox="1"/>
          <p:nvPr/>
        </p:nvSpPr>
        <p:spPr>
          <a:xfrm>
            <a:off x="3336037" y="497513"/>
            <a:ext cx="2014526" cy="264368"/>
          </a:xfrm>
          <a:prstGeom prst="rect">
            <a:avLst/>
          </a:prstGeom>
          <a:noFill/>
        </p:spPr>
        <p:txBody>
          <a:bodyPr wrap="square" rtlCol="0">
            <a:spAutoFit/>
          </a:bodyPr>
          <a:lstStyle/>
          <a:p>
            <a:r>
              <a:rPr lang="en-IN" sz="1118" dirty="0">
                <a:solidFill>
                  <a:schemeClr val="bg1"/>
                </a:solidFill>
                <a:latin typeface="Raleway SemiBold" pitchFamily="2" charset="0"/>
              </a:rPr>
              <a:t>Recent Engagements</a:t>
            </a:r>
            <a:endParaRPr lang="en-IN" sz="745" dirty="0">
              <a:solidFill>
                <a:schemeClr val="bg1"/>
              </a:solidFill>
              <a:latin typeface="Raleway SemiBold" pitchFamily="2" charset="0"/>
            </a:endParaRPr>
          </a:p>
        </p:txBody>
      </p:sp>
    </p:spTree>
    <p:extLst>
      <p:ext uri="{BB962C8B-B14F-4D97-AF65-F5344CB8AC3E}">
        <p14:creationId xmlns:p14="http://schemas.microsoft.com/office/powerpoint/2010/main" val="1266523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3719CF4-6169-4B9F-8748-B4176F5625E0}"/>
              </a:ext>
            </a:extLst>
          </p:cNvPr>
          <p:cNvSpPr/>
          <p:nvPr/>
        </p:nvSpPr>
        <p:spPr>
          <a:xfrm>
            <a:off x="984273" y="409722"/>
            <a:ext cx="2210996" cy="47337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18" dirty="0"/>
          </a:p>
        </p:txBody>
      </p:sp>
      <p:sp>
        <p:nvSpPr>
          <p:cNvPr id="16" name="TextBox 15">
            <a:extLst>
              <a:ext uri="{FF2B5EF4-FFF2-40B4-BE49-F238E27FC236}">
                <a16:creationId xmlns:a16="http://schemas.microsoft.com/office/drawing/2014/main" id="{5E6DC59F-7012-4FA1-AC29-1A5E05966793}"/>
              </a:ext>
            </a:extLst>
          </p:cNvPr>
          <p:cNvSpPr txBox="1"/>
          <p:nvPr/>
        </p:nvSpPr>
        <p:spPr>
          <a:xfrm>
            <a:off x="1064406" y="90093"/>
            <a:ext cx="2918995" cy="302712"/>
          </a:xfrm>
          <a:prstGeom prst="rect">
            <a:avLst/>
          </a:prstGeom>
          <a:noFill/>
        </p:spPr>
        <p:txBody>
          <a:bodyPr wrap="square" rtlCol="0">
            <a:spAutoFit/>
          </a:bodyPr>
          <a:lstStyle/>
          <a:p>
            <a:r>
              <a:rPr lang="en-IN" sz="1367" dirty="0">
                <a:solidFill>
                  <a:srgbClr val="0070C0"/>
                </a:solidFill>
                <a:latin typeface="Raleway SemiBold" pitchFamily="2" charset="0"/>
              </a:rPr>
              <a:t>DevOps Tech Lead  </a:t>
            </a:r>
            <a:r>
              <a:rPr lang="en-IN" sz="1367" dirty="0">
                <a:latin typeface="Raleway SemiBold" pitchFamily="2" charset="0"/>
              </a:rPr>
              <a:t> </a:t>
            </a:r>
            <a:r>
              <a:rPr lang="en-IN" sz="1367" dirty="0">
                <a:solidFill>
                  <a:srgbClr val="0070C0"/>
                </a:solidFill>
                <a:latin typeface="Raleway SemiBold" pitchFamily="2" charset="0"/>
              </a:rPr>
              <a:t>|</a:t>
            </a:r>
            <a:r>
              <a:rPr lang="en-IN" sz="1367" dirty="0">
                <a:latin typeface="Raleway SemiBold" pitchFamily="2" charset="0"/>
              </a:rPr>
              <a:t>   Shahbaz</a:t>
            </a:r>
          </a:p>
        </p:txBody>
      </p:sp>
      <p:sp>
        <p:nvSpPr>
          <p:cNvPr id="17" name="TextBox 16">
            <a:extLst>
              <a:ext uri="{FF2B5EF4-FFF2-40B4-BE49-F238E27FC236}">
                <a16:creationId xmlns:a16="http://schemas.microsoft.com/office/drawing/2014/main" id="{7F08DF72-6A34-4F54-B864-A22C1CE68FEC}"/>
              </a:ext>
            </a:extLst>
          </p:cNvPr>
          <p:cNvSpPr txBox="1"/>
          <p:nvPr/>
        </p:nvSpPr>
        <p:spPr>
          <a:xfrm>
            <a:off x="984272" y="409723"/>
            <a:ext cx="2210997" cy="5251822"/>
          </a:xfrm>
          <a:prstGeom prst="rect">
            <a:avLst/>
          </a:prstGeom>
          <a:noFill/>
        </p:spPr>
        <p:txBody>
          <a:bodyPr wrap="square" rtlCol="0">
            <a:spAutoFit/>
          </a:bodyPr>
          <a:lstStyle/>
          <a:p>
            <a:r>
              <a:rPr lang="en-IN" sz="1118" dirty="0">
                <a:latin typeface="Raleway SemiBold" pitchFamily="2" charset="0"/>
              </a:rPr>
              <a:t>Summary</a:t>
            </a:r>
          </a:p>
          <a:p>
            <a:pPr algn="just"/>
            <a:r>
              <a:rPr lang="en-US" sz="745" dirty="0">
                <a:latin typeface="Raleway Medium" panose="020B0604020202020204" pitchFamily="2" charset="0"/>
              </a:rPr>
              <a:t>Has good experience in managing and contributing to all aspects of cloud automation including automated  infrastructure provisioning, container and Kubernetes automation , complete product lifecycle along with security and operation. Applied best DevSecOps practices to manage microservices based services in cloud native environment.</a:t>
            </a:r>
            <a:endParaRPr lang="en-IN" sz="1118" dirty="0"/>
          </a:p>
          <a:p>
            <a:endParaRPr lang="en-IN" sz="1118" dirty="0">
              <a:latin typeface="Raleway SemiBold" pitchFamily="2" charset="0"/>
            </a:endParaRPr>
          </a:p>
          <a:p>
            <a:r>
              <a:rPr lang="en-IN" sz="1118" dirty="0">
                <a:latin typeface="Raleway SemiBold" pitchFamily="2" charset="0"/>
              </a:rPr>
              <a:t>Expertise</a:t>
            </a:r>
          </a:p>
          <a:p>
            <a:pPr marL="106510" indent="-106510">
              <a:buFont typeface="Arial" panose="020B0604020202020204" pitchFamily="34" charset="0"/>
              <a:buChar char="•"/>
            </a:pPr>
            <a:r>
              <a:rPr lang="en-US" sz="745" dirty="0">
                <a:latin typeface="Raleway Medium" pitchFamily="2" charset="0"/>
              </a:rPr>
              <a:t>Automate container-based services lifecycle in multi cloud Kubernetes environment</a:t>
            </a:r>
          </a:p>
          <a:p>
            <a:pPr marL="106510" indent="-106510">
              <a:buFont typeface="Arial" panose="020B0604020202020204" pitchFamily="34" charset="0"/>
              <a:buChar char="•"/>
            </a:pPr>
            <a:r>
              <a:rPr lang="en-US" sz="745" dirty="0">
                <a:latin typeface="Raleway Medium" pitchFamily="2" charset="0"/>
              </a:rPr>
              <a:t>Leading DevOps team members  to write CI/CD, operation and security automation in Kubernetes environment. </a:t>
            </a:r>
          </a:p>
          <a:p>
            <a:pPr marL="106510" indent="-106510">
              <a:buFont typeface="Arial" panose="020B0604020202020204" pitchFamily="34" charset="0"/>
              <a:buChar char="•"/>
            </a:pPr>
            <a:r>
              <a:rPr lang="en-US" sz="745" dirty="0">
                <a:latin typeface="Raleway Medium" pitchFamily="2" charset="0"/>
              </a:rPr>
              <a:t>Write terraform automations and libraries to perform software defined provisioning.</a:t>
            </a:r>
          </a:p>
          <a:p>
            <a:pPr marL="106510" indent="-106510">
              <a:buFont typeface="Arial" panose="020B0604020202020204" pitchFamily="34" charset="0"/>
              <a:buChar char="•"/>
            </a:pPr>
            <a:r>
              <a:rPr lang="en-US" sz="745" dirty="0">
                <a:latin typeface="Raleway Medium" pitchFamily="2" charset="0"/>
              </a:rPr>
              <a:t>Do cloud architecture with AWS , Azure ,GCP based  cloud services. </a:t>
            </a:r>
          </a:p>
          <a:p>
            <a:pPr marL="106510" indent="-106510">
              <a:buFont typeface="Arial" panose="020B0604020202020204" pitchFamily="34" charset="0"/>
              <a:buChar char="•"/>
            </a:pPr>
            <a:r>
              <a:rPr lang="en-US" sz="745" dirty="0">
                <a:latin typeface="Raleway Medium" pitchFamily="2" charset="0"/>
              </a:rPr>
              <a:t>Manage security and operation aspects of cloud services </a:t>
            </a:r>
          </a:p>
          <a:p>
            <a:pPr marL="106510" indent="-106510">
              <a:buFont typeface="Arial" panose="020B0604020202020204" pitchFamily="34" charset="0"/>
              <a:buChar char="•"/>
            </a:pPr>
            <a:r>
              <a:rPr lang="en-US" sz="745" dirty="0">
                <a:latin typeface="Raleway Medium" pitchFamily="2" charset="0"/>
              </a:rPr>
              <a:t>Write serverless automation in cloud</a:t>
            </a:r>
          </a:p>
          <a:p>
            <a:pPr marL="106510" indent="-106510">
              <a:buFont typeface="Arial" panose="020B0604020202020204" pitchFamily="34" charset="0"/>
              <a:buChar char="•"/>
            </a:pPr>
            <a:r>
              <a:rPr lang="en-US" sz="745" dirty="0">
                <a:latin typeface="Raleway Medium" pitchFamily="2" charset="0"/>
              </a:rPr>
              <a:t>Do cloud migration and application refactoring. </a:t>
            </a:r>
          </a:p>
          <a:p>
            <a:pPr marL="106510" indent="-106510">
              <a:buFont typeface="Arial" panose="020B0604020202020204" pitchFamily="34" charset="0"/>
              <a:buChar char="•"/>
            </a:pPr>
            <a:endParaRPr lang="en-US" sz="745" dirty="0">
              <a:latin typeface="Raleway Medium" pitchFamily="2" charset="0"/>
            </a:endParaRPr>
          </a:p>
          <a:p>
            <a:pPr marL="106510" indent="-106510">
              <a:buFont typeface="Arial" panose="020B0604020202020204" pitchFamily="34" charset="0"/>
              <a:buChar char="•"/>
            </a:pPr>
            <a:r>
              <a:rPr lang="en-IN" sz="745" dirty="0">
                <a:latin typeface="Raleway ExtraBold" pitchFamily="2" charset="0"/>
              </a:rPr>
              <a:t>Tools Used  </a:t>
            </a:r>
            <a:r>
              <a:rPr lang="en-IN" sz="745" dirty="0">
                <a:latin typeface="Raleway Medium" pitchFamily="2" charset="0"/>
              </a:rPr>
              <a:t>-- Terraform, Docker, Kubernetes, AWS, Python, Tekton, Jenkin, Jenkin-x, Git, Prometheus, Grafana</a:t>
            </a:r>
          </a:p>
          <a:p>
            <a:pPr marL="106510" indent="-106510">
              <a:buFont typeface="Arial" panose="020B0604020202020204" pitchFamily="34" charset="0"/>
              <a:buChar char="•"/>
            </a:pPr>
            <a:r>
              <a:rPr lang="en-IN" sz="745" dirty="0">
                <a:latin typeface="Raleway ExtraBold" pitchFamily="2" charset="0"/>
              </a:rPr>
              <a:t>Cloud Used </a:t>
            </a:r>
            <a:r>
              <a:rPr lang="en-IN" sz="745" dirty="0">
                <a:latin typeface="Raleway Medium" pitchFamily="2" charset="0"/>
              </a:rPr>
              <a:t>– AWS, Azure, GCP, Microk8s</a:t>
            </a:r>
            <a:endParaRPr lang="en-IN" sz="1118" dirty="0">
              <a:latin typeface="Raleway SemiBold" pitchFamily="2" charset="0"/>
            </a:endParaRPr>
          </a:p>
          <a:p>
            <a:r>
              <a:rPr lang="en-IN" sz="1118" dirty="0">
                <a:latin typeface="Raleway SemiBold" pitchFamily="2" charset="0"/>
              </a:rPr>
              <a:t>Qualification</a:t>
            </a:r>
          </a:p>
          <a:p>
            <a:r>
              <a:rPr lang="en-IN" sz="745" dirty="0">
                <a:latin typeface="Raleway Medium" pitchFamily="2" charset="0"/>
              </a:rPr>
              <a:t>Has Bachelor Degree in Computer Science</a:t>
            </a:r>
          </a:p>
          <a:p>
            <a:endParaRPr lang="en-IN" sz="1118" dirty="0">
              <a:latin typeface="Raleway SemiBold" pitchFamily="2" charset="0"/>
            </a:endParaRPr>
          </a:p>
          <a:p>
            <a:r>
              <a:rPr lang="en-IN" sz="1118" dirty="0">
                <a:latin typeface="Raleway SemiBold" pitchFamily="2" charset="0"/>
              </a:rPr>
              <a:t>Certification</a:t>
            </a:r>
          </a:p>
          <a:p>
            <a:r>
              <a:rPr lang="en-US" sz="745" dirty="0">
                <a:latin typeface="Raleway Medium" pitchFamily="2" charset="0"/>
              </a:rPr>
              <a:t>Certified Kubernetes Application Developer</a:t>
            </a:r>
          </a:p>
          <a:p>
            <a:r>
              <a:rPr lang="en-US" sz="745" dirty="0">
                <a:latin typeface="Raleway Medium" pitchFamily="2" charset="0"/>
              </a:rPr>
              <a:t>AWS Certified Solutions Architect</a:t>
            </a:r>
          </a:p>
          <a:p>
            <a:r>
              <a:rPr lang="en-US" sz="745" dirty="0">
                <a:latin typeface="Raleway Medium" pitchFamily="2" charset="0"/>
              </a:rPr>
              <a:t>Red-hat accredited IAAS</a:t>
            </a:r>
          </a:p>
          <a:p>
            <a:r>
              <a:rPr lang="en-US" sz="745" dirty="0">
                <a:latin typeface="Raleway Medium" pitchFamily="2" charset="0"/>
              </a:rPr>
              <a:t>VMWare Certified Cloud Associate </a:t>
            </a:r>
          </a:p>
          <a:p>
            <a:endParaRPr lang="en-US" sz="745" dirty="0">
              <a:latin typeface="Raleway Medium" pitchFamily="2" charset="0"/>
            </a:endParaRPr>
          </a:p>
          <a:p>
            <a:endParaRPr lang="en-IN" sz="745" dirty="0">
              <a:latin typeface="Raleway Medium" pitchFamily="2" charset="0"/>
            </a:endParaRPr>
          </a:p>
        </p:txBody>
      </p:sp>
      <p:sp>
        <p:nvSpPr>
          <p:cNvPr id="18" name="TextBox 17">
            <a:extLst>
              <a:ext uri="{FF2B5EF4-FFF2-40B4-BE49-F238E27FC236}">
                <a16:creationId xmlns:a16="http://schemas.microsoft.com/office/drawing/2014/main" id="{2F7DF6C4-C442-43BD-99B8-D9370A580957}"/>
              </a:ext>
            </a:extLst>
          </p:cNvPr>
          <p:cNvSpPr txBox="1"/>
          <p:nvPr/>
        </p:nvSpPr>
        <p:spPr>
          <a:xfrm>
            <a:off x="3234206" y="856000"/>
            <a:ext cx="4885601" cy="1754776"/>
          </a:xfrm>
          <a:prstGeom prst="rect">
            <a:avLst/>
          </a:prstGeom>
          <a:noFill/>
        </p:spPr>
        <p:txBody>
          <a:bodyPr wrap="square" rtlCol="0">
            <a:spAutoFit/>
          </a:bodyPr>
          <a:lstStyle/>
          <a:p>
            <a:r>
              <a:rPr lang="en-IN" sz="1118" dirty="0">
                <a:latin typeface="Raleway SemiBold" pitchFamily="2" charset="0"/>
              </a:rPr>
              <a:t>Synectiks Appkube Platform</a:t>
            </a:r>
          </a:p>
          <a:p>
            <a:r>
              <a:rPr lang="en-IN" sz="745" dirty="0">
                <a:solidFill>
                  <a:srgbClr val="0070C0"/>
                </a:solidFill>
                <a:latin typeface="Raleway SemiBold" pitchFamily="2" charset="0"/>
              </a:rPr>
              <a:t>(AWS, Kubernetes, Docker, Terraform, Tekton, Jenkin-X, Python, Lambda, Cloud Formation, Shell)</a:t>
            </a:r>
          </a:p>
          <a:p>
            <a:endParaRPr lang="en-IN" sz="745" dirty="0">
              <a:latin typeface="Raleway Medium" pitchFamily="2" charset="0"/>
            </a:endParaRPr>
          </a:p>
          <a:p>
            <a:pPr marL="106510" indent="-106510">
              <a:buFont typeface="Arial" panose="020B0604020202020204" pitchFamily="34" charset="0"/>
              <a:buChar char="•"/>
            </a:pPr>
            <a:r>
              <a:rPr lang="en-US" sz="745" dirty="0">
                <a:latin typeface="Raleway Medium" pitchFamily="2" charset="0"/>
              </a:rPr>
              <a:t>Worked on writing terraform modules to provision highly secure configurable Kubernetes cluster across cloud</a:t>
            </a:r>
          </a:p>
          <a:p>
            <a:pPr marL="106510" indent="-106510">
              <a:buFont typeface="Arial" panose="020B0604020202020204" pitchFamily="34" charset="0"/>
              <a:buChar char="•"/>
            </a:pPr>
            <a:r>
              <a:rPr lang="en-US" sz="745" dirty="0">
                <a:latin typeface="Raleway Medium" pitchFamily="2" charset="0"/>
              </a:rPr>
              <a:t>Worked on applying Kubernetes storage and network services to provision service delivery framework.</a:t>
            </a:r>
          </a:p>
          <a:p>
            <a:pPr marL="106510" indent="-106510">
              <a:buFont typeface="Arial" panose="020B0604020202020204" pitchFamily="34" charset="0"/>
              <a:buChar char="•"/>
            </a:pPr>
            <a:r>
              <a:rPr lang="en-US" sz="745" dirty="0">
                <a:latin typeface="Raleway Medium" pitchFamily="2" charset="0"/>
              </a:rPr>
              <a:t>Worked on Kubernetes Teton CI/CD framework to do services CI/CD automation</a:t>
            </a:r>
          </a:p>
          <a:p>
            <a:pPr marL="106510" indent="-106510">
              <a:buFont typeface="Arial" panose="020B0604020202020204" pitchFamily="34" charset="0"/>
              <a:buChar char="•"/>
            </a:pPr>
            <a:r>
              <a:rPr lang="en-US" sz="745" dirty="0">
                <a:latin typeface="Raleway Medium" pitchFamily="2" charset="0"/>
              </a:rPr>
              <a:t>Worked on Kubernetes operator framework to provision services in Kubernetes</a:t>
            </a:r>
          </a:p>
          <a:p>
            <a:pPr marL="106510" indent="-106510">
              <a:buFont typeface="Arial" panose="020B0604020202020204" pitchFamily="34" charset="0"/>
              <a:buChar char="•"/>
            </a:pPr>
            <a:r>
              <a:rPr lang="en-US" sz="745" dirty="0">
                <a:latin typeface="Raleway Medium" pitchFamily="2" charset="0"/>
              </a:rPr>
              <a:t>Actively manage, improve, and monitor cloud infrastructure on AWS, EC2, ECS, S3, ES, RDS, LAMDA, ROUTE53, IAM including scaling and automation.</a:t>
            </a:r>
          </a:p>
          <a:p>
            <a:pPr marL="106510" indent="-106510">
              <a:buFont typeface="Arial" panose="020B0604020202020204" pitchFamily="34" charset="0"/>
              <a:buChar char="•"/>
            </a:pPr>
            <a:r>
              <a:rPr lang="en-US" sz="745" dirty="0">
                <a:latin typeface="Raleway Medium" pitchFamily="2" charset="0"/>
              </a:rPr>
              <a:t>Built Python Based Cli Automation scripts to implement compliance standards like CISP / PCI - DSS / HIPPA for AWS continuous security audits.</a:t>
            </a:r>
          </a:p>
          <a:p>
            <a:pPr marL="106510" indent="-106510">
              <a:buFont typeface="Arial" panose="020B0604020202020204" pitchFamily="34" charset="0"/>
              <a:buChar char="•"/>
            </a:pPr>
            <a:r>
              <a:rPr lang="en-US" sz="745" dirty="0">
                <a:latin typeface="Raleway Medium" pitchFamily="2" charset="0"/>
              </a:rPr>
              <a:t>Worked on framework for metrics / log / traces integration of services with operation.</a:t>
            </a:r>
          </a:p>
          <a:p>
            <a:pPr marL="106510" indent="-106510">
              <a:buFont typeface="Arial" panose="020B0604020202020204" pitchFamily="34" charset="0"/>
              <a:buChar char="•"/>
            </a:pPr>
            <a:r>
              <a:rPr lang="en-US" sz="745" dirty="0">
                <a:latin typeface="Raleway Medium" pitchFamily="2" charset="0"/>
              </a:rPr>
              <a:t>Built and deployed Infrastructure As Code using AWS cloud formation</a:t>
            </a:r>
          </a:p>
        </p:txBody>
      </p:sp>
      <p:sp>
        <p:nvSpPr>
          <p:cNvPr id="19" name="TextBox 18">
            <a:extLst>
              <a:ext uri="{FF2B5EF4-FFF2-40B4-BE49-F238E27FC236}">
                <a16:creationId xmlns:a16="http://schemas.microsoft.com/office/drawing/2014/main" id="{3A017297-9CC1-4E3A-B3E1-E59DD550B4F8}"/>
              </a:ext>
            </a:extLst>
          </p:cNvPr>
          <p:cNvSpPr txBox="1"/>
          <p:nvPr/>
        </p:nvSpPr>
        <p:spPr>
          <a:xfrm>
            <a:off x="3344079" y="2776611"/>
            <a:ext cx="4742574" cy="1754776"/>
          </a:xfrm>
          <a:prstGeom prst="rect">
            <a:avLst/>
          </a:prstGeom>
          <a:noFill/>
        </p:spPr>
        <p:txBody>
          <a:bodyPr wrap="square" rtlCol="0">
            <a:spAutoFit/>
          </a:bodyPr>
          <a:lstStyle/>
          <a:p>
            <a:r>
              <a:rPr lang="en-IN" sz="1118" dirty="0">
                <a:latin typeface="Raleway SemiBold" pitchFamily="2" charset="0"/>
              </a:rPr>
              <a:t>Cloud Migration &amp; Modernization Project</a:t>
            </a:r>
          </a:p>
          <a:p>
            <a:r>
              <a:rPr lang="en-IN" sz="745" dirty="0">
                <a:solidFill>
                  <a:srgbClr val="0070C0"/>
                </a:solidFill>
                <a:latin typeface="Raleway SemiBold" pitchFamily="2" charset="0"/>
              </a:rPr>
              <a:t>(AWS, Python, Terraform, MsSql, Elasticsearch, Docker)</a:t>
            </a:r>
          </a:p>
          <a:p>
            <a:endParaRPr lang="en-IN" sz="745" dirty="0">
              <a:latin typeface="Raleway Medium" pitchFamily="2" charset="0"/>
            </a:endParaRPr>
          </a:p>
          <a:p>
            <a:pPr marL="106510" indent="-106510">
              <a:buFont typeface="Arial" panose="020B0604020202020204" pitchFamily="34" charset="0"/>
              <a:buChar char="•"/>
            </a:pPr>
            <a:r>
              <a:rPr lang="en-US" sz="745" dirty="0">
                <a:latin typeface="Raleway Medium" pitchFamily="2" charset="0"/>
              </a:rPr>
              <a:t>Worked on cloud architectures and security framework for target migration system</a:t>
            </a:r>
          </a:p>
          <a:p>
            <a:pPr marL="106510" indent="-106510">
              <a:buFont typeface="Arial" panose="020B0604020202020204" pitchFamily="34" charset="0"/>
              <a:buChar char="•"/>
            </a:pPr>
            <a:r>
              <a:rPr lang="en-US" sz="745" dirty="0">
                <a:latin typeface="Raleway Medium" pitchFamily="2" charset="0"/>
              </a:rPr>
              <a:t>Worked on the cloud formation automation to create NIST compliant product enclave in AWS</a:t>
            </a:r>
          </a:p>
          <a:p>
            <a:pPr marL="106510" indent="-106510">
              <a:buFont typeface="Arial" panose="020B0604020202020204" pitchFamily="34" charset="0"/>
              <a:buChar char="•"/>
            </a:pPr>
            <a:r>
              <a:rPr lang="en-US" sz="745" dirty="0">
                <a:latin typeface="Raleway Medium" pitchFamily="2" charset="0"/>
              </a:rPr>
              <a:t>Worked on computing and storage lifecycle automation script , automated certain runbooks with AWS lambda</a:t>
            </a:r>
          </a:p>
          <a:p>
            <a:pPr marL="106510" indent="-106510">
              <a:buFont typeface="Arial" panose="020B0604020202020204" pitchFamily="34" charset="0"/>
              <a:buChar char="•"/>
            </a:pPr>
            <a:r>
              <a:rPr lang="en-US" sz="745" dirty="0">
                <a:latin typeface="Raleway Medium" pitchFamily="2" charset="0"/>
              </a:rPr>
              <a:t>Implemented the VPN and software firewall framework for AWS services </a:t>
            </a:r>
          </a:p>
          <a:p>
            <a:pPr marL="106510" indent="-106510">
              <a:buFont typeface="Arial" panose="020B0604020202020204" pitchFamily="34" charset="0"/>
              <a:buChar char="•"/>
            </a:pPr>
            <a:r>
              <a:rPr lang="en-US" sz="745" dirty="0">
                <a:latin typeface="Raleway Medium" pitchFamily="2" charset="0"/>
              </a:rPr>
              <a:t>Built and deployed AWS billing parser in Python using boto3 api to collect AWS real time billing information in elastic search database and produced analytics.</a:t>
            </a:r>
          </a:p>
          <a:p>
            <a:pPr marL="106510" indent="-106510">
              <a:buFont typeface="Arial" panose="020B0604020202020204" pitchFamily="34" charset="0"/>
              <a:buChar char="•"/>
            </a:pPr>
            <a:r>
              <a:rPr lang="en-US" sz="745" dirty="0">
                <a:latin typeface="Raleway Medium" pitchFamily="2" charset="0"/>
              </a:rPr>
              <a:t>Worked on production support and customer interaction</a:t>
            </a:r>
          </a:p>
          <a:p>
            <a:pPr marL="106510" indent="-106510">
              <a:buFont typeface="Arial" panose="020B0604020202020204" pitchFamily="34" charset="0"/>
              <a:buChar char="•"/>
            </a:pPr>
            <a:r>
              <a:rPr lang="en-US" sz="745" dirty="0">
                <a:latin typeface="Raleway Medium" pitchFamily="2" charset="0"/>
              </a:rPr>
              <a:t>Wrote terraform script to provision AWS kinesis for log streaming</a:t>
            </a:r>
          </a:p>
          <a:p>
            <a:pPr marL="106510" indent="-106510">
              <a:buFont typeface="Arial" panose="020B0604020202020204" pitchFamily="34" charset="0"/>
              <a:buChar char="•"/>
            </a:pPr>
            <a:r>
              <a:rPr lang="en-US" sz="745" dirty="0">
                <a:latin typeface="Raleway Medium" pitchFamily="2" charset="0"/>
              </a:rPr>
              <a:t>Wrote automation for VDI  framework.</a:t>
            </a:r>
          </a:p>
          <a:p>
            <a:pPr algn="l"/>
            <a:endParaRPr lang="en-US" sz="745" dirty="0">
              <a:highlight>
                <a:srgbClr val="000000"/>
              </a:highlight>
              <a:latin typeface="Raleway Medium" pitchFamily="2" charset="0"/>
            </a:endParaRPr>
          </a:p>
        </p:txBody>
      </p:sp>
      <p:sp>
        <p:nvSpPr>
          <p:cNvPr id="20" name="Rectangle 19">
            <a:extLst>
              <a:ext uri="{FF2B5EF4-FFF2-40B4-BE49-F238E27FC236}">
                <a16:creationId xmlns:a16="http://schemas.microsoft.com/office/drawing/2014/main" id="{82826717-78D8-4D38-BDEC-7C607E613AFA}"/>
              </a:ext>
            </a:extLst>
          </p:cNvPr>
          <p:cNvSpPr/>
          <p:nvPr/>
        </p:nvSpPr>
        <p:spPr>
          <a:xfrm>
            <a:off x="3195269" y="409722"/>
            <a:ext cx="4963475" cy="416089"/>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18" dirty="0"/>
          </a:p>
        </p:txBody>
      </p:sp>
      <p:sp>
        <p:nvSpPr>
          <p:cNvPr id="21" name="TextBox 20">
            <a:extLst>
              <a:ext uri="{FF2B5EF4-FFF2-40B4-BE49-F238E27FC236}">
                <a16:creationId xmlns:a16="http://schemas.microsoft.com/office/drawing/2014/main" id="{EF6F2C2C-28C4-4BA9-8C16-39AFFF93DBFD}"/>
              </a:ext>
            </a:extLst>
          </p:cNvPr>
          <p:cNvSpPr txBox="1"/>
          <p:nvPr/>
        </p:nvSpPr>
        <p:spPr>
          <a:xfrm>
            <a:off x="3336037" y="497513"/>
            <a:ext cx="2014526" cy="264368"/>
          </a:xfrm>
          <a:prstGeom prst="rect">
            <a:avLst/>
          </a:prstGeom>
          <a:noFill/>
        </p:spPr>
        <p:txBody>
          <a:bodyPr wrap="square" rtlCol="0">
            <a:spAutoFit/>
          </a:bodyPr>
          <a:lstStyle/>
          <a:p>
            <a:r>
              <a:rPr lang="en-IN" sz="1118" dirty="0">
                <a:solidFill>
                  <a:schemeClr val="bg1"/>
                </a:solidFill>
                <a:latin typeface="Raleway SemiBold" pitchFamily="2" charset="0"/>
              </a:rPr>
              <a:t>Recent Engagements</a:t>
            </a:r>
            <a:endParaRPr lang="en-IN" sz="745" dirty="0">
              <a:solidFill>
                <a:schemeClr val="bg1"/>
              </a:solidFill>
              <a:latin typeface="Raleway SemiBold" pitchFamily="2" charset="0"/>
            </a:endParaRPr>
          </a:p>
        </p:txBody>
      </p:sp>
    </p:spTree>
    <p:extLst>
      <p:ext uri="{BB962C8B-B14F-4D97-AF65-F5344CB8AC3E}">
        <p14:creationId xmlns:p14="http://schemas.microsoft.com/office/powerpoint/2010/main" val="702784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3719CF4-6169-4B9F-8748-B4176F5625E0}"/>
              </a:ext>
            </a:extLst>
          </p:cNvPr>
          <p:cNvSpPr/>
          <p:nvPr/>
        </p:nvSpPr>
        <p:spPr>
          <a:xfrm>
            <a:off x="984272" y="409722"/>
            <a:ext cx="2221741" cy="456140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18" dirty="0"/>
          </a:p>
        </p:txBody>
      </p:sp>
      <p:sp>
        <p:nvSpPr>
          <p:cNvPr id="16" name="TextBox 15">
            <a:extLst>
              <a:ext uri="{FF2B5EF4-FFF2-40B4-BE49-F238E27FC236}">
                <a16:creationId xmlns:a16="http://schemas.microsoft.com/office/drawing/2014/main" id="{5E6DC59F-7012-4FA1-AC29-1A5E05966793}"/>
              </a:ext>
            </a:extLst>
          </p:cNvPr>
          <p:cNvSpPr txBox="1"/>
          <p:nvPr/>
        </p:nvSpPr>
        <p:spPr>
          <a:xfrm>
            <a:off x="1064406" y="90093"/>
            <a:ext cx="2918995" cy="302712"/>
          </a:xfrm>
          <a:prstGeom prst="rect">
            <a:avLst/>
          </a:prstGeom>
          <a:noFill/>
        </p:spPr>
        <p:txBody>
          <a:bodyPr wrap="square" rtlCol="0">
            <a:spAutoFit/>
          </a:bodyPr>
          <a:lstStyle/>
          <a:p>
            <a:r>
              <a:rPr lang="en-IN" sz="1367" dirty="0">
                <a:solidFill>
                  <a:srgbClr val="0070C0"/>
                </a:solidFill>
                <a:latin typeface="Raleway SemiBold" pitchFamily="2" charset="0"/>
              </a:rPr>
              <a:t>Java Tech Lead  </a:t>
            </a:r>
            <a:r>
              <a:rPr lang="en-IN" sz="1367" dirty="0">
                <a:latin typeface="Raleway SemiBold" pitchFamily="2" charset="0"/>
              </a:rPr>
              <a:t> </a:t>
            </a:r>
            <a:r>
              <a:rPr lang="en-IN" sz="1367" dirty="0">
                <a:solidFill>
                  <a:srgbClr val="0070C0"/>
                </a:solidFill>
                <a:latin typeface="Raleway SemiBold" pitchFamily="2" charset="0"/>
              </a:rPr>
              <a:t>|</a:t>
            </a:r>
            <a:r>
              <a:rPr lang="en-IN" sz="1367" dirty="0">
                <a:latin typeface="Raleway SemiBold" pitchFamily="2" charset="0"/>
              </a:rPr>
              <a:t>   Manoj</a:t>
            </a:r>
          </a:p>
        </p:txBody>
      </p:sp>
      <p:sp>
        <p:nvSpPr>
          <p:cNvPr id="17" name="TextBox 16">
            <a:extLst>
              <a:ext uri="{FF2B5EF4-FFF2-40B4-BE49-F238E27FC236}">
                <a16:creationId xmlns:a16="http://schemas.microsoft.com/office/drawing/2014/main" id="{7F08DF72-6A34-4F54-B864-A22C1CE68FEC}"/>
              </a:ext>
            </a:extLst>
          </p:cNvPr>
          <p:cNvSpPr txBox="1"/>
          <p:nvPr/>
        </p:nvSpPr>
        <p:spPr>
          <a:xfrm>
            <a:off x="1064406" y="497513"/>
            <a:ext cx="2081415" cy="4506555"/>
          </a:xfrm>
          <a:prstGeom prst="rect">
            <a:avLst/>
          </a:prstGeom>
          <a:noFill/>
        </p:spPr>
        <p:txBody>
          <a:bodyPr wrap="square" rtlCol="0">
            <a:spAutoFit/>
          </a:bodyPr>
          <a:lstStyle/>
          <a:p>
            <a:r>
              <a:rPr lang="en-IN" sz="1118" dirty="0">
                <a:latin typeface="Raleway SemiBold" pitchFamily="2" charset="0"/>
              </a:rPr>
              <a:t>Summary</a:t>
            </a:r>
          </a:p>
          <a:p>
            <a:r>
              <a:rPr lang="en-US" sz="745" dirty="0">
                <a:latin typeface="Raleway Medium" panose="020B0604020202020204" pitchFamily="2" charset="0"/>
              </a:rPr>
              <a:t>Has good experience in managing and contributing to all aspects of Java based application development including functional and technical specifications, design, development and production support. Applied best architectural and programming patterns to write highly scalable java microservices services in distributed computing environment.</a:t>
            </a:r>
            <a:endParaRPr lang="en-IN" sz="745" dirty="0">
              <a:latin typeface="Raleway Medium" panose="020B0604020202020204" pitchFamily="2" charset="0"/>
            </a:endParaRPr>
          </a:p>
          <a:p>
            <a:endParaRPr lang="en-IN" sz="1118" dirty="0"/>
          </a:p>
          <a:p>
            <a:r>
              <a:rPr lang="en-IN" sz="1118" dirty="0">
                <a:latin typeface="Raleway SemiBold" pitchFamily="2" charset="0"/>
              </a:rPr>
              <a:t>Expertise</a:t>
            </a:r>
          </a:p>
          <a:p>
            <a:pPr marL="106510" indent="-106510">
              <a:buFont typeface="Arial" panose="020B0604020202020204" pitchFamily="34" charset="0"/>
              <a:buChar char="•"/>
            </a:pPr>
            <a:r>
              <a:rPr lang="en-US" sz="745" dirty="0">
                <a:latin typeface="Raleway Medium" pitchFamily="2" charset="0"/>
              </a:rPr>
              <a:t>Developing, reviewing and executing on established technical road maps and continual product optimizations</a:t>
            </a:r>
          </a:p>
          <a:p>
            <a:pPr marL="106510" indent="-106510">
              <a:buFont typeface="Arial" panose="020B0604020202020204" pitchFamily="34" charset="0"/>
              <a:buChar char="•"/>
            </a:pPr>
            <a:r>
              <a:rPr lang="en-US" sz="745" dirty="0">
                <a:latin typeface="Raleway Medium" pitchFamily="2" charset="0"/>
              </a:rPr>
              <a:t>Leading team members in the delivery of technology solutions which meet business delivery expectations, maintain portfolio currency, and integrate best engineering practices.</a:t>
            </a:r>
          </a:p>
          <a:p>
            <a:pPr marL="106510" indent="-106510">
              <a:buFont typeface="Arial" panose="020B0604020202020204" pitchFamily="34" charset="0"/>
              <a:buChar char="•"/>
            </a:pPr>
            <a:r>
              <a:rPr lang="en-US" sz="745" dirty="0">
                <a:latin typeface="Raleway Medium" pitchFamily="2" charset="0"/>
              </a:rPr>
              <a:t>Work closely with product managers and story owners to design features and prioritize tasks</a:t>
            </a:r>
          </a:p>
          <a:p>
            <a:pPr marL="106510" indent="-106510">
              <a:buFont typeface="Arial" panose="020B0604020202020204" pitchFamily="34" charset="0"/>
              <a:buChar char="•"/>
            </a:pPr>
            <a:r>
              <a:rPr lang="en-US" sz="745" dirty="0">
                <a:latin typeface="Raleway Medium" pitchFamily="2" charset="0"/>
              </a:rPr>
              <a:t>Has experience in designing the solutions (UML/ERD) for requirement.</a:t>
            </a:r>
          </a:p>
          <a:p>
            <a:pPr marL="106510" indent="-106510">
              <a:buFont typeface="Arial" panose="020B0604020202020204" pitchFamily="34" charset="0"/>
              <a:buChar char="•"/>
            </a:pPr>
            <a:r>
              <a:rPr lang="en-US" sz="745" dirty="0">
                <a:latin typeface="Raleway Medium" pitchFamily="2" charset="0"/>
              </a:rPr>
              <a:t>Has experience in developing a highly modular microservice based product.</a:t>
            </a:r>
            <a:endParaRPr lang="en-IN" sz="745" dirty="0">
              <a:latin typeface="Raleway Medium" pitchFamily="2" charset="0"/>
            </a:endParaRPr>
          </a:p>
          <a:p>
            <a:pPr marL="106510" indent="-106510">
              <a:buFont typeface="Arial" panose="020B0604020202020204" pitchFamily="34" charset="0"/>
              <a:buChar char="•"/>
            </a:pPr>
            <a:r>
              <a:rPr lang="en-IN" sz="745" dirty="0">
                <a:latin typeface="Raleway ExtraBold" pitchFamily="2" charset="0"/>
              </a:rPr>
              <a:t>Tools Used  </a:t>
            </a:r>
            <a:r>
              <a:rPr lang="en-IN" sz="745" dirty="0">
                <a:latin typeface="Raleway Medium" pitchFamily="2" charset="0"/>
              </a:rPr>
              <a:t>-- IntelliJ, Data grip, Git, Postman, Docker, Kubernetes, Prometheus, Grafana</a:t>
            </a:r>
          </a:p>
          <a:p>
            <a:pPr marL="106510" indent="-106510">
              <a:buFont typeface="Arial" panose="020B0604020202020204" pitchFamily="34" charset="0"/>
              <a:buChar char="•"/>
            </a:pPr>
            <a:r>
              <a:rPr lang="en-IN" sz="745" dirty="0">
                <a:latin typeface="Raleway ExtraBold" pitchFamily="2" charset="0"/>
              </a:rPr>
              <a:t>Database Used </a:t>
            </a:r>
            <a:r>
              <a:rPr lang="en-IN" sz="745" dirty="0">
                <a:latin typeface="Raleway Medium" pitchFamily="2" charset="0"/>
              </a:rPr>
              <a:t>-- PostgreSQL, Mongodb, Elasticsearch , SQL Server, Oracle, MySQL, DynamoDB</a:t>
            </a:r>
          </a:p>
          <a:p>
            <a:endParaRPr lang="en-IN" sz="1118" dirty="0"/>
          </a:p>
          <a:p>
            <a:r>
              <a:rPr lang="en-IN" sz="1118" dirty="0">
                <a:latin typeface="Raleway SemiBold" pitchFamily="2" charset="0"/>
              </a:rPr>
              <a:t>Qualification</a:t>
            </a:r>
          </a:p>
          <a:p>
            <a:r>
              <a:rPr lang="en-IN" sz="745" dirty="0">
                <a:latin typeface="Raleway Medium" pitchFamily="2" charset="0"/>
              </a:rPr>
              <a:t>Has Bachelor Degree in Computer Science</a:t>
            </a:r>
          </a:p>
        </p:txBody>
      </p:sp>
      <p:sp>
        <p:nvSpPr>
          <p:cNvPr id="18" name="TextBox 17">
            <a:extLst>
              <a:ext uri="{FF2B5EF4-FFF2-40B4-BE49-F238E27FC236}">
                <a16:creationId xmlns:a16="http://schemas.microsoft.com/office/drawing/2014/main" id="{2F7DF6C4-C442-43BD-99B8-D9370A580957}"/>
              </a:ext>
            </a:extLst>
          </p:cNvPr>
          <p:cNvSpPr txBox="1"/>
          <p:nvPr/>
        </p:nvSpPr>
        <p:spPr>
          <a:xfrm>
            <a:off x="3336038" y="908346"/>
            <a:ext cx="4885601" cy="1754776"/>
          </a:xfrm>
          <a:prstGeom prst="rect">
            <a:avLst/>
          </a:prstGeom>
          <a:noFill/>
        </p:spPr>
        <p:txBody>
          <a:bodyPr wrap="square" rtlCol="0">
            <a:spAutoFit/>
          </a:bodyPr>
          <a:lstStyle/>
          <a:p>
            <a:r>
              <a:rPr lang="en-IN" sz="1118" dirty="0">
                <a:latin typeface="Raleway SemiBold" pitchFamily="2" charset="0"/>
              </a:rPr>
              <a:t>Synectiks Appkube Platform</a:t>
            </a:r>
          </a:p>
          <a:p>
            <a:r>
              <a:rPr lang="en-IN" sz="745" dirty="0">
                <a:solidFill>
                  <a:srgbClr val="0070C0"/>
                </a:solidFill>
                <a:latin typeface="Raleway SemiBold" pitchFamily="2" charset="0"/>
              </a:rPr>
              <a:t>(Java8, Spring Boot, JPA, PostgreSQL, Elasticsearch, Docker, Kubernetes, Aws/Azure/GCP </a:t>
            </a:r>
            <a:r>
              <a:rPr lang="en-IN" sz="745" dirty="0" err="1">
                <a:solidFill>
                  <a:srgbClr val="0070C0"/>
                </a:solidFill>
                <a:latin typeface="Raleway SemiBold" pitchFamily="2" charset="0"/>
              </a:rPr>
              <a:t>sdk</a:t>
            </a:r>
            <a:r>
              <a:rPr lang="en-IN" sz="745" dirty="0">
                <a:solidFill>
                  <a:srgbClr val="0070C0"/>
                </a:solidFill>
                <a:latin typeface="Raleway SemiBold" pitchFamily="2" charset="0"/>
              </a:rPr>
              <a:t>, </a:t>
            </a:r>
            <a:r>
              <a:rPr lang="en-IN" sz="745" dirty="0" err="1">
                <a:solidFill>
                  <a:srgbClr val="0070C0"/>
                </a:solidFill>
                <a:latin typeface="Raleway SemiBold" pitchFamily="2" charset="0"/>
              </a:rPr>
              <a:t>GoLang</a:t>
            </a:r>
            <a:r>
              <a:rPr lang="en-IN" sz="745" dirty="0">
                <a:solidFill>
                  <a:srgbClr val="0070C0"/>
                </a:solidFill>
                <a:latin typeface="Raleway SemiBold" pitchFamily="2" charset="0"/>
              </a:rPr>
              <a:t>)</a:t>
            </a:r>
          </a:p>
          <a:p>
            <a:endParaRPr lang="en-IN" sz="745" dirty="0">
              <a:latin typeface="Raleway Medium" pitchFamily="2" charset="0"/>
            </a:endParaRPr>
          </a:p>
          <a:p>
            <a:pPr marL="106510" indent="-106510">
              <a:buFont typeface="Arial" panose="020B0604020202020204" pitchFamily="34" charset="0"/>
              <a:buChar char="•"/>
            </a:pPr>
            <a:r>
              <a:rPr lang="en-US" sz="745" dirty="0">
                <a:latin typeface="Raleway Medium" pitchFamily="2" charset="0"/>
              </a:rPr>
              <a:t>Worked on applying the Enterprise SOA patterns across the products services</a:t>
            </a:r>
          </a:p>
          <a:p>
            <a:pPr marL="106510" indent="-106510">
              <a:buFont typeface="Arial" panose="020B0604020202020204" pitchFamily="34" charset="0"/>
              <a:buChar char="•"/>
            </a:pPr>
            <a:r>
              <a:rPr lang="en-US" sz="745" dirty="0">
                <a:latin typeface="Raleway Medium" pitchFamily="2" charset="0"/>
              </a:rPr>
              <a:t>Worked on applying Design Patterns &amp;  develop Data Model, UML for common services framework</a:t>
            </a:r>
          </a:p>
          <a:p>
            <a:pPr marL="106510" indent="-106510">
              <a:buFont typeface="Arial" panose="020B0604020202020204" pitchFamily="34" charset="0"/>
              <a:buChar char="•"/>
            </a:pPr>
            <a:r>
              <a:rPr lang="en-US" sz="745" dirty="0">
                <a:latin typeface="Raleway Medium" pitchFamily="2" charset="0"/>
              </a:rPr>
              <a:t>Worked on all the API  required for common services module like security/</a:t>
            </a:r>
            <a:r>
              <a:rPr lang="en-US" sz="745" dirty="0" err="1">
                <a:latin typeface="Raleway Medium" pitchFamily="2" charset="0"/>
              </a:rPr>
              <a:t>rbac</a:t>
            </a:r>
            <a:r>
              <a:rPr lang="en-US" sz="745" dirty="0">
                <a:latin typeface="Raleway Medium" pitchFamily="2" charset="0"/>
              </a:rPr>
              <a:t>, policy engine</a:t>
            </a:r>
          </a:p>
          <a:p>
            <a:pPr marL="106510" indent="-106510">
              <a:buFont typeface="Arial" panose="020B0604020202020204" pitchFamily="34" charset="0"/>
              <a:buChar char="•"/>
            </a:pPr>
            <a:r>
              <a:rPr lang="en-US" sz="745" dirty="0">
                <a:latin typeface="Raleway Medium" pitchFamily="2" charset="0"/>
              </a:rPr>
              <a:t>Lead the team members to integrate best engineering practices</a:t>
            </a:r>
          </a:p>
          <a:p>
            <a:pPr marL="106510" indent="-106510">
              <a:buFont typeface="Arial" panose="020B0604020202020204" pitchFamily="34" charset="0"/>
              <a:buChar char="•"/>
            </a:pPr>
            <a:r>
              <a:rPr lang="en-US" sz="745" dirty="0">
                <a:latin typeface="Raleway Medium" pitchFamily="2" charset="0"/>
              </a:rPr>
              <a:t>Worked on plugin framework to make services more modular</a:t>
            </a:r>
          </a:p>
          <a:p>
            <a:pPr marL="106510" indent="-106510">
              <a:buFont typeface="Arial" panose="020B0604020202020204" pitchFamily="34" charset="0"/>
              <a:buChar char="•"/>
            </a:pPr>
            <a:r>
              <a:rPr lang="en-US" sz="745" dirty="0">
                <a:latin typeface="Raleway Medium" pitchFamily="2" charset="0"/>
              </a:rPr>
              <a:t>Worked on Integration pattern between internal and external services </a:t>
            </a:r>
          </a:p>
          <a:p>
            <a:pPr marL="106510" indent="-106510">
              <a:buFont typeface="Arial" panose="020B0604020202020204" pitchFamily="34" charset="0"/>
              <a:buChar char="•"/>
            </a:pPr>
            <a:r>
              <a:rPr lang="en-US" sz="745" dirty="0">
                <a:latin typeface="Raleway Medium" pitchFamily="2" charset="0"/>
              </a:rPr>
              <a:t>Worked on applying the cloud SDK’s</a:t>
            </a:r>
          </a:p>
          <a:p>
            <a:pPr marL="106510" indent="-106510">
              <a:buFont typeface="Arial" panose="020B0604020202020204" pitchFamily="34" charset="0"/>
              <a:buChar char="•"/>
            </a:pPr>
            <a:r>
              <a:rPr lang="en-US" sz="745" dirty="0">
                <a:latin typeface="Raleway Medium" pitchFamily="2" charset="0"/>
              </a:rPr>
              <a:t>Worked with UI team for integration of UI with API</a:t>
            </a:r>
          </a:p>
          <a:p>
            <a:pPr marL="106510" indent="-106510">
              <a:buFont typeface="Arial" panose="020B0604020202020204" pitchFamily="34" charset="0"/>
              <a:buChar char="•"/>
            </a:pPr>
            <a:r>
              <a:rPr lang="en-US" sz="745" dirty="0">
                <a:latin typeface="Raleway Medium" pitchFamily="2" charset="0"/>
              </a:rPr>
              <a:t>Worked on framework for metrics / log / traces integration with operation system.</a:t>
            </a:r>
          </a:p>
          <a:p>
            <a:pPr marL="106510" indent="-106510">
              <a:buFont typeface="Arial" panose="020B0604020202020204" pitchFamily="34" charset="0"/>
              <a:buChar char="•"/>
            </a:pPr>
            <a:r>
              <a:rPr lang="en-US" sz="745" dirty="0">
                <a:latin typeface="Raleway Medium" pitchFamily="2" charset="0"/>
              </a:rPr>
              <a:t>Worked with </a:t>
            </a:r>
            <a:r>
              <a:rPr lang="en-US" sz="745" dirty="0" err="1">
                <a:latin typeface="Raleway Medium" pitchFamily="2" charset="0"/>
              </a:rPr>
              <a:t>DevSecOps</a:t>
            </a:r>
            <a:r>
              <a:rPr lang="en-US" sz="745" dirty="0">
                <a:latin typeface="Raleway Medium" pitchFamily="2" charset="0"/>
              </a:rPr>
              <a:t> team to establish framework for continuous delivery , deployment automation.</a:t>
            </a:r>
            <a:endParaRPr lang="en-IN" sz="745" dirty="0">
              <a:latin typeface="Raleway Medium" pitchFamily="2" charset="0"/>
            </a:endParaRPr>
          </a:p>
        </p:txBody>
      </p:sp>
      <p:sp>
        <p:nvSpPr>
          <p:cNvPr id="19" name="TextBox 18">
            <a:extLst>
              <a:ext uri="{FF2B5EF4-FFF2-40B4-BE49-F238E27FC236}">
                <a16:creationId xmlns:a16="http://schemas.microsoft.com/office/drawing/2014/main" id="{3A017297-9CC1-4E3A-B3E1-E59DD550B4F8}"/>
              </a:ext>
            </a:extLst>
          </p:cNvPr>
          <p:cNvSpPr txBox="1"/>
          <p:nvPr/>
        </p:nvSpPr>
        <p:spPr>
          <a:xfrm>
            <a:off x="3336037" y="2589536"/>
            <a:ext cx="4742574" cy="1410835"/>
          </a:xfrm>
          <a:prstGeom prst="rect">
            <a:avLst/>
          </a:prstGeom>
          <a:noFill/>
        </p:spPr>
        <p:txBody>
          <a:bodyPr wrap="square" rtlCol="0">
            <a:spAutoFit/>
          </a:bodyPr>
          <a:lstStyle/>
          <a:p>
            <a:r>
              <a:rPr lang="en-IN" sz="1118" dirty="0">
                <a:latin typeface="Raleway SemiBold" pitchFamily="2" charset="0"/>
              </a:rPr>
              <a:t>Payment Gateway System</a:t>
            </a:r>
          </a:p>
          <a:p>
            <a:r>
              <a:rPr lang="en-IN" sz="745" dirty="0">
                <a:solidFill>
                  <a:srgbClr val="0070C0"/>
                </a:solidFill>
                <a:latin typeface="Raleway SemiBold" pitchFamily="2" charset="0"/>
              </a:rPr>
              <a:t>(Java8, Spring Boot, JPA, PostgreSQL, Elasticsearch, Docker)</a:t>
            </a:r>
          </a:p>
          <a:p>
            <a:endParaRPr lang="en-IN" sz="745" dirty="0">
              <a:latin typeface="Raleway Medium" pitchFamily="2" charset="0"/>
            </a:endParaRPr>
          </a:p>
          <a:p>
            <a:pPr marL="106510" indent="-106510">
              <a:buFont typeface="Arial" panose="020B0604020202020204" pitchFamily="34" charset="0"/>
              <a:buChar char="•"/>
            </a:pPr>
            <a:r>
              <a:rPr lang="en-US" sz="745" dirty="0">
                <a:latin typeface="Raleway Medium" pitchFamily="2" charset="0"/>
              </a:rPr>
              <a:t>Worked on applying Design Patterns &amp;  develop Data Model, UML for common services framework</a:t>
            </a:r>
          </a:p>
          <a:p>
            <a:pPr marL="106510" indent="-106510">
              <a:buFont typeface="Arial" panose="020B0604020202020204" pitchFamily="34" charset="0"/>
              <a:buChar char="•"/>
            </a:pPr>
            <a:r>
              <a:rPr lang="en-US" sz="745" dirty="0">
                <a:latin typeface="Raleway Medium" pitchFamily="2" charset="0"/>
              </a:rPr>
              <a:t>Worked on all the API  required for Admin portal</a:t>
            </a:r>
          </a:p>
          <a:p>
            <a:pPr marL="106510" indent="-106510">
              <a:buFont typeface="Arial" panose="020B0604020202020204" pitchFamily="34" charset="0"/>
              <a:buChar char="•"/>
            </a:pPr>
            <a:r>
              <a:rPr lang="en-US" sz="745" dirty="0">
                <a:latin typeface="Raleway Medium" pitchFamily="2" charset="0"/>
              </a:rPr>
              <a:t>Worked on Authentication , MFA and Security framework for payment module</a:t>
            </a:r>
          </a:p>
          <a:p>
            <a:pPr marL="106510" indent="-106510">
              <a:buFont typeface="Arial" panose="020B0604020202020204" pitchFamily="34" charset="0"/>
              <a:buChar char="•"/>
            </a:pPr>
            <a:r>
              <a:rPr lang="en-US" sz="745" dirty="0">
                <a:latin typeface="Raleway Medium" pitchFamily="2" charset="0"/>
              </a:rPr>
              <a:t>Worked on developing a highly scalable activity log framework</a:t>
            </a:r>
          </a:p>
          <a:p>
            <a:pPr marL="106510" indent="-106510">
              <a:buFont typeface="Arial" panose="020B0604020202020204" pitchFamily="34" charset="0"/>
              <a:buChar char="•"/>
            </a:pPr>
            <a:r>
              <a:rPr lang="en-US" sz="745" dirty="0">
                <a:latin typeface="Raleway Medium" pitchFamily="2" charset="0"/>
              </a:rPr>
              <a:t>Wrote docker composers for Dev env creation and tests.</a:t>
            </a:r>
          </a:p>
          <a:p>
            <a:pPr marL="106510" indent="-106510">
              <a:buFont typeface="Arial" panose="020B0604020202020204" pitchFamily="34" charset="0"/>
              <a:buChar char="•"/>
            </a:pPr>
            <a:r>
              <a:rPr lang="en-US" sz="745" dirty="0">
                <a:latin typeface="Raleway Medium" pitchFamily="2" charset="0"/>
              </a:rPr>
              <a:t>Worked closely with the QA, project management and business teams on solution implementation</a:t>
            </a:r>
          </a:p>
          <a:p>
            <a:pPr marL="106510" indent="-106510">
              <a:buFont typeface="Arial" panose="020B0604020202020204" pitchFamily="34" charset="0"/>
              <a:buChar char="•"/>
            </a:pPr>
            <a:r>
              <a:rPr lang="en-US" sz="745" dirty="0">
                <a:latin typeface="Raleway Medium" pitchFamily="2" charset="0"/>
              </a:rPr>
              <a:t>Worked on the code fixes for Errors</a:t>
            </a:r>
          </a:p>
          <a:p>
            <a:pPr marL="106510" indent="-106510">
              <a:buFont typeface="Arial" panose="020B0604020202020204" pitchFamily="34" charset="0"/>
              <a:buChar char="•"/>
            </a:pPr>
            <a:r>
              <a:rPr lang="en-US" sz="745" dirty="0">
                <a:latin typeface="Raleway Medium" pitchFamily="2" charset="0"/>
              </a:rPr>
              <a:t>Worked with UI team for integration of UI with API</a:t>
            </a:r>
          </a:p>
        </p:txBody>
      </p:sp>
      <p:sp>
        <p:nvSpPr>
          <p:cNvPr id="20" name="Rectangle 19">
            <a:extLst>
              <a:ext uri="{FF2B5EF4-FFF2-40B4-BE49-F238E27FC236}">
                <a16:creationId xmlns:a16="http://schemas.microsoft.com/office/drawing/2014/main" id="{82826717-78D8-4D38-BDEC-7C607E613AFA}"/>
              </a:ext>
            </a:extLst>
          </p:cNvPr>
          <p:cNvSpPr/>
          <p:nvPr/>
        </p:nvSpPr>
        <p:spPr>
          <a:xfrm>
            <a:off x="3195269" y="409722"/>
            <a:ext cx="4963475" cy="416089"/>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18" dirty="0"/>
          </a:p>
        </p:txBody>
      </p:sp>
      <p:sp>
        <p:nvSpPr>
          <p:cNvPr id="21" name="TextBox 20">
            <a:extLst>
              <a:ext uri="{FF2B5EF4-FFF2-40B4-BE49-F238E27FC236}">
                <a16:creationId xmlns:a16="http://schemas.microsoft.com/office/drawing/2014/main" id="{EF6F2C2C-28C4-4BA9-8C16-39AFFF93DBFD}"/>
              </a:ext>
            </a:extLst>
          </p:cNvPr>
          <p:cNvSpPr txBox="1"/>
          <p:nvPr/>
        </p:nvSpPr>
        <p:spPr>
          <a:xfrm>
            <a:off x="3336037" y="497513"/>
            <a:ext cx="2014526" cy="264368"/>
          </a:xfrm>
          <a:prstGeom prst="rect">
            <a:avLst/>
          </a:prstGeom>
          <a:noFill/>
        </p:spPr>
        <p:txBody>
          <a:bodyPr wrap="square" rtlCol="0">
            <a:spAutoFit/>
          </a:bodyPr>
          <a:lstStyle/>
          <a:p>
            <a:r>
              <a:rPr lang="en-IN" sz="1118" dirty="0">
                <a:solidFill>
                  <a:schemeClr val="bg1"/>
                </a:solidFill>
                <a:latin typeface="Raleway SemiBold" pitchFamily="2" charset="0"/>
              </a:rPr>
              <a:t>Recent Engagements</a:t>
            </a:r>
            <a:endParaRPr lang="en-IN" sz="745" dirty="0">
              <a:solidFill>
                <a:schemeClr val="bg1"/>
              </a:solidFill>
              <a:latin typeface="Raleway SemiBold" pitchFamily="2" charset="0"/>
            </a:endParaRPr>
          </a:p>
        </p:txBody>
      </p:sp>
    </p:spTree>
    <p:extLst>
      <p:ext uri="{BB962C8B-B14F-4D97-AF65-F5344CB8AC3E}">
        <p14:creationId xmlns:p14="http://schemas.microsoft.com/office/powerpoint/2010/main" val="2077576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493AF4A-7DEE-478F-9ADC-9B9F7B0B0BF3}"/>
              </a:ext>
            </a:extLst>
          </p:cNvPr>
          <p:cNvSpPr/>
          <p:nvPr/>
        </p:nvSpPr>
        <p:spPr>
          <a:xfrm>
            <a:off x="984272" y="409722"/>
            <a:ext cx="2221741" cy="456140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18" dirty="0"/>
          </a:p>
        </p:txBody>
      </p:sp>
      <p:sp>
        <p:nvSpPr>
          <p:cNvPr id="10" name="TextBox 9">
            <a:extLst>
              <a:ext uri="{FF2B5EF4-FFF2-40B4-BE49-F238E27FC236}">
                <a16:creationId xmlns:a16="http://schemas.microsoft.com/office/drawing/2014/main" id="{6F375B67-6DF0-462F-B481-A8CEEE348AA8}"/>
              </a:ext>
            </a:extLst>
          </p:cNvPr>
          <p:cNvSpPr txBox="1"/>
          <p:nvPr/>
        </p:nvSpPr>
        <p:spPr>
          <a:xfrm>
            <a:off x="1064404" y="90093"/>
            <a:ext cx="2918995" cy="302712"/>
          </a:xfrm>
          <a:prstGeom prst="rect">
            <a:avLst/>
          </a:prstGeom>
          <a:noFill/>
        </p:spPr>
        <p:txBody>
          <a:bodyPr wrap="square" rtlCol="0">
            <a:spAutoFit/>
          </a:bodyPr>
          <a:lstStyle/>
          <a:p>
            <a:r>
              <a:rPr lang="en-IN" sz="1367" dirty="0">
                <a:solidFill>
                  <a:srgbClr val="0070C0"/>
                </a:solidFill>
                <a:latin typeface="Raleway SemiBold" pitchFamily="2" charset="0"/>
              </a:rPr>
              <a:t>Java Senior Engineer  </a:t>
            </a:r>
            <a:r>
              <a:rPr lang="en-IN" sz="1367" dirty="0">
                <a:latin typeface="Raleway SemiBold" pitchFamily="2" charset="0"/>
              </a:rPr>
              <a:t> </a:t>
            </a:r>
            <a:r>
              <a:rPr lang="en-IN" sz="1367" dirty="0">
                <a:solidFill>
                  <a:srgbClr val="0070C0"/>
                </a:solidFill>
                <a:latin typeface="Raleway SemiBold" pitchFamily="2" charset="0"/>
              </a:rPr>
              <a:t>|</a:t>
            </a:r>
            <a:r>
              <a:rPr lang="en-IN" sz="1367" dirty="0">
                <a:latin typeface="Raleway SemiBold" pitchFamily="2" charset="0"/>
              </a:rPr>
              <a:t>   Lalit </a:t>
            </a:r>
          </a:p>
        </p:txBody>
      </p:sp>
      <p:sp>
        <p:nvSpPr>
          <p:cNvPr id="11" name="TextBox 10">
            <a:extLst>
              <a:ext uri="{FF2B5EF4-FFF2-40B4-BE49-F238E27FC236}">
                <a16:creationId xmlns:a16="http://schemas.microsoft.com/office/drawing/2014/main" id="{C7D1F129-4F2E-4DC2-81FC-C31066808C81}"/>
              </a:ext>
            </a:extLst>
          </p:cNvPr>
          <p:cNvSpPr txBox="1"/>
          <p:nvPr/>
        </p:nvSpPr>
        <p:spPr>
          <a:xfrm>
            <a:off x="1064405" y="497513"/>
            <a:ext cx="2081415" cy="4009816"/>
          </a:xfrm>
          <a:prstGeom prst="rect">
            <a:avLst/>
          </a:prstGeom>
          <a:noFill/>
        </p:spPr>
        <p:txBody>
          <a:bodyPr wrap="square" rtlCol="0">
            <a:spAutoFit/>
          </a:bodyPr>
          <a:lstStyle/>
          <a:p>
            <a:r>
              <a:rPr lang="en-IN" sz="1118" dirty="0">
                <a:latin typeface="Raleway SemiBold" pitchFamily="2" charset="0"/>
              </a:rPr>
              <a:t>Summary</a:t>
            </a:r>
          </a:p>
          <a:p>
            <a:r>
              <a:rPr lang="en-US" sz="745" dirty="0">
                <a:latin typeface="Raleway Medium" panose="020B0604020202020204" pitchFamily="2" charset="0"/>
              </a:rPr>
              <a:t>Has good experience in design, development and production support of java services. Applied design patterns, data model and UML  to write highly scalable java microservices services running in distributed computing environment. </a:t>
            </a:r>
          </a:p>
          <a:p>
            <a:endParaRPr lang="en-IN" sz="870" dirty="0"/>
          </a:p>
          <a:p>
            <a:r>
              <a:rPr lang="en-IN" sz="1118" dirty="0">
                <a:latin typeface="Raleway SemiBold" pitchFamily="2" charset="0"/>
              </a:rPr>
              <a:t>Expertise</a:t>
            </a:r>
          </a:p>
          <a:p>
            <a:pPr marL="106507" indent="-106507">
              <a:buFont typeface="Arial" panose="020B0604020202020204" pitchFamily="34" charset="0"/>
              <a:buChar char="•"/>
            </a:pPr>
            <a:r>
              <a:rPr lang="en-US" sz="745" dirty="0">
                <a:latin typeface="Raleway Medium" pitchFamily="2" charset="0"/>
              </a:rPr>
              <a:t>Developing, reviewing and executing on java business services and provide e2e production support. </a:t>
            </a:r>
          </a:p>
          <a:p>
            <a:pPr marL="106507" indent="-106507">
              <a:buFont typeface="Arial" panose="020B0604020202020204" pitchFamily="34" charset="0"/>
              <a:buChar char="•"/>
            </a:pPr>
            <a:r>
              <a:rPr lang="en-US" sz="745" dirty="0">
                <a:latin typeface="Raleway Medium" pitchFamily="2" charset="0"/>
              </a:rPr>
              <a:t>Has experience in designing the solutions (UML/ERD) for requirement.</a:t>
            </a:r>
          </a:p>
          <a:p>
            <a:pPr marL="106507" indent="-106507">
              <a:buFont typeface="Arial" panose="020B0604020202020204" pitchFamily="34" charset="0"/>
              <a:buChar char="•"/>
            </a:pPr>
            <a:r>
              <a:rPr lang="en-US" sz="745" dirty="0">
                <a:latin typeface="Raleway Medium" pitchFamily="2" charset="0"/>
              </a:rPr>
              <a:t>Has experience in developing a highly modular microservices based product.</a:t>
            </a:r>
          </a:p>
          <a:p>
            <a:pPr marL="106507" indent="-106507">
              <a:buFont typeface="Arial" panose="020B0604020202020204" pitchFamily="34" charset="0"/>
              <a:buChar char="•"/>
            </a:pPr>
            <a:r>
              <a:rPr lang="en-US" sz="745" dirty="0">
                <a:latin typeface="Raleway Medium" pitchFamily="2" charset="0"/>
              </a:rPr>
              <a:t>Has experience of working with third party SDK’s and integration services</a:t>
            </a:r>
          </a:p>
          <a:p>
            <a:pPr marL="106507" indent="-106507">
              <a:buFont typeface="Arial" panose="020B0604020202020204" pitchFamily="34" charset="0"/>
              <a:buChar char="•"/>
            </a:pPr>
            <a:r>
              <a:rPr lang="en-US" sz="745" dirty="0">
                <a:latin typeface="Raleway Medium" pitchFamily="2" charset="0"/>
              </a:rPr>
              <a:t>Has experience in the areas of multithreading, scalability, and application of design patterns supporting high availability services</a:t>
            </a:r>
            <a:endParaRPr lang="en-IN" sz="745" dirty="0">
              <a:latin typeface="Raleway Medium" pitchFamily="2" charset="0"/>
            </a:endParaRPr>
          </a:p>
          <a:p>
            <a:pPr marL="106507" indent="-106507">
              <a:buFont typeface="Arial" panose="020B0604020202020204" pitchFamily="34" charset="0"/>
              <a:buChar char="•"/>
            </a:pPr>
            <a:r>
              <a:rPr lang="en-IN" sz="745" dirty="0">
                <a:latin typeface="Raleway ExtraBold" pitchFamily="2" charset="0"/>
              </a:rPr>
              <a:t>Tools Used  </a:t>
            </a:r>
            <a:r>
              <a:rPr lang="en-IN" sz="745" dirty="0">
                <a:latin typeface="Raleway Medium" pitchFamily="2" charset="0"/>
              </a:rPr>
              <a:t>-- IntelliJ, Data grip, Git, Postman, Docker, Kubernetes, Prometheus, Grafana</a:t>
            </a:r>
          </a:p>
          <a:p>
            <a:pPr marL="106507" indent="-106507">
              <a:buFont typeface="Arial" panose="020B0604020202020204" pitchFamily="34" charset="0"/>
              <a:buChar char="•"/>
            </a:pPr>
            <a:r>
              <a:rPr lang="en-IN" sz="745" dirty="0">
                <a:latin typeface="Raleway ExtraBold" pitchFamily="2" charset="0"/>
              </a:rPr>
              <a:t>Database Used </a:t>
            </a:r>
            <a:r>
              <a:rPr lang="en-IN" sz="745" dirty="0">
                <a:latin typeface="Raleway Medium" pitchFamily="2" charset="0"/>
              </a:rPr>
              <a:t>-- PostgreSQL, Mongodb, Elasticsearch , SQL Server, Oracle, MySQL, DynamoDB</a:t>
            </a:r>
          </a:p>
          <a:p>
            <a:endParaRPr lang="en-IN" sz="1118" dirty="0"/>
          </a:p>
          <a:p>
            <a:r>
              <a:rPr lang="en-IN" sz="1118" dirty="0">
                <a:latin typeface="Raleway SemiBold" pitchFamily="2" charset="0"/>
              </a:rPr>
              <a:t>Qualification</a:t>
            </a:r>
          </a:p>
          <a:p>
            <a:r>
              <a:rPr lang="en-IN" sz="745" dirty="0">
                <a:latin typeface="Raleway Medium" pitchFamily="2" charset="0"/>
              </a:rPr>
              <a:t>Has Bachelor Degree in Computer Science</a:t>
            </a:r>
          </a:p>
        </p:txBody>
      </p:sp>
      <p:sp>
        <p:nvSpPr>
          <p:cNvPr id="12" name="TextBox 11">
            <a:extLst>
              <a:ext uri="{FF2B5EF4-FFF2-40B4-BE49-F238E27FC236}">
                <a16:creationId xmlns:a16="http://schemas.microsoft.com/office/drawing/2014/main" id="{3C7C8453-6731-4026-BBFA-1DA66C04E94D}"/>
              </a:ext>
            </a:extLst>
          </p:cNvPr>
          <p:cNvSpPr txBox="1"/>
          <p:nvPr/>
        </p:nvSpPr>
        <p:spPr>
          <a:xfrm>
            <a:off x="3336036" y="908345"/>
            <a:ext cx="4892206" cy="1640129"/>
          </a:xfrm>
          <a:prstGeom prst="rect">
            <a:avLst/>
          </a:prstGeom>
          <a:noFill/>
        </p:spPr>
        <p:txBody>
          <a:bodyPr wrap="square" rtlCol="0">
            <a:spAutoFit/>
          </a:bodyPr>
          <a:lstStyle/>
          <a:p>
            <a:r>
              <a:rPr lang="en-IN" sz="1118" dirty="0">
                <a:latin typeface="Raleway SemiBold" pitchFamily="2" charset="0"/>
              </a:rPr>
              <a:t>Synectiks </a:t>
            </a:r>
            <a:r>
              <a:rPr lang="en-IN" sz="1118" dirty="0" err="1">
                <a:latin typeface="Raleway SemiBold" pitchFamily="2" charset="0"/>
              </a:rPr>
              <a:t>Appkube</a:t>
            </a:r>
            <a:r>
              <a:rPr lang="en-IN" sz="1118" dirty="0">
                <a:latin typeface="Raleway SemiBold" pitchFamily="2" charset="0"/>
              </a:rPr>
              <a:t> Platform</a:t>
            </a:r>
          </a:p>
          <a:p>
            <a:r>
              <a:rPr lang="en-IN" sz="745" dirty="0">
                <a:solidFill>
                  <a:srgbClr val="0070C0"/>
                </a:solidFill>
                <a:latin typeface="Raleway SemiBold" pitchFamily="2" charset="0"/>
              </a:rPr>
              <a:t>(Java8, Spring Boot, JPA, PostgreSQL, Elasticsearch, Docker, Kubernetes, Aws/Azure/GCP </a:t>
            </a:r>
            <a:r>
              <a:rPr lang="en-IN" sz="745" dirty="0" err="1">
                <a:solidFill>
                  <a:srgbClr val="0070C0"/>
                </a:solidFill>
                <a:latin typeface="Raleway SemiBold" pitchFamily="2" charset="0"/>
              </a:rPr>
              <a:t>sdk</a:t>
            </a:r>
            <a:r>
              <a:rPr lang="en-IN" sz="745" dirty="0">
                <a:solidFill>
                  <a:srgbClr val="0070C0"/>
                </a:solidFill>
                <a:latin typeface="Raleway SemiBold" pitchFamily="2" charset="0"/>
              </a:rPr>
              <a:t>, </a:t>
            </a:r>
            <a:r>
              <a:rPr lang="en-IN" sz="745" dirty="0" err="1">
                <a:solidFill>
                  <a:srgbClr val="0070C0"/>
                </a:solidFill>
                <a:latin typeface="Raleway SemiBold" pitchFamily="2" charset="0"/>
              </a:rPr>
              <a:t>GoLang</a:t>
            </a:r>
            <a:r>
              <a:rPr lang="en-IN" sz="745" dirty="0">
                <a:solidFill>
                  <a:srgbClr val="0070C0"/>
                </a:solidFill>
                <a:latin typeface="Raleway SemiBold" pitchFamily="2" charset="0"/>
              </a:rPr>
              <a:t>)</a:t>
            </a:r>
          </a:p>
          <a:p>
            <a:endParaRPr lang="en-IN" sz="745" dirty="0">
              <a:latin typeface="Raleway Medium" pitchFamily="2" charset="0"/>
            </a:endParaRPr>
          </a:p>
          <a:p>
            <a:pPr marL="106507" indent="-106507">
              <a:buFont typeface="Arial" panose="020B0604020202020204" pitchFamily="34" charset="0"/>
              <a:buChar char="•"/>
            </a:pPr>
            <a:r>
              <a:rPr lang="en-US" sz="745" dirty="0">
                <a:latin typeface="Raleway Medium" pitchFamily="2" charset="0"/>
              </a:rPr>
              <a:t>Worked on applying the cloud java SDK’s to write cloud orchestrator services</a:t>
            </a:r>
          </a:p>
          <a:p>
            <a:pPr marL="106507" indent="-106507">
              <a:buFont typeface="Arial" panose="020B0604020202020204" pitchFamily="34" charset="0"/>
              <a:buChar char="•"/>
            </a:pPr>
            <a:r>
              <a:rPr lang="en-US" sz="745" dirty="0">
                <a:latin typeface="Raleway Medium" pitchFamily="2" charset="0"/>
              </a:rPr>
              <a:t>Worked on applying Design Patterns &amp;  develop Data Model, UML for common services framework</a:t>
            </a:r>
          </a:p>
          <a:p>
            <a:pPr marL="106507" indent="-106507">
              <a:buFont typeface="Arial" panose="020B0604020202020204" pitchFamily="34" charset="0"/>
              <a:buChar char="•"/>
            </a:pPr>
            <a:r>
              <a:rPr lang="en-US" sz="745" dirty="0">
                <a:latin typeface="Raleway Medium" pitchFamily="2" charset="0"/>
              </a:rPr>
              <a:t>Worked on all the API  required for common services module like security/</a:t>
            </a:r>
            <a:r>
              <a:rPr lang="en-US" sz="745" dirty="0" err="1">
                <a:latin typeface="Raleway Medium" pitchFamily="2" charset="0"/>
              </a:rPr>
              <a:t>rbac</a:t>
            </a:r>
            <a:r>
              <a:rPr lang="en-US" sz="745" dirty="0">
                <a:latin typeface="Raleway Medium" pitchFamily="2" charset="0"/>
              </a:rPr>
              <a:t>, compliance engine</a:t>
            </a:r>
          </a:p>
          <a:p>
            <a:pPr marL="106507" indent="-106507">
              <a:buFont typeface="Arial" panose="020B0604020202020204" pitchFamily="34" charset="0"/>
              <a:buChar char="•"/>
            </a:pPr>
            <a:r>
              <a:rPr lang="en-US" sz="745" dirty="0">
                <a:latin typeface="Raleway Medium" pitchFamily="2" charset="0"/>
              </a:rPr>
              <a:t>Wrote plugin-based module on plugin framework to make services more modular</a:t>
            </a:r>
          </a:p>
          <a:p>
            <a:pPr marL="106507" indent="-106507">
              <a:buFont typeface="Arial" panose="020B0604020202020204" pitchFamily="34" charset="0"/>
              <a:buChar char="•"/>
            </a:pPr>
            <a:r>
              <a:rPr lang="en-US" sz="745" dirty="0">
                <a:latin typeface="Raleway Medium" pitchFamily="2" charset="0"/>
              </a:rPr>
              <a:t>Worked on Integration pattern between internal and external services </a:t>
            </a:r>
          </a:p>
          <a:p>
            <a:pPr marL="106507" indent="-106507">
              <a:buFont typeface="Arial" panose="020B0604020202020204" pitchFamily="34" charset="0"/>
              <a:buChar char="•"/>
            </a:pPr>
            <a:r>
              <a:rPr lang="en-US" sz="745" dirty="0">
                <a:latin typeface="Raleway Medium" pitchFamily="2" charset="0"/>
              </a:rPr>
              <a:t>Worked with UI team for integration of UI with API</a:t>
            </a:r>
          </a:p>
          <a:p>
            <a:pPr marL="106507" indent="-106507">
              <a:buFont typeface="Arial" panose="020B0604020202020204" pitchFamily="34" charset="0"/>
              <a:buChar char="•"/>
            </a:pPr>
            <a:r>
              <a:rPr lang="en-US" sz="745" dirty="0">
                <a:latin typeface="Raleway Medium" pitchFamily="2" charset="0"/>
              </a:rPr>
              <a:t>Worked on framework for metrics / log / traces integration with operation system.</a:t>
            </a:r>
          </a:p>
          <a:p>
            <a:pPr marL="106507" indent="-106507">
              <a:buFont typeface="Arial" panose="020B0604020202020204" pitchFamily="34" charset="0"/>
              <a:buChar char="•"/>
            </a:pPr>
            <a:r>
              <a:rPr lang="en-US" sz="745" dirty="0">
                <a:latin typeface="Raleway Medium" pitchFamily="2" charset="0"/>
              </a:rPr>
              <a:t>Worked on docker composer to create local Dev Env</a:t>
            </a:r>
          </a:p>
          <a:p>
            <a:pPr marL="106507" indent="-106507">
              <a:buFont typeface="Arial" panose="020B0604020202020204" pitchFamily="34" charset="0"/>
              <a:buChar char="•"/>
            </a:pPr>
            <a:r>
              <a:rPr lang="en-US" sz="745" dirty="0">
                <a:latin typeface="Raleway Medium" pitchFamily="2" charset="0"/>
              </a:rPr>
              <a:t>Worked with </a:t>
            </a:r>
            <a:r>
              <a:rPr lang="en-US" sz="745" dirty="0" err="1">
                <a:latin typeface="Raleway Medium" pitchFamily="2" charset="0"/>
              </a:rPr>
              <a:t>DevSecOps</a:t>
            </a:r>
            <a:r>
              <a:rPr lang="en-US" sz="745" dirty="0">
                <a:latin typeface="Raleway Medium" pitchFamily="2" charset="0"/>
              </a:rPr>
              <a:t> team to establish framework for continuous delivery, deployment automation.</a:t>
            </a:r>
          </a:p>
          <a:p>
            <a:pPr marL="106507" indent="-106507">
              <a:buFont typeface="Arial" panose="020B0604020202020204" pitchFamily="34" charset="0"/>
              <a:buChar char="•"/>
            </a:pPr>
            <a:r>
              <a:rPr lang="en-US" sz="745" dirty="0">
                <a:latin typeface="Raleway Medium" pitchFamily="2" charset="0"/>
              </a:rPr>
              <a:t>Worked on postman simulator API</a:t>
            </a:r>
            <a:r>
              <a:rPr lang="en-IN" sz="745" dirty="0">
                <a:latin typeface="Raleway Medium" pitchFamily="2" charset="0"/>
              </a:rPr>
              <a:t>.</a:t>
            </a:r>
          </a:p>
        </p:txBody>
      </p:sp>
      <p:sp>
        <p:nvSpPr>
          <p:cNvPr id="13" name="TextBox 12">
            <a:extLst>
              <a:ext uri="{FF2B5EF4-FFF2-40B4-BE49-F238E27FC236}">
                <a16:creationId xmlns:a16="http://schemas.microsoft.com/office/drawing/2014/main" id="{6A09D5B9-E1DE-459C-848A-815E5BD3C531}"/>
              </a:ext>
            </a:extLst>
          </p:cNvPr>
          <p:cNvSpPr txBox="1"/>
          <p:nvPr/>
        </p:nvSpPr>
        <p:spPr>
          <a:xfrm>
            <a:off x="3336037" y="2589536"/>
            <a:ext cx="4742573" cy="1410835"/>
          </a:xfrm>
          <a:prstGeom prst="rect">
            <a:avLst/>
          </a:prstGeom>
          <a:noFill/>
        </p:spPr>
        <p:txBody>
          <a:bodyPr wrap="square" rtlCol="0">
            <a:spAutoFit/>
          </a:bodyPr>
          <a:lstStyle/>
          <a:p>
            <a:r>
              <a:rPr lang="en-IN" sz="1118" dirty="0">
                <a:latin typeface="Raleway SemiBold" pitchFamily="2" charset="0"/>
              </a:rPr>
              <a:t>Procurement Management System</a:t>
            </a:r>
          </a:p>
          <a:p>
            <a:r>
              <a:rPr lang="en-IN" sz="745" dirty="0">
                <a:solidFill>
                  <a:srgbClr val="0070C0"/>
                </a:solidFill>
                <a:latin typeface="Raleway SemiBold" pitchFamily="2" charset="0"/>
              </a:rPr>
              <a:t>(Java8, Spring Boot, JPA, PostgreSQL, Elasticsearch, Docker)</a:t>
            </a:r>
          </a:p>
          <a:p>
            <a:endParaRPr lang="en-IN" sz="745" dirty="0">
              <a:latin typeface="Raleway Medium" pitchFamily="2" charset="0"/>
            </a:endParaRPr>
          </a:p>
          <a:p>
            <a:pPr marL="106507" indent="-106507">
              <a:buFont typeface="Arial" panose="020B0604020202020204" pitchFamily="34" charset="0"/>
              <a:buChar char="•"/>
            </a:pPr>
            <a:r>
              <a:rPr lang="en-US" sz="745" dirty="0">
                <a:latin typeface="Raleway Medium" pitchFamily="2" charset="0"/>
              </a:rPr>
              <a:t>Worked on applying Design Patterns &amp;  develop Data Model, UML for common services framework</a:t>
            </a:r>
          </a:p>
          <a:p>
            <a:pPr marL="106507" indent="-106507">
              <a:buFont typeface="Arial" panose="020B0604020202020204" pitchFamily="34" charset="0"/>
              <a:buChar char="•"/>
            </a:pPr>
            <a:r>
              <a:rPr lang="en-US" sz="745" dirty="0">
                <a:latin typeface="Raleway Medium" pitchFamily="2" charset="0"/>
              </a:rPr>
              <a:t>Worked on all the API  required for Admin portal</a:t>
            </a:r>
          </a:p>
          <a:p>
            <a:pPr marL="106507" indent="-106507">
              <a:buFont typeface="Arial" panose="020B0604020202020204" pitchFamily="34" charset="0"/>
              <a:buChar char="•"/>
            </a:pPr>
            <a:r>
              <a:rPr lang="en-US" sz="745" dirty="0">
                <a:latin typeface="Raleway Medium" pitchFamily="2" charset="0"/>
              </a:rPr>
              <a:t>Worked on Authentication , MFA and Security framework for product portals</a:t>
            </a:r>
          </a:p>
          <a:p>
            <a:pPr marL="106507" indent="-106507">
              <a:buFont typeface="Arial" panose="020B0604020202020204" pitchFamily="34" charset="0"/>
              <a:buChar char="•"/>
            </a:pPr>
            <a:r>
              <a:rPr lang="en-US" sz="745" dirty="0">
                <a:latin typeface="Raleway Medium" pitchFamily="2" charset="0"/>
              </a:rPr>
              <a:t>Worked on developing a highly scalable alert notification framework</a:t>
            </a:r>
          </a:p>
          <a:p>
            <a:pPr marL="106507" indent="-106507">
              <a:buFont typeface="Arial" panose="020B0604020202020204" pitchFamily="34" charset="0"/>
              <a:buChar char="•"/>
            </a:pPr>
            <a:r>
              <a:rPr lang="en-US" sz="745" dirty="0">
                <a:latin typeface="Raleway Medium" pitchFamily="2" charset="0"/>
              </a:rPr>
              <a:t>Wrote docker composers for Dev env creation and tests.</a:t>
            </a:r>
          </a:p>
          <a:p>
            <a:pPr marL="106507" indent="-106507">
              <a:buFont typeface="Arial" panose="020B0604020202020204" pitchFamily="34" charset="0"/>
              <a:buChar char="•"/>
            </a:pPr>
            <a:r>
              <a:rPr lang="en-US" sz="745" dirty="0">
                <a:latin typeface="Raleway Medium" pitchFamily="2" charset="0"/>
              </a:rPr>
              <a:t>Worked closely with the QA, project management and business teams on solution implementation</a:t>
            </a:r>
          </a:p>
          <a:p>
            <a:pPr marL="106507" indent="-106507">
              <a:buFont typeface="Arial" panose="020B0604020202020204" pitchFamily="34" charset="0"/>
              <a:buChar char="•"/>
            </a:pPr>
            <a:r>
              <a:rPr lang="en-US" sz="745" dirty="0">
                <a:latin typeface="Raleway Medium" pitchFamily="2" charset="0"/>
              </a:rPr>
              <a:t>Worked on the code fixes for Errors</a:t>
            </a:r>
          </a:p>
          <a:p>
            <a:pPr marL="106507" indent="-106507">
              <a:buFont typeface="Arial" panose="020B0604020202020204" pitchFamily="34" charset="0"/>
              <a:buChar char="•"/>
            </a:pPr>
            <a:r>
              <a:rPr lang="en-US" sz="745" dirty="0">
                <a:latin typeface="Raleway Medium" pitchFamily="2" charset="0"/>
              </a:rPr>
              <a:t>Worked with UI team for integration of UI with API</a:t>
            </a:r>
            <a:endParaRPr lang="en-IN" sz="745" dirty="0">
              <a:latin typeface="Raleway Medium" pitchFamily="2" charset="0"/>
            </a:endParaRPr>
          </a:p>
        </p:txBody>
      </p:sp>
      <p:sp>
        <p:nvSpPr>
          <p:cNvPr id="14" name="Rectangle 13">
            <a:extLst>
              <a:ext uri="{FF2B5EF4-FFF2-40B4-BE49-F238E27FC236}">
                <a16:creationId xmlns:a16="http://schemas.microsoft.com/office/drawing/2014/main" id="{6D159987-93B0-4FB2-99B2-7FA868768E65}"/>
              </a:ext>
            </a:extLst>
          </p:cNvPr>
          <p:cNvSpPr/>
          <p:nvPr/>
        </p:nvSpPr>
        <p:spPr>
          <a:xfrm>
            <a:off x="3195268" y="409722"/>
            <a:ext cx="4963475" cy="416089"/>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18" dirty="0"/>
          </a:p>
        </p:txBody>
      </p:sp>
      <p:sp>
        <p:nvSpPr>
          <p:cNvPr id="22" name="TextBox 21">
            <a:extLst>
              <a:ext uri="{FF2B5EF4-FFF2-40B4-BE49-F238E27FC236}">
                <a16:creationId xmlns:a16="http://schemas.microsoft.com/office/drawing/2014/main" id="{16DF07B5-289A-420F-83E5-CF0531EE871E}"/>
              </a:ext>
            </a:extLst>
          </p:cNvPr>
          <p:cNvSpPr txBox="1"/>
          <p:nvPr/>
        </p:nvSpPr>
        <p:spPr>
          <a:xfrm>
            <a:off x="3336036" y="497513"/>
            <a:ext cx="2014526" cy="264368"/>
          </a:xfrm>
          <a:prstGeom prst="rect">
            <a:avLst/>
          </a:prstGeom>
          <a:noFill/>
        </p:spPr>
        <p:txBody>
          <a:bodyPr wrap="square" rtlCol="0">
            <a:spAutoFit/>
          </a:bodyPr>
          <a:lstStyle/>
          <a:p>
            <a:r>
              <a:rPr lang="en-IN" sz="1118" dirty="0">
                <a:solidFill>
                  <a:schemeClr val="bg1"/>
                </a:solidFill>
                <a:latin typeface="Raleway SemiBold" pitchFamily="2" charset="0"/>
              </a:rPr>
              <a:t>Recent Engagements</a:t>
            </a:r>
            <a:endParaRPr lang="en-IN" sz="745" dirty="0">
              <a:solidFill>
                <a:schemeClr val="bg1"/>
              </a:solidFill>
              <a:latin typeface="Raleway SemiBold" pitchFamily="2" charset="0"/>
            </a:endParaRPr>
          </a:p>
        </p:txBody>
      </p:sp>
    </p:spTree>
    <p:extLst>
      <p:ext uri="{BB962C8B-B14F-4D97-AF65-F5344CB8AC3E}">
        <p14:creationId xmlns:p14="http://schemas.microsoft.com/office/powerpoint/2010/main" val="19376586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7C478D541D6174AA77107583A259864" ma:contentTypeVersion="4" ma:contentTypeDescription="Create a new document." ma:contentTypeScope="" ma:versionID="6aa4fae692c1ff43e35373b033661ad6">
  <xsd:schema xmlns:xsd="http://www.w3.org/2001/XMLSchema" xmlns:xs="http://www.w3.org/2001/XMLSchema" xmlns:p="http://schemas.microsoft.com/office/2006/metadata/properties" xmlns:ns2="ff405f1e-6196-4298-8e35-fbecc950cb7b" targetNamespace="http://schemas.microsoft.com/office/2006/metadata/properties" ma:root="true" ma:fieldsID="98c1a472ba01282ba882d7e661592592" ns2:_="">
    <xsd:import namespace="ff405f1e-6196-4298-8e35-fbecc950cb7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405f1e-6196-4298-8e35-fbecc950cb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51BF9A0-A380-42E8-B81F-03D2471160C1}">
  <ds:schemaRefs>
    <ds:schemaRef ds:uri="http://purl.org/dc/terms/"/>
    <ds:schemaRef ds:uri="http://www.w3.org/XML/1998/namespace"/>
    <ds:schemaRef ds:uri="http://schemas.microsoft.com/office/2006/metadata/properties"/>
    <ds:schemaRef ds:uri="http://schemas.microsoft.com/office/2006/documentManagement/types"/>
    <ds:schemaRef ds:uri="http://purl.org/dc/elements/1.1/"/>
    <ds:schemaRef ds:uri="http://purl.org/dc/dcmitype/"/>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820D18E-F63F-49C2-965E-6C5E03B4CC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405f1e-6196-4298-8e35-fbecc950cb7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21F4AC2-0AEA-4354-802A-609AA4E08D7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Slice</Template>
  <TotalTime>1344</TotalTime>
  <Words>3428</Words>
  <Application>Microsoft Office PowerPoint</Application>
  <PresentationFormat>On-screen Show (16:9)</PresentationFormat>
  <Paragraphs>492</Paragraphs>
  <Slides>18</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Calibri Light</vt:lpstr>
      <vt:lpstr>Raleway ExtraBold</vt:lpstr>
      <vt:lpstr>Raleway Medium</vt:lpstr>
      <vt:lpstr>Raleway SemiBold</vt:lpstr>
      <vt:lpstr>Wingdings</vt:lpstr>
      <vt:lpstr>Office Theme</vt:lpstr>
      <vt:lpstr>PowerPoint Presentation</vt:lpstr>
      <vt:lpstr>PowerPoint Presentation</vt:lpstr>
      <vt:lpstr>PowerPoint Presentation</vt:lpstr>
      <vt:lpstr>PowerPoint Presentation</vt:lpstr>
      <vt:lpstr>Domain Analyst - Product Owner</vt:lpstr>
      <vt:lpstr>Product Owner Key Responsibilities</vt:lpstr>
      <vt:lpstr>Project Manager</vt:lpstr>
      <vt:lpstr>Scrum Master Key Responsibilities</vt:lpstr>
      <vt:lpstr>Lead Full Scale Developer </vt:lpstr>
      <vt:lpstr>The Full-Scale Lead Developer have key responsibilities beyond being contributing Developers</vt:lpstr>
      <vt:lpstr>Full Scale Developer </vt:lpstr>
      <vt:lpstr>As key performers, Developers do what it takes to deliver stories</vt:lpstr>
      <vt:lpstr>DevSecOps Engineer</vt:lpstr>
      <vt:lpstr>The DevOps Engineer have key responsibilities for the team and platform a whole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High-level future state road map</dc:title>
  <dc:creator>Akbar Khan</dc:creator>
  <cp:lastModifiedBy>Papu Bhattacharya</cp:lastModifiedBy>
  <cp:revision>164</cp:revision>
  <dcterms:created xsi:type="dcterms:W3CDTF">2020-06-25T11:39:16Z</dcterms:created>
  <dcterms:modified xsi:type="dcterms:W3CDTF">2021-11-01T13:53:17Z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0x01010057C478D541D6174AA77107583A259864</vt:lpwstr>
  </property>
</Properties>
</file>