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336" r:id="rId6"/>
    <p:sldId id="354" r:id="rId7"/>
    <p:sldId id="340" r:id="rId8"/>
    <p:sldId id="355" r:id="rId9"/>
    <p:sldId id="341" r:id="rId10"/>
    <p:sldId id="356" r:id="rId11"/>
    <p:sldId id="357" r:id="rId12"/>
    <p:sldId id="358" r:id="rId13"/>
    <p:sldId id="344" r:id="rId14"/>
    <p:sldId id="359" r:id="rId15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25" autoAdjust="0"/>
    <p:restoredTop sz="94291" autoAdjust="0"/>
  </p:normalViewPr>
  <p:slideViewPr>
    <p:cSldViewPr snapToGrid="0">
      <p:cViewPr varScale="1">
        <p:scale>
          <a:sx n="86" d="100"/>
          <a:sy n="86" d="100"/>
        </p:scale>
        <p:origin x="64" y="384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11/13/2019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11/13/2019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07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17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01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50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76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093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800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120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67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89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356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A58A48-F944-46BC-B621-B89623F75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49" y="284614"/>
            <a:ext cx="7478702" cy="478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09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8590A4-7550-4B6C-AF14-82889248E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73002"/>
            <a:ext cx="4631829" cy="425769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39C4D2-491F-4D62-BF3A-21B29AC24010}"/>
              </a:ext>
            </a:extLst>
          </p:cNvPr>
          <p:cNvSpPr txBox="1">
            <a:spLocks/>
          </p:cNvSpPr>
          <p:nvPr/>
        </p:nvSpPr>
        <p:spPr>
          <a:xfrm>
            <a:off x="4693113" y="1198142"/>
            <a:ext cx="4450887" cy="31506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75000"/>
              <a:buFontTx/>
              <a:buNone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233363" indent="-233363" algn="l" defTabSz="457200" rtl="0" eaLnBrk="1" latinLnBrk="0" hangingPunct="1">
              <a:spcBef>
                <a:spcPct val="20000"/>
              </a:spcBef>
              <a:buClr>
                <a:srgbClr val="DA291C"/>
              </a:buClr>
              <a:buSzPct val="80000"/>
              <a:buFont typeface="Wingdings" panose="05000000000000000000" pitchFamily="2" charset="2"/>
              <a:buChar char="u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461963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Clr>
                <a:srgbClr val="919D9D"/>
              </a:buClr>
              <a:buFont typeface="Arial" panose="020B0604020202020204" pitchFamily="34" charset="0"/>
              <a:buChar char="■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909638" indent="-21907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90000"/>
              </a:buClr>
              <a:buSzPct val="100000"/>
            </a:pPr>
            <a:r>
              <a:rPr lang="en-US" sz="1800" dirty="0">
                <a:latin typeface="+mn-lt"/>
                <a:cs typeface="Helvetica"/>
              </a:rPr>
              <a:t>Myself</a:t>
            </a:r>
          </a:p>
          <a:p>
            <a:pPr>
              <a:buClr>
                <a:srgbClr val="D90000"/>
              </a:buClr>
              <a:buSzPct val="100000"/>
            </a:pPr>
            <a:r>
              <a:rPr lang="en-US" sz="1800" dirty="0">
                <a:latin typeface="+mn-lt"/>
                <a:cs typeface="Helvetica"/>
              </a:rPr>
              <a:t> - 20 Years System Product Development</a:t>
            </a:r>
          </a:p>
          <a:p>
            <a:pPr>
              <a:buClr>
                <a:srgbClr val="D90000"/>
              </a:buClr>
              <a:buSzPct val="100000"/>
            </a:pPr>
            <a:endParaRPr lang="en-US" sz="1800" dirty="0">
              <a:latin typeface="+mn-lt"/>
              <a:cs typeface="Helvetica"/>
            </a:endParaRPr>
          </a:p>
          <a:p>
            <a:pPr>
              <a:buClr>
                <a:srgbClr val="D90000"/>
              </a:buClr>
              <a:buSzPct val="100000"/>
            </a:pPr>
            <a:r>
              <a:rPr lang="en-US" sz="1800" dirty="0">
                <a:latin typeface="+mn-lt"/>
                <a:cs typeface="Helvetica"/>
              </a:rPr>
              <a:t> - Part of Core Team – Storage Essential, Network Authority, Safe Access</a:t>
            </a:r>
          </a:p>
          <a:p>
            <a:pPr>
              <a:buClr>
                <a:srgbClr val="D90000"/>
              </a:buClr>
              <a:buSzPct val="100000"/>
            </a:pPr>
            <a:endParaRPr lang="en-US" sz="1800" dirty="0">
              <a:latin typeface="+mn-lt"/>
              <a:cs typeface="Helvetica"/>
            </a:endParaRPr>
          </a:p>
          <a:p>
            <a:pPr>
              <a:buClr>
                <a:srgbClr val="D90000"/>
              </a:buClr>
              <a:buSzPct val="100000"/>
            </a:pPr>
            <a:r>
              <a:rPr lang="en-US" sz="1800" dirty="0">
                <a:latin typeface="+mn-lt"/>
                <a:cs typeface="Helvetica"/>
              </a:rPr>
              <a:t> - Currently leading Synectiks Xformation Platform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0CFBE8-FF4A-4E85-ABB0-D9E4CA2CA889}"/>
              </a:ext>
            </a:extLst>
          </p:cNvPr>
          <p:cNvSpPr txBox="1">
            <a:spLocks/>
          </p:cNvSpPr>
          <p:nvPr/>
        </p:nvSpPr>
        <p:spPr>
          <a:xfrm>
            <a:off x="226901" y="1198142"/>
            <a:ext cx="3877415" cy="36325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75000"/>
              <a:buFontTx/>
              <a:buNone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233363" indent="-233363" algn="l" defTabSz="457200" rtl="0" eaLnBrk="1" latinLnBrk="0" hangingPunct="1">
              <a:spcBef>
                <a:spcPct val="20000"/>
              </a:spcBef>
              <a:buClr>
                <a:srgbClr val="DA291C"/>
              </a:buClr>
              <a:buSzPct val="80000"/>
              <a:buFont typeface="Wingdings" panose="05000000000000000000" pitchFamily="2" charset="2"/>
              <a:buChar char="u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461963" indent="-22860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Clr>
                <a:srgbClr val="919D9D"/>
              </a:buClr>
              <a:buFont typeface="Arial" panose="020B0604020202020204" pitchFamily="34" charset="0"/>
              <a:buChar char="■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909638" indent="-219075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90000"/>
              </a:buClr>
              <a:buSzPct val="100000"/>
            </a:pPr>
            <a:r>
              <a:rPr lang="en-US" sz="1800" dirty="0">
                <a:latin typeface="+mn-lt"/>
                <a:cs typeface="Helvetica"/>
              </a:rPr>
              <a:t>Agenda</a:t>
            </a:r>
          </a:p>
          <a:p>
            <a:pPr marL="285750" indent="-285750">
              <a:buClr>
                <a:srgbClr val="D90000"/>
              </a:buClr>
              <a:buSzPct val="100000"/>
              <a:buFont typeface="Arial" panose="020B0604020202020204" pitchFamily="34" charset="0"/>
              <a:buChar char="+"/>
            </a:pPr>
            <a:r>
              <a:rPr lang="en-US" sz="1800" dirty="0">
                <a:latin typeface="+mn-lt"/>
                <a:cs typeface="Helvetica"/>
              </a:rPr>
              <a:t>Discuss key points on Extending and Optimizing Your Hybrid IT</a:t>
            </a:r>
          </a:p>
          <a:p>
            <a:pPr>
              <a:buClr>
                <a:srgbClr val="D90000"/>
              </a:buClr>
              <a:buSzPct val="100000"/>
            </a:pPr>
            <a:endParaRPr lang="en-US" sz="1800" dirty="0">
              <a:latin typeface="+mn-lt"/>
              <a:cs typeface="Helvetica"/>
            </a:endParaRPr>
          </a:p>
          <a:p>
            <a:pPr>
              <a:buClr>
                <a:srgbClr val="D90000"/>
              </a:buClr>
              <a:buSzPct val="100000"/>
            </a:pPr>
            <a:r>
              <a:rPr lang="en-US" sz="1800" dirty="0">
                <a:latin typeface="+mn-lt"/>
                <a:cs typeface="Helvetica"/>
              </a:rPr>
              <a:t>Mode </a:t>
            </a:r>
          </a:p>
          <a:p>
            <a:pPr marL="285750" indent="-285750">
              <a:buClr>
                <a:srgbClr val="D90000"/>
              </a:buClr>
              <a:buSzPct val="100000"/>
              <a:buFont typeface="Arial" panose="020B0604020202020204" pitchFamily="34" charset="0"/>
              <a:buChar char="+"/>
            </a:pPr>
            <a:r>
              <a:rPr lang="en-US" sz="1800" dirty="0">
                <a:latin typeface="+mn-lt"/>
                <a:cs typeface="Helvetica"/>
              </a:rPr>
              <a:t>Interactive / Story Telling</a:t>
            </a:r>
          </a:p>
          <a:p>
            <a:pPr>
              <a:buClr>
                <a:srgbClr val="D90000"/>
              </a:buClr>
              <a:buSzPct val="100000"/>
            </a:pPr>
            <a:endParaRPr lang="en-US" sz="1800" dirty="0">
              <a:latin typeface="+mn-lt"/>
              <a:cs typeface="Helvetica"/>
            </a:endParaRPr>
          </a:p>
          <a:p>
            <a:pPr>
              <a:buClr>
                <a:srgbClr val="D90000"/>
              </a:buClr>
              <a:buSzPct val="100000"/>
            </a:pPr>
            <a:r>
              <a:rPr lang="en-US" sz="1800" dirty="0">
                <a:latin typeface="+mn-lt"/>
                <a:cs typeface="Helvetica"/>
              </a:rPr>
              <a:t>Target</a:t>
            </a:r>
          </a:p>
          <a:p>
            <a:pPr marL="285750" indent="-285750">
              <a:buClr>
                <a:srgbClr val="D90000"/>
              </a:buClr>
              <a:buSzPct val="100000"/>
              <a:buFont typeface="Arial" panose="020B0604020202020204" pitchFamily="34" charset="0"/>
              <a:buChar char="+"/>
            </a:pPr>
            <a:r>
              <a:rPr lang="en-US" sz="1800" dirty="0">
                <a:latin typeface="+mn-lt"/>
                <a:cs typeface="Helvetica"/>
              </a:rPr>
              <a:t>1 tangible benefit for each Audience</a:t>
            </a:r>
          </a:p>
        </p:txBody>
      </p:sp>
    </p:spTree>
    <p:extLst>
      <p:ext uri="{BB962C8B-B14F-4D97-AF65-F5344CB8AC3E}">
        <p14:creationId xmlns:p14="http://schemas.microsoft.com/office/powerpoint/2010/main" val="7263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976CF711-2976-47F4-940C-A94BE450F6F8}"/>
              </a:ext>
            </a:extLst>
          </p:cNvPr>
          <p:cNvSpPr txBox="1"/>
          <p:nvPr/>
        </p:nvSpPr>
        <p:spPr>
          <a:xfrm>
            <a:off x="6550750" y="622471"/>
            <a:ext cx="2480728" cy="45954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218F87-07B5-4053-A23B-00CDB85544B0}"/>
              </a:ext>
            </a:extLst>
          </p:cNvPr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657600" y="0"/>
            <a:ext cx="52578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 Public / Private / Hybrid</a:t>
            </a:r>
            <a:endParaRPr lang="en-US" dirty="0">
              <a:latin typeface="Helvetica" panose="020B06040202020202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610C5C-5512-4C1B-BB16-C17166DC72F8}"/>
              </a:ext>
            </a:extLst>
          </p:cNvPr>
          <p:cNvSpPr txBox="1"/>
          <p:nvPr/>
        </p:nvSpPr>
        <p:spPr>
          <a:xfrm>
            <a:off x="320948" y="641897"/>
            <a:ext cx="2496593" cy="45016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59B999-2B06-46C4-9325-2A6B4AFBD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43" y="641895"/>
            <a:ext cx="1479396" cy="18139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B505CCA-FE55-497E-8579-87A52555185F}"/>
              </a:ext>
            </a:extLst>
          </p:cNvPr>
          <p:cNvSpPr/>
          <p:nvPr/>
        </p:nvSpPr>
        <p:spPr>
          <a:xfrm>
            <a:off x="320948" y="2316384"/>
            <a:ext cx="238508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  <a:latin typeface="Roboto-Regular"/>
              </a:rPr>
              <a:t>	      </a:t>
            </a:r>
            <a:r>
              <a:rPr lang="en-US" sz="4000" dirty="0">
                <a:solidFill>
                  <a:srgbClr val="00B050"/>
                </a:solidFill>
                <a:latin typeface="Roboto-Regular"/>
              </a:rPr>
              <a:t>+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  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Good for Rapid Application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Development, Scientific Data Processing, and Web-Scale Applications.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Pay As You Go. </a:t>
            </a:r>
          </a:p>
          <a:p>
            <a:r>
              <a:rPr lang="en-US" sz="2000" dirty="0">
                <a:solidFill>
                  <a:schemeClr val="bg2"/>
                </a:solidFill>
                <a:latin typeface="Roboto-Regular"/>
              </a:rPr>
              <a:t>	</a:t>
            </a:r>
            <a:r>
              <a:rPr lang="en-US" sz="4000" dirty="0">
                <a:solidFill>
                  <a:schemeClr val="bg2"/>
                </a:solidFill>
                <a:latin typeface="Roboto-Regular"/>
              </a:rPr>
              <a:t>	-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Weak SLA , Limited Security , Regulatory Compliance, Cost at Scale.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B8CF70-2F4D-42E3-86C5-C15DF2B28A65}"/>
              </a:ext>
            </a:extLst>
          </p:cNvPr>
          <p:cNvSpPr txBox="1"/>
          <p:nvPr/>
        </p:nvSpPr>
        <p:spPr>
          <a:xfrm>
            <a:off x="1009424" y="243146"/>
            <a:ext cx="142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latin typeface="Helvetica" panose="020B0604020202020204" pitchFamily="2" charset="0"/>
              </a:rPr>
              <a:t>Public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7F8CD9-249E-4B3A-A307-10C736D11B81}"/>
              </a:ext>
            </a:extLst>
          </p:cNvPr>
          <p:cNvSpPr txBox="1"/>
          <p:nvPr/>
        </p:nvSpPr>
        <p:spPr>
          <a:xfrm>
            <a:off x="3328049" y="653050"/>
            <a:ext cx="2480728" cy="45954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F40CD3-350D-458E-A705-12D64827FF30}"/>
              </a:ext>
            </a:extLst>
          </p:cNvPr>
          <p:cNvSpPr/>
          <p:nvPr/>
        </p:nvSpPr>
        <p:spPr>
          <a:xfrm>
            <a:off x="3423697" y="2435676"/>
            <a:ext cx="238508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  <a:latin typeface="Roboto-Regular"/>
              </a:rPr>
              <a:t>	      </a:t>
            </a:r>
            <a:r>
              <a:rPr lang="en-US" sz="4000" dirty="0">
                <a:solidFill>
                  <a:srgbClr val="00B050"/>
                </a:solidFill>
                <a:latin typeface="Roboto-Regular"/>
              </a:rPr>
              <a:t>+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  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Good for Enterprise Security , Regulation , Cost @ scale</a:t>
            </a:r>
          </a:p>
          <a:p>
            <a:r>
              <a:rPr lang="en-US" sz="2000" dirty="0">
                <a:solidFill>
                  <a:schemeClr val="bg2"/>
                </a:solidFill>
                <a:latin typeface="Roboto-Regular"/>
              </a:rPr>
              <a:t>	</a:t>
            </a:r>
            <a:r>
              <a:rPr lang="en-US" sz="4000" dirty="0">
                <a:solidFill>
                  <a:schemeClr val="bg2"/>
                </a:solidFill>
                <a:latin typeface="Roboto-Regular"/>
              </a:rPr>
              <a:t>	-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  <a:latin typeface="Roboto-Regular"/>
            </a:endParaRP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Slow Innovation, Large Capex/ Opex</a:t>
            </a:r>
          </a:p>
          <a:p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D6C8AF-7193-47D1-8E08-EB824E27DCD4}"/>
              </a:ext>
            </a:extLst>
          </p:cNvPr>
          <p:cNvSpPr txBox="1"/>
          <p:nvPr/>
        </p:nvSpPr>
        <p:spPr>
          <a:xfrm>
            <a:off x="3958473" y="228600"/>
            <a:ext cx="142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latin typeface="Helvetica" panose="020B0604020202020204" pitchFamily="2" charset="0"/>
              </a:rPr>
              <a:t>Private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1800F6-5A75-4550-8803-B88419501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761" y="667515"/>
            <a:ext cx="1535656" cy="178500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9A5E507-EB7B-4791-9E05-A27087BEE4A5}"/>
              </a:ext>
            </a:extLst>
          </p:cNvPr>
          <p:cNvSpPr/>
          <p:nvPr/>
        </p:nvSpPr>
        <p:spPr>
          <a:xfrm>
            <a:off x="6598574" y="2593382"/>
            <a:ext cx="238508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  <a:latin typeface="Roboto-Regular"/>
              </a:rPr>
              <a:t>	      </a:t>
            </a:r>
            <a:r>
              <a:rPr lang="en-US" sz="4000" dirty="0">
                <a:solidFill>
                  <a:srgbClr val="00B050"/>
                </a:solidFill>
                <a:latin typeface="Roboto-Regular"/>
              </a:rPr>
              <a:t>+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  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Hybrid Cloud lays the foundation for embracing new technologies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Roboto-Regular"/>
              </a:rPr>
              <a:t>such as containerization , serverless, platform as a service (PaaS), IoT and edge computing — all  with an eye toward improving business outcomes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9ED059-ABE0-4694-AEBB-093D998F0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0738" y="641895"/>
            <a:ext cx="1817761" cy="18106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C53B55-3851-42FC-8FFE-867C384C60C1}"/>
              </a:ext>
            </a:extLst>
          </p:cNvPr>
          <p:cNvSpPr txBox="1"/>
          <p:nvPr/>
        </p:nvSpPr>
        <p:spPr>
          <a:xfrm>
            <a:off x="7265340" y="180238"/>
            <a:ext cx="1423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cap="small" dirty="0">
                <a:latin typeface="Helvetica" panose="020B0604020202020204" pitchFamily="2" charset="0"/>
              </a:rPr>
              <a:t>Hybrid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 descr="IDS-PP-AMP-Divi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" y="252721"/>
            <a:ext cx="9144001" cy="45917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B04F03-6722-405B-B938-DBD46441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482" y="7193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Key Drivers</a:t>
            </a:r>
            <a:endParaRPr lang="en-US" dirty="0">
              <a:latin typeface="Helvetica" panose="020B06040202020202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512997-3088-4F2B-A4E0-9471B4566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98" y="557611"/>
            <a:ext cx="1953438" cy="17242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24846A-FE51-4696-9B1E-C901EFA9F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6469" y="557610"/>
            <a:ext cx="2065531" cy="17242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B9BDD8-E844-4E09-959E-88DDC7D7B7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8137" y="557610"/>
            <a:ext cx="1953439" cy="1733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046146-3484-43FC-B815-81C86A26B8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0639" y="557611"/>
            <a:ext cx="1903304" cy="17335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7A9F15-9555-4E13-A5C3-7D281F8B0147}"/>
              </a:ext>
            </a:extLst>
          </p:cNvPr>
          <p:cNvSpPr txBox="1"/>
          <p:nvPr/>
        </p:nvSpPr>
        <p:spPr>
          <a:xfrm>
            <a:off x="226901" y="2586706"/>
            <a:ext cx="2085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 6-18 months Dev 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Test New stuff , bring back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C4407F-29EC-422B-B026-0EAB7D0B50DB}"/>
              </a:ext>
            </a:extLst>
          </p:cNvPr>
          <p:cNvSpPr txBox="1"/>
          <p:nvPr/>
        </p:nvSpPr>
        <p:spPr>
          <a:xfrm>
            <a:off x="2506469" y="2571750"/>
            <a:ext cx="2085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Prem Regulation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 / Test / HPC / Burst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76792A-860C-4147-8BE9-D5C57B5D6DE5}"/>
              </a:ext>
            </a:extLst>
          </p:cNvPr>
          <p:cNvSpPr txBox="1"/>
          <p:nvPr/>
        </p:nvSpPr>
        <p:spPr>
          <a:xfrm>
            <a:off x="4858137" y="2598294"/>
            <a:ext cx="2085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Low/ Mid scale save CAPEX/ OPEX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 Scale – 6 months ROI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2C48F4-1584-4C5E-B0F0-AE8FF6A6C4D3}"/>
              </a:ext>
            </a:extLst>
          </p:cNvPr>
          <p:cNvSpPr txBox="1"/>
          <p:nvPr/>
        </p:nvSpPr>
        <p:spPr>
          <a:xfrm>
            <a:off x="7096440" y="2598294"/>
            <a:ext cx="2085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 dependency proprietary app/service /tools/ providers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local</a:t>
            </a:r>
          </a:p>
        </p:txBody>
      </p:sp>
    </p:spTree>
    <p:extLst>
      <p:ext uri="{BB962C8B-B14F-4D97-AF65-F5344CB8AC3E}">
        <p14:creationId xmlns:p14="http://schemas.microsoft.com/office/powerpoint/2010/main" val="153097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 descr="IDS-PP-AMP-Divi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" y="252721"/>
            <a:ext cx="9144001" cy="45917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B04F03-6722-405B-B938-DBD46441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482" y="7193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Challenges</a:t>
            </a:r>
            <a:endParaRPr lang="en-US" dirty="0">
              <a:latin typeface="Helvetica" panose="020B06040202020202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6D0AEB-BDC8-404C-95A2-A01EB0BD9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71" y="431141"/>
            <a:ext cx="2527610" cy="18660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E8431F-D3B9-4066-89A4-A7E62E5AE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430" y="431140"/>
            <a:ext cx="2527611" cy="18660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1FCF6B-8024-4393-B51C-927D3FC9F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71" y="2780370"/>
            <a:ext cx="2527610" cy="18660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45CCD5-9B19-42B2-9474-13FA461EF3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9430" y="2780369"/>
            <a:ext cx="2527610" cy="186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6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/>
          <p:cNvSpPr txBox="1">
            <a:spLocks/>
          </p:cNvSpPr>
          <p:nvPr/>
        </p:nvSpPr>
        <p:spPr>
          <a:xfrm>
            <a:off x="436418" y="604718"/>
            <a:ext cx="8252081" cy="441659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Disaster Recovery/Backup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Application Development and Testing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Web Servers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Extract, Transform, and Load (ETL) processes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Machine learning and other analysis tasks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HR, Payroll, Productivity Applications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Supporting Local Data Regulations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Go Global and edge computing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87899" y="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Mostly Used Use Cases</a:t>
            </a:r>
            <a:endParaRPr lang="en-US" dirty="0">
              <a:latin typeface="Helvetica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8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87899" y="0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Getting Started</a:t>
            </a:r>
            <a:endParaRPr lang="en-US" dirty="0">
              <a:latin typeface="Helvetica" panose="020B06040202020202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BD2029-3CEE-4A23-9957-9E9F941A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71" y="252962"/>
            <a:ext cx="6372605" cy="48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3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 descr="IDS-PP-AMP-Divi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" y="252721"/>
            <a:ext cx="9144001" cy="45917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B04F03-6722-405B-B938-DBD46441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482" y="7193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Key Technology Drivers </a:t>
            </a:r>
            <a:endParaRPr lang="en-US" dirty="0">
              <a:latin typeface="Helvetica" panose="020B06040202020202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E864B9-ACD0-4444-8EA4-85CA1D518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2720"/>
            <a:ext cx="9144000" cy="457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552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 descr="IDS-PP-AMP-Divi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" y="252721"/>
            <a:ext cx="9144001" cy="459170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B04F03-6722-405B-B938-DBD46441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482" y="7193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Key Technology Drivers (DevOps) </a:t>
            </a:r>
            <a:endParaRPr lang="en-US" dirty="0">
              <a:latin typeface="Helvetica" panose="020B0604020202020204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783310-01AD-4F15-B488-BBFE9C125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2722"/>
            <a:ext cx="9144000" cy="45779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BE7231-9EC4-440D-BC89-67C7A1DF4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1264"/>
            <a:ext cx="9144000" cy="392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91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 descr="IDS-PP-AMP-Divider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991"/>
            <a:ext cx="9144001" cy="459170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830603-0015-423A-8309-DBA1DB156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482" y="7193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Key Strategic Drivers </a:t>
            </a:r>
            <a:endParaRPr lang="en-US" dirty="0">
              <a:latin typeface="Helvetica" panose="020B0604020202020204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27D5B2-54B8-441F-9152-3094CE3C7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36" y="312808"/>
            <a:ext cx="3705225" cy="7334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1FCB88-080F-4AAD-9932-BAC6244E5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436" y="1199336"/>
            <a:ext cx="3705225" cy="752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9A7A1-FEEC-49C5-B845-188D104D8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35" y="2112493"/>
            <a:ext cx="3705225" cy="714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16A131-B8A8-4DF9-B18D-6E48B6692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435" y="2987550"/>
            <a:ext cx="3705225" cy="6212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4173AB-C777-498B-B084-C190C19A5E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435" y="3769459"/>
            <a:ext cx="37242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22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B830603-0015-423A-8309-DBA1DB156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482" y="7193"/>
            <a:ext cx="4914900" cy="252962"/>
          </a:xfrm>
        </p:spPr>
        <p:txBody>
          <a:bodyPr/>
          <a:lstStyle/>
          <a:p>
            <a:r>
              <a:rPr lang="en-US" sz="1800" b="1" cap="small" dirty="0">
                <a:latin typeface="Helvetica" panose="020B0604020202020204" pitchFamily="2" charset="0"/>
              </a:rPr>
              <a:t>Aggregate -&gt; Extend -&gt; Automate</a:t>
            </a:r>
            <a:endParaRPr lang="en-US" dirty="0">
              <a:latin typeface="Helvetica" panose="020B06040202020202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06BC9-65F0-4BC2-B337-7E10FE3B6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41" y="260154"/>
            <a:ext cx="6533821" cy="488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62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0" ma:contentTypeDescription="Create a new document." ma:contentTypeScope="" ma:versionID="5aa90a4c99ec19552543de5b522c5df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a7e9c3c6c25f28a24043455990ebc943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B1D0BB-4202-4607-AEBF-181977E92D47}"/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42604</TotalTime>
  <Words>297</Words>
  <Application>Microsoft Office PowerPoint</Application>
  <PresentationFormat>On-screen Show (16:9)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Helvetica</vt:lpstr>
      <vt:lpstr>Roboto-Regular</vt:lpstr>
      <vt:lpstr>Wingdings</vt:lpstr>
      <vt:lpstr>Office Theme</vt:lpstr>
      <vt:lpstr>PowerPoint Presentation</vt:lpstr>
      <vt:lpstr>PowerPoint Presentation</vt:lpstr>
      <vt:lpstr> Public / Private / Hybrid</vt:lpstr>
      <vt:lpstr>Key Drivers</vt:lpstr>
      <vt:lpstr>Challenges</vt:lpstr>
      <vt:lpstr>Mostly Used Use Cases</vt:lpstr>
      <vt:lpstr>Getting Started</vt:lpstr>
      <vt:lpstr>Key Technology Drivers </vt:lpstr>
      <vt:lpstr>Key Technology Drivers (DevOps) </vt:lpstr>
      <vt:lpstr>Key Strategic Drivers </vt:lpstr>
      <vt:lpstr>Aggregate -&gt; Extend -&gt; Automate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89</cp:revision>
  <cp:lastPrinted>2016-12-06T22:14:27Z</cp:lastPrinted>
  <dcterms:created xsi:type="dcterms:W3CDTF">2014-11-12T22:29:05Z</dcterms:created>
  <dcterms:modified xsi:type="dcterms:W3CDTF">2019-11-13T22:13:56Z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