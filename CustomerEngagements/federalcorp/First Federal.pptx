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336" r:id="rId6"/>
    <p:sldId id="340" r:id="rId7"/>
    <p:sldId id="341" r:id="rId8"/>
    <p:sldId id="344" r:id="rId9"/>
    <p:sldId id="352" r:id="rId10"/>
    <p:sldId id="339" r:id="rId11"/>
    <p:sldId id="353" r:id="rId12"/>
    <p:sldId id="343" r:id="rId13"/>
    <p:sldId id="350" r:id="rId14"/>
    <p:sldId id="349" r:id="rId15"/>
    <p:sldId id="348" r:id="rId16"/>
    <p:sldId id="347" r:id="rId17"/>
    <p:sldId id="346" r:id="rId18"/>
    <p:sldId id="351" r:id="rId19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5" autoAdjust="0"/>
    <p:restoredTop sz="94291" autoAdjust="0"/>
  </p:normalViewPr>
  <p:slideViewPr>
    <p:cSldViewPr snapToGrid="0">
      <p:cViewPr varScale="1">
        <p:scale>
          <a:sx n="155" d="100"/>
          <a:sy n="155" d="100"/>
        </p:scale>
        <p:origin x="480" y="138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6/5/2018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6/5/2018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07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17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750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093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89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313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41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675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720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666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759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776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836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06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98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2018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C0B67D0-2E5A-4867-9463-40974D4487F0}"/>
              </a:ext>
            </a:extLst>
          </p:cNvPr>
          <p:cNvSpPr txBox="1"/>
          <p:nvPr/>
        </p:nvSpPr>
        <p:spPr>
          <a:xfrm>
            <a:off x="174171" y="4792570"/>
            <a:ext cx="87194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00" cap="small" dirty="0">
                <a:latin typeface="Arial" panose="020B0604020202020204" pitchFamily="34" charset="0"/>
                <a:cs typeface="Arial" panose="020B0604020202020204" pitchFamily="34" charset="0"/>
              </a:rPr>
              <a:t>All information contained in this document and communicated to you by synectiks is confidential and proprietary to synectiks (“confidential information”). The information </a:t>
            </a:r>
            <a:r>
              <a:rPr lang="en-US" sz="500" cap="small" dirty="0" smtClean="0">
                <a:latin typeface="Arial" panose="020B0604020202020204" pitchFamily="34" charset="0"/>
                <a:cs typeface="Arial" panose="020B0604020202020204" pitchFamily="34" charset="0"/>
              </a:rPr>
              <a:t>and any </a:t>
            </a:r>
            <a:r>
              <a:rPr lang="en-US" sz="500" cap="small" dirty="0">
                <a:latin typeface="Arial" panose="020B0604020202020204" pitchFamily="34" charset="0"/>
                <a:cs typeface="Arial" panose="020B0604020202020204" pitchFamily="34" charset="0"/>
              </a:rPr>
              <a:t>pricing data submitted here is non-binding and for evaluation purposes only and is subject to adjustment or modification by synectiks after its review, consideration, and negotiation of the terms and conditions of a definitive final contract. The data and information contained herein may not be reproduced, published or distributed to, or for, any third parties without the express prior written consent of synectiks.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ABC4959-E598-4FD7-8281-789FFD1BF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8085"/>
            <a:ext cx="9144000" cy="432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0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427165" y="1319204"/>
            <a:ext cx="8261334" cy="129881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algn="ctr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700" b="1" cap="small" dirty="0">
                <a:solidFill>
                  <a:srgbClr val="414141"/>
                </a:solidFill>
              </a:rPr>
              <a:t>Managed Services Proposal</a:t>
            </a:r>
          </a:p>
          <a:p>
            <a:pPr marL="280987" lvl="1" indent="0" algn="ctr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0" lang="en-US" sz="2700" b="1" u="none" strike="noStrike" kern="1200" cap="small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/>
              </a:rPr>
              <a:t>For</a:t>
            </a:r>
            <a:endParaRPr lang="en-US" sz="2700" b="1" cap="small" dirty="0">
              <a:solidFill>
                <a:srgbClr val="414141"/>
              </a:solidFill>
              <a:latin typeface="Arial"/>
            </a:endParaRPr>
          </a:p>
          <a:p>
            <a:pPr marL="280987" lvl="1" indent="0" algn="ctr">
              <a:spcBef>
                <a:spcPts val="600"/>
              </a:spcBef>
              <a:spcAft>
                <a:spcPts val="0"/>
              </a:spcAft>
              <a:buNone/>
              <a:defRPr/>
            </a:pPr>
            <a:endParaRPr kumimoji="0" lang="en-US" sz="1800" b="1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949" y="2474718"/>
            <a:ext cx="32194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 descr="IDS-PP-AMP-Divid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" y="252721"/>
            <a:ext cx="9144001" cy="45917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3857" y="1763742"/>
            <a:ext cx="883382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cap="small" dirty="0" smtClean="0">
                <a:solidFill>
                  <a:schemeClr val="bg1"/>
                </a:solidFill>
                <a:latin typeface="+mj-lt"/>
                <a:cs typeface="Helvetica Light"/>
              </a:rPr>
              <a:t>Synectiks</a:t>
            </a:r>
            <a:endParaRPr lang="en-US" sz="4500" cap="small" dirty="0">
              <a:solidFill>
                <a:schemeClr val="bg1"/>
              </a:solidFill>
              <a:latin typeface="+mj-l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309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436418" y="604718"/>
            <a:ext cx="8252081" cy="392415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Best-in-Class Infrastructure and Application Automation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Up to 60% Reduction in Manual Verification Effort 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Continuous Delivery, Continuous Audit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Skilled </a:t>
            </a:r>
            <a:r>
              <a:rPr lang="en-US" sz="1800" dirty="0" smtClean="0">
                <a:cs typeface="Helvetica"/>
              </a:rPr>
              <a:t>Resource </a:t>
            </a:r>
            <a:r>
              <a:rPr lang="en-US" sz="1800" dirty="0">
                <a:cs typeface="Helvetica"/>
              </a:rPr>
              <a:t>Pool for Managed Services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Real-time Visibility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Improved End-User Experience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Dedicated </a:t>
            </a:r>
            <a:r>
              <a:rPr lang="en-US" sz="1800" dirty="0" smtClean="0">
                <a:cs typeface="Helvetica"/>
              </a:rPr>
              <a:t>Support </a:t>
            </a:r>
            <a:r>
              <a:rPr lang="en-US" sz="1800" dirty="0">
                <a:cs typeface="Helvetica"/>
              </a:rPr>
              <a:t>Manager 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Monthly Account Review Meeting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 smtClean="0">
                <a:latin typeface="Helvetica" panose="020B0604020202020204" pitchFamily="2" charset="0"/>
              </a:rPr>
              <a:t>Synectiks Highlights</a:t>
            </a:r>
            <a:endParaRPr lang="en-US" dirty="0"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08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 descr="IDS-PP-AMP-Divid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991"/>
            <a:ext cx="9144001" cy="45917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3857" y="1763742"/>
            <a:ext cx="883382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cap="small" dirty="0">
                <a:solidFill>
                  <a:schemeClr val="bg1"/>
                </a:solidFill>
                <a:latin typeface="+mj-lt"/>
                <a:cs typeface="Helvetica Light"/>
              </a:rPr>
              <a:t>Managed Services Proposal</a:t>
            </a:r>
          </a:p>
        </p:txBody>
      </p:sp>
    </p:spTree>
    <p:extLst>
      <p:ext uri="{BB962C8B-B14F-4D97-AF65-F5344CB8AC3E}">
        <p14:creationId xmlns:p14="http://schemas.microsoft.com/office/powerpoint/2010/main" val="229822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5F692A0-1844-4096-964D-E6754AD32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73002"/>
            <a:ext cx="4631829" cy="4257690"/>
          </a:xfrm>
          <a:prstGeom prst="rect">
            <a:avLst/>
          </a:prstGeom>
        </p:spPr>
      </p:pic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E218F87-07B5-4053-A23B-00CDB85544B0}"/>
              </a:ext>
            </a:extLst>
          </p:cNvPr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5C58BD33-551A-40A9-B177-918DEF6EDAF4}"/>
              </a:ext>
            </a:extLst>
          </p:cNvPr>
          <p:cNvSpPr txBox="1">
            <a:spLocks/>
          </p:cNvSpPr>
          <p:nvPr/>
        </p:nvSpPr>
        <p:spPr>
          <a:xfrm>
            <a:off x="381165" y="1253146"/>
            <a:ext cx="4406505" cy="28611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latin typeface="+mn-lt"/>
                <a:cs typeface="Helvetica"/>
              </a:rPr>
              <a:t>Multiple Tools &amp; Teams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latin typeface="+mn-lt"/>
                <a:cs typeface="Helvetica"/>
              </a:rPr>
              <a:t>Repeated Jobs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latin typeface="+mn-lt"/>
                <a:cs typeface="Helvetica"/>
              </a:rPr>
              <a:t>Multiple Application Delivery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latin typeface="+mn-lt"/>
                <a:cs typeface="Helvetica"/>
              </a:rPr>
              <a:t>Semi Automated Verification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latin typeface="+mn-lt"/>
                <a:cs typeface="Helvetica"/>
              </a:rPr>
              <a:t>Private Cloud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1403389D-BCB0-41A8-BBB4-C103E8A1B1A7}"/>
              </a:ext>
            </a:extLst>
          </p:cNvPr>
          <p:cNvSpPr txBox="1">
            <a:spLocks/>
          </p:cNvSpPr>
          <p:nvPr/>
        </p:nvSpPr>
        <p:spPr>
          <a:xfrm>
            <a:off x="5039684" y="1198143"/>
            <a:ext cx="3877415" cy="31506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75000"/>
              <a:buFontTx/>
              <a:buNone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233363" indent="-233363" algn="l" defTabSz="457200" rtl="0" eaLnBrk="1" latinLnBrk="0" hangingPunct="1">
              <a:spcBef>
                <a:spcPct val="20000"/>
              </a:spcBef>
              <a:buClr>
                <a:srgbClr val="DA291C"/>
              </a:buClr>
              <a:buSzPct val="80000"/>
              <a:buFont typeface="Wingdings" panose="05000000000000000000" pitchFamily="2" charset="2"/>
              <a:buChar char="u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461963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Clr>
                <a:srgbClr val="919D9D"/>
              </a:buClr>
              <a:buFont typeface="Arial" panose="020B0604020202020204" pitchFamily="34" charset="0"/>
              <a:buChar char="■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909638" indent="-21907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D90000"/>
              </a:buClr>
              <a:buSzPct val="100000"/>
              <a:buFont typeface="Arial" panose="020B0604020202020204" pitchFamily="34" charset="0"/>
              <a:buChar char="+"/>
            </a:pPr>
            <a:r>
              <a:rPr lang="en-US" sz="1800" dirty="0">
                <a:latin typeface="+mn-lt"/>
                <a:cs typeface="Helvetica"/>
              </a:rPr>
              <a:t>More </a:t>
            </a:r>
            <a:r>
              <a:rPr lang="en-US" sz="1800" dirty="0" smtClean="0">
                <a:latin typeface="+mn-lt"/>
                <a:cs typeface="Helvetica"/>
              </a:rPr>
              <a:t>Workloads per </a:t>
            </a:r>
            <a:r>
              <a:rPr lang="en-US" sz="1800" dirty="0">
                <a:latin typeface="+mn-lt"/>
                <a:cs typeface="Helvetica"/>
              </a:rPr>
              <a:t>R</a:t>
            </a:r>
            <a:r>
              <a:rPr lang="en-US" sz="1800" dirty="0" smtClean="0">
                <a:latin typeface="+mn-lt"/>
                <a:cs typeface="Helvetica"/>
              </a:rPr>
              <a:t>esource</a:t>
            </a:r>
            <a:endParaRPr lang="en-US" sz="1800" dirty="0">
              <a:latin typeface="+mn-lt"/>
              <a:cs typeface="Helvetica"/>
            </a:endParaRPr>
          </a:p>
          <a:p>
            <a:pPr marL="285750" indent="-285750">
              <a:buClr>
                <a:srgbClr val="D90000"/>
              </a:buClr>
              <a:buSzPct val="100000"/>
              <a:buFont typeface="Arial" panose="020B0604020202020204" pitchFamily="34" charset="0"/>
              <a:buChar char="+"/>
            </a:pPr>
            <a:r>
              <a:rPr lang="en-US" sz="1800" dirty="0">
                <a:latin typeface="+mn-lt"/>
                <a:cs typeface="Helvetica"/>
              </a:rPr>
              <a:t>Inconsistent </a:t>
            </a:r>
            <a:r>
              <a:rPr lang="en-US" sz="1800" dirty="0" smtClean="0">
                <a:latin typeface="+mn-lt"/>
                <a:cs typeface="Helvetica"/>
              </a:rPr>
              <a:t>End-User Experience</a:t>
            </a:r>
            <a:endParaRPr lang="en-US" sz="1800" dirty="0">
              <a:latin typeface="+mn-lt"/>
              <a:cs typeface="Helvetica"/>
            </a:endParaRPr>
          </a:p>
          <a:p>
            <a:pPr marL="285750" indent="-285750">
              <a:buClr>
                <a:srgbClr val="D90000"/>
              </a:buClr>
              <a:buSzPct val="100000"/>
              <a:buFont typeface="Arial" panose="020B0604020202020204" pitchFamily="34" charset="0"/>
              <a:buChar char="+"/>
            </a:pPr>
            <a:r>
              <a:rPr lang="en-US" sz="1800" dirty="0">
                <a:latin typeface="+mn-lt"/>
                <a:cs typeface="Helvetica"/>
              </a:rPr>
              <a:t>Long </a:t>
            </a:r>
            <a:r>
              <a:rPr lang="en-US" sz="1800" dirty="0" smtClean="0">
                <a:latin typeface="+mn-lt"/>
                <a:cs typeface="Helvetica"/>
              </a:rPr>
              <a:t>Mean Time </a:t>
            </a:r>
            <a:r>
              <a:rPr lang="en-US" sz="1800" dirty="0">
                <a:latin typeface="+mn-lt"/>
                <a:cs typeface="Helvetica"/>
              </a:rPr>
              <a:t>to </a:t>
            </a:r>
            <a:r>
              <a:rPr lang="en-US" sz="1800" dirty="0" smtClean="0">
                <a:latin typeface="+mn-lt"/>
                <a:cs typeface="Helvetica"/>
              </a:rPr>
              <a:t>Repair</a:t>
            </a:r>
            <a:endParaRPr lang="en-US" sz="1800" dirty="0">
              <a:latin typeface="+mn-lt"/>
              <a:cs typeface="Helvetica"/>
            </a:endParaRPr>
          </a:p>
          <a:p>
            <a:pPr marL="285750" indent="-285750">
              <a:buClr>
                <a:srgbClr val="D90000"/>
              </a:buClr>
              <a:buSzPct val="100000"/>
              <a:buFont typeface="Arial" panose="020B0604020202020204" pitchFamily="34" charset="0"/>
              <a:buChar char="+"/>
            </a:pPr>
            <a:r>
              <a:rPr lang="en-US" sz="1800" dirty="0">
                <a:latin typeface="+mn-lt"/>
                <a:cs typeface="Helvetica"/>
              </a:rPr>
              <a:t>Release</a:t>
            </a:r>
          </a:p>
          <a:p>
            <a:pPr marL="285750" indent="-285750">
              <a:buClr>
                <a:srgbClr val="D90000"/>
              </a:buClr>
              <a:buSzPct val="100000"/>
              <a:buFont typeface="Arial" panose="020B0604020202020204" pitchFamily="34" charset="0"/>
              <a:buChar char="+"/>
            </a:pPr>
            <a:r>
              <a:rPr lang="en-US" sz="1800" dirty="0">
                <a:latin typeface="+mn-lt"/>
                <a:cs typeface="Helvetica"/>
              </a:rPr>
              <a:t>TCO</a:t>
            </a:r>
          </a:p>
          <a:p>
            <a:pPr marL="285750" indent="-285750">
              <a:buClr>
                <a:srgbClr val="D90000"/>
              </a:buClr>
              <a:buSzPct val="100000"/>
              <a:buFont typeface="Arial" panose="020B0604020202020204" pitchFamily="34" charset="0"/>
              <a:buChar char="+"/>
            </a:pPr>
            <a:r>
              <a:rPr lang="en-US" sz="1800" dirty="0">
                <a:latin typeface="+mn-lt"/>
                <a:cs typeface="Helvetica"/>
              </a:rPr>
              <a:t>Scale 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B7E41989-455C-491E-A044-5F328CC3BEEA}"/>
              </a:ext>
            </a:extLst>
          </p:cNvPr>
          <p:cNvSpPr txBox="1">
            <a:spLocks/>
          </p:cNvSpPr>
          <p:nvPr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 dirty="0">
                <a:solidFill>
                  <a:schemeClr val="tx1"/>
                </a:solidFill>
                <a:effectLst/>
                <a:latin typeface="Arial"/>
                <a:ea typeface="+mn-ea"/>
                <a:cs typeface="+mn-cs"/>
              </a:rPr>
              <a:t>© 2018 SYNECTIKS. all rights reserved. proprietary and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5257800" cy="252962"/>
          </a:xfrm>
        </p:spPr>
        <p:txBody>
          <a:bodyPr/>
          <a:lstStyle/>
          <a:p>
            <a:r>
              <a:rPr lang="en-US" sz="1800" b="1" cap="small" dirty="0" smtClean="0">
                <a:solidFill>
                  <a:srgbClr val="92D050"/>
                </a:solidFill>
                <a:latin typeface="Helvetica" panose="020B0604020202020204" pitchFamily="2" charset="0"/>
              </a:rPr>
              <a:t>First Federal</a:t>
            </a:r>
            <a:r>
              <a:rPr lang="en-US" sz="1800" b="1" cap="small" dirty="0" smtClean="0">
                <a:latin typeface="Helvetica" panose="020B0604020202020204" pitchFamily="2" charset="0"/>
              </a:rPr>
              <a:t> Current Approach &amp; Challenges</a:t>
            </a:r>
            <a:endParaRPr lang="en-US" dirty="0"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33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475747" cy="252962"/>
          </a:xfrm>
        </p:spPr>
        <p:txBody>
          <a:bodyPr/>
          <a:lstStyle/>
          <a:p>
            <a:r>
              <a:rPr lang="en-US" sz="1800" b="1" cap="small" dirty="0">
                <a:solidFill>
                  <a:srgbClr val="92D050"/>
                </a:solidFill>
                <a:latin typeface="Helvetica" panose="020B0604020202020204" pitchFamily="2" charset="0"/>
              </a:rPr>
              <a:t>First Federal</a:t>
            </a:r>
            <a:r>
              <a:rPr lang="en-US" sz="1800" b="1" cap="small" dirty="0">
                <a:latin typeface="Helvetica" panose="020B0604020202020204" pitchFamily="2" charset="0"/>
              </a:rPr>
              <a:t> Requirements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436418" y="986692"/>
            <a:ext cx="8252081" cy="240989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8" marR="0" lvl="0" indent="-2809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C00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/>
              </a:rPr>
              <a:t>First Federal Goals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Reduce workloads through effective Automation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Managed Services towards Private cloud evolution and optimization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Application delivery through quality gates verification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Visibility to end users experience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Continuous Audit &amp; Compliance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TCO Reduction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301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 descr="IDS-PP-AMP-Divid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991"/>
            <a:ext cx="9144001" cy="45917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3857" y="1763742"/>
            <a:ext cx="883382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cap="small" dirty="0" smtClean="0">
                <a:solidFill>
                  <a:schemeClr val="bg1"/>
                </a:solidFill>
                <a:latin typeface="+mj-lt"/>
                <a:cs typeface="Helvetica Light"/>
              </a:rPr>
              <a:t>Synectiks Solution</a:t>
            </a:r>
            <a:endParaRPr lang="en-US" sz="4500" cap="small" dirty="0">
              <a:solidFill>
                <a:schemeClr val="bg1"/>
              </a:solidFill>
              <a:latin typeface="+mj-l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0214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Прямоугольник 6">
            <a:extLst>
              <a:ext uri="{FF2B5EF4-FFF2-40B4-BE49-F238E27FC236}">
                <a16:creationId xmlns:a16="http://schemas.microsoft.com/office/drawing/2014/main" xmlns="" id="{48EB6FCA-1CEC-43C4-B09D-3D88DE77228C}"/>
              </a:ext>
            </a:extLst>
          </p:cNvPr>
          <p:cNvSpPr/>
          <p:nvPr/>
        </p:nvSpPr>
        <p:spPr>
          <a:xfrm>
            <a:off x="5288525" y="415248"/>
            <a:ext cx="1781175" cy="44443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AF7EED0-9380-4BC8-B1CB-4A610AB6D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442" y="236573"/>
            <a:ext cx="3031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2000" cap="small" dirty="0">
                <a:solidFill>
                  <a:schemeClr val="bg2"/>
                </a:solidFill>
                <a:latin typeface="Raleway ExtraBold" panose="020B0903030101060003" pitchFamily="34" charset="0"/>
              </a:rPr>
              <a:t>Automation Platform</a:t>
            </a:r>
          </a:p>
        </p:txBody>
      </p:sp>
      <p:sp>
        <p:nvSpPr>
          <p:cNvPr id="12" name="Овал 9">
            <a:extLst>
              <a:ext uri="{FF2B5EF4-FFF2-40B4-BE49-F238E27FC236}">
                <a16:creationId xmlns:a16="http://schemas.microsoft.com/office/drawing/2014/main" xmlns="" id="{4E003DD6-DED2-4DC8-A8C0-932A1928571E}"/>
              </a:ext>
            </a:extLst>
          </p:cNvPr>
          <p:cNvSpPr/>
          <p:nvPr/>
        </p:nvSpPr>
        <p:spPr>
          <a:xfrm>
            <a:off x="5734711" y="669630"/>
            <a:ext cx="785813" cy="7870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Прямоугольник 2">
            <a:extLst>
              <a:ext uri="{FF2B5EF4-FFF2-40B4-BE49-F238E27FC236}">
                <a16:creationId xmlns:a16="http://schemas.microsoft.com/office/drawing/2014/main" xmlns="" id="{957D84D2-247A-465A-82EC-130F72568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44" y="1190848"/>
            <a:ext cx="62639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b="1" cap="small" dirty="0">
                <a:latin typeface="+mn-lt"/>
              </a:rPr>
              <a:t>Elastic</a:t>
            </a:r>
          </a:p>
        </p:txBody>
      </p:sp>
      <p:sp>
        <p:nvSpPr>
          <p:cNvPr id="15" name="Овал 12">
            <a:extLst>
              <a:ext uri="{FF2B5EF4-FFF2-40B4-BE49-F238E27FC236}">
                <a16:creationId xmlns:a16="http://schemas.microsoft.com/office/drawing/2014/main" xmlns="" id="{85284CDB-E8CC-4CF2-A281-EDA669DC1C15}"/>
              </a:ext>
            </a:extLst>
          </p:cNvPr>
          <p:cNvSpPr/>
          <p:nvPr/>
        </p:nvSpPr>
        <p:spPr>
          <a:xfrm>
            <a:off x="5734711" y="2243599"/>
            <a:ext cx="785813" cy="787004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Овал 13">
            <a:extLst>
              <a:ext uri="{FF2B5EF4-FFF2-40B4-BE49-F238E27FC236}">
                <a16:creationId xmlns:a16="http://schemas.microsoft.com/office/drawing/2014/main" xmlns="" id="{52C7137A-DE28-4318-9858-D3BE47E52A3B}"/>
              </a:ext>
            </a:extLst>
          </p:cNvPr>
          <p:cNvSpPr/>
          <p:nvPr/>
        </p:nvSpPr>
        <p:spPr>
          <a:xfrm>
            <a:off x="5740889" y="3827513"/>
            <a:ext cx="785813" cy="787004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7" name="Прямая соединительная линия 14">
            <a:extLst>
              <a:ext uri="{FF2B5EF4-FFF2-40B4-BE49-F238E27FC236}">
                <a16:creationId xmlns:a16="http://schemas.microsoft.com/office/drawing/2014/main" xmlns="" id="{94619D98-BEFE-4DDB-945C-831F2503F793}"/>
              </a:ext>
            </a:extLst>
          </p:cNvPr>
          <p:cNvCxnSpPr>
            <a:stCxn id="12" idx="4"/>
            <a:endCxn id="15" idx="0"/>
          </p:cNvCxnSpPr>
          <p:nvPr/>
        </p:nvCxnSpPr>
        <p:spPr>
          <a:xfrm>
            <a:off x="6127618" y="1456634"/>
            <a:ext cx="0" cy="7869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7">
            <a:extLst>
              <a:ext uri="{FF2B5EF4-FFF2-40B4-BE49-F238E27FC236}">
                <a16:creationId xmlns:a16="http://schemas.microsoft.com/office/drawing/2014/main" xmlns="" id="{C2992437-0A1A-45FB-910F-E843DA28C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701" y="2739966"/>
            <a:ext cx="808434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b="1" cap="small" dirty="0" smtClean="0">
                <a:latin typeface="+mn-lt"/>
              </a:rPr>
              <a:t>Real-Time</a:t>
            </a:r>
            <a:endParaRPr lang="en-US" altLang="ru-RU" sz="700" b="1" cap="small" dirty="0">
              <a:latin typeface="+mn-lt"/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B73EE3CE-DA9A-4C25-9D9C-114637B244B1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6127618" y="3030603"/>
            <a:ext cx="6178" cy="7969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B76F4463-9E9A-49F2-B5B0-F6630F09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156" y="4342930"/>
            <a:ext cx="590549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b="1" cap="small" dirty="0">
                <a:latin typeface="+mn-lt"/>
              </a:rPr>
              <a:t>Resilient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172EFA6-E0CF-49E1-9E51-06BF8FAAB50B}"/>
              </a:ext>
            </a:extLst>
          </p:cNvPr>
          <p:cNvSpPr txBox="1"/>
          <p:nvPr/>
        </p:nvSpPr>
        <p:spPr>
          <a:xfrm>
            <a:off x="7166112" y="1040566"/>
            <a:ext cx="178117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Runs automations / audits / </a:t>
            </a:r>
            <a:r>
              <a:rPr lang="en-US" sz="1000" dirty="0" smtClean="0"/>
              <a:t>patches / application </a:t>
            </a:r>
            <a:r>
              <a:rPr lang="en-US" sz="1000" dirty="0"/>
              <a:t>delivery / tests jobs into 1 single elastic cluster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Every </a:t>
            </a:r>
            <a:r>
              <a:rPr lang="en-US" sz="1000" dirty="0"/>
              <a:t>job is written in </a:t>
            </a:r>
            <a:r>
              <a:rPr lang="en-US" sz="1000" dirty="0" smtClean="0"/>
              <a:t>python, </a:t>
            </a:r>
            <a:r>
              <a:rPr lang="en-US" sz="1000" dirty="0"/>
              <a:t>in 1 single unified way, easily plugged to automation platform 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Real-time </a:t>
            </a:r>
            <a:r>
              <a:rPr lang="en-US" sz="1000" dirty="0"/>
              <a:t>visibility + </a:t>
            </a:r>
            <a:r>
              <a:rPr lang="en-US" sz="1000" dirty="0" smtClean="0"/>
              <a:t>diagnostics</a:t>
            </a:r>
            <a:endParaRPr lang="en-US" sz="1000" dirty="0"/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Resilience</a:t>
            </a:r>
            <a:endParaRPr lang="en-US" sz="1000" dirty="0"/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Agility</a:t>
            </a:r>
            <a:endParaRPr lang="en-US" sz="1000" dirty="0"/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Reliability </a:t>
            </a:r>
            <a:r>
              <a:rPr lang="en-US" sz="1000" dirty="0"/>
              <a:t>/ Manageability / </a:t>
            </a:r>
            <a:r>
              <a:rPr lang="en-US" sz="1000" dirty="0" smtClean="0"/>
              <a:t>Extension</a:t>
            </a:r>
            <a:endParaRPr lang="en-US" sz="1000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xmlns="" id="{B158F5E7-37F1-4DF3-9342-981908CAC560}"/>
              </a:ext>
            </a:extLst>
          </p:cNvPr>
          <p:cNvGrpSpPr/>
          <p:nvPr/>
        </p:nvGrpSpPr>
        <p:grpSpPr>
          <a:xfrm>
            <a:off x="270397" y="682303"/>
            <a:ext cx="4687231" cy="4198323"/>
            <a:chOff x="264219" y="680307"/>
            <a:chExt cx="4687231" cy="4198323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xmlns="" id="{79905A2E-1B43-4686-BBC0-F385D0A04974}"/>
                </a:ext>
              </a:extLst>
            </p:cNvPr>
            <p:cNvCxnSpPr>
              <a:cxnSpLocks/>
            </p:cNvCxnSpPr>
            <p:nvPr/>
          </p:nvCxnSpPr>
          <p:spPr>
            <a:xfrm>
              <a:off x="2066925" y="4063314"/>
              <a:ext cx="611377" cy="409389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xmlns="" id="{7C4C19AD-31DC-4F3C-938D-28E2E4DF3142}"/>
                </a:ext>
              </a:extLst>
            </p:cNvPr>
            <p:cNvCxnSpPr>
              <a:endCxn id="41" idx="0"/>
            </p:cNvCxnSpPr>
            <p:nvPr/>
          </p:nvCxnSpPr>
          <p:spPr>
            <a:xfrm>
              <a:off x="3491117" y="3461242"/>
              <a:ext cx="6162" cy="147399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xmlns="" id="{3D78BC96-7B2D-4357-93C0-74CFD727E02C}"/>
                </a:ext>
              </a:extLst>
            </p:cNvPr>
            <p:cNvCxnSpPr/>
            <p:nvPr/>
          </p:nvCxnSpPr>
          <p:spPr>
            <a:xfrm>
              <a:off x="2718430" y="3030603"/>
              <a:ext cx="0" cy="430639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2DA9B233-52A0-487A-BC1A-A8B59A876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0507" y="2918522"/>
              <a:ext cx="546213" cy="542720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xmlns="" id="{45C3FB1C-FE46-40C4-8913-B4ACC4B60BAC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>
              <a:off x="4221284" y="2035035"/>
              <a:ext cx="14558" cy="888901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xmlns="" id="{BCED3A86-A135-4191-AF42-626C8ADED0B8}"/>
                </a:ext>
              </a:extLst>
            </p:cNvPr>
            <p:cNvCxnSpPr>
              <a:stCxn id="31" idx="2"/>
            </p:cNvCxnSpPr>
            <p:nvPr/>
          </p:nvCxnSpPr>
          <p:spPr>
            <a:xfrm>
              <a:off x="2517084" y="2035035"/>
              <a:ext cx="0" cy="669511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xmlns="" id="{416076CC-1226-4F3D-ABE3-6380C35206E1}"/>
                </a:ext>
              </a:extLst>
            </p:cNvPr>
            <p:cNvCxnSpPr>
              <a:stCxn id="6" idx="2"/>
            </p:cNvCxnSpPr>
            <p:nvPr/>
          </p:nvCxnSpPr>
          <p:spPr>
            <a:xfrm>
              <a:off x="850628" y="2035035"/>
              <a:ext cx="0" cy="536715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xmlns="" id="{BE90E7EE-0991-4FBD-9D1D-86AFC9E50303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2758003" y="1075199"/>
              <a:ext cx="1463281" cy="707886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xmlns="" id="{B4DBD1CC-3B9C-4B31-8829-549D42879230}"/>
                </a:ext>
              </a:extLst>
            </p:cNvPr>
            <p:cNvSpPr/>
            <p:nvPr/>
          </p:nvSpPr>
          <p:spPr>
            <a:xfrm>
              <a:off x="2212283" y="680307"/>
              <a:ext cx="596348" cy="60183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15AB0F32-768D-45D5-88B4-B06AA3BEC579}"/>
                </a:ext>
              </a:extLst>
            </p:cNvPr>
            <p:cNvSpPr txBox="1"/>
            <p:nvPr/>
          </p:nvSpPr>
          <p:spPr>
            <a:xfrm>
              <a:off x="2234232" y="870224"/>
              <a:ext cx="5963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Master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xmlns="" id="{36702D18-2E5A-4808-8A80-06B1335762E8}"/>
                </a:ext>
              </a:extLst>
            </p:cNvPr>
            <p:cNvSpPr/>
            <p:nvPr/>
          </p:nvSpPr>
          <p:spPr>
            <a:xfrm>
              <a:off x="264219" y="1783085"/>
              <a:ext cx="1172818" cy="251950"/>
            </a:xfrm>
            <a:prstGeom prst="round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Automation Bots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xmlns="" id="{4213FFBC-E656-45C7-93F8-5E0C2ED07EDC}"/>
                </a:ext>
              </a:extLst>
            </p:cNvPr>
            <p:cNvSpPr/>
            <p:nvPr/>
          </p:nvSpPr>
          <p:spPr>
            <a:xfrm>
              <a:off x="1857788" y="1783085"/>
              <a:ext cx="1318591" cy="251950"/>
            </a:xfrm>
            <a:prstGeom prst="round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Continuous Audits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xmlns="" id="{EAA5B249-5A37-4E2D-884A-A846F62D6C78}"/>
                </a:ext>
              </a:extLst>
            </p:cNvPr>
            <p:cNvSpPr/>
            <p:nvPr/>
          </p:nvSpPr>
          <p:spPr>
            <a:xfrm>
              <a:off x="3491117" y="1783085"/>
              <a:ext cx="1460333" cy="251950"/>
            </a:xfrm>
            <a:prstGeom prst="round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Continuous Delivery</a:t>
              </a:r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xmlns="" id="{85FAC5F9-5C20-4FB4-95E4-BA78B141CFEB}"/>
                </a:ext>
              </a:extLst>
            </p:cNvPr>
            <p:cNvSpPr/>
            <p:nvPr/>
          </p:nvSpPr>
          <p:spPr>
            <a:xfrm>
              <a:off x="2220595" y="2440374"/>
              <a:ext cx="497835" cy="408902"/>
            </a:xfrm>
            <a:prstGeom prst="hexagon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xmlns="" id="{612A6FF0-8112-4A8A-A1D1-6EF0DE527AA5}"/>
                </a:ext>
              </a:extLst>
            </p:cNvPr>
            <p:cNvSpPr/>
            <p:nvPr/>
          </p:nvSpPr>
          <p:spPr>
            <a:xfrm>
              <a:off x="2352681" y="2572460"/>
              <a:ext cx="497835" cy="408902"/>
            </a:xfrm>
            <a:prstGeom prst="hexagon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xmlns="" id="{D1E24B82-FB78-441C-841E-5EEB16F599D7}"/>
                </a:ext>
              </a:extLst>
            </p:cNvPr>
            <p:cNvSpPr/>
            <p:nvPr/>
          </p:nvSpPr>
          <p:spPr>
            <a:xfrm>
              <a:off x="2484767" y="2704546"/>
              <a:ext cx="497835" cy="408902"/>
            </a:xfrm>
            <a:prstGeom prst="hexagon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xmlns="" id="{C408DB98-F3EB-4222-9C4B-A31BCAF97C28}"/>
                </a:ext>
              </a:extLst>
            </p:cNvPr>
            <p:cNvSpPr/>
            <p:nvPr/>
          </p:nvSpPr>
          <p:spPr>
            <a:xfrm>
              <a:off x="630725" y="2490322"/>
              <a:ext cx="497835" cy="408902"/>
            </a:xfrm>
            <a:prstGeom prst="hexagon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xmlns="" id="{159CA87A-DACF-49AD-A3AD-1E2C00D1C127}"/>
                </a:ext>
              </a:extLst>
            </p:cNvPr>
            <p:cNvSpPr/>
            <p:nvPr/>
          </p:nvSpPr>
          <p:spPr>
            <a:xfrm>
              <a:off x="775167" y="2653297"/>
              <a:ext cx="497835" cy="408902"/>
            </a:xfrm>
            <a:prstGeom prst="hexagon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xmlns="" id="{30454326-40D1-4CDA-A2AD-DB50CAFA50CD}"/>
                </a:ext>
              </a:extLst>
            </p:cNvPr>
            <p:cNvSpPr/>
            <p:nvPr/>
          </p:nvSpPr>
          <p:spPr>
            <a:xfrm>
              <a:off x="3992278" y="2572460"/>
              <a:ext cx="497835" cy="408902"/>
            </a:xfrm>
            <a:prstGeom prst="hexagon">
              <a:avLst/>
            </a:prstGeom>
            <a:solidFill>
              <a:srgbClr val="64D0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xmlns="" id="{1450D929-EE2F-48C3-8C4B-AB7708A232E6}"/>
                </a:ext>
              </a:extLst>
            </p:cNvPr>
            <p:cNvSpPr/>
            <p:nvPr/>
          </p:nvSpPr>
          <p:spPr>
            <a:xfrm>
              <a:off x="4136720" y="2704546"/>
              <a:ext cx="497835" cy="408902"/>
            </a:xfrm>
            <a:prstGeom prst="hexagon">
              <a:avLst/>
            </a:prstGeom>
            <a:solidFill>
              <a:srgbClr val="64D0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xmlns="" id="{8F40C87E-3270-4C0C-A3DF-A3858CF9B311}"/>
                </a:ext>
              </a:extLst>
            </p:cNvPr>
            <p:cNvSpPr/>
            <p:nvPr/>
          </p:nvSpPr>
          <p:spPr>
            <a:xfrm>
              <a:off x="3873312" y="2478141"/>
              <a:ext cx="497835" cy="408902"/>
            </a:xfrm>
            <a:prstGeom prst="hexagon">
              <a:avLst/>
            </a:prstGeom>
            <a:solidFill>
              <a:srgbClr val="64D0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Picture Placeholder 37907">
              <a:extLst>
                <a:ext uri="{FF2B5EF4-FFF2-40B4-BE49-F238E27FC236}">
                  <a16:creationId xmlns:a16="http://schemas.microsoft.com/office/drawing/2014/main" xmlns="" id="{0DE5580E-8429-4856-ABA5-723CCC2EB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0" r="25140"/>
            <a:stretch>
              <a:fillRect/>
            </a:stretch>
          </p:blipFill>
          <p:spPr>
            <a:xfrm>
              <a:off x="3329808" y="3608641"/>
              <a:ext cx="334942" cy="582666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xmlns="" id="{7F0CF9FD-3694-4601-A005-E2B372562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9110" y="3690789"/>
              <a:ext cx="645527" cy="500518"/>
            </a:xfrm>
            <a:prstGeom prst="rect">
              <a:avLst/>
            </a:prstGeom>
          </p:spPr>
        </p:pic>
        <p:sp>
          <p:nvSpPr>
            <p:cNvPr id="43" name="Cube 42">
              <a:extLst>
                <a:ext uri="{FF2B5EF4-FFF2-40B4-BE49-F238E27FC236}">
                  <a16:creationId xmlns:a16="http://schemas.microsoft.com/office/drawing/2014/main" xmlns="" id="{284D2A90-75E2-450C-BFD2-97D2716A0298}"/>
                </a:ext>
              </a:extLst>
            </p:cNvPr>
            <p:cNvSpPr/>
            <p:nvPr/>
          </p:nvSpPr>
          <p:spPr>
            <a:xfrm>
              <a:off x="667560" y="4472703"/>
              <a:ext cx="4188639" cy="405927"/>
            </a:xfrm>
            <a:prstGeom prst="cube">
              <a:avLst/>
            </a:prstGeom>
            <a:solidFill>
              <a:srgbClr val="34B2E4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MGMT(</a:t>
              </a:r>
              <a:r>
                <a:rPr lang="en-US" cap="small" dirty="0"/>
                <a:t>Visibility</a:t>
              </a:r>
              <a:r>
                <a:rPr lang="en-US" dirty="0"/>
                <a:t>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DA638FEF-836E-4AF8-8F67-A09C845E73EE}"/>
                </a:ext>
              </a:extLst>
            </p:cNvPr>
            <p:cNvSpPr txBox="1"/>
            <p:nvPr/>
          </p:nvSpPr>
          <p:spPr>
            <a:xfrm>
              <a:off x="1861930" y="2924664"/>
              <a:ext cx="7721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Workforce</a:t>
              </a:r>
              <a:endParaRPr lang="en-US" sz="10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32961640-289A-4521-BAE3-CC1E1ED2FA47}"/>
                </a:ext>
              </a:extLst>
            </p:cNvPr>
            <p:cNvSpPr txBox="1"/>
            <p:nvPr/>
          </p:nvSpPr>
          <p:spPr>
            <a:xfrm>
              <a:off x="1246951" y="4223020"/>
              <a:ext cx="11568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Time Series DB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DEAAA1FE-AE7F-41F9-801D-0A07873ABC26}"/>
                </a:ext>
              </a:extLst>
            </p:cNvPr>
            <p:cNvSpPr txBox="1"/>
            <p:nvPr/>
          </p:nvSpPr>
          <p:spPr>
            <a:xfrm>
              <a:off x="3098949" y="4223020"/>
              <a:ext cx="11568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Search DB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xmlns="" id="{2A28C535-46D9-441A-8607-D32E077F4508}"/>
                </a:ext>
              </a:extLst>
            </p:cNvPr>
            <p:cNvCxnSpPr>
              <a:endCxn id="6" idx="0"/>
            </p:cNvCxnSpPr>
            <p:nvPr/>
          </p:nvCxnSpPr>
          <p:spPr>
            <a:xfrm flipH="1">
              <a:off x="850628" y="1116445"/>
              <a:ext cx="1383604" cy="666640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xmlns="" id="{266B165D-8876-4D5B-9223-F40551C616B4}"/>
                </a:ext>
              </a:extLst>
            </p:cNvPr>
            <p:cNvCxnSpPr>
              <a:stCxn id="4" idx="4"/>
              <a:endCxn id="31" idx="0"/>
            </p:cNvCxnSpPr>
            <p:nvPr/>
          </p:nvCxnSpPr>
          <p:spPr>
            <a:xfrm>
              <a:off x="2510457" y="1282146"/>
              <a:ext cx="6627" cy="500939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xmlns="" id="{530467D1-BB42-4084-9587-91853CB96BB9}"/>
                </a:ext>
              </a:extLst>
            </p:cNvPr>
            <p:cNvCxnSpPr/>
            <p:nvPr/>
          </p:nvCxnSpPr>
          <p:spPr>
            <a:xfrm>
              <a:off x="1549049" y="3460431"/>
              <a:ext cx="2041458" cy="0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2A34419F-74F7-4804-9E78-19678584B047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98" y="3062479"/>
              <a:ext cx="548151" cy="395416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xmlns="" id="{DBD2249B-5978-4049-AA7D-EC65B0DDBF13}"/>
                </a:ext>
              </a:extLst>
            </p:cNvPr>
            <p:cNvCxnSpPr>
              <a:endCxn id="42" idx="0"/>
            </p:cNvCxnSpPr>
            <p:nvPr/>
          </p:nvCxnSpPr>
          <p:spPr>
            <a:xfrm>
              <a:off x="1857788" y="3461242"/>
              <a:ext cx="4086" cy="229547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8B5DF4E0-DE64-42C9-B5A9-48DDFC1AC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8430" y="4024093"/>
              <a:ext cx="611377" cy="446191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DA638FEF-836E-4AF8-8F67-A09C845E73EE}"/>
              </a:ext>
            </a:extLst>
          </p:cNvPr>
          <p:cNvSpPr txBox="1"/>
          <p:nvPr/>
        </p:nvSpPr>
        <p:spPr>
          <a:xfrm>
            <a:off x="160809" y="2936966"/>
            <a:ext cx="772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Workforce</a:t>
            </a:r>
            <a:endParaRPr 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DA638FEF-836E-4AF8-8F67-A09C845E73EE}"/>
              </a:ext>
            </a:extLst>
          </p:cNvPr>
          <p:cNvSpPr txBox="1"/>
          <p:nvPr/>
        </p:nvSpPr>
        <p:spPr>
          <a:xfrm>
            <a:off x="3486839" y="2920484"/>
            <a:ext cx="772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Workforce</a:t>
            </a:r>
            <a:endParaRPr lang="en-US" sz="10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485" y="3971336"/>
            <a:ext cx="390087" cy="39008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846" y="789458"/>
            <a:ext cx="463794" cy="46379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583" y="2389378"/>
            <a:ext cx="396104" cy="396104"/>
          </a:xfrm>
          <a:prstGeom prst="rect">
            <a:avLst/>
          </a:prstGeom>
        </p:spPr>
      </p:pic>
      <p:sp>
        <p:nvSpPr>
          <p:cNvPr id="65" name="Hexagon 64">
            <a:extLst>
              <a:ext uri="{FF2B5EF4-FFF2-40B4-BE49-F238E27FC236}">
                <a16:creationId xmlns:a16="http://schemas.microsoft.com/office/drawing/2014/main" xmlns="" id="{D1E24B82-FB78-441C-841E-5EEB16F599D7}"/>
              </a:ext>
            </a:extLst>
          </p:cNvPr>
          <p:cNvSpPr/>
          <p:nvPr/>
        </p:nvSpPr>
        <p:spPr>
          <a:xfrm>
            <a:off x="4292967" y="2852764"/>
            <a:ext cx="497835" cy="408902"/>
          </a:xfrm>
          <a:prstGeom prst="hexagon">
            <a:avLst/>
          </a:prstGeom>
          <a:solidFill>
            <a:srgbClr val="64D0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70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5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5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4" grpId="0"/>
      <p:bldP spid="15" grpId="0" animBg="1"/>
      <p:bldP spid="16" grpId="0" animBg="1"/>
      <p:bldP spid="19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Visibility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6D451F5-8C23-4659-BCA8-B69F6B23D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27282"/>
            <a:ext cx="8688500" cy="430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5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Continuous Delivery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D72A6A6-E9AC-4C45-85C6-8C5962154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27282"/>
            <a:ext cx="8688499" cy="430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2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Continuous Delivery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AFA1E7A-8ACF-487E-B51E-2702EEE11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0701"/>
            <a:ext cx="8688499" cy="422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0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Continuous Delivery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9C41F06-2021-49AA-A1D0-39D8ACAD6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27283"/>
            <a:ext cx="8688499" cy="430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2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Service Quality Center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E719E73-320F-48AB-A7FB-A4E3E0D3B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27283"/>
            <a:ext cx="8688499" cy="430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75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Operation Control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xmlns="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0721199-D6CF-4A33-9F07-3BB9F805D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27282"/>
            <a:ext cx="8688499" cy="430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0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9FA3316-7183-4B89-A978-628735020D16}"/>
</file>

<file path=docProps/app.xml><?xml version="1.0" encoding="utf-8"?>
<Properties xmlns="http://schemas.openxmlformats.org/officeDocument/2006/extended-properties" xmlns:vt="http://schemas.openxmlformats.org/officeDocument/2006/docPropsVTypes">
  <TotalTime>42350</TotalTime>
  <Words>338</Words>
  <Application>Microsoft Office PowerPoint</Application>
  <PresentationFormat>On-screen Show (16:9)</PresentationFormat>
  <Paragraphs>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Helvetica</vt:lpstr>
      <vt:lpstr>Helvetica Light</vt:lpstr>
      <vt:lpstr>Raleway ExtraBold</vt:lpstr>
      <vt:lpstr>Wingdings</vt:lpstr>
      <vt:lpstr>Office Theme</vt:lpstr>
      <vt:lpstr>PowerPoint Presentation</vt:lpstr>
      <vt:lpstr>PowerPoint Presentation</vt:lpstr>
      <vt:lpstr>PowerPoint Presentation</vt:lpstr>
      <vt:lpstr>Synectiks Highlights</vt:lpstr>
      <vt:lpstr>PowerPoint Presentation</vt:lpstr>
      <vt:lpstr>First Federal Current Approach &amp; Challenges</vt:lpstr>
      <vt:lpstr>First Federal Requirements</vt:lpstr>
      <vt:lpstr>PowerPoint Presentation</vt:lpstr>
      <vt:lpstr>PowerPoint Presentation</vt:lpstr>
      <vt:lpstr>Visibility</vt:lpstr>
      <vt:lpstr>Continuous Delivery</vt:lpstr>
      <vt:lpstr>Continuous Delivery</vt:lpstr>
      <vt:lpstr>Continuous Delivery</vt:lpstr>
      <vt:lpstr>Service Quality Center</vt:lpstr>
      <vt:lpstr>Operation Control</vt:lpstr>
    </vt:vector>
  </TitlesOfParts>
  <Company>SYNECTIKS INC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Satish Valluripalli</cp:lastModifiedBy>
  <cp:revision>61</cp:revision>
  <cp:lastPrinted>2016-12-06T22:14:27Z</cp:lastPrinted>
  <dcterms:created xsi:type="dcterms:W3CDTF">2014-11-12T22:29:05Z</dcterms:created>
  <dcterms:modified xsi:type="dcterms:W3CDTF">2018-06-05T10:08:37Z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