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3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44" r:id="rId3"/>
    <p:sldId id="334" r:id="rId4"/>
    <p:sldId id="343" r:id="rId5"/>
    <p:sldId id="336" r:id="rId6"/>
    <p:sldId id="346" r:id="rId7"/>
    <p:sldId id="353" r:id="rId8"/>
    <p:sldId id="348" r:id="rId9"/>
    <p:sldId id="354" r:id="rId10"/>
    <p:sldId id="352" r:id="rId11"/>
    <p:sldId id="349" r:id="rId12"/>
    <p:sldId id="350" r:id="rId13"/>
    <p:sldId id="357" r:id="rId14"/>
    <p:sldId id="356" r:id="rId15"/>
    <p:sldId id="351" r:id="rId16"/>
    <p:sldId id="341" r:id="rId17"/>
    <p:sldId id="355" r:id="rId18"/>
    <p:sldId id="335" r:id="rId19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3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9B96"/>
    <a:srgbClr val="666699"/>
    <a:srgbClr val="FFCCFF"/>
    <a:srgbClr val="FFEDD3"/>
    <a:srgbClr val="FFC000"/>
    <a:srgbClr val="3D97CF"/>
    <a:srgbClr val="EE853E"/>
    <a:srgbClr val="5A6F8C"/>
    <a:srgbClr val="2B2B2B"/>
    <a:srgbClr val="2E2E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3730" autoAdjust="0"/>
  </p:normalViewPr>
  <p:slideViewPr>
    <p:cSldViewPr snapToGrid="0">
      <p:cViewPr varScale="1">
        <p:scale>
          <a:sx n="68" d="100"/>
          <a:sy n="68" d="100"/>
        </p:scale>
        <p:origin x="608" y="-252"/>
      </p:cViewPr>
      <p:guideLst>
        <p:guide pos="3840"/>
        <p:guide orient="horz" pos="32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711C8D9-35FB-4256-B7B4-7311814253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010164-668F-464C-B7B2-1730F6EED1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8A0DAC6-5924-43D2-9238-6A3A8FA5DAE7}" type="datetimeFigureOut">
              <a:rPr lang="ru-RU"/>
              <a:pPr>
                <a:defRPr/>
              </a:pPr>
              <a:t>03.08.2018</a:t>
            </a:fld>
            <a:endParaRPr lang="ru-RU" dirty="0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55D7B54E-1B69-461A-9760-B9A0B18B3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7E1E3FF1-3635-4414-8E43-095C316C4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432E30-D37F-4020-BD96-76D507996B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F17E46-5BB4-4DF6-81B8-FE420597A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D54283D-B617-4C0C-8B6C-DC7F41934E1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7863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158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291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1536700" y="1174049"/>
            <a:ext cx="1828800" cy="329565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6938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EF28CCA-ACB3-4A11-933F-7EBB3F7FB4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13B4B77-E309-4776-BDE2-F9F2DECBECA7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C664F10-4CBB-4938-BF70-C5B071D909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9396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>
            <a:extLst>
              <a:ext uri="{FF2B5EF4-FFF2-40B4-BE49-F238E27FC236}">
                <a16:creationId xmlns:a16="http://schemas.microsoft.com/office/drawing/2014/main" id="{5CFBCA73-2F0C-4522-9A20-54B788A8FB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587E485-6DB0-4D55-8091-530723EB146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84C42049-9CF1-4C33-9D2B-63ABEFF35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1"/>
          </p:nvPr>
        </p:nvSpPr>
        <p:spPr>
          <a:xfrm>
            <a:off x="985962" y="1502796"/>
            <a:ext cx="2997641" cy="40154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644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0F6B3C34-BC18-4C25-AA33-07C5907A217C}"/>
              </a:ext>
            </a:extLst>
          </p:cNvPr>
          <p:cNvSpPr/>
          <p:nvPr userDrawn="1"/>
        </p:nvSpPr>
        <p:spPr>
          <a:xfrm>
            <a:off x="8478838" y="0"/>
            <a:ext cx="37131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2EA17AA2-7945-40FC-9355-4675866C87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7D08EDB-785C-43C0-BE23-041849E8AED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207AB24F-3E63-4B3A-B708-5619D6A83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6104228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698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737131DA-1213-4163-A8FA-F632AFB7687F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16C87B2-7FA1-40AE-B178-391CE67CD4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702089B-3E1A-40FF-A412-C72F92F51DDB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F5B8749F-A043-4820-904F-BE48A639B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3713583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2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31038639-2656-42E2-84FC-D33C9CF3FFD9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9A1224CE-F5FC-4868-BCED-83DCEE42FC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9060CB-6C2D-42FA-8FB2-ADE7815DDD8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B88CDA52-0771-4C8A-BE11-4D518238F9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4717433" y="1558457"/>
            <a:ext cx="3009445" cy="40120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95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54B1EFD0-2E7C-43A1-8086-FBDCCC2C8D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45231EA1-A9D5-46AA-A27D-8D1446BCEB5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2683D06-F1E9-499E-B2B3-A75C78032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2CF6A33C-93AF-4ABA-9796-F8076F8A15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CD1EEED7-AB68-4ADA-A3ED-2F04168FB98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2F3ED4C-CCBD-4FD2-934E-759BDCB5865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21895EFE-348C-4FEF-B3AF-732F1380986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8764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8473537-DC6C-445C-8F5A-7D6EA64E4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B59364-88A1-46CC-B23E-A480BB785429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E2B355A-513E-4159-8F89-08A4EB97A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8D64607B-A57C-43ED-A5F2-DD4EAC1E8F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23475647-5819-4916-9F92-47E69E2E406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B86F076A-737F-4181-BCAC-3D7F066502D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7F02FE5-C9D9-44FD-800C-D40FDF0CB7D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868063" y="1979875"/>
            <a:ext cx="4738977" cy="300559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6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26E22725-4763-46E8-AC41-683CE19092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B44EB110-F8B3-46CB-B985-F1E0D118AD3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BA3514D-CF02-44CD-834D-5A5693568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CEBD0EC7-2F92-4CC4-AE53-BA72F3696AD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6FA479B-F63E-4A75-A745-2B569E4601D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DBE2DC1-5972-4C1F-95BD-6F292706B08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078E7D6-1B02-4CF4-B5D3-0571A36952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512047" y="2542501"/>
            <a:ext cx="4141694" cy="26156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47915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417C6BF-9776-415B-8B77-E5996EB26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9D2824-1258-499F-993C-6333E7B243DC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DB7F5C48-94C2-4ED0-8C06-A7931190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4508B975-3C32-43CD-9C1F-4303AE0FA16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67170EA5-80C5-47A2-B3FA-AE59319F617F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D6A0DE13-6FFA-460E-96C6-5EC8A6F164F5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17D07CDF-8066-4430-9DD2-37FB464A518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419225" y="2511016"/>
            <a:ext cx="1214823" cy="1214823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1895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E9DC02E-A816-4317-8C59-9EED72928E07}"/>
              </a:ext>
            </a:extLst>
          </p:cNvPr>
          <p:cNvSpPr/>
          <p:nvPr userDrawn="1"/>
        </p:nvSpPr>
        <p:spPr>
          <a:xfrm>
            <a:off x="0" y="0"/>
            <a:ext cx="54483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C9EC454-DF44-44D6-B711-A20DB42A7B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DD9EB26-DB88-4390-B3E8-4B4EC703884B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C89B8ED3-B14F-4640-9CA6-873DBD1F19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7721" y="0"/>
            <a:ext cx="674427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05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1FC0B1-B37B-4E0C-A673-085A70A7FFAA}"/>
              </a:ext>
            </a:extLst>
          </p:cNvPr>
          <p:cNvSpPr/>
          <p:nvPr userDrawn="1"/>
        </p:nvSpPr>
        <p:spPr>
          <a:xfrm>
            <a:off x="4776788" y="0"/>
            <a:ext cx="7415212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55964EA4-3D95-4889-B07F-FBA3D810E1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25F8569-E07D-47E8-91B6-BBBC916FEAA5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02EDD3C-6284-4715-9D47-120119D29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77671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0444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6D3917-6035-4860-977A-98FFBCD3D956}"/>
              </a:ext>
            </a:extLst>
          </p:cNvPr>
          <p:cNvSpPr/>
          <p:nvPr userDrawn="1"/>
        </p:nvSpPr>
        <p:spPr>
          <a:xfrm>
            <a:off x="5838825" y="0"/>
            <a:ext cx="6353175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880FC3A-143D-4B12-957E-CA8FDDFF92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1CD4E18-A744-4BDD-93AE-5F891D74183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E2333D48-8ACC-4154-AFCA-37EE696B46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5838825" cy="367886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5918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121119AA-F583-41D5-83EF-4C5C39DBB2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791080BF-311D-4D88-A06A-F17198E549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38830DB-1696-4888-983B-AA60A2989C81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E273DE62-B604-41D3-94A5-A9B414632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9">
            <a:extLst>
              <a:ext uri="{FF2B5EF4-FFF2-40B4-BE49-F238E27FC236}">
                <a16:creationId xmlns:a16="http://schemas.microsoft.com/office/drawing/2014/main" id="{9A6B85F2-F1FF-46D7-8DF1-6630019359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DF714C10-208E-431A-A022-E2F998DF533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2304D868-18B2-44E5-BA0F-828CA461A64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2">
              <a:extLst>
                <a:ext uri="{FF2B5EF4-FFF2-40B4-BE49-F238E27FC236}">
                  <a16:creationId xmlns:a16="http://schemas.microsoft.com/office/drawing/2014/main" id="{4DEBA1FB-047C-4B3E-93B9-5B1A297D2FDD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955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AE18CC4-6CF9-40A0-A2B5-AD88AE119A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A72A9B4-8B97-4110-B419-EB5C2BF302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5A094446-B3D0-4CFE-B794-5F688E87C7D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DFDF6D1-D685-4D08-A793-8884E239F4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9">
            <a:extLst>
              <a:ext uri="{FF2B5EF4-FFF2-40B4-BE49-F238E27FC236}">
                <a16:creationId xmlns:a16="http://schemas.microsoft.com/office/drawing/2014/main" id="{9D61B4B1-FDB5-472D-B980-9C6A9D7A0D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6D77E667-E8FD-4507-B9D1-E3D51B64A836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728420EA-1BDD-404A-A9EF-101D5E45AEA0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2">
              <a:extLst>
                <a:ext uri="{FF2B5EF4-FFF2-40B4-BE49-F238E27FC236}">
                  <a16:creationId xmlns:a16="http://schemas.microsoft.com/office/drawing/2014/main" id="{4AA9FE46-4190-47B9-9E60-8AC27251D57F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161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468630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68603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60BF317-1D87-4939-8579-56069438D6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7EE12B-1395-4D9B-B64A-8E00FE874F2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09BABB20-CD97-4DD4-A251-933CAD01D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7448551" y="0"/>
            <a:ext cx="474345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1807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F9D52246-9969-4C90-9B70-0D7132EFE2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23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86155B8-B336-4538-B3F4-30F871BBB9CD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EBAF293-FFD7-48D7-A900-E42F25302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75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F8E14C0C-58A5-4618-84FA-6772DAEB3A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461A876B-3285-4B45-A16E-285B5A201BD3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7A5E2A5-650F-41B6-99A1-53A33EEFF02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4BAD4B13-C0AF-4B55-83D8-5B1742E2B11A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429904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4386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88E2142-B8AF-4D7D-B146-FDDCA8901E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58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263582A-CD3A-4932-A1C3-66345066D052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A35E877-83A6-49A3-B723-CDD3A317E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3B35D16A-5A6E-4E28-8C21-5ABC5C79C4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F7021100-9BD7-43D1-9977-8E84C278509A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B32C908E-40EC-4A36-AFF8-95258C86DE8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D7AC1030-93A3-4283-B29B-ADA04CF17BC7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557852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156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719618"/>
            <a:ext cx="12192001" cy="51383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86114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970725"/>
            <a:ext cx="12192001" cy="29165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8975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828800"/>
            <a:ext cx="12192000" cy="50292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1"/>
          </p:nvPr>
        </p:nvSpPr>
        <p:spPr>
          <a:xfrm>
            <a:off x="1282274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9"/>
          <p:cNvSpPr>
            <a:spLocks noGrp="1"/>
          </p:cNvSpPr>
          <p:nvPr>
            <p:ph type="pic" sz="quarter" idx="12"/>
          </p:nvPr>
        </p:nvSpPr>
        <p:spPr>
          <a:xfrm>
            <a:off x="3331712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9"/>
          <p:cNvSpPr>
            <a:spLocks noGrp="1"/>
          </p:cNvSpPr>
          <p:nvPr>
            <p:ph type="pic" sz="quarter" idx="13"/>
          </p:nvPr>
        </p:nvSpPr>
        <p:spPr>
          <a:xfrm>
            <a:off x="5381150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4"/>
          </p:nvPr>
        </p:nvSpPr>
        <p:spPr>
          <a:xfrm>
            <a:off x="7430588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5"/>
          </p:nvPr>
        </p:nvSpPr>
        <p:spPr>
          <a:xfrm>
            <a:off x="9480026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38404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44BA8A57-DDF3-4213-9D64-1699FA7347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4AE4DB1-4D64-4436-96E6-1B8B07C012E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1"/>
          </p:nvPr>
        </p:nvSpPr>
        <p:spPr>
          <a:xfrm>
            <a:off x="1405106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2"/>
          </p:nvPr>
        </p:nvSpPr>
        <p:spPr>
          <a:xfrm>
            <a:off x="3931545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6457984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8984422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80722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2F1DABE9-3D45-49ED-98C7-A7400E550C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477261C-5C42-4FA0-8AD3-7C88DC280BF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54063" y="2647950"/>
            <a:ext cx="3084011" cy="34099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087813" y="2647949"/>
            <a:ext cx="2865437" cy="159919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3"/>
          </p:nvPr>
        </p:nvSpPr>
        <p:spPr>
          <a:xfrm>
            <a:off x="4087813" y="4463716"/>
            <a:ext cx="2865437" cy="159418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74637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1949032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3"/>
          </p:nvPr>
        </p:nvSpPr>
        <p:spPr>
          <a:xfrm>
            <a:off x="754063" y="4595061"/>
            <a:ext cx="3641474" cy="150795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311693"/>
            <a:ext cx="194903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311693"/>
            <a:ext cx="186485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563895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955630" y="3311694"/>
            <a:ext cx="2494465" cy="128336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955630" y="4819654"/>
            <a:ext cx="2494465" cy="12833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2483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6">
            <a:extLst>
              <a:ext uri="{FF2B5EF4-FFF2-40B4-BE49-F238E27FC236}">
                <a16:creationId xmlns:a16="http://schemas.microsoft.com/office/drawing/2014/main" id="{293C4529-8FEF-4743-B8C9-3AAAAE830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E328696D-B294-44A8-A140-0598694F8B8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7">
            <a:extLst>
              <a:ext uri="{FF2B5EF4-FFF2-40B4-BE49-F238E27FC236}">
                <a16:creationId xmlns:a16="http://schemas.microsoft.com/office/drawing/2014/main" id="{F3438E08-4F07-4A98-9D48-BF2AB7642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Группа 8">
            <a:extLst>
              <a:ext uri="{FF2B5EF4-FFF2-40B4-BE49-F238E27FC236}">
                <a16:creationId xmlns:a16="http://schemas.microsoft.com/office/drawing/2014/main" id="{7BEA9A08-BBC4-4E4F-86AF-3B01C139CD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15" name="Прямая соединительная линия 9">
              <a:extLst>
                <a:ext uri="{FF2B5EF4-FFF2-40B4-BE49-F238E27FC236}">
                  <a16:creationId xmlns:a16="http://schemas.microsoft.com/office/drawing/2014/main" id="{2326FCEF-A3C6-4700-951D-6E10C19C448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">
              <a:extLst>
                <a:ext uri="{FF2B5EF4-FFF2-40B4-BE49-F238E27FC236}">
                  <a16:creationId xmlns:a16="http://schemas.microsoft.com/office/drawing/2014/main" id="{10786441-64BF-4423-A792-8A2096F4587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1">
              <a:extLst>
                <a:ext uri="{FF2B5EF4-FFF2-40B4-BE49-F238E27FC236}">
                  <a16:creationId xmlns:a16="http://schemas.microsoft.com/office/drawing/2014/main" id="{CA7149C6-8C54-49B9-971D-D2E8CFD66E9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2107400" cy="302382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923414"/>
            <a:ext cx="2107400" cy="217960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168502"/>
            <a:ext cx="1864851" cy="293451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608054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797262" y="3168502"/>
            <a:ext cx="2652834" cy="14265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797262" y="4676462"/>
            <a:ext cx="2652834" cy="142655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13553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3354978" y="713581"/>
            <a:ext cx="2374900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3354978" y="2913145"/>
            <a:ext cx="2374900" cy="323127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3"/>
          </p:nvPr>
        </p:nvSpPr>
        <p:spPr>
          <a:xfrm>
            <a:off x="5936676" y="4266548"/>
            <a:ext cx="5377317" cy="18778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4"/>
          </p:nvPr>
        </p:nvSpPr>
        <p:spPr>
          <a:xfrm>
            <a:off x="5936676" y="713581"/>
            <a:ext cx="1760661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5"/>
          </p:nvPr>
        </p:nvSpPr>
        <p:spPr>
          <a:xfrm>
            <a:off x="5936675" y="2913145"/>
            <a:ext cx="1760661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6"/>
          <p:cNvSpPr>
            <a:spLocks noGrp="1"/>
          </p:cNvSpPr>
          <p:nvPr>
            <p:ph type="pic" sz="quarter" idx="16"/>
          </p:nvPr>
        </p:nvSpPr>
        <p:spPr>
          <a:xfrm>
            <a:off x="7876839" y="713581"/>
            <a:ext cx="3437154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6"/>
          <p:cNvSpPr>
            <a:spLocks noGrp="1"/>
          </p:cNvSpPr>
          <p:nvPr>
            <p:ph type="pic" sz="quarter" idx="17"/>
          </p:nvPr>
        </p:nvSpPr>
        <p:spPr>
          <a:xfrm>
            <a:off x="7876837" y="2913145"/>
            <a:ext cx="3437156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0955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2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3087322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7"/>
          </p:nvPr>
        </p:nvSpPr>
        <p:spPr>
          <a:xfrm>
            <a:off x="-1" y="2272570"/>
            <a:ext cx="3087323" cy="204424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8"/>
          </p:nvPr>
        </p:nvSpPr>
        <p:spPr>
          <a:xfrm>
            <a:off x="3080084" y="2261938"/>
            <a:ext cx="3023004" cy="205208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20"/>
          </p:nvPr>
        </p:nvSpPr>
        <p:spPr>
          <a:xfrm>
            <a:off x="9176084" y="2272570"/>
            <a:ext cx="3023004" cy="20386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21"/>
          </p:nvPr>
        </p:nvSpPr>
        <p:spPr>
          <a:xfrm>
            <a:off x="1956391" y="4303386"/>
            <a:ext cx="4139609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22"/>
          </p:nvPr>
        </p:nvSpPr>
        <p:spPr>
          <a:xfrm>
            <a:off x="0" y="4314019"/>
            <a:ext cx="1956391" cy="25439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24"/>
          </p:nvPr>
        </p:nvSpPr>
        <p:spPr>
          <a:xfrm>
            <a:off x="6096000" y="4303387"/>
            <a:ext cx="4089991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25"/>
          </p:nvPr>
        </p:nvSpPr>
        <p:spPr>
          <a:xfrm>
            <a:off x="3087322" y="7831"/>
            <a:ext cx="3008678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26"/>
          </p:nvPr>
        </p:nvSpPr>
        <p:spPr>
          <a:xfrm>
            <a:off x="6096001" y="0"/>
            <a:ext cx="6095848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7" name="Рисунок 12"/>
          <p:cNvSpPr>
            <a:spLocks noGrp="1"/>
          </p:cNvSpPr>
          <p:nvPr>
            <p:ph type="pic" sz="quarter" idx="27"/>
          </p:nvPr>
        </p:nvSpPr>
        <p:spPr>
          <a:xfrm>
            <a:off x="10185991" y="4303386"/>
            <a:ext cx="2013097" cy="25624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8" name="Рисунок 12"/>
          <p:cNvSpPr>
            <a:spLocks noGrp="1"/>
          </p:cNvSpPr>
          <p:nvPr>
            <p:ph type="pic" sz="quarter" idx="28"/>
          </p:nvPr>
        </p:nvSpPr>
        <p:spPr>
          <a:xfrm>
            <a:off x="6103088" y="2261937"/>
            <a:ext cx="3080084" cy="205208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52240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00288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-16071"/>
            <a:ext cx="12192000" cy="312942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074"/>
              <a:gd name="connsiteX1" fmla="*/ 10000 w 10000"/>
              <a:gd name="connsiteY1" fmla="*/ 74 h 10074"/>
              <a:gd name="connsiteX2" fmla="*/ 10000 w 10000"/>
              <a:gd name="connsiteY2" fmla="*/ 10074 h 10074"/>
              <a:gd name="connsiteX3" fmla="*/ 0 w 10000"/>
              <a:gd name="connsiteY3" fmla="*/ 10074 h 10074"/>
              <a:gd name="connsiteX4" fmla="*/ 0 w 10000"/>
              <a:gd name="connsiteY4" fmla="*/ 0 h 10074"/>
              <a:gd name="connsiteX0" fmla="*/ 0 w 10000"/>
              <a:gd name="connsiteY0" fmla="*/ 0 h 14410"/>
              <a:gd name="connsiteX1" fmla="*/ 10000 w 10000"/>
              <a:gd name="connsiteY1" fmla="*/ 74 h 14410"/>
              <a:gd name="connsiteX2" fmla="*/ 10000 w 10000"/>
              <a:gd name="connsiteY2" fmla="*/ 10074 h 14410"/>
              <a:gd name="connsiteX3" fmla="*/ 11 w 10000"/>
              <a:gd name="connsiteY3" fmla="*/ 14410 h 14410"/>
              <a:gd name="connsiteX4" fmla="*/ 0 w 10000"/>
              <a:gd name="connsiteY4" fmla="*/ 0 h 1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1446213" y="2033588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02238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3"/>
          </p:nvPr>
        </p:nvSpPr>
        <p:spPr>
          <a:xfrm>
            <a:off x="8958263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7397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03351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1"/>
          </p:nvPr>
        </p:nvSpPr>
        <p:spPr>
          <a:xfrm>
            <a:off x="859477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2"/>
          </p:nvPr>
        </p:nvSpPr>
        <p:spPr>
          <a:xfrm>
            <a:off x="4737716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3"/>
          </p:nvPr>
        </p:nvSpPr>
        <p:spPr>
          <a:xfrm>
            <a:off x="8615955" y="2797457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6620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1CED023-E48A-48A5-A9FE-0EB2AC6C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4A670-F01F-4597-B9B9-3E9EFEBB0F5D}" type="datetimeFigureOut">
              <a:rPr lang="ru-RU"/>
              <a:pPr>
                <a:defRPr/>
              </a:pPr>
              <a:t>03.08.2018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4A30E9-EA30-42AC-A401-812C4B30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7D829AD-7540-466A-B05D-5DDBAEE2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82D6D-8F6F-45F9-8B3C-73D2BE8E0C1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382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B9FF05E-2152-4EE6-956D-7FEB8FB8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01E88-D6DF-46B7-9675-CA16326E6DAA}" type="datetimeFigureOut">
              <a:rPr lang="ru-RU"/>
              <a:pPr>
                <a:defRPr/>
              </a:pPr>
              <a:t>03.08.2018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4BA0540-AAA2-4616-B257-D7963FB0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EAA6ED0-9F9A-413E-9CE2-1C6FB05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C7105-7262-4415-87C9-E28B1BA5BE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888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0B143-CE1C-48B1-8F69-B10A5B12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77C9A-E606-4F79-BA08-071BE6D088CE}" type="datetimeFigureOut">
              <a:rPr lang="ru-RU"/>
              <a:pPr>
                <a:defRPr/>
              </a:pPr>
              <a:t>03.08.2018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E9185-17EA-4A4F-9300-7E593260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0E49C-0276-458F-811F-7FDD619F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9E854-D948-4F93-87AA-D3B2F43A452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389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E2096-8F94-4807-B20F-57476A45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BFA4-46E4-4D5B-84C3-6C7587B7395D}" type="datetimeFigureOut">
              <a:rPr lang="ru-RU"/>
              <a:pPr>
                <a:defRPr/>
              </a:pPr>
              <a:t>03.08.2018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2AC90-ACFB-4344-98BD-C0329B39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E1744-75E5-487E-BEC9-39EF894C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BC5F8-324B-48AD-B509-391C53341A1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0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2A709A2D-9E3D-4D9B-BCCB-BD26DDFCEC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948B22B-96C8-413D-8708-45DB7D03DF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E9909B-5CA4-4825-9E05-943A339CF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8BA87E-D565-4C47-9BBF-B89BF0D34876}" type="datetimeFigureOut">
              <a:rPr lang="ru-RU"/>
              <a:pPr>
                <a:defRPr/>
              </a:pPr>
              <a:t>03.08.2018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945F-B136-43A9-B80C-6D99765C7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EF0BB-472A-4BB1-BBF9-1F52F5A9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8E4574-86E1-45A5-9A6D-75719EA2283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  <p:sldLayoutId id="2147483821" r:id="rId28"/>
    <p:sldLayoutId id="2147483822" r:id="rId29"/>
    <p:sldLayoutId id="2147483823" r:id="rId30"/>
    <p:sldLayoutId id="2147483824" r:id="rId31"/>
    <p:sldLayoutId id="2147483825" r:id="rId32"/>
    <p:sldLayoutId id="2147483826" r:id="rId33"/>
    <p:sldLayoutId id="2147483790" r:id="rId34"/>
    <p:sldLayoutId id="2147483791" r:id="rId35"/>
    <p:sldLayoutId id="2147483792" r:id="rId36"/>
    <p:sldLayoutId id="2147483793" r:id="rId37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1669" y="1065695"/>
            <a:ext cx="10120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chemeClr val="bg1"/>
                </a:solidFill>
                <a:latin typeface="Raleway Medium" panose="020B0603030101060003" pitchFamily="34" charset="0"/>
              </a:rPr>
              <a:t>Helping </a:t>
            </a:r>
            <a:r>
              <a:rPr lang="en-US" altLang="ru-RU" sz="3600" dirty="0">
                <a:solidFill>
                  <a:srgbClr val="E23936"/>
                </a:solidFill>
                <a:latin typeface="Raleway ExtraBold" panose="020B0903030101060003" pitchFamily="34" charset="0"/>
              </a:rPr>
              <a:t>DevOps Transformation</a:t>
            </a:r>
            <a:endParaRPr lang="en-US" altLang="ru-RU" sz="3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591895" y="2381574"/>
            <a:ext cx="2380130" cy="4599595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9757619" y="-26894"/>
            <a:ext cx="914400" cy="30347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2" y="294623"/>
            <a:ext cx="1775713" cy="211302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8521501" y="5524290"/>
            <a:ext cx="2141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20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5618747" y="4920916"/>
            <a:ext cx="1359569" cy="871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8237350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wipe/>
      </p:transition>
    </mc:Choice>
    <mc:Fallback xmlns="">
      <p:transition spd="slow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71BD3-C310-46C9-A390-8DAB2BE0BC90}"/>
              </a:ext>
            </a:extLst>
          </p:cNvPr>
          <p:cNvSpPr/>
          <p:nvPr/>
        </p:nvSpPr>
        <p:spPr>
          <a:xfrm flipH="1">
            <a:off x="-23968" y="0"/>
            <a:ext cx="12226208" cy="6974005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solidFill>
              <a:schemeClr val="accent1">
                <a:shade val="50000"/>
                <a:alpha val="94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ADF8FD7-0157-4EA6-9020-7FF298451CCB}"/>
              </a:ext>
            </a:extLst>
          </p:cNvPr>
          <p:cNvSpPr txBox="1"/>
          <p:nvPr/>
        </p:nvSpPr>
        <p:spPr>
          <a:xfrm>
            <a:off x="294329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2141B7-B47D-45C4-972B-F086BF8D3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69" y="0"/>
            <a:ext cx="1143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7769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5D5719-4BB0-4CC6-A1D6-94DB4BE1E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534F4-A310-451B-86DE-FB057F905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4820" y="463054"/>
            <a:ext cx="675735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000" dirty="0">
                <a:solidFill>
                  <a:srgbClr val="C00000"/>
                </a:solidFill>
                <a:latin typeface="Raleway ExtraBold" panose="020B0903030101060003" pitchFamily="34" charset="0"/>
              </a:rPr>
              <a:t>Model</a:t>
            </a: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E750B9-43D3-4F0E-8193-AC9D9CD85B96}"/>
              </a:ext>
            </a:extLst>
          </p:cNvPr>
          <p:cNvSpPr/>
          <p:nvPr/>
        </p:nvSpPr>
        <p:spPr>
          <a:xfrm>
            <a:off x="1427163" y="1246386"/>
            <a:ext cx="9334500" cy="4762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MAIN STEP OF PROCESS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8F7FEE6-25C4-4EA0-94B0-48C32E84CC51}"/>
              </a:ext>
            </a:extLst>
          </p:cNvPr>
          <p:cNvSpPr/>
          <p:nvPr/>
        </p:nvSpPr>
        <p:spPr>
          <a:xfrm>
            <a:off x="5638800" y="2368550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1CB93F-C32B-4C4F-ABDC-76DB7A15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568575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10A5BE40-A9B2-4464-9D50-A634058C018B}"/>
              </a:ext>
            </a:extLst>
          </p:cNvPr>
          <p:cNvSpPr txBox="1">
            <a:spLocks/>
          </p:cNvSpPr>
          <p:nvPr/>
        </p:nvSpPr>
        <p:spPr bwMode="auto">
          <a:xfrm>
            <a:off x="2689225" y="2368550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Gap Analysis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F172601-B2F0-4C80-BB05-19FDF8EE67B6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2717800"/>
            <a:ext cx="1100137" cy="309563"/>
            <a:chOff x="2918410" y="2721049"/>
            <a:chExt cx="1100138" cy="310215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ABF7590-E7FE-4C0F-A356-8FF47E059A1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172695A-02FC-436D-951D-71B68F7442AD}"/>
                </a:ext>
              </a:extLst>
            </p:cNvPr>
            <p:cNvSpPr/>
            <p:nvPr/>
          </p:nvSpPr>
          <p:spPr>
            <a:xfrm>
              <a:off x="3083510" y="2721049"/>
              <a:ext cx="784226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ONE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91C94059-DD1A-4161-8A5D-93F75F1E08AC}"/>
              </a:ext>
            </a:extLst>
          </p:cNvPr>
          <p:cNvSpPr txBox="1">
            <a:spLocks/>
          </p:cNvSpPr>
          <p:nvPr/>
        </p:nvSpPr>
        <p:spPr>
          <a:xfrm>
            <a:off x="2689225" y="3222625"/>
            <a:ext cx="2725738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Using Maturity Model , establish improvements in each capability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3C9B49C-DE15-4884-91D6-5EBDCD899C40}"/>
              </a:ext>
            </a:extLst>
          </p:cNvPr>
          <p:cNvCxnSpPr/>
          <p:nvPr/>
        </p:nvCxnSpPr>
        <p:spPr>
          <a:xfrm flipV="1">
            <a:off x="6094413" y="3556000"/>
            <a:ext cx="0" cy="7112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04ECE23E-5CC4-447D-A8C0-A6BCBEE3282D}"/>
              </a:ext>
            </a:extLst>
          </p:cNvPr>
          <p:cNvSpPr/>
          <p:nvPr/>
        </p:nvSpPr>
        <p:spPr>
          <a:xfrm>
            <a:off x="5638800" y="45418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454FEB-87CD-4A99-90F2-C40FFFE2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47656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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D65C0770-C30F-4F07-9B87-BA16FB34D8EE}"/>
              </a:ext>
            </a:extLst>
          </p:cNvPr>
          <p:cNvSpPr txBox="1">
            <a:spLocks/>
          </p:cNvSpPr>
          <p:nvPr/>
        </p:nvSpPr>
        <p:spPr bwMode="auto">
          <a:xfrm>
            <a:off x="7016750" y="4541838"/>
            <a:ext cx="25558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Mapping 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8F5A684-342A-4C7A-AE8C-2FE13CD12185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891088"/>
            <a:ext cx="1100138" cy="309562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516A6D61-E009-4FC8-B9E7-29A4866325DD}"/>
                </a:ext>
              </a:extLst>
            </p:cNvPr>
            <p:cNvSpPr/>
            <p:nvPr/>
          </p:nvSpPr>
          <p:spPr>
            <a:xfrm>
              <a:off x="2918410" y="2795818"/>
              <a:ext cx="1100138" cy="235446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9678DF-F6BF-43A8-9E70-891DA23B8BFE}"/>
                </a:ext>
              </a:extLst>
            </p:cNvPr>
            <p:cNvSpPr/>
            <p:nvPr/>
          </p:nvSpPr>
          <p:spPr>
            <a:xfrm>
              <a:off x="3067635" y="2721049"/>
              <a:ext cx="81597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TWO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60567640-1BDC-4DB2-8E66-2B0F99D0F6C6}"/>
              </a:ext>
            </a:extLst>
          </p:cNvPr>
          <p:cNvSpPr txBox="1">
            <a:spLocks/>
          </p:cNvSpPr>
          <p:nvPr/>
        </p:nvSpPr>
        <p:spPr>
          <a:xfrm>
            <a:off x="7016750" y="5395913"/>
            <a:ext cx="272415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Map these to People / Process / Technology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A72C610-2DAB-42E7-8A60-44CBEB73C50F}"/>
              </a:ext>
            </a:extLst>
          </p:cNvPr>
          <p:cNvCxnSpPr>
            <a:stCxn id="10" idx="2"/>
          </p:cNvCxnSpPr>
          <p:nvPr/>
        </p:nvCxnSpPr>
        <p:spPr>
          <a:xfrm flipH="1" flipV="1">
            <a:off x="6094413" y="5707063"/>
            <a:ext cx="1587" cy="115093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57" name="Группа 30">
            <a:extLst>
              <a:ext uri="{FF2B5EF4-FFF2-40B4-BE49-F238E27FC236}">
                <a16:creationId xmlns:a16="http://schemas.microsoft.com/office/drawing/2014/main" id="{9B9A3229-1D92-4757-BE40-784AF6C133D8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C2618C0-0709-4031-A719-ACE6CD8C25D2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4671D3D1-C090-49EF-8450-9F7703C0993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C029FF5A-F407-43AC-9BB4-791EED097B8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58" name="Рисунок 34">
            <a:extLst>
              <a:ext uri="{FF2B5EF4-FFF2-40B4-BE49-F238E27FC236}">
                <a16:creationId xmlns:a16="http://schemas.microsoft.com/office/drawing/2014/main" id="{F72B07BE-679C-48AF-AA88-20DB7DB2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267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/>
      <p:bldP spid="17" grpId="0"/>
      <p:bldP spid="21" grpId="0"/>
      <p:bldP spid="23" grpId="0" animBg="1"/>
      <p:bldP spid="24" grpId="0"/>
      <p:bldP spid="25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466AF6-5FB0-4CA1-84B2-D698D9E421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110F3A4-DD88-4CE8-A639-AA79B08A408C}"/>
              </a:ext>
            </a:extLst>
          </p:cNvPr>
          <p:cNvCxnSpPr/>
          <p:nvPr/>
        </p:nvCxnSpPr>
        <p:spPr>
          <a:xfrm flipH="1" flipV="1">
            <a:off x="6096000" y="0"/>
            <a:ext cx="0" cy="11509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9152FEDD-3B7C-4EBB-BF13-C7B79B7E0580}"/>
              </a:ext>
            </a:extLst>
          </p:cNvPr>
          <p:cNvSpPr/>
          <p:nvPr/>
        </p:nvSpPr>
        <p:spPr>
          <a:xfrm>
            <a:off x="5638800" y="15065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77986E-4BA4-4F89-8536-77AD4445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1739900"/>
            <a:ext cx="514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E9D131C-8E7C-463A-9B3F-49C7E4F4A208}"/>
              </a:ext>
            </a:extLst>
          </p:cNvPr>
          <p:cNvSpPr txBox="1">
            <a:spLocks/>
          </p:cNvSpPr>
          <p:nvPr/>
        </p:nvSpPr>
        <p:spPr bwMode="auto">
          <a:xfrm>
            <a:off x="2689225" y="1506538"/>
            <a:ext cx="27574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Execution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350D28F-17F0-44B7-892D-6B970A588A0F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1855788"/>
            <a:ext cx="1100137" cy="311150"/>
            <a:chOff x="2918410" y="2721049"/>
            <a:chExt cx="1100138" cy="31021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3DFE80A-8544-44D6-B9D4-5CD1B4F35E95}"/>
                </a:ext>
              </a:extLst>
            </p:cNvPr>
            <p:cNvSpPr/>
            <p:nvPr/>
          </p:nvSpPr>
          <p:spPr>
            <a:xfrm>
              <a:off x="2918410" y="2795437"/>
              <a:ext cx="1100138" cy="235827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E9FDCB0-70C0-4CB2-AA78-5BFE0900374B}"/>
                </a:ext>
              </a:extLst>
            </p:cNvPr>
            <p:cNvSpPr/>
            <p:nvPr/>
          </p:nvSpPr>
          <p:spPr>
            <a:xfrm>
              <a:off x="3012072" y="2721049"/>
              <a:ext cx="927101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THREE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C5C6EA2-9130-427F-B9BC-CEDFBBCAF850}"/>
              </a:ext>
            </a:extLst>
          </p:cNvPr>
          <p:cNvSpPr txBox="1">
            <a:spLocks/>
          </p:cNvSpPr>
          <p:nvPr/>
        </p:nvSpPr>
        <p:spPr>
          <a:xfrm>
            <a:off x="2689225" y="2360613"/>
            <a:ext cx="2725738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Establish backlog and prioritize 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C5EDA6E-08B1-4E1A-ACA0-D67524AF719B}"/>
              </a:ext>
            </a:extLst>
          </p:cNvPr>
          <p:cNvCxnSpPr/>
          <p:nvPr/>
        </p:nvCxnSpPr>
        <p:spPr>
          <a:xfrm flipV="1">
            <a:off x="6096000" y="2670175"/>
            <a:ext cx="0" cy="7096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51F8EA1C-1432-4BE5-AA94-B5143FB0298D}"/>
              </a:ext>
            </a:extLst>
          </p:cNvPr>
          <p:cNvSpPr/>
          <p:nvPr/>
        </p:nvSpPr>
        <p:spPr>
          <a:xfrm>
            <a:off x="5638800" y="3654425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431A66-4120-4365-9EFD-AEB9E632C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38782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5DEC6047-4BFD-43E9-9DE5-9CC29B83A633}"/>
              </a:ext>
            </a:extLst>
          </p:cNvPr>
          <p:cNvSpPr txBox="1">
            <a:spLocks/>
          </p:cNvSpPr>
          <p:nvPr/>
        </p:nvSpPr>
        <p:spPr bwMode="auto">
          <a:xfrm>
            <a:off x="7016750" y="3654425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Transition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02F7FB2-E18E-4E8D-A87A-2C7CC53CA984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003675"/>
            <a:ext cx="1100138" cy="309563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CC2694F-E204-40C8-A7C9-CF92C37C79A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DF6E20ED-3D46-4B76-A878-AB9D400292F5}"/>
                </a:ext>
              </a:extLst>
            </p:cNvPr>
            <p:cNvSpPr/>
            <p:nvPr/>
          </p:nvSpPr>
          <p:spPr>
            <a:xfrm>
              <a:off x="3045410" y="2721049"/>
              <a:ext cx="86042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FOUR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7D8B5AA1-0BFC-404F-8DF1-B688EF829EAD}"/>
              </a:ext>
            </a:extLst>
          </p:cNvPr>
          <p:cNvSpPr txBox="1">
            <a:spLocks/>
          </p:cNvSpPr>
          <p:nvPr/>
        </p:nvSpPr>
        <p:spPr>
          <a:xfrm>
            <a:off x="7016750" y="4508500"/>
            <a:ext cx="272415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Transition of knowledge and Artifacts to internal team.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527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3" grpId="0"/>
      <p:bldP spid="23" grpId="0" animBg="1"/>
      <p:bldP spid="24" grpId="0"/>
      <p:bldP spid="25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BF2754C-8E29-45C0-AFA4-6776250BAB74}"/>
              </a:ext>
            </a:extLst>
          </p:cNvPr>
          <p:cNvSpPr/>
          <p:nvPr/>
        </p:nvSpPr>
        <p:spPr>
          <a:xfrm>
            <a:off x="0" y="0"/>
            <a:ext cx="12192000" cy="2171700"/>
          </a:xfrm>
          <a:prstGeom prst="rect">
            <a:avLst/>
          </a:prstGeom>
          <a:solidFill>
            <a:srgbClr val="E23936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541EA-47B0-44A7-B970-AE3DFAFC0C6C}"/>
              </a:ext>
            </a:extLst>
          </p:cNvPr>
          <p:cNvSpPr txBox="1"/>
          <p:nvPr/>
        </p:nvSpPr>
        <p:spPr>
          <a:xfrm>
            <a:off x="1011168" y="167608"/>
            <a:ext cx="10169663" cy="1496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Gap Analysis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/>
                </a:solidFill>
                <a:latin typeface="Raleway ExtraBold" panose="020B0903030101060003" pitchFamily="34" charset="-52"/>
              </a:rPr>
              <a:t>4 Phased – 5 Days </a:t>
            </a:r>
            <a:endParaRPr lang="en-US" sz="120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B096D65-8194-4B29-8B5A-1DE42CC7553D}"/>
              </a:ext>
            </a:extLst>
          </p:cNvPr>
          <p:cNvSpPr/>
          <p:nvPr/>
        </p:nvSpPr>
        <p:spPr>
          <a:xfrm>
            <a:off x="0" y="2171700"/>
            <a:ext cx="12192000" cy="233362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585B6816-9023-418D-B610-9A25D1B6CAE1}"/>
              </a:ext>
            </a:extLst>
          </p:cNvPr>
          <p:cNvSpPr txBox="1">
            <a:spLocks/>
          </p:cNvSpPr>
          <p:nvPr/>
        </p:nvSpPr>
        <p:spPr>
          <a:xfrm>
            <a:off x="385272" y="4732338"/>
            <a:ext cx="2718782" cy="190853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200" spc="150" dirty="0">
                <a:latin typeface="FontAwesome" pitchFamily="2" charset="0"/>
              </a:rPr>
              <a:t> </a:t>
            </a:r>
            <a:r>
              <a:rPr lang="en-US" sz="1500" spc="150" dirty="0">
                <a:latin typeface="Raleway ExtraBold" panose="020B0903030101060003" pitchFamily="34" charset="-52"/>
              </a:rPr>
              <a:t>Initial Meetings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Meeting with decision-makers to get an insight on client current pain-points and desired-future-state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kern="0" dirty="0"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Kick-off meeting with DevOps assessment stakeholders</a:t>
            </a:r>
          </a:p>
        </p:txBody>
      </p:sp>
      <p:graphicFrame>
        <p:nvGraphicFramePr>
          <p:cNvPr id="73736" name="Диаграмма 3">
            <a:extLst>
              <a:ext uri="{FF2B5EF4-FFF2-40B4-BE49-F238E27FC236}">
                <a16:creationId xmlns:a16="http://schemas.microsoft.com/office/drawing/2014/main" id="{B01D4B3C-B160-4E00-AED2-B7A3FF3FF55B}"/>
              </a:ext>
            </a:extLst>
          </p:cNvPr>
          <p:cNvGraphicFramePr>
            <a:graphicFrameLocks/>
          </p:cNvGraphicFramePr>
          <p:nvPr/>
        </p:nvGraphicFramePr>
        <p:xfrm>
          <a:off x="844550" y="2368550"/>
          <a:ext cx="1905000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Диаграмма" r:id="rId3" imgW="1914310" imgH="1322947" progId="Excel.Chart.8">
                  <p:embed/>
                </p:oleObj>
              </mc:Choice>
              <mc:Fallback>
                <p:oleObj name="Диаграмма" r:id="rId3" imgW="1914310" imgH="1322947" progId="Excel.Chart.8">
                  <p:embed/>
                  <p:pic>
                    <p:nvPicPr>
                      <p:cNvPr id="73736" name="Диаграмма 3">
                        <a:extLst>
                          <a:ext uri="{FF2B5EF4-FFF2-40B4-BE49-F238E27FC236}">
                            <a16:creationId xmlns:a16="http://schemas.microsoft.com/office/drawing/2014/main" id="{B01D4B3C-B160-4E00-AED2-B7A3FF3FF5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368550"/>
                        <a:ext cx="1905000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52CDE67D-D434-4506-8F3F-D4BAB8B13839}"/>
              </a:ext>
            </a:extLst>
          </p:cNvPr>
          <p:cNvSpPr txBox="1">
            <a:spLocks/>
          </p:cNvSpPr>
          <p:nvPr/>
        </p:nvSpPr>
        <p:spPr>
          <a:xfrm>
            <a:off x="685038" y="3579813"/>
            <a:ext cx="2224024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1 Day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Project Kick-off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09C2A20-7E46-492E-9AFE-C8558AE71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2778125"/>
            <a:ext cx="32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Raleway Medium" panose="020B0603030101060003" pitchFamily="34" charset="0"/>
              </a:rPr>
              <a:t>1</a:t>
            </a:r>
            <a:endParaRPr lang="ru-RU" altLang="ru-RU" sz="2400"/>
          </a:p>
        </p:txBody>
      </p:sp>
      <p:graphicFrame>
        <p:nvGraphicFramePr>
          <p:cNvPr id="73739" name="Диаграмма 19">
            <a:extLst>
              <a:ext uri="{FF2B5EF4-FFF2-40B4-BE49-F238E27FC236}">
                <a16:creationId xmlns:a16="http://schemas.microsoft.com/office/drawing/2014/main" id="{72310FF6-999C-4E84-9CBD-DA0DC8DB1BAF}"/>
              </a:ext>
            </a:extLst>
          </p:cNvPr>
          <p:cNvGraphicFramePr>
            <a:graphicFrameLocks/>
          </p:cNvGraphicFramePr>
          <p:nvPr/>
        </p:nvGraphicFramePr>
        <p:xfrm>
          <a:off x="3709988" y="2368550"/>
          <a:ext cx="1906587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" name="Диаграмма" r:id="rId5" imgW="1914310" imgH="1322947" progId="Excel.Chart.8">
                  <p:embed/>
                </p:oleObj>
              </mc:Choice>
              <mc:Fallback>
                <p:oleObj name="Диаграмма" r:id="rId5" imgW="1914310" imgH="1322947" progId="Excel.Chart.8">
                  <p:embed/>
                  <p:pic>
                    <p:nvPicPr>
                      <p:cNvPr id="73739" name="Диаграмма 19">
                        <a:extLst>
                          <a:ext uri="{FF2B5EF4-FFF2-40B4-BE49-F238E27FC236}">
                            <a16:creationId xmlns:a16="http://schemas.microsoft.com/office/drawing/2014/main" id="{72310FF6-999C-4E84-9CBD-DA0DC8DB1BA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2368550"/>
                        <a:ext cx="1906587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EC4505A9-9B87-4E84-8614-45A29D9F2516}"/>
              </a:ext>
            </a:extLst>
          </p:cNvPr>
          <p:cNvSpPr txBox="1">
            <a:spLocks/>
          </p:cNvSpPr>
          <p:nvPr/>
        </p:nvSpPr>
        <p:spPr>
          <a:xfrm>
            <a:off x="3652838" y="3579813"/>
            <a:ext cx="2020887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2 Days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Assessment 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226F0B1-ACC5-487A-BA0F-D776FBEB5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790825"/>
            <a:ext cx="350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Raleway Medium" panose="020B0603030101060003" pitchFamily="34" charset="0"/>
              </a:rPr>
              <a:t>2</a:t>
            </a:r>
            <a:endParaRPr lang="ru-RU" altLang="ru-RU" sz="2400"/>
          </a:p>
        </p:txBody>
      </p:sp>
      <p:graphicFrame>
        <p:nvGraphicFramePr>
          <p:cNvPr id="73742" name="Диаграмма 23">
            <a:extLst>
              <a:ext uri="{FF2B5EF4-FFF2-40B4-BE49-F238E27FC236}">
                <a16:creationId xmlns:a16="http://schemas.microsoft.com/office/drawing/2014/main" id="{5F2212B5-A3FB-4819-AEF6-E248F9FC3C4A}"/>
              </a:ext>
            </a:extLst>
          </p:cNvPr>
          <p:cNvGraphicFramePr>
            <a:graphicFrameLocks/>
          </p:cNvGraphicFramePr>
          <p:nvPr/>
        </p:nvGraphicFramePr>
        <p:xfrm>
          <a:off x="6575425" y="2368550"/>
          <a:ext cx="1906588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" name="Диаграмма" r:id="rId7" imgW="1914310" imgH="1322947" progId="Excel.Chart.8">
                  <p:embed/>
                </p:oleObj>
              </mc:Choice>
              <mc:Fallback>
                <p:oleObj name="Диаграмма" r:id="rId7" imgW="1914310" imgH="1322947" progId="Excel.Chart.8">
                  <p:embed/>
                  <p:pic>
                    <p:nvPicPr>
                      <p:cNvPr id="73742" name="Диаграмма 23">
                        <a:extLst>
                          <a:ext uri="{FF2B5EF4-FFF2-40B4-BE49-F238E27FC236}">
                            <a16:creationId xmlns:a16="http://schemas.microsoft.com/office/drawing/2014/main" id="{5F2212B5-A3FB-4819-AEF6-E248F9FC3C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2368550"/>
                        <a:ext cx="1906588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1E0BB1B7-E6A9-48B2-BA02-85EA65545936}"/>
              </a:ext>
            </a:extLst>
          </p:cNvPr>
          <p:cNvSpPr txBox="1">
            <a:spLocks/>
          </p:cNvSpPr>
          <p:nvPr/>
        </p:nvSpPr>
        <p:spPr>
          <a:xfrm>
            <a:off x="6518275" y="3579813"/>
            <a:ext cx="2020888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1 Day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Report Preparation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961421F-0E35-4670-9A95-E1AA9C11E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825" y="2763838"/>
            <a:ext cx="350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Raleway Medium" panose="020B0603030101060003" pitchFamily="34" charset="0"/>
              </a:rPr>
              <a:t>3</a:t>
            </a:r>
            <a:endParaRPr lang="ru-RU" altLang="ru-RU" sz="2400"/>
          </a:p>
        </p:txBody>
      </p:sp>
      <p:graphicFrame>
        <p:nvGraphicFramePr>
          <p:cNvPr id="73745" name="Диаграмма 27">
            <a:extLst>
              <a:ext uri="{FF2B5EF4-FFF2-40B4-BE49-F238E27FC236}">
                <a16:creationId xmlns:a16="http://schemas.microsoft.com/office/drawing/2014/main" id="{BEF1D1D8-A6D3-49C2-AB9E-F096FD0BC068}"/>
              </a:ext>
            </a:extLst>
          </p:cNvPr>
          <p:cNvGraphicFramePr>
            <a:graphicFrameLocks/>
          </p:cNvGraphicFramePr>
          <p:nvPr/>
        </p:nvGraphicFramePr>
        <p:xfrm>
          <a:off x="9442450" y="2368550"/>
          <a:ext cx="1905000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" name="Диаграмма" r:id="rId9" imgW="1914310" imgH="1322947" progId="Excel.Chart.8">
                  <p:embed/>
                </p:oleObj>
              </mc:Choice>
              <mc:Fallback>
                <p:oleObj name="Диаграмма" r:id="rId9" imgW="1914310" imgH="1322947" progId="Excel.Chart.8">
                  <p:embed/>
                  <p:pic>
                    <p:nvPicPr>
                      <p:cNvPr id="73745" name="Диаграмма 27">
                        <a:extLst>
                          <a:ext uri="{FF2B5EF4-FFF2-40B4-BE49-F238E27FC236}">
                            <a16:creationId xmlns:a16="http://schemas.microsoft.com/office/drawing/2014/main" id="{BEF1D1D8-A6D3-49C2-AB9E-F096FD0BC0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2450" y="2368550"/>
                        <a:ext cx="1905000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1961AB2E-5997-45EF-8C03-2259FAB329EF}"/>
              </a:ext>
            </a:extLst>
          </p:cNvPr>
          <p:cNvSpPr txBox="1">
            <a:spLocks/>
          </p:cNvSpPr>
          <p:nvPr/>
        </p:nvSpPr>
        <p:spPr>
          <a:xfrm>
            <a:off x="9385300" y="3579813"/>
            <a:ext cx="2019300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i="1" dirty="0">
                <a:solidFill>
                  <a:schemeClr val="bg1"/>
                </a:solidFill>
                <a:latin typeface="Raleway Medium" panose="020B0003030101060003" pitchFamily="34" charset="0"/>
              </a:rPr>
              <a:t>1 Day</a:t>
            </a:r>
          </a:p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dirty="0">
                <a:solidFill>
                  <a:schemeClr val="bg1"/>
                </a:solidFill>
                <a:latin typeface="Raleway Heavy" panose="020B0003030101060003" pitchFamily="34" charset="0"/>
              </a:rPr>
              <a:t>Presentation</a:t>
            </a:r>
            <a:endParaRPr lang="en-US" sz="8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9D9A127-0220-479D-99C4-D3F8ADE9F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5563" y="2763838"/>
            <a:ext cx="35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Raleway Medium" panose="020B0603030101060003" pitchFamily="34" charset="0"/>
              </a:rPr>
              <a:t>4</a:t>
            </a:r>
            <a:endParaRPr lang="ru-RU" altLang="ru-RU"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8962851" y="6622210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28" name="Подзаголовок 2">
            <a:extLst>
              <a:ext uri="{FF2B5EF4-FFF2-40B4-BE49-F238E27FC236}">
                <a16:creationId xmlns:a16="http://schemas.microsoft.com/office/drawing/2014/main" id="{107F8159-7265-48E5-86BC-A0950A1DC026}"/>
              </a:ext>
            </a:extLst>
          </p:cNvPr>
          <p:cNvSpPr txBox="1">
            <a:spLocks/>
          </p:cNvSpPr>
          <p:nvPr/>
        </p:nvSpPr>
        <p:spPr>
          <a:xfrm>
            <a:off x="3365713" y="4732338"/>
            <a:ext cx="2718782" cy="190853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100" spc="150" dirty="0">
                <a:latin typeface="FontAwesome" pitchFamily="2" charset="0"/>
              </a:rPr>
              <a:t> </a:t>
            </a:r>
            <a:r>
              <a:rPr lang="en-US" sz="1400" spc="150" dirty="0">
                <a:latin typeface="Raleway ExtraBold" panose="020B0903030101060003" pitchFamily="34" charset="-52"/>
              </a:rPr>
              <a:t>Questions Based Audit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A DevOps briefing for all interviewees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Audit on following key focus areas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Organization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Automation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As–is Analysis( People, Process, Tools, Technology)</a:t>
            </a:r>
          </a:p>
        </p:txBody>
      </p:sp>
      <p:sp>
        <p:nvSpPr>
          <p:cNvPr id="32" name="Подзаголовок 2">
            <a:extLst>
              <a:ext uri="{FF2B5EF4-FFF2-40B4-BE49-F238E27FC236}">
                <a16:creationId xmlns:a16="http://schemas.microsoft.com/office/drawing/2014/main" id="{AFA849F6-D030-4FE3-AE20-C07F7BF8AA49}"/>
              </a:ext>
            </a:extLst>
          </p:cNvPr>
          <p:cNvSpPr txBox="1">
            <a:spLocks/>
          </p:cNvSpPr>
          <p:nvPr/>
        </p:nvSpPr>
        <p:spPr>
          <a:xfrm>
            <a:off x="6417673" y="4723007"/>
            <a:ext cx="2718782" cy="19085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200" spc="150" dirty="0">
                <a:latin typeface="FontAwesome" pitchFamily="2" charset="0"/>
              </a:rPr>
              <a:t> </a:t>
            </a:r>
            <a:r>
              <a:rPr lang="en-US" sz="1200" spc="150" dirty="0">
                <a:latin typeface="Raleway ExtraBold" panose="020B0903030101060003" pitchFamily="34" charset="-52"/>
              </a:rPr>
              <a:t>Report Generation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Preparation of Findings report, DevOps transformation Plan and Roadmap</a:t>
            </a:r>
          </a:p>
        </p:txBody>
      </p:sp>
      <p:sp>
        <p:nvSpPr>
          <p:cNvPr id="33" name="Подзаголовок 2">
            <a:extLst>
              <a:ext uri="{FF2B5EF4-FFF2-40B4-BE49-F238E27FC236}">
                <a16:creationId xmlns:a16="http://schemas.microsoft.com/office/drawing/2014/main" id="{741B9008-927D-4FD7-AE4D-F6DB64EBDE05}"/>
              </a:ext>
            </a:extLst>
          </p:cNvPr>
          <p:cNvSpPr txBox="1">
            <a:spLocks/>
          </p:cNvSpPr>
          <p:nvPr/>
        </p:nvSpPr>
        <p:spPr>
          <a:xfrm>
            <a:off x="9435822" y="4723007"/>
            <a:ext cx="2718782" cy="19085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spc="150" dirty="0">
                <a:solidFill>
                  <a:srgbClr val="E23936"/>
                </a:solidFill>
                <a:latin typeface="FontAwesome" pitchFamily="2" charset="0"/>
              </a:rPr>
              <a:t></a:t>
            </a:r>
            <a:r>
              <a:rPr lang="en-US" sz="1200" spc="150" dirty="0">
                <a:latin typeface="FontAwesome" pitchFamily="2" charset="0"/>
              </a:rPr>
              <a:t> </a:t>
            </a:r>
            <a:r>
              <a:rPr lang="en-US" sz="1200" spc="150" dirty="0">
                <a:latin typeface="Raleway ExtraBold" panose="020B0903030101060003" pitchFamily="34" charset="-52"/>
              </a:rPr>
              <a:t>Presentation</a:t>
            </a:r>
          </a:p>
          <a:p>
            <a:pPr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Presentation of the report and plans to stakeholders, following plans are delivered: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Phase wise Maturity Development 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Tools &amp; Technology Adoption</a:t>
            </a:r>
          </a:p>
          <a:p>
            <a:pPr lvl="1" algn="just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0" dirty="0"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4212198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8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2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animBg="1"/>
      <p:bldP spid="19" grpId="0"/>
      <p:bldP spid="18" grpId="0"/>
      <p:bldP spid="5" grpId="0"/>
      <p:bldP spid="21" grpId="0"/>
      <p:bldP spid="22" grpId="0"/>
      <p:bldP spid="25" grpId="0"/>
      <p:bldP spid="26" grpId="0"/>
      <p:bldP spid="29" grpId="0"/>
      <p:bldP spid="30" grpId="0"/>
      <p:bldP spid="28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Culture &amp; Skills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59600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047447"/>
              </p:ext>
            </p:extLst>
          </p:nvPr>
        </p:nvGraphicFramePr>
        <p:xfrm>
          <a:off x="0" y="624578"/>
          <a:ext cx="12192000" cy="7711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5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222">
                <a:tc rowSpan="6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current state of team ? Please choose the following options: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is producing higher quality products than before .The releases are more dependable than before.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delivering functionality to users more quickly and/or more often than before.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has higher morale than before. The business is recognizing greater economic value than before.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is more responsive to our customer(s) than before. A speedy feedback driven process tool chain is established between customers requirements and engineering team.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Describe organization &amp; Team structure  for  developing product ?  Please choose the following options: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Dev, Ops, Service Management, security QA teams are distinct and independent?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QA is embedded with Dev Teams to ensure high quality in operations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rightly adopted “ You build it , You Operate “ culture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Security is interwoven into the development process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Support Tickets are assigned immediately to dev teams without passing through Ops reviews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how your dev and ops teams share tools? 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are all one team, sharing responsibilities and using a common set of tools and sharing information.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and ops teams use a common set of tools but don't have visibility into each others' work.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and ops teams have different responsibilities and their own sets of tools, and they struggle to share data.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and ops teams use a common set of tools but share information manually.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and ops teams share some responsibilities but still use separate tools.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is your organizational structure around service delivery?   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gets it to work and hands off to ops to finish the job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 management writes stories with operations as a top level concern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Ops engineers are embedded in dev teams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have just one team, not two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Our architecture is designed for operations and scale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is your organizational state around technology delivery?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do not have significant technical debt.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incorporate refactoring into our daily work to reduce technical debt.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can decide which tool team use .The tool choices are based on what is best for the people who use the tools.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prioritizes keeping the software deployable over working on new features.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developers can easily create environments that closely match production - even when physical resources are constrained for all dependent systems and without coding mocks and stubs?</a:t>
                      </a: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the project prioritization process in your company?   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Budgetary planning cycle (year, quarter)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Small projects &amp; iterative products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Planning cadence (weeks)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experimentation and releases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planning</a:t>
                      </a: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your describe the business requirement communication between teams?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define and manage requirements and present them in a structured and visual way that everyone in the software development lifecycle can understand. Team have full visibility of change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organizational structure and tooling support cross-functional teams that put more emphasis on the processes associated with releasing new capabilities rather than with supporting individual roles?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There is an agreement between business, dev and ops on critical services (transaction counts, performance, uptime, etc.) that are necessary to meet pre-defined business goals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Developers have a centralized portal in order to access, develop and test APIs as they code their applications?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Developers have access to the operations/support team incident details and conduct formal/informal meetings to improve application supportability?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222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431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238352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Culture &amp; Skills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59600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514977"/>
              </p:ext>
            </p:extLst>
          </p:nvPr>
        </p:nvGraphicFramePr>
        <p:xfrm>
          <a:off x="18854" y="624578"/>
          <a:ext cx="18251838" cy="6797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64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222">
                <a:tc rowSpan="6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8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is the ratio to unplanned / bugfix work vs. new features / improving infrastructure?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Predominately new features, rarely unplanned work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Mostly unplanned work, some new feature development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Mostly new features, some unplanned work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balanced mix of both unplanned work and new feature development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Predominately unplanned work, rarely new feature development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8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current state of engineering team traits? Please choose the following options: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consistently handle complex, multi-tier deployments for thousands of servers and complex services without having to rely on the development of one-off customized scripts or manual processing?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and testing teams automatically replicating/reproducing more realistic conditions from production systems to create accurate virtual services and testing scenarios?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Developers consistently spot code quality issues early in the development process, before they get near to production?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feedback mechanisms in place to ensure continuous assessment and drive improvement and progress?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8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current state of engineering team skill sets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Distinct Team of Product Manager/ Architect/Dev/QA/OPS , with Dev/QA having some key expertise on some languages / Framework 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team does write some automation tests , but there are separate QA and Operation Team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 Management team aware of operation concerns, write stories with operation in mind, architects have adequate knowledge of infrastructure &amp; applications both and rest all engineering team is Full stack developer who understand operation and can automate operations.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8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criterion for  current state of resource hiring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Mostly based on specific skill &amp; framework, fit for specific area of development &amp; QA.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resources who has holistic view on both Infrastructure and Application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Architects who have capability to draft multi cloud hybrid architectures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 Managers having thorough understanding of operation aspects.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Developers skilled on development/deployments / operations</a:t>
                      </a: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training process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formal training in place , only happens through project level mentoring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some defined training for language &amp; framework in place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i.e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used in projects.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training program available that guide your product managers to gain operation excellence and engineering team to gain DevOps excellence.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continuously improve your training based on latest framework and technologies and input from Architecture team.</a:t>
                      </a: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the project prioritization process in your company?   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Budgetary planning cycle (year, quarter)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Small projects &amp; iterative products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Planning cadence (weeks)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experimentation and releases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planning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 startAt="8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222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431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128695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385" y="-11846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Build &amp; Deploy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886718"/>
              </p:ext>
            </p:extLst>
          </p:nvPr>
        </p:nvGraphicFramePr>
        <p:xfrm>
          <a:off x="1" y="415498"/>
          <a:ext cx="12192000" cy="6766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604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70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3970">
                <a:tc>
                  <a:txBody>
                    <a:bodyPr/>
                    <a:lstStyle/>
                    <a:p>
                      <a:pPr marL="457200" lvl="1" indent="0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would you describe your typical deployment process for key projects?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develops code using continuous integration (CI)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commits and pushes to a shared main branch/trunk at least once daily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Each commit to main branch starts an automated build.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 members have an option to start a series of automated tests as they see fit.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the build fails, the errors are usually fixed and the new build is run as soon as possible.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Automated tests are regularly run at least once per day and are part of the standard workflow.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keep the number of our branches to a minimum and not more than five active branches on the application's code repo.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team never has code lock periods when no one can check in code or do pull requests due to merging conflicts.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 my team, we can perform deployments during normal business hours with negligible downtime.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Our software is in a deployable state early in the lifecycle.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don't fear code deployments.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Code deployments are not disruptive, easy and pain-free.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the automated tests pass, I am confident the software is releasable.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people get feedback that the system is not deployable (such as failing builds or tests), they make fixing these issues their highest priority.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Fast feedback on the quality and deploy ability of the system is available to anyone on the team.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My organization deploys code to production more often than once per month.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majority or all of our code is deployed automatically to various environments.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can deploy our system to production - at any time - on demand.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there are deployment issue, the process is automatically aborted and the new features are rolled back without excessive friction.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lead time between a line of code has been written in development and available to live users in production has decreased over the last three months.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Every change that passes the automated tests is deployed to production automatically.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teams fully proficient at handling any unforeseen issues that cause the rollback of an application release?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teams establishing continuous feedback loops to share important information before and after each release?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your release deployment processes include integrating Continuous Integration and Build tools, automated Testing tools, Containerization (e.g. Docker) and/or Infrastructure Configuration and Cloud Provisioning tools?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application release deployments fully automated end-to-end across development, test and production environments?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developers easily create a sandbox that matches production?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you deploy new versions of your application to production without downtime? Do you support blue/green deployment?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deployments automated end-to-end across development, test and production?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Does your release process include comprehensive auditing and reporting capabilities?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your release and deployment practices provide comprehensive auditing and reporting capabilities to ensure IT governance and compliance?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3929730" y="9355982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2974275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Build &amp; Deploy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465542"/>
              </p:ext>
            </p:extLst>
          </p:nvPr>
        </p:nvGraphicFramePr>
        <p:xfrm>
          <a:off x="18854" y="624578"/>
          <a:ext cx="12141723" cy="85119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57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02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397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would you describe your typical release process for key projects?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deployment to production augmented with experimental releases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deployment to production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Traditional waterfall release process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delivery to pre-production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integration, automating code into the master branch </a:t>
                      </a:r>
                    </a:p>
                    <a:p>
                      <a:pPr marL="457200" lvl="1" indent="0">
                        <a:buFont typeface="+mj-lt"/>
                        <a:buNone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0" hangingPunct="1">
                        <a:buFont typeface="+mj-lt"/>
                        <a:buAutoNum type="arabicPeriod" startAt="2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general, how do applications perform once released into production? 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 application releases have major issues in production forcing rollbacks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integration reveals potential problems prior to release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 applications occasionally have minor issues requiring fixes once in production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delivery and continuous improvement prevent the need for rollbacks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deployment enables quick rollback to remediate operational issues 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0" hangingPunct="1">
                        <a:buFont typeface="+mj-lt"/>
                        <a:buAutoNum type="arabicPeriod" startAt="2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quickly can developers see the results of the integration / unit / etc. testing?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2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do not have any testing in place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2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 minutes to 1 hour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2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hour to 1 day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2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day or greater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2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 minutes or less</a:t>
                      </a:r>
                    </a:p>
                    <a:p>
                      <a:pPr marL="228600" lvl="1" indent="0" algn="l" defTabSz="914400" rtl="0" eaLnBrk="1" latinLnBrk="0" hangingPunct="1">
                        <a:buFont typeface="+mj-lt"/>
                        <a:buNone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indent="-228600" algn="l" defTabSz="914400" rtl="0" eaLnBrk="1" latinLnBrk="0" hangingPunct="1">
                        <a:buFont typeface="+mj-lt"/>
                        <a:buAutoNum type="arabicPeriod" startAt="2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would you describe your build deployment technology adoption and implementation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elastic deployment automation framework is available central to organization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use container technologies heavily to provision build and deployment environment dynamically 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organization use modern framework to unify the deployment of various different components of the system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deployment framework can be extended quickly to meet the business SLA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Development team is capable of creating integration tests environment in their local machine rapidly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build &amp; deployment trend analytics is available for system quality improvement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team has integrated unit , integration, code quality , coverage , code security ,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regression , performance , acceptance tests as a part of continuous delivery process</a:t>
                      </a:r>
                    </a:p>
                    <a:p>
                      <a:pPr marL="685800" lvl="1" indent="-228600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Continuous delivery statistics are visible across the components and services from a single window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your team provide comprehensive visibility into your application release activities and timing to all major stakeholders?</a:t>
                      </a: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0" hangingPunct="1">
                        <a:buFont typeface="+mj-lt"/>
                        <a:buAutoNum type="arabicPeriod" startAt="2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often do you deploy code to production? 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Yearly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Every few months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Several times a day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Weekly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Daily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Monthly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indent="-228600" algn="l" defTabSz="914400" rtl="0" eaLnBrk="1" latinLnBrk="0" hangingPunct="1">
                        <a:buFont typeface="+mj-lt"/>
                        <a:buAutoNum type="arabicPeriod" startAt="3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0" algn="l" defTabSz="914400" rtl="0" eaLnBrk="1" latinLnBrk="0" hangingPunct="1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 startAt="3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 startAt="3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 startAt="3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0803377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Tests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088633"/>
              </p:ext>
            </p:extLst>
          </p:nvPr>
        </p:nvGraphicFramePr>
        <p:xfrm>
          <a:off x="0" y="615151"/>
          <a:ext cx="12160577" cy="68975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7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0098">
                <a:tc>
                  <a:txBody>
                    <a:bodyPr/>
                    <a:lstStyle/>
                    <a:p>
                      <a:r>
                        <a:rPr lang="en-US" sz="1200" dirty="0"/>
                        <a:t>Team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2751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testing environment?     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Hostile environment testing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Load testing / redirecting transactions from production into a test environment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Unit testing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Automated integrated testing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Manual testing with testing environment separated from development</a:t>
                      </a:r>
                    </a:p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test efficiency?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teams quickly generate, discover and mask sensitive data/messages from existing systems, and/or generate synthetic data sets to increase test coverage and reduce search times?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testing (including unit, functional, load, regression and performance) fully automated across the SDLC, with validation mechanisms and strategies shared across teams?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requirements are updated/changed, can systems auto-generate test-cases along with access to the required test data?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dirty="0"/>
                        <a:t>Automated tests are regularly run at least once per day and are part of the standard workflow.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Teams develop and test against systems that behave like the production system.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All team members are responsible for creating and maintaining automated acceptance tests.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Test failures are likely to indicate a real defect.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Teams can easily access a common pool of tests so they can reproduce failures.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Every change that passes the automated tests is deployed to production automatically.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What best describes your test framework adoption?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You maintain all your test cases inside a tool.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You have a test framework in place that can integrate all your unit, integration, UI , Performance , Acceptance tests and generate test results in central location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Your team is skilled at  adopting a matured TDD and BDD framework where they can easily hook the acceptance tests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The test framework can be easily integrated with the continuous delivery system to show consolidated test results for each tests on each services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dirty="0"/>
                        <a:t>Your team has adequate knowledge and understanding of writing DSL based BDD driven tests</a:t>
                      </a:r>
                    </a:p>
                    <a:p>
                      <a:pPr marL="457200" lvl="1" indent="0">
                        <a:buFont typeface="+mj-lt"/>
                        <a:buNone/>
                      </a:pPr>
                      <a:endParaRPr lang="en-US" sz="10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What best describes your test automation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 have automated unit/integration/UI/Regression/Performance/ Code Security/Code Quality / Coverage/ Acceptance Tests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Your automated tests are written per component wise and you maintain a finer level of separation of your actual code and automation test code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 have a right integration of test case tool to automation tests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 have a visibility of component wise different test results in a single place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 have real time tests trend analytics present to analyze tests effectiveness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You have some availability and functional tests that continuously run in production to check system reliability 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endParaRPr lang="en-US" sz="10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8437464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Design &amp; Architecture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59600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191565"/>
              </p:ext>
            </p:extLst>
          </p:nvPr>
        </p:nvGraphicFramePr>
        <p:xfrm>
          <a:off x="0" y="624578"/>
          <a:ext cx="12192000" cy="6339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06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947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State ( Full , Partial, Not)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222">
                <a:tc rowSpan="6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b="1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the state of design processes in your company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b="1" dirty="0"/>
                        <a:t>We regularly evaluate the design of our system and make incremental changes to it.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b="1" dirty="0"/>
                        <a:t>We regularly set aside time to work on improving the design of our system and reduce technical debt, even if it means delaying feature delivery.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b="1" dirty="0"/>
                        <a:t>We can make large-scale changes to the design of our system without the permission of somebody outside the team.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dirty="0"/>
                        <a:t>In general, architects collaborate regularly with teams to evolve the design of our systems.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the state of architectural adoption in your company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have mostly large products managed by large teams, having effective library and API management in place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apply component engineering effectively and our products mostly composed of components interacting through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service buses.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Every component of our product is distributed and Horizontally scalable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are developing microservices capable of being deployed to any cloud , each having a right blend of auxiliary services and databases (SQL/NOSQL/CACHE/GRAPH/BIG )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How would you describe the state of cloud architecture in your company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Our workloads are mostly residing in our private clouds and pure physical environments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have tools and framework available to distribute our workloads in our private cloud as well as specific public cloud provider.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have adopted hybrid cloud wherein public clouds are connected in private address space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are creating optimized resource pooling in hybrid cloud and deploy our services across the clouds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would you describe the state of application delivery model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 are delivered as packages for multiple OS environment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 are delivered as host templates capable of running to any cloud on the fly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services are delivered as container with build once run anywhere model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services are delivered with right blend of container and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faas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model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1" dirty="0"/>
                        <a:t>What best describe the state of infrastructure provisioning capability in your organization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provision server , network , storage primarily through automation scripts and some are manual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provision entire infrastructure in software defined manner in our private cloud through the cloud orchestrator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provision the infrastructure and pool resources across the cloud in complete software defined manner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sz="1000" b="1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222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431">
                <a:tc vMerge="1"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9827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038140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Operations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986942"/>
              </p:ext>
            </p:extLst>
          </p:nvPr>
        </p:nvGraphicFramePr>
        <p:xfrm>
          <a:off x="0" y="624578"/>
          <a:ext cx="12160577" cy="62334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7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02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397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operation monitoring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Monitoring Tool in place which can monitor the following from single window 	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Service cluster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services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availability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Database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Load balancer statistics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Network traffic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Physical server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Virtual Server performance </a:t>
                      </a:r>
                    </a:p>
                    <a:p>
                      <a:pPr marL="1143000" marR="0" lvl="2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Storage performance 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Monitoring practices scale to manage more modern distributed and microservices-style architectures with many new languages and data stores and potentially thousands of services to support?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Teams can visually depict changes in application environments to quickly identify when and where changes occurred, together with the resulting impact on performance?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your monitoring able to distinguish the most critical and recurrent problems and how they impact business services, without lengthy configuration and baselining?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Has your organization been effective in moving monitoring into development and test - making it an established element of the process in those areas to prevent defects from getting into production?</a:t>
                      </a:r>
                    </a:p>
                    <a:p>
                      <a:pPr marL="685800" lvl="1" indent="-228600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you have complete end-to-end visibility into all business services and transactions - from customer engagement via mobile devices and apps, through middleware and databases to back-end systems-of-record.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effective are your teams in monitoring information and analytics on mobile app behavior and usage to not only resolve problems, but also drive development improvements?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your teams monitor complete business services that link end-user experience, end-to-end transactions and applications to infrastructure and pinpoint root cause and potential impact?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teams able to quickly correlate and analyze multiple application performance metrics to solve complex emerging problems before they impact end-user experience?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teams have visibility into system capacity in order to understand the impact of increased system workloads?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your teams aware of third-party dependencies to ensure reliable service delivery?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 teams have a unified view that enables them to quickly pinpoint and triage problems?	</a:t>
                      </a: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operation log analysis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 Log collection and search tool is present and team is trained on that.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intelligent log analysis tools present that continuously gives insights to application services reliability &amp; performance.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log analysis tools are integrated with ITSM tool to raise alerts depending on log analysis results.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9235960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Q’s Operations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60636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59918"/>
              </p:ext>
            </p:extLst>
          </p:nvPr>
        </p:nvGraphicFramePr>
        <p:xfrm>
          <a:off x="0" y="624578"/>
          <a:ext cx="12160577" cy="62334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7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02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397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3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ITSM process capability?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a central ITSM tool and Operation SLA’s defined and different teams in operation address different tickets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do resource provisioning manually through ITSM tickets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intelligent tools that does automated ticket remediation</a:t>
                      </a:r>
                    </a:p>
                    <a:p>
                      <a:pPr marL="685800" lvl="1" indent="-228600">
                        <a:buAutoNum type="arabicPeriod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resource provisioning is entirely automatics , the architecture guarantee automated elastic provisioning of cluster , services , and associated resources.</a:t>
                      </a:r>
                    </a:p>
                    <a:p>
                      <a:pPr marL="457200" lvl="1" indent="0">
                        <a:buNone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operation log analysis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 Log collection and search tool is present and team is trained on that.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intelligent log analysis tools present that continuously gives insights to application services reliability &amp; performance.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log analysis tools are integrated with ITSM tool to raise alerts depending on log analysis results.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describes your audit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tools and scripts in place to do regular application and infrastructure  security audits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audit trails tools present to perform audit trailing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continuous security and continuous compliance system in place that gives you real time visibility on security and compliance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centralized tools for auditing different environments (dev/stage/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qa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/tests) , products deployed across clouds in real time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resilience  capability?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mostly troubleshot from you log analysis or  monitoring tool and restore the services manually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diagnostics scripts available that you run to troubleshoot failure and restore services manually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support resiliency through resilience architecture (circuit breaker sort of) 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Automation scripts are present which does regular and preventive maintenance in response to system nature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best describe your operation maturity in adopting advanced technologies?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automated ticker remediation and workflows that caters your 60% tickets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provision your infrastructure with automated tools that seamlessly does hyper scaling cluster and cloud provisioning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centralized tool to monitor different product , environments , services and clouds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have continuous security , billing , compliance mechanism in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5689783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71BD3-C310-46C9-A390-8DAB2BE0BC90}"/>
              </a:ext>
            </a:extLst>
          </p:cNvPr>
          <p:cNvSpPr/>
          <p:nvPr/>
        </p:nvSpPr>
        <p:spPr>
          <a:xfrm flipH="1">
            <a:off x="0" y="-275993"/>
            <a:ext cx="12226208" cy="6974005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89CC-1619-4D81-9EBF-D292348CFA13}"/>
              </a:ext>
            </a:extLst>
          </p:cNvPr>
          <p:cNvSpPr txBox="1"/>
          <p:nvPr/>
        </p:nvSpPr>
        <p:spPr>
          <a:xfrm>
            <a:off x="2148390" y="-302197"/>
            <a:ext cx="7970837" cy="5735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Positioning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ADF8FD7-0157-4EA6-9020-7FF298451CCB}"/>
              </a:ext>
            </a:extLst>
          </p:cNvPr>
          <p:cNvSpPr txBox="1"/>
          <p:nvPr/>
        </p:nvSpPr>
        <p:spPr>
          <a:xfrm>
            <a:off x="3984026" y="6482568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C21CF-D969-463E-B329-378DC1D3B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536"/>
            <a:ext cx="6133809" cy="6262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52CAA6-F1D6-4615-B895-AA8A6B9A3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809" y="226243"/>
            <a:ext cx="6092399" cy="625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98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2" y="0"/>
            <a:ext cx="83704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Key Outcome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C5849-D202-400C-A392-8F86A8184D48}"/>
              </a:ext>
            </a:extLst>
          </p:cNvPr>
          <p:cNvSpPr/>
          <p:nvPr/>
        </p:nvSpPr>
        <p:spPr>
          <a:xfrm>
            <a:off x="0" y="794322"/>
            <a:ext cx="9470368" cy="59600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FC13A79-D205-4ED8-91C5-2C18AB47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20242"/>
              </p:ext>
            </p:extLst>
          </p:nvPr>
        </p:nvGraphicFramePr>
        <p:xfrm>
          <a:off x="0" y="624578"/>
          <a:ext cx="12192000" cy="30779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604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11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F/P/N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22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Technical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teams to baseline their performance and understand strengths as well as areas of improvement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Recruitment team to develop capabilities and recruit related talent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 team to target the investment areas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Operations team to understand the most critical operations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Different Plans :</a:t>
                      </a:r>
                    </a:p>
                    <a:p>
                      <a:pPr marL="800100" lvl="1" indent="-342900" algn="just" fontAlgn="auto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defRPr/>
                      </a:pPr>
                      <a:r>
                        <a:rPr lang="en-US" sz="1400" kern="0" dirty="0">
                          <a:latin typeface="Raleway Medium" panose="020B0003030101060003" pitchFamily="34" charset="0"/>
                          <a:ea typeface="Karla" pitchFamily="2" charset="0"/>
                          <a:cs typeface="Poppins" panose="02000000000000000000" pitchFamily="2" charset="0"/>
                        </a:rPr>
                        <a:t>Phase wise Maturity Development </a:t>
                      </a:r>
                    </a:p>
                    <a:p>
                      <a:pPr marL="800100" lvl="1" indent="-342900" algn="just" fontAlgn="auto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defRPr/>
                      </a:pPr>
                      <a:r>
                        <a:rPr lang="en-US" sz="1400" kern="0" dirty="0">
                          <a:latin typeface="Raleway Medium" panose="020B0003030101060003" pitchFamily="34" charset="0"/>
                          <a:ea typeface="Karla" pitchFamily="2" charset="0"/>
                          <a:cs typeface="Poppins" panose="02000000000000000000" pitchFamily="2" charset="0"/>
                        </a:rPr>
                        <a:t>Tools &amp; Technology Adoption</a:t>
                      </a:r>
                    </a:p>
                    <a:p>
                      <a:pPr marL="800100" lvl="1" indent="-342900" algn="just" fontAlgn="auto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defRPr/>
                      </a:pPr>
                      <a:r>
                        <a:rPr lang="en-US" sz="1400" kern="0" dirty="0">
                          <a:latin typeface="Raleway Medium" panose="020B0003030101060003" pitchFamily="34" charset="0"/>
                          <a:ea typeface="Karla" pitchFamily="2" charset="0"/>
                          <a:cs typeface="Poppins" panose="02000000000000000000" pitchFamily="2" charset="0"/>
                        </a:rPr>
                        <a:t>Skill Development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None/>
                      </a:pPr>
                      <a:endParaRPr lang="en-US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5287189" y="8790375"/>
            <a:ext cx="3201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2890854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64CB3-3A2C-46A5-8C4B-FB6A5503D255}"/>
              </a:ext>
            </a:extLst>
          </p:cNvPr>
          <p:cNvSpPr/>
          <p:nvPr/>
        </p:nvSpPr>
        <p:spPr>
          <a:xfrm>
            <a:off x="0" y="-19050"/>
            <a:ext cx="12192000" cy="3135313"/>
          </a:xfrm>
          <a:custGeom>
            <a:avLst/>
            <a:gdLst>
              <a:gd name="connsiteX0" fmla="*/ 0 w 12192000"/>
              <a:gd name="connsiteY0" fmla="*/ 0 h 2183642"/>
              <a:gd name="connsiteX1" fmla="*/ 12192000 w 12192000"/>
              <a:gd name="connsiteY1" fmla="*/ 0 h 2183642"/>
              <a:gd name="connsiteX2" fmla="*/ 12192000 w 12192000"/>
              <a:gd name="connsiteY2" fmla="*/ 2183642 h 2183642"/>
              <a:gd name="connsiteX3" fmla="*/ 0 w 12192000"/>
              <a:gd name="connsiteY3" fmla="*/ 2183642 h 2183642"/>
              <a:gd name="connsiteX4" fmla="*/ 0 w 12192000"/>
              <a:gd name="connsiteY4" fmla="*/ 0 h 2183642"/>
              <a:gd name="connsiteX0" fmla="*/ 0 w 12192000"/>
              <a:gd name="connsiteY0" fmla="*/ 0 h 3125337"/>
              <a:gd name="connsiteX1" fmla="*/ 12192000 w 12192000"/>
              <a:gd name="connsiteY1" fmla="*/ 0 h 3125337"/>
              <a:gd name="connsiteX2" fmla="*/ 12192000 w 12192000"/>
              <a:gd name="connsiteY2" fmla="*/ 2183642 h 3125337"/>
              <a:gd name="connsiteX3" fmla="*/ 27296 w 12192000"/>
              <a:gd name="connsiteY3" fmla="*/ 3125337 h 3125337"/>
              <a:gd name="connsiteX4" fmla="*/ 0 w 12192000"/>
              <a:gd name="connsiteY4" fmla="*/ 0 h 3125337"/>
              <a:gd name="connsiteX0" fmla="*/ 0 w 12192000"/>
              <a:gd name="connsiteY0" fmla="*/ 0 h 3135970"/>
              <a:gd name="connsiteX1" fmla="*/ 12192000 w 12192000"/>
              <a:gd name="connsiteY1" fmla="*/ 0 h 3135970"/>
              <a:gd name="connsiteX2" fmla="*/ 12192000 w 12192000"/>
              <a:gd name="connsiteY2" fmla="*/ 2183642 h 3135970"/>
              <a:gd name="connsiteX3" fmla="*/ 6031 w 12192000"/>
              <a:gd name="connsiteY3" fmla="*/ 3135970 h 3135970"/>
              <a:gd name="connsiteX4" fmla="*/ 0 w 12192000"/>
              <a:gd name="connsiteY4" fmla="*/ 0 h 313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135970">
                <a:moveTo>
                  <a:pt x="0" y="0"/>
                </a:moveTo>
                <a:lnTo>
                  <a:pt x="12192000" y="0"/>
                </a:lnTo>
                <a:lnTo>
                  <a:pt x="12192000" y="2183642"/>
                </a:lnTo>
                <a:lnTo>
                  <a:pt x="6031" y="3135970"/>
                </a:lnTo>
                <a:cubicBezTo>
                  <a:pt x="4021" y="2090647"/>
                  <a:pt x="2010" y="1045323"/>
                  <a:pt x="0" y="0"/>
                </a:cubicBezTo>
                <a:close/>
              </a:path>
            </a:pathLst>
          </a:cu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7A429-38B1-48EE-9900-0CE58F8C4247}"/>
              </a:ext>
            </a:extLst>
          </p:cNvPr>
          <p:cNvSpPr txBox="1"/>
          <p:nvPr/>
        </p:nvSpPr>
        <p:spPr>
          <a:xfrm>
            <a:off x="2100263" y="609685"/>
            <a:ext cx="7970837" cy="15108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Why Us?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/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SOME KEY DIFFERENTIATOR</a:t>
            </a:r>
            <a:endParaRPr lang="en-US" sz="120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E61CE43B-11AB-4B82-8510-5CE5B533E9CC}"/>
              </a:ext>
            </a:extLst>
          </p:cNvPr>
          <p:cNvSpPr txBox="1">
            <a:spLocks/>
          </p:cNvSpPr>
          <p:nvPr/>
        </p:nvSpPr>
        <p:spPr>
          <a:xfrm>
            <a:off x="596322" y="3711381"/>
            <a:ext cx="3606693" cy="21224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1600" dirty="0">
                <a:latin typeface="Helvetica" panose="020B0604020202020204" pitchFamily="2" charset="0"/>
              </a:rPr>
              <a:t>Expertise</a:t>
            </a:r>
            <a:br>
              <a:rPr lang="en-US" sz="1400" dirty="0">
                <a:latin typeface="Helvetica" panose="020B0604020202020204" pitchFamily="2" charset="0"/>
              </a:rPr>
            </a:br>
            <a:r>
              <a:rPr lang="en-US" sz="14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</a:rPr>
              <a:t>As IT changes so the resource requirement. We understand the minimal requirement and designed only 2 Types of resources  1) </a:t>
            </a:r>
            <a:r>
              <a:rPr lang="en-US" sz="14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Cloud Architect  2) DevOps </a:t>
            </a:r>
          </a:p>
          <a:p>
            <a:pPr marL="0" indent="0" algn="just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400" kern="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pt-BR" sz="1400" kern="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4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3186CA60-9173-4F3A-8125-0576704D6B31}"/>
              </a:ext>
            </a:extLst>
          </p:cNvPr>
          <p:cNvSpPr txBox="1">
            <a:spLocks/>
          </p:cNvSpPr>
          <p:nvPr/>
        </p:nvSpPr>
        <p:spPr>
          <a:xfrm>
            <a:off x="4805591" y="3711381"/>
            <a:ext cx="3550095" cy="1928353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300" dirty="0">
                <a:latin typeface="Helvetica" panose="020B0604020202020204" pitchFamily="2" charset="0"/>
              </a:rPr>
              <a:t>Experience</a:t>
            </a:r>
            <a:br>
              <a:rPr lang="en-US" sz="3300" dirty="0">
                <a:latin typeface="Helvetica" panose="020B0604020202020204" pitchFamily="2" charset="0"/>
              </a:rPr>
            </a:br>
            <a:r>
              <a:rPr lang="en-US" sz="34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We have done large transformation projects with Toyota, Reliance and addressed the technology and cultural challenges effectively and brought the changes, resulting significant improvement and savings</a:t>
            </a:r>
            <a:endParaRPr lang="pt-BR" sz="3400" kern="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05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1ECEF57-1CFD-4341-A1D3-02B276797BD2}"/>
              </a:ext>
            </a:extLst>
          </p:cNvPr>
          <p:cNvSpPr txBox="1">
            <a:spLocks/>
          </p:cNvSpPr>
          <p:nvPr/>
        </p:nvSpPr>
        <p:spPr>
          <a:xfrm>
            <a:off x="8792368" y="3711381"/>
            <a:ext cx="2803310" cy="175736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" panose="020B0604020202020204" pitchFamily="2" charset="0"/>
              </a:rPr>
              <a:t>Contribution</a:t>
            </a:r>
            <a:br>
              <a:rPr lang="en-US" sz="1400" dirty="0">
                <a:latin typeface="Helvetica" panose="020B0604020202020204" pitchFamily="2" charset="0"/>
              </a:rPr>
            </a:br>
            <a:r>
              <a:rPr lang="en-US" sz="14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We are continuously contributing open </a:t>
            </a:r>
            <a:r>
              <a:rPr lang="en-US" sz="1400" kern="0" dirty="0" err="1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XFormation</a:t>
            </a:r>
            <a:r>
              <a:rPr lang="en-US" sz="1400" kern="0" dirty="0">
                <a:solidFill>
                  <a:schemeClr val="bg1">
                    <a:lumMod val="65000"/>
                  </a:schemeClr>
                </a:solidFill>
                <a:latin typeface="Helvetica" panose="020B0604020202020204" pitchFamily="2" charset="0"/>
                <a:ea typeface="Karla" pitchFamily="2" charset="0"/>
                <a:cs typeface="Poppins" panose="02000000000000000000" pitchFamily="2" charset="0"/>
              </a:rPr>
              <a:t> platform that is accelerating the transformation @50% Time &amp; Cost.</a:t>
            </a:r>
            <a:endParaRPr lang="pt-BR" sz="1400" kern="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400" dirty="0">
              <a:solidFill>
                <a:schemeClr val="bg1">
                  <a:lumMod val="65000"/>
                </a:schemeClr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74268B8-0417-4B3E-9D20-8EB82A019C1F}"/>
              </a:ext>
            </a:extLst>
          </p:cNvPr>
          <p:cNvSpPr/>
          <p:nvPr/>
        </p:nvSpPr>
        <p:spPr>
          <a:xfrm>
            <a:off x="1697814" y="1761209"/>
            <a:ext cx="1448595" cy="144859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16991A1E-CA56-4686-B3A5-40609513F9B1}"/>
              </a:ext>
            </a:extLst>
          </p:cNvPr>
          <p:cNvSpPr/>
          <p:nvPr/>
        </p:nvSpPr>
        <p:spPr>
          <a:xfrm>
            <a:off x="5735197" y="1746922"/>
            <a:ext cx="1448595" cy="144859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8B598E9-EEBC-441A-A3F7-27D3E4724168}"/>
              </a:ext>
            </a:extLst>
          </p:cNvPr>
          <p:cNvSpPr/>
          <p:nvPr/>
        </p:nvSpPr>
        <p:spPr>
          <a:xfrm>
            <a:off x="9392745" y="1761209"/>
            <a:ext cx="1448595" cy="144859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59EE303-43BC-48C9-9DBA-AE14FEDBF628}"/>
              </a:ext>
            </a:extLst>
          </p:cNvPr>
          <p:cNvSpPr/>
          <p:nvPr/>
        </p:nvSpPr>
        <p:spPr>
          <a:xfrm>
            <a:off x="1631020" y="5842607"/>
            <a:ext cx="1626171" cy="55016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B151113-DDC4-4297-BAEE-EF70EC4E57D9}"/>
              </a:ext>
            </a:extLst>
          </p:cNvPr>
          <p:cNvSpPr/>
          <p:nvPr/>
        </p:nvSpPr>
        <p:spPr>
          <a:xfrm>
            <a:off x="1890106" y="5815042"/>
            <a:ext cx="1107996" cy="5762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spc="100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Specialized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spc="100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Resource</a:t>
            </a:r>
            <a:endParaRPr lang="en-US" sz="1200" dirty="0">
              <a:solidFill>
                <a:schemeClr val="bg1"/>
              </a:solidFill>
              <a:latin typeface="Helvetica" panose="020B0604020202020204" pitchFamily="2" charset="0"/>
              <a:cs typeface="Poppins" panose="02000000000000000000" pitchFamily="2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512DB86-6993-4A4A-AF4C-1DC2241625D8}"/>
              </a:ext>
            </a:extLst>
          </p:cNvPr>
          <p:cNvSpPr/>
          <p:nvPr/>
        </p:nvSpPr>
        <p:spPr>
          <a:xfrm>
            <a:off x="5671629" y="5532522"/>
            <a:ext cx="893193" cy="310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1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Experience</a:t>
            </a:r>
            <a:endParaRPr lang="en-US" sz="8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sp>
        <p:nvSpPr>
          <p:cNvPr id="25" name="Прямоугольник 29">
            <a:extLst>
              <a:ext uri="{FF2B5EF4-FFF2-40B4-BE49-F238E27FC236}">
                <a16:creationId xmlns:a16="http://schemas.microsoft.com/office/drawing/2014/main" id="{6CFB4FEC-BE9F-4282-B091-6FF713F8498D}"/>
              </a:ext>
            </a:extLst>
          </p:cNvPr>
          <p:cNvSpPr/>
          <p:nvPr/>
        </p:nvSpPr>
        <p:spPr>
          <a:xfrm>
            <a:off x="5585905" y="5831949"/>
            <a:ext cx="1876107" cy="55016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6" name="Прямоугольник 30">
            <a:extLst>
              <a:ext uri="{FF2B5EF4-FFF2-40B4-BE49-F238E27FC236}">
                <a16:creationId xmlns:a16="http://schemas.microsoft.com/office/drawing/2014/main" id="{A6A9CEB2-8B6E-41B7-8FD4-C843A5E760BB}"/>
              </a:ext>
            </a:extLst>
          </p:cNvPr>
          <p:cNvSpPr/>
          <p:nvPr/>
        </p:nvSpPr>
        <p:spPr>
          <a:xfrm>
            <a:off x="5756235" y="5801790"/>
            <a:ext cx="1480598" cy="5762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spc="100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Large 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spc="100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Transformations</a:t>
            </a:r>
          </a:p>
        </p:txBody>
      </p:sp>
      <p:sp>
        <p:nvSpPr>
          <p:cNvPr id="27" name="Прямоугольник 29">
            <a:extLst>
              <a:ext uri="{FF2B5EF4-FFF2-40B4-BE49-F238E27FC236}">
                <a16:creationId xmlns:a16="http://schemas.microsoft.com/office/drawing/2014/main" id="{728AF450-6DCF-4653-A09E-D5FDB5D28ECD}"/>
              </a:ext>
            </a:extLst>
          </p:cNvPr>
          <p:cNvSpPr/>
          <p:nvPr/>
        </p:nvSpPr>
        <p:spPr>
          <a:xfrm>
            <a:off x="9463088" y="5815042"/>
            <a:ext cx="1626171" cy="55016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8" name="Прямоугольник 30">
            <a:extLst>
              <a:ext uri="{FF2B5EF4-FFF2-40B4-BE49-F238E27FC236}">
                <a16:creationId xmlns:a16="http://schemas.microsoft.com/office/drawing/2014/main" id="{9D8C1839-076F-4E25-93F7-9A79082783D7}"/>
              </a:ext>
            </a:extLst>
          </p:cNvPr>
          <p:cNvSpPr/>
          <p:nvPr/>
        </p:nvSpPr>
        <p:spPr>
          <a:xfrm>
            <a:off x="9701693" y="5788538"/>
            <a:ext cx="1229824" cy="5762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spc="100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Open Source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spc="100" dirty="0">
                <a:solidFill>
                  <a:schemeClr val="bg1"/>
                </a:solidFill>
                <a:latin typeface="Helvetica" panose="020B0604020202020204" pitchFamily="2" charset="0"/>
                <a:cs typeface="Poppins" panose="02000000000000000000" pitchFamily="2" charset="0"/>
              </a:rPr>
              <a:t>Contribution</a:t>
            </a:r>
          </a:p>
        </p:txBody>
      </p:sp>
      <p:pic>
        <p:nvPicPr>
          <p:cNvPr id="19" name="Graphic 18" descr="Users">
            <a:extLst>
              <a:ext uri="{FF2B5EF4-FFF2-40B4-BE49-F238E27FC236}">
                <a16:creationId xmlns:a16="http://schemas.microsoft.com/office/drawing/2014/main" id="{1545692B-5ACE-4B51-B65E-8B583A0B5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9951" y="1857137"/>
            <a:ext cx="1272049" cy="1272049"/>
          </a:xfrm>
          <a:prstGeom prst="rect">
            <a:avLst/>
          </a:prstGeom>
        </p:spPr>
      </p:pic>
      <p:pic>
        <p:nvPicPr>
          <p:cNvPr id="36" name="Picture 35" descr="A picture containing furniture, table&#10;&#10;Description generated with high confidence">
            <a:extLst>
              <a:ext uri="{FF2B5EF4-FFF2-40B4-BE49-F238E27FC236}">
                <a16:creationId xmlns:a16="http://schemas.microsoft.com/office/drawing/2014/main" id="{1A4FBB28-22DF-48DF-9964-BF8531C8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854" y="1909127"/>
            <a:ext cx="1168067" cy="1168067"/>
          </a:xfrm>
          <a:prstGeom prst="rect">
            <a:avLst/>
          </a:prstGeom>
        </p:spPr>
      </p:pic>
      <p:pic>
        <p:nvPicPr>
          <p:cNvPr id="3" name="Picture 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994B4E33-77D8-429F-B13F-B7B623BF79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121" y="1941752"/>
            <a:ext cx="1236745" cy="11046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B9F8DB7-045D-4141-AD9B-D45932F65A62}"/>
              </a:ext>
            </a:extLst>
          </p:cNvPr>
          <p:cNvSpPr txBox="1"/>
          <p:nvPr/>
        </p:nvSpPr>
        <p:spPr>
          <a:xfrm>
            <a:off x="294329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0400805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45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1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75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605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00"/>
                            </p:stCondLst>
                            <p:childTnLst>
                              <p:par>
                                <p:cTn id="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77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1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5" grpId="0"/>
      <p:bldP spid="16" grpId="0" animBg="1"/>
      <p:bldP spid="21" grpId="0" animBg="1"/>
      <p:bldP spid="23" grpId="0" animBg="1"/>
      <p:bldP spid="30" grpId="0" animBg="1"/>
      <p:bldP spid="31" grpId="0"/>
      <p:bldP spid="33" grpId="0"/>
      <p:bldP spid="25" grpId="0" animBg="1"/>
      <p:bldP spid="26" grpId="0"/>
      <p:bldP spid="27" grpId="0" animBg="1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8E33D9C-569F-4B59-9AFF-92508A766961}"/>
              </a:ext>
            </a:extLst>
          </p:cNvPr>
          <p:cNvSpPr txBox="1"/>
          <p:nvPr/>
        </p:nvSpPr>
        <p:spPr>
          <a:xfrm>
            <a:off x="1201968" y="185063"/>
            <a:ext cx="9450321" cy="49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latin typeface="Raleway ExtraBold" panose="020B0903030101060003" pitchFamily="34" charset="-52"/>
              </a:rPr>
              <a:t>AWS Transformation @50% Time &amp; Cost </a:t>
            </a:r>
          </a:p>
        </p:txBody>
      </p:sp>
      <p:pic>
        <p:nvPicPr>
          <p:cNvPr id="4" name="Picture 3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F90B31E9-4A25-4C57-8CD4-4DE1DC98F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53"/>
            <a:ext cx="12192000" cy="55262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636972-9ED5-4899-8033-134FF44840D2}"/>
              </a:ext>
            </a:extLst>
          </p:cNvPr>
          <p:cNvSpPr txBox="1"/>
          <p:nvPr/>
        </p:nvSpPr>
        <p:spPr>
          <a:xfrm>
            <a:off x="294329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6459446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Рисунок 2">
            <a:extLst>
              <a:ext uri="{FF2B5EF4-FFF2-40B4-BE49-F238E27FC236}">
                <a16:creationId xmlns:a16="http://schemas.microsoft.com/office/drawing/2014/main" id="{990CAD72-8082-40E0-ABC5-C71B439B295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6" b="7796"/>
          <a:stretch>
            <a:fillRect/>
          </a:stretch>
        </p:blipFill>
        <p:spPr/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AD6405F-8024-4156-86B8-A0FAA67A3E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3936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84BE4A-9A53-4CF3-ABF6-2C0E51B73E1B}"/>
              </a:ext>
            </a:extLst>
          </p:cNvPr>
          <p:cNvSpPr/>
          <p:nvPr/>
        </p:nvSpPr>
        <p:spPr>
          <a:xfrm>
            <a:off x="538163" y="469900"/>
            <a:ext cx="11115675" cy="59182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3E35C-6189-42BC-8E32-0A7BCEE84AA6}"/>
              </a:ext>
            </a:extLst>
          </p:cNvPr>
          <p:cNvSpPr txBox="1"/>
          <p:nvPr/>
        </p:nvSpPr>
        <p:spPr>
          <a:xfrm>
            <a:off x="1846332" y="1316038"/>
            <a:ext cx="7969250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C00000"/>
                </a:solidFill>
                <a:latin typeface="Raleway ExtraBold" panose="020B0903030101060003" pitchFamily="34" charset="-52"/>
              </a:rPr>
              <a:t>/</a:t>
            </a: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The clients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/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SOME OF OUR CLIENTS</a:t>
            </a:r>
            <a:endParaRPr lang="en-US" sz="120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39BAE5-B33D-4FDF-B60F-E354F38E8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151" y="2734325"/>
            <a:ext cx="1802296" cy="516358"/>
          </a:xfrm>
          <a:prstGeom prst="rect">
            <a:avLst/>
          </a:prstGeom>
        </p:spPr>
      </p:pic>
      <p:pic>
        <p:nvPicPr>
          <p:cNvPr id="8" name="Picture 7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93BD1D71-B713-417C-BB04-142D9393E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535" y="4206829"/>
            <a:ext cx="1176291" cy="1643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B0B1F3-DDD7-42AC-82C9-B7783B2995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805" y="4266782"/>
            <a:ext cx="1677277" cy="1466286"/>
          </a:xfrm>
          <a:prstGeom prst="rect">
            <a:avLst/>
          </a:prstGeom>
        </p:spPr>
      </p:pic>
      <p:pic>
        <p:nvPicPr>
          <p:cNvPr id="12" name="Picture 1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45AC9D2-4B3E-444C-90F8-5ED6373C3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984" y="2641471"/>
            <a:ext cx="1501573" cy="7322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EA0501-3932-49BE-8E63-4E1F174B14CB}"/>
              </a:ext>
            </a:extLst>
          </p:cNvPr>
          <p:cNvSpPr txBox="1"/>
          <p:nvPr/>
        </p:nvSpPr>
        <p:spPr>
          <a:xfrm>
            <a:off x="294329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6164370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8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Raleway SemiBold"/>
        <a:ea typeface=""/>
        <a:cs typeface=""/>
      </a:majorFont>
      <a:minorFont>
        <a:latin typeface="Raleway SemiBol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F589AB6-289D-4099-AC5C-21BBDD9DF838}"/>
</file>

<file path=customXml/itemProps2.xml><?xml version="1.0" encoding="utf-8"?>
<ds:datastoreItem xmlns:ds="http://schemas.openxmlformats.org/officeDocument/2006/customXml" ds:itemID="{C8FF178F-DDB2-449E-B27E-8768B6423653}"/>
</file>

<file path=customXml/itemProps3.xml><?xml version="1.0" encoding="utf-8"?>
<ds:datastoreItem xmlns:ds="http://schemas.openxmlformats.org/officeDocument/2006/customXml" ds:itemID="{696D5AAF-F1BD-4530-956F-7BCE9B036804}"/>
</file>

<file path=docProps/app.xml><?xml version="1.0" encoding="utf-8"?>
<Properties xmlns="http://schemas.openxmlformats.org/officeDocument/2006/extended-properties" xmlns:vt="http://schemas.openxmlformats.org/officeDocument/2006/docPropsVTypes">
  <TotalTime>20943</TotalTime>
  <Words>2367</Words>
  <Application>Microsoft Office PowerPoint</Application>
  <PresentationFormat>Widescreen</PresentationFormat>
  <Paragraphs>409</Paragraphs>
  <Slides>18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3" baseType="lpstr">
      <vt:lpstr>Arial</vt:lpstr>
      <vt:lpstr>Calibri</vt:lpstr>
      <vt:lpstr>FontAwesome</vt:lpstr>
      <vt:lpstr>Helvetica</vt:lpstr>
      <vt:lpstr>Karla</vt:lpstr>
      <vt:lpstr>Lato</vt:lpstr>
      <vt:lpstr>Montserrat</vt:lpstr>
      <vt:lpstr>Poppins</vt:lpstr>
      <vt:lpstr>Poppins SemiBold</vt:lpstr>
      <vt:lpstr>Raleway ExtraBold</vt:lpstr>
      <vt:lpstr>Raleway Heavy</vt:lpstr>
      <vt:lpstr>Raleway Medium</vt:lpstr>
      <vt:lpstr>Raleway SemiBold</vt:lpstr>
      <vt:lpstr>Тема Office</vt:lpstr>
      <vt:lpstr>Диаграмма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Papu Bhattacharya</cp:lastModifiedBy>
  <cp:revision>608</cp:revision>
  <dcterms:created xsi:type="dcterms:W3CDTF">2016-11-15T05:15:01Z</dcterms:created>
  <dcterms:modified xsi:type="dcterms:W3CDTF">2018-08-06T18:52:47Z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