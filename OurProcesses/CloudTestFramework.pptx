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23"/>
  </p:notesMasterIdLst>
  <p:handoutMasterIdLst>
    <p:handoutMasterId r:id="rId24"/>
  </p:handoutMasterIdLst>
  <p:sldIdLst>
    <p:sldId id="360" r:id="rId5"/>
    <p:sldId id="419" r:id="rId6"/>
    <p:sldId id="336" r:id="rId7"/>
    <p:sldId id="405" r:id="rId8"/>
    <p:sldId id="420" r:id="rId9"/>
    <p:sldId id="434" r:id="rId10"/>
    <p:sldId id="435" r:id="rId11"/>
    <p:sldId id="437" r:id="rId12"/>
    <p:sldId id="438" r:id="rId13"/>
    <p:sldId id="439" r:id="rId14"/>
    <p:sldId id="440" r:id="rId15"/>
    <p:sldId id="431" r:id="rId16"/>
    <p:sldId id="421" r:id="rId17"/>
    <p:sldId id="422" r:id="rId18"/>
    <p:sldId id="423" r:id="rId19"/>
    <p:sldId id="404" r:id="rId20"/>
    <p:sldId id="432" r:id="rId21"/>
    <p:sldId id="433" r:id="rId22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AAB"/>
    <a:srgbClr val="016D56"/>
    <a:srgbClr val="F5F5F5"/>
    <a:srgbClr val="00A27F"/>
    <a:srgbClr val="026E53"/>
    <a:srgbClr val="50FFD8"/>
    <a:srgbClr val="C1FFA6"/>
    <a:srgbClr val="97D2FF"/>
    <a:srgbClr val="F99B71"/>
    <a:srgbClr val="FF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291" autoAdjust="0"/>
  </p:normalViewPr>
  <p:slideViewPr>
    <p:cSldViewPr snapToGrid="0">
      <p:cViewPr>
        <p:scale>
          <a:sx n="90" d="100"/>
          <a:sy n="90" d="100"/>
        </p:scale>
        <p:origin x="1075" y="451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11/26/2021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11/26/2021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6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pPr algn="ctr"/>
            <a:r>
              <a:rPr lang="en-US" dirty="0"/>
              <a:t>Our TAAS Capabilities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D3C48-BA0F-4B60-A233-D7410E8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372" y="513728"/>
            <a:ext cx="8454366" cy="44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E85B5817-9E14-4673-92EB-9ECDD66C37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13806" b="-2"/>
          <a:stretch/>
        </p:blipFill>
        <p:spPr>
          <a:xfrm>
            <a:off x="3078480" y="10"/>
            <a:ext cx="6065520" cy="51434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37DF7F-C465-4C61-8C40-6C5D6855FD92}"/>
              </a:ext>
            </a:extLst>
          </p:cNvPr>
          <p:cNvSpPr txBox="1"/>
          <p:nvPr/>
        </p:nvSpPr>
        <p:spPr>
          <a:xfrm>
            <a:off x="278320" y="870966"/>
            <a:ext cx="2578608" cy="843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90000"/>
              </a:buClr>
              <a:buSzPct val="100000"/>
            </a:pPr>
            <a:r>
              <a:rPr lang="en-US" sz="2800" b="1" dirty="0">
                <a:solidFill>
                  <a:srgbClr val="C00000"/>
                </a:solidFill>
                <a:latin typeface="Raleway ExtraBold" panose="020B0903030101060003" pitchFamily="34" charset="0"/>
                <a:ea typeface="+mj-ea"/>
                <a:cs typeface="+mj-cs"/>
              </a:rPr>
              <a:t>Agenda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0CFBE8-FF4A-4E85-ABB0-D9E4CA2CA889}"/>
              </a:ext>
            </a:extLst>
          </p:cNvPr>
          <p:cNvSpPr txBox="1">
            <a:spLocks/>
          </p:cNvSpPr>
          <p:nvPr/>
        </p:nvSpPr>
        <p:spPr>
          <a:xfrm>
            <a:off x="278319" y="2038540"/>
            <a:ext cx="2800161" cy="2405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Automated Cloud Test Framework to validate cloud readiness</a:t>
            </a:r>
          </a:p>
          <a:p>
            <a:pPr defTabSz="914400">
              <a:lnSpc>
                <a:spcPct val="90000"/>
              </a:lnSpc>
              <a:buClr>
                <a:srgbClr val="D90000"/>
              </a:buClr>
              <a:buSzPct val="100000"/>
            </a:pPr>
            <a:endParaRPr lang="en-US" sz="1600" dirty="0">
              <a:latin typeface="Raleway Medium"/>
            </a:endParaRP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Rationale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Process/Tooling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Datafication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Instrumentation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Accelerator</a:t>
            </a:r>
          </a:p>
          <a:p>
            <a:pPr marL="742950" lvl="3" indent="0" defTabSz="914400">
              <a:lnSpc>
                <a:spcPct val="90000"/>
              </a:lnSpc>
              <a:buClr>
                <a:srgbClr val="D90000"/>
              </a:buClr>
              <a:buSzPct val="100000"/>
              <a:buNone/>
            </a:pPr>
            <a:endParaRPr lang="en-US" sz="1600" dirty="0">
              <a:latin typeface="Raleway Medium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8279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4D82F6D6-BD64-564F-BDB4-3E98167DF08D}" type="slidenum">
              <a:rPr lang="en-US" sz="1200">
                <a:solidFill>
                  <a:schemeClr val="tx1"/>
                </a:solidFill>
                <a:latin typeface="Calibri" panose="020F0502020204030204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12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F6E38-F753-46CF-AFD0-097191BDF204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Rationale for Automated Cloud Assurance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F0BCD-F8D4-42DA-9327-C304F383B01D}"/>
              </a:ext>
            </a:extLst>
          </p:cNvPr>
          <p:cNvSpPr/>
          <p:nvPr/>
        </p:nvSpPr>
        <p:spPr>
          <a:xfrm>
            <a:off x="6874933" y="639683"/>
            <a:ext cx="2160131" cy="4503817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5">
            <a:extLst>
              <a:ext uri="{FF2B5EF4-FFF2-40B4-BE49-F238E27FC236}">
                <a16:creationId xmlns:a16="http://schemas.microsoft.com/office/drawing/2014/main" id="{A583A4E5-E71E-45F6-933B-80414AB965A2}"/>
              </a:ext>
            </a:extLst>
          </p:cNvPr>
          <p:cNvSpPr txBox="1">
            <a:spLocks/>
          </p:cNvSpPr>
          <p:nvPr/>
        </p:nvSpPr>
        <p:spPr>
          <a:xfrm>
            <a:off x="6501008" y="639683"/>
            <a:ext cx="2534056" cy="447199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Validation of cloud attributes- availability, scalability, multitenancy, interoperability and security 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Flexible test-</a:t>
            </a:r>
            <a:r>
              <a:rPr lang="en-US" sz="1000" dirty="0" err="1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ing</a:t>
            </a: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  approach that caters migration methods – namely re-host, re-platform, re-factor and re-</a:t>
            </a:r>
            <a:r>
              <a:rPr lang="en-US" sz="1000" dirty="0" err="1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ar</a:t>
            </a: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-</a:t>
            </a:r>
            <a:r>
              <a:rPr lang="en-US" sz="1000" dirty="0" err="1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chitect</a:t>
            </a:r>
            <a:endParaRPr lang="en-US" sz="1000" dirty="0">
              <a:solidFill>
                <a:schemeClr val="bg1"/>
              </a:solidFill>
              <a:latin typeface="Raleway" panose="020B0003030101060003" pitchFamily="34" charset="0"/>
              <a:cs typeface="Calibri Light" panose="020F0302020204030204" pitchFamily="34" charset="0"/>
            </a:endParaRP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framework that offers IT teams a structured approach to validate business readiness post cloud migration 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Our Answer?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 quantitative, KPI-based test framework provides a consistent method toward workload profiling across multiple parameters and results in a cumulative score to determine the fitment for cloud.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Availability of Specialized resource Pool executing the framework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EBAF8-DBCE-46AA-9B83-76A81C39E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4597"/>
            <a:ext cx="6814159" cy="457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Our Cloud Assurance QA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8242E9-83E6-469A-9F59-14749E7B1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087"/>
            <a:ext cx="9144000" cy="425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0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Our focus area Cloud Testing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A5068C3D-518B-46D5-A1FF-C09A971E8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173" y="2977746"/>
            <a:ext cx="4042868" cy="2107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88C5F5-2554-4E95-8DF2-6DA1AD409608}"/>
              </a:ext>
            </a:extLst>
          </p:cNvPr>
          <p:cNvSpPr txBox="1"/>
          <p:nvPr/>
        </p:nvSpPr>
        <p:spPr>
          <a:xfrm>
            <a:off x="3733788" y="4468432"/>
            <a:ext cx="16465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/>
              <a:t>FOCUS AREAS </a:t>
            </a:r>
          </a:p>
          <a:p>
            <a:pPr algn="ctr"/>
            <a:r>
              <a:rPr lang="en-US" sz="1300" b="1" dirty="0"/>
              <a:t>OF CLOUD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1E87B-41E1-4AE8-837D-BBBE6450A212}"/>
              </a:ext>
            </a:extLst>
          </p:cNvPr>
          <p:cNvSpPr txBox="1"/>
          <p:nvPr/>
        </p:nvSpPr>
        <p:spPr>
          <a:xfrm>
            <a:off x="1713962" y="1043093"/>
            <a:ext cx="1293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B300"/>
                </a:solidFill>
              </a:rPr>
              <a:t>Multi-tenancy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8E3B8-9DDB-4495-BDB1-A94CF541662E}"/>
              </a:ext>
            </a:extLst>
          </p:cNvPr>
          <p:cNvSpPr txBox="1"/>
          <p:nvPr/>
        </p:nvSpPr>
        <p:spPr>
          <a:xfrm>
            <a:off x="1713962" y="1320805"/>
            <a:ext cx="2412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Application upgrades to few tenants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app design for different customers/domains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Isolate data based on privileges and authentication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tenants' use of resources as per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upgraded instances and old instances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42C17-85C0-419B-B3CF-33C38B97A2FF}"/>
              </a:ext>
            </a:extLst>
          </p:cNvPr>
          <p:cNvSpPr txBox="1"/>
          <p:nvPr/>
        </p:nvSpPr>
        <p:spPr>
          <a:xfrm>
            <a:off x="213677" y="3220713"/>
            <a:ext cx="156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6CABD"/>
                </a:solidFill>
              </a:rPr>
              <a:t>Disaster Recovery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B69FA9-8494-4F5D-A5F4-C5D4979258F7}"/>
              </a:ext>
            </a:extLst>
          </p:cNvPr>
          <p:cNvSpPr txBox="1"/>
          <p:nvPr/>
        </p:nvSpPr>
        <p:spPr>
          <a:xfrm>
            <a:off x="213677" y="3498425"/>
            <a:ext cx="2193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Test, measure, and update BCP periodically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Run simulations and evaluate the team's readiness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Monitor test results to update BCP over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instances restore automatically during failures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888BF7-348D-49A4-B6AD-563A5BDD2490}"/>
              </a:ext>
            </a:extLst>
          </p:cNvPr>
          <p:cNvSpPr txBox="1"/>
          <p:nvPr/>
        </p:nvSpPr>
        <p:spPr>
          <a:xfrm>
            <a:off x="5144643" y="1043093"/>
            <a:ext cx="1893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3654"/>
                </a:solidFill>
              </a:rPr>
              <a:t>Microservices Testing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499FF-1D3C-49A0-B63E-5CFD5058DD7F}"/>
              </a:ext>
            </a:extLst>
          </p:cNvPr>
          <p:cNvSpPr txBox="1"/>
          <p:nvPr/>
        </p:nvSpPr>
        <p:spPr>
          <a:xfrm>
            <a:off x="5144643" y="1320805"/>
            <a:ext cx="2412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each service independently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the different pieces of the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on multiple environments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Use canary testing (Al is used to automate)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CC0CB3-7EF6-4170-A68E-EF714020A423}"/>
              </a:ext>
            </a:extLst>
          </p:cNvPr>
          <p:cNvSpPr txBox="1"/>
          <p:nvPr/>
        </p:nvSpPr>
        <p:spPr>
          <a:xfrm>
            <a:off x="6773623" y="3220713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B3DD9"/>
                </a:solidFill>
              </a:rPr>
              <a:t>Provisioning Testing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9ABBF-9982-4E4B-AA5E-6912C2501A59}"/>
              </a:ext>
            </a:extLst>
          </p:cNvPr>
          <p:cNvSpPr txBox="1"/>
          <p:nvPr/>
        </p:nvSpPr>
        <p:spPr>
          <a:xfrm>
            <a:off x="6773623" y="3498425"/>
            <a:ext cx="219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Self provisioning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Dynamic provisioning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Provisioning of new services when new users sign up and vice versa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598C80-23FE-44FD-8868-70E166CAD297}"/>
              </a:ext>
            </a:extLst>
          </p:cNvPr>
          <p:cNvSpPr txBox="1"/>
          <p:nvPr/>
        </p:nvSpPr>
        <p:spPr>
          <a:xfrm>
            <a:off x="3052187" y="4199460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4EF89A-E0DA-43E5-8BDD-1C9E9FC312E9}"/>
              </a:ext>
            </a:extLst>
          </p:cNvPr>
          <p:cNvSpPr txBox="1"/>
          <p:nvPr/>
        </p:nvSpPr>
        <p:spPr>
          <a:xfrm>
            <a:off x="3881923" y="3410369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26623-683D-4C56-9004-8FA7BEB810A1}"/>
              </a:ext>
            </a:extLst>
          </p:cNvPr>
          <p:cNvSpPr txBox="1"/>
          <p:nvPr/>
        </p:nvSpPr>
        <p:spPr>
          <a:xfrm>
            <a:off x="4914858" y="3410369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BF6FD7-9EAC-4903-BE04-F00DF8B26505}"/>
              </a:ext>
            </a:extLst>
          </p:cNvPr>
          <p:cNvSpPr txBox="1"/>
          <p:nvPr/>
        </p:nvSpPr>
        <p:spPr>
          <a:xfrm>
            <a:off x="5731033" y="4199460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746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Our focus area Cloud Testing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 descr="Chart&#10;&#10;Description automatically generated">
            <a:extLst>
              <a:ext uri="{FF2B5EF4-FFF2-40B4-BE49-F238E27FC236}">
                <a16:creationId xmlns:a16="http://schemas.microsoft.com/office/drawing/2014/main" id="{7042CC3C-B47B-49E4-95F4-86D449E29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536502" y="491493"/>
            <a:ext cx="4042868" cy="21076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9CA7F2-4A00-4528-B5B2-3110A7120DA0}"/>
              </a:ext>
            </a:extLst>
          </p:cNvPr>
          <p:cNvSpPr txBox="1"/>
          <p:nvPr/>
        </p:nvSpPr>
        <p:spPr>
          <a:xfrm>
            <a:off x="3733788" y="546349"/>
            <a:ext cx="16465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/>
              <a:t>FOCUS AREAS </a:t>
            </a:r>
          </a:p>
          <a:p>
            <a:pPr algn="ctr"/>
            <a:r>
              <a:rPr lang="en-US" sz="1300" b="1" dirty="0"/>
              <a:t>OF CLOUD TESTING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09C4E-C71E-4591-8916-97BCCF211978}"/>
              </a:ext>
            </a:extLst>
          </p:cNvPr>
          <p:cNvSpPr txBox="1"/>
          <p:nvPr/>
        </p:nvSpPr>
        <p:spPr>
          <a:xfrm>
            <a:off x="402602" y="689118"/>
            <a:ext cx="2082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B3DD9"/>
                </a:solidFill>
              </a:rPr>
              <a:t>Synchronization Testing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FBF1E-8940-452A-B2BD-7EC506D77ED2}"/>
              </a:ext>
            </a:extLst>
          </p:cNvPr>
          <p:cNvSpPr txBox="1"/>
          <p:nvPr/>
        </p:nvSpPr>
        <p:spPr>
          <a:xfrm>
            <a:off x="402602" y="966830"/>
            <a:ext cx="21933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Verify device to device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synchronization 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Recovery situations when sync is, disrupted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Rollback scenarios in case of failures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77F92-BAED-4AC2-8D0D-480443AF16FE}"/>
              </a:ext>
            </a:extLst>
          </p:cNvPr>
          <p:cNvSpPr txBox="1"/>
          <p:nvPr/>
        </p:nvSpPr>
        <p:spPr>
          <a:xfrm>
            <a:off x="1835161" y="2805781"/>
            <a:ext cx="2082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3654"/>
                </a:solidFill>
              </a:rPr>
              <a:t>Performance &amp; Security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369BE9-77B0-41D2-B64B-33E0E72FBB51}"/>
              </a:ext>
            </a:extLst>
          </p:cNvPr>
          <p:cNvSpPr txBox="1"/>
          <p:nvPr/>
        </p:nvSpPr>
        <p:spPr>
          <a:xfrm>
            <a:off x="1835161" y="3083493"/>
            <a:ext cx="219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Verify how system behaves under heavy load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Verify scaling up/down as per 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 Verify security of the systems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E2642F-DDCC-4936-8D6F-0FBA34D9C784}"/>
              </a:ext>
            </a:extLst>
          </p:cNvPr>
          <p:cNvSpPr txBox="1"/>
          <p:nvPr/>
        </p:nvSpPr>
        <p:spPr>
          <a:xfrm>
            <a:off x="4764617" y="2805781"/>
            <a:ext cx="156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B300"/>
                </a:solidFill>
              </a:rPr>
              <a:t>Portability Testing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D8C9D4-C4E9-45B6-A7A4-6508CD0C289E}"/>
              </a:ext>
            </a:extLst>
          </p:cNvPr>
          <p:cNvSpPr txBox="1"/>
          <p:nvPr/>
        </p:nvSpPr>
        <p:spPr>
          <a:xfrm>
            <a:off x="4764617" y="3083493"/>
            <a:ext cx="21933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proper installation of 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Ul of application in different browsers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 application in different environments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37C3BF-F64E-4777-B321-254FDAFBF2A7}"/>
              </a:ext>
            </a:extLst>
          </p:cNvPr>
          <p:cNvSpPr txBox="1"/>
          <p:nvPr/>
        </p:nvSpPr>
        <p:spPr>
          <a:xfrm>
            <a:off x="6711948" y="689118"/>
            <a:ext cx="156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6CABD"/>
                </a:solidFill>
              </a:rPr>
              <a:t>Portability 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51B006-F8F6-42AC-B6A2-FF3573751611}"/>
              </a:ext>
            </a:extLst>
          </p:cNvPr>
          <p:cNvSpPr txBox="1"/>
          <p:nvPr/>
        </p:nvSpPr>
        <p:spPr>
          <a:xfrm>
            <a:off x="6711948" y="966830"/>
            <a:ext cx="22898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Verify data schema as per new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Verify checks like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Data integrity and data flow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Data consistency and data volume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B85BDF-B269-4F39-A2C1-C1303C125037}"/>
              </a:ext>
            </a:extLst>
          </p:cNvPr>
          <p:cNvSpPr txBox="1"/>
          <p:nvPr/>
        </p:nvSpPr>
        <p:spPr>
          <a:xfrm>
            <a:off x="3052187" y="900859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C7603E-FC6C-43B5-B055-914501BD4E78}"/>
              </a:ext>
            </a:extLst>
          </p:cNvPr>
          <p:cNvSpPr txBox="1"/>
          <p:nvPr/>
        </p:nvSpPr>
        <p:spPr>
          <a:xfrm>
            <a:off x="3875147" y="1591734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69B6D3-01F9-4E8F-B684-2A5272696A71}"/>
              </a:ext>
            </a:extLst>
          </p:cNvPr>
          <p:cNvSpPr txBox="1"/>
          <p:nvPr/>
        </p:nvSpPr>
        <p:spPr>
          <a:xfrm>
            <a:off x="4833573" y="1591734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305AEA-9F9F-4181-B9BB-4F2D8179AA33}"/>
              </a:ext>
            </a:extLst>
          </p:cNvPr>
          <p:cNvSpPr txBox="1"/>
          <p:nvPr/>
        </p:nvSpPr>
        <p:spPr>
          <a:xfrm>
            <a:off x="5656527" y="900859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687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Our focus area Cloud Testing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D22E95-D9AB-4788-983B-234D5B47FF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0560" y="1922944"/>
            <a:ext cx="2126826" cy="9594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5DF28A-ECFE-470C-8898-1BE351937B2A}"/>
              </a:ext>
            </a:extLst>
          </p:cNvPr>
          <p:cNvSpPr/>
          <p:nvPr/>
        </p:nvSpPr>
        <p:spPr>
          <a:xfrm>
            <a:off x="663787" y="2655147"/>
            <a:ext cx="2126826" cy="224874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1D2EB8-8644-49CA-843F-0C5852149B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2927" y="1922944"/>
            <a:ext cx="2126826" cy="9594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72F2B65-95D4-443A-AD9F-F0A46AF115B8}"/>
              </a:ext>
            </a:extLst>
          </p:cNvPr>
          <p:cNvSpPr/>
          <p:nvPr/>
        </p:nvSpPr>
        <p:spPr>
          <a:xfrm>
            <a:off x="3559388" y="2655147"/>
            <a:ext cx="2126826" cy="2248746"/>
          </a:xfrm>
          <a:prstGeom prst="rect">
            <a:avLst/>
          </a:prstGeom>
          <a:solidFill>
            <a:srgbClr val="97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D19A1D-4367-4833-92B1-BE10B3AFA2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15929" y="1922944"/>
            <a:ext cx="2126826" cy="9594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C388B9-7568-4ADE-9AEA-C90355442708}"/>
              </a:ext>
            </a:extLst>
          </p:cNvPr>
          <p:cNvSpPr/>
          <p:nvPr/>
        </p:nvSpPr>
        <p:spPr>
          <a:xfrm>
            <a:off x="6509173" y="2655147"/>
            <a:ext cx="2126826" cy="2248746"/>
          </a:xfrm>
          <a:prstGeom prst="rect">
            <a:avLst/>
          </a:prstGeom>
          <a:solidFill>
            <a:srgbClr val="C1F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38FB9B-B734-464A-B1FB-50A962FC2126}"/>
              </a:ext>
            </a:extLst>
          </p:cNvPr>
          <p:cNvSpPr txBox="1"/>
          <p:nvPr/>
        </p:nvSpPr>
        <p:spPr>
          <a:xfrm>
            <a:off x="965206" y="2306320"/>
            <a:ext cx="1515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Functional testing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AEC9AC-F234-48A8-97E5-701FAB49DA06}"/>
              </a:ext>
            </a:extLst>
          </p:cNvPr>
          <p:cNvSpPr txBox="1"/>
          <p:nvPr/>
        </p:nvSpPr>
        <p:spPr>
          <a:xfrm>
            <a:off x="812806" y="2919303"/>
            <a:ext cx="18626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Component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Microservices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migration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Usability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Integration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Licensing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Accessibility testing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il8N &amp; L1ON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A6B5EB-1117-4603-8CAC-3C5735E28EB9}"/>
              </a:ext>
            </a:extLst>
          </p:cNvPr>
          <p:cNvSpPr txBox="1"/>
          <p:nvPr/>
        </p:nvSpPr>
        <p:spPr>
          <a:xfrm>
            <a:off x="4058950" y="2306320"/>
            <a:ext cx="111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Non-functional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E3FDA-EA88-41D6-AE03-0E857E1EA8BC}"/>
              </a:ext>
            </a:extLst>
          </p:cNvPr>
          <p:cNvSpPr txBox="1"/>
          <p:nvPr/>
        </p:nvSpPr>
        <p:spPr>
          <a:xfrm>
            <a:off x="3708395" y="2919303"/>
            <a:ext cx="18626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Performance testing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Load/stress testing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Latency testing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Capacity testing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Browser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Security testing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 testing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Network testing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Compliance testing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EF6849-A383-46DC-830B-5780600C175E}"/>
              </a:ext>
            </a:extLst>
          </p:cNvPr>
          <p:cNvSpPr txBox="1"/>
          <p:nvPr/>
        </p:nvSpPr>
        <p:spPr>
          <a:xfrm>
            <a:off x="6928240" y="2306320"/>
            <a:ext cx="1328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Ability/cloud-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specific testing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4FBE27-1112-4B19-8181-7C9046806CF6}"/>
              </a:ext>
            </a:extLst>
          </p:cNvPr>
          <p:cNvSpPr txBox="1"/>
          <p:nvPr/>
        </p:nvSpPr>
        <p:spPr>
          <a:xfrm>
            <a:off x="6637848" y="2919303"/>
            <a:ext cx="18626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Interoperability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Compatibility testing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Multi-tenancy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Disaster recovery testing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Failover testing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Failback testing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53E60C-9A9D-4922-B966-C55926AF5BF9}"/>
              </a:ext>
            </a:extLst>
          </p:cNvPr>
          <p:cNvSpPr txBox="1"/>
          <p:nvPr/>
        </p:nvSpPr>
        <p:spPr>
          <a:xfrm>
            <a:off x="6637848" y="3837087"/>
            <a:ext cx="1862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Availability/continuity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Elasticity Synchronization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End-to-end testing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AC17881-D6D4-40CA-8DA6-BE495144A78B}"/>
              </a:ext>
            </a:extLst>
          </p:cNvPr>
          <p:cNvCxnSpPr>
            <a:cxnSpLocks/>
            <a:endCxn id="14" idx="0"/>
          </p:cNvCxnSpPr>
          <p:nvPr/>
        </p:nvCxnSpPr>
        <p:spPr>
          <a:xfrm rot="10800000" flipV="1">
            <a:off x="1733973" y="833120"/>
            <a:ext cx="2099736" cy="1089824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76B1F9-2429-4BCA-B5E5-65308CAEA006}"/>
              </a:ext>
            </a:extLst>
          </p:cNvPr>
          <p:cNvCxnSpPr>
            <a:stCxn id="3" idx="2"/>
            <a:endCxn id="15" idx="0"/>
          </p:cNvCxnSpPr>
          <p:nvPr/>
        </p:nvCxnSpPr>
        <p:spPr>
          <a:xfrm>
            <a:off x="4636340" y="1418892"/>
            <a:ext cx="0" cy="50405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6242435-0394-4052-A3E8-DA20A4BE522F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172045" y="758613"/>
            <a:ext cx="2407297" cy="1164331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C9DBAA3-4D90-457F-9338-5EBDA8F39B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2927" y="214318"/>
            <a:ext cx="2126826" cy="12045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6B503B-513F-43CB-9BD1-FD5348E28ECA}"/>
              </a:ext>
            </a:extLst>
          </p:cNvPr>
          <p:cNvSpPr txBox="1"/>
          <p:nvPr/>
        </p:nvSpPr>
        <p:spPr>
          <a:xfrm>
            <a:off x="3732109" y="833120"/>
            <a:ext cx="172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Testing on cloud</a:t>
            </a:r>
          </a:p>
        </p:txBody>
      </p:sp>
    </p:spTree>
    <p:extLst>
      <p:ext uri="{BB962C8B-B14F-4D97-AF65-F5344CB8AC3E}">
        <p14:creationId xmlns:p14="http://schemas.microsoft.com/office/powerpoint/2010/main" val="172220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Functional Testing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4AA951-34A9-4DDE-A2B1-44D159880A20}"/>
              </a:ext>
            </a:extLst>
          </p:cNvPr>
          <p:cNvGrpSpPr/>
          <p:nvPr/>
        </p:nvGrpSpPr>
        <p:grpSpPr>
          <a:xfrm>
            <a:off x="481749" y="721174"/>
            <a:ext cx="2004061" cy="1798505"/>
            <a:chOff x="434338" y="721174"/>
            <a:chExt cx="2004061" cy="17985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09DBA68-D173-490D-8A56-D27B2373584F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FAC517-12A0-4210-A39D-DE66DE10C3DD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306478-EB15-4208-BCD7-069E5EE9D027}"/>
              </a:ext>
            </a:extLst>
          </p:cNvPr>
          <p:cNvGrpSpPr/>
          <p:nvPr/>
        </p:nvGrpSpPr>
        <p:grpSpPr>
          <a:xfrm>
            <a:off x="2557493" y="721174"/>
            <a:ext cx="2004061" cy="1798505"/>
            <a:chOff x="434338" y="721174"/>
            <a:chExt cx="2004061" cy="179850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EB0225-0F93-49BC-9C54-CC5E9BE03D59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8F3C271-2677-4227-9187-977230C0D8E4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4C29B2-734C-45E1-83D0-1728E1C9B96A}"/>
              </a:ext>
            </a:extLst>
          </p:cNvPr>
          <p:cNvGrpSpPr/>
          <p:nvPr/>
        </p:nvGrpSpPr>
        <p:grpSpPr>
          <a:xfrm>
            <a:off x="4633237" y="721174"/>
            <a:ext cx="2004061" cy="1798505"/>
            <a:chOff x="434338" y="721174"/>
            <a:chExt cx="2004061" cy="179850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E4E615-0FCF-4B64-BCE9-523CEF0D1040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5A71D9E-EE2B-45C6-820C-5F3BEAB14857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973C25-CD97-47F4-AB3F-7FAF85DCB9AA}"/>
              </a:ext>
            </a:extLst>
          </p:cNvPr>
          <p:cNvGrpSpPr/>
          <p:nvPr/>
        </p:nvGrpSpPr>
        <p:grpSpPr>
          <a:xfrm>
            <a:off x="6708981" y="721174"/>
            <a:ext cx="2004061" cy="1798505"/>
            <a:chOff x="434338" y="721174"/>
            <a:chExt cx="2004061" cy="17985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C3C46D-E960-4989-8527-60D5D4FAD742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D2C16A-AD30-479B-AE2D-F7DA008EEE66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7362883-624E-443B-A29E-956FB59BEBA1}"/>
              </a:ext>
            </a:extLst>
          </p:cNvPr>
          <p:cNvSpPr/>
          <p:nvPr/>
        </p:nvSpPr>
        <p:spPr>
          <a:xfrm>
            <a:off x="481750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D56D38-D0E2-432F-BFA9-53EE0815721B}"/>
              </a:ext>
            </a:extLst>
          </p:cNvPr>
          <p:cNvSpPr/>
          <p:nvPr/>
        </p:nvSpPr>
        <p:spPr>
          <a:xfrm>
            <a:off x="481749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197BC-B671-453F-8FDF-B3B8D97ED92A}"/>
              </a:ext>
            </a:extLst>
          </p:cNvPr>
          <p:cNvSpPr/>
          <p:nvPr/>
        </p:nvSpPr>
        <p:spPr>
          <a:xfrm>
            <a:off x="2557494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BF9FCF-C1BA-4708-8C3F-AA1A1415B521}"/>
              </a:ext>
            </a:extLst>
          </p:cNvPr>
          <p:cNvSpPr/>
          <p:nvPr/>
        </p:nvSpPr>
        <p:spPr>
          <a:xfrm>
            <a:off x="2557493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2E839D-571D-4742-9AAA-BEE6C1213BDF}"/>
              </a:ext>
            </a:extLst>
          </p:cNvPr>
          <p:cNvSpPr/>
          <p:nvPr/>
        </p:nvSpPr>
        <p:spPr>
          <a:xfrm>
            <a:off x="4633238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24C147-DB93-4245-864F-2F35376EA7E8}"/>
              </a:ext>
            </a:extLst>
          </p:cNvPr>
          <p:cNvSpPr/>
          <p:nvPr/>
        </p:nvSpPr>
        <p:spPr>
          <a:xfrm>
            <a:off x="4633237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260948-679A-4961-81F3-94BD46E38553}"/>
              </a:ext>
            </a:extLst>
          </p:cNvPr>
          <p:cNvSpPr/>
          <p:nvPr/>
        </p:nvSpPr>
        <p:spPr>
          <a:xfrm>
            <a:off x="6708982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D0FE83-0463-4529-A59C-56586EE6C8E5}"/>
              </a:ext>
            </a:extLst>
          </p:cNvPr>
          <p:cNvSpPr/>
          <p:nvPr/>
        </p:nvSpPr>
        <p:spPr>
          <a:xfrm>
            <a:off x="6708981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6C48BE-C938-463D-828D-282F55FC99C1}"/>
              </a:ext>
            </a:extLst>
          </p:cNvPr>
          <p:cNvSpPr txBox="1"/>
          <p:nvPr/>
        </p:nvSpPr>
        <p:spPr>
          <a:xfrm>
            <a:off x="767366" y="736800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Microservices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39B7DD-0F58-43C6-B5D5-62A3DB661109}"/>
              </a:ext>
            </a:extLst>
          </p:cNvPr>
          <p:cNvSpPr txBox="1"/>
          <p:nvPr/>
        </p:nvSpPr>
        <p:spPr>
          <a:xfrm>
            <a:off x="582261" y="1207548"/>
            <a:ext cx="1781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Unit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Integration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Component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Contract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End-to-end testing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132E2E-8B57-45C9-A529-0C547899977E}"/>
              </a:ext>
            </a:extLst>
          </p:cNvPr>
          <p:cNvSpPr txBox="1"/>
          <p:nvPr/>
        </p:nvSpPr>
        <p:spPr>
          <a:xfrm>
            <a:off x="2984723" y="736800"/>
            <a:ext cx="1217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Integration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8F4F0-F0D2-4001-8FFB-E15847773F6A}"/>
              </a:ext>
            </a:extLst>
          </p:cNvPr>
          <p:cNvSpPr txBox="1"/>
          <p:nvPr/>
        </p:nvSpPr>
        <p:spPr>
          <a:xfrm>
            <a:off x="2569184" y="1207548"/>
            <a:ext cx="1960098" cy="1072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Integration of modules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Integration of software and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Integration between different components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3559D7-75E3-435C-A12F-A888C8888739}"/>
              </a:ext>
            </a:extLst>
          </p:cNvPr>
          <p:cNvSpPr txBox="1"/>
          <p:nvPr/>
        </p:nvSpPr>
        <p:spPr>
          <a:xfrm>
            <a:off x="4932950" y="738838"/>
            <a:ext cx="1472650" cy="330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 migration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09F621-151A-400F-B372-D5FC701D5380}"/>
              </a:ext>
            </a:extLst>
          </p:cNvPr>
          <p:cNvSpPr txBox="1"/>
          <p:nvPr/>
        </p:nvSpPr>
        <p:spPr>
          <a:xfrm>
            <a:off x="4794975" y="1207548"/>
            <a:ext cx="16199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File type and size checks Volume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Driver testing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7FD429-9012-4603-A2F9-C8EF2DD38EEC}"/>
              </a:ext>
            </a:extLst>
          </p:cNvPr>
          <p:cNvSpPr txBox="1"/>
          <p:nvPr/>
        </p:nvSpPr>
        <p:spPr>
          <a:xfrm>
            <a:off x="6975104" y="738838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030F95-C52A-4396-A946-934296D86AB3}"/>
              </a:ext>
            </a:extLst>
          </p:cNvPr>
          <p:cNvSpPr txBox="1"/>
          <p:nvPr/>
        </p:nvSpPr>
        <p:spPr>
          <a:xfrm>
            <a:off x="6667037" y="1207548"/>
            <a:ext cx="1960098" cy="859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Effortless navigation of the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Integration between services/components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C963CE-708A-45DB-9D9B-AE96ED539A5A}"/>
              </a:ext>
            </a:extLst>
          </p:cNvPr>
          <p:cNvSpPr txBox="1"/>
          <p:nvPr/>
        </p:nvSpPr>
        <p:spPr>
          <a:xfrm>
            <a:off x="767366" y="2786580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Accessibility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4E9720-4154-46B0-B3BD-37A4259E00E7}"/>
              </a:ext>
            </a:extLst>
          </p:cNvPr>
          <p:cNvSpPr txBox="1"/>
          <p:nvPr/>
        </p:nvSpPr>
        <p:spPr>
          <a:xfrm>
            <a:off x="500785" y="3165888"/>
            <a:ext cx="1960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QA will test the product and its compliance with the section 508 requirement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Verify all possible ways of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Most pages will also be readable via assistive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Documentation should be available in electronic format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3BD23F-0A53-48E6-8B9E-226C05AD8E51}"/>
              </a:ext>
            </a:extLst>
          </p:cNvPr>
          <p:cNvSpPr txBox="1"/>
          <p:nvPr/>
        </p:nvSpPr>
        <p:spPr>
          <a:xfrm>
            <a:off x="2984723" y="2786580"/>
            <a:ext cx="1217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Licensing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225EBE-CBC0-4503-8B59-3635DCF92F7D}"/>
              </a:ext>
            </a:extLst>
          </p:cNvPr>
          <p:cNvSpPr txBox="1"/>
          <p:nvPr/>
        </p:nvSpPr>
        <p:spPr>
          <a:xfrm>
            <a:off x="2599664" y="3211608"/>
            <a:ext cx="196009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Tests pertaining to the licensing of the base product and its different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Ensure only licensed functionality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Devices should meet certification requirements for the network, protocol compliance, device drivers, app store submissions, etc.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53E87D-448C-40AD-B14B-549A3C433C31}"/>
              </a:ext>
            </a:extLst>
          </p:cNvPr>
          <p:cNvSpPr txBox="1"/>
          <p:nvPr/>
        </p:nvSpPr>
        <p:spPr>
          <a:xfrm>
            <a:off x="4932950" y="2796238"/>
            <a:ext cx="1472650" cy="330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 migration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083B3F-ED82-43E5-B954-B904B6E3B1C3}"/>
              </a:ext>
            </a:extLst>
          </p:cNvPr>
          <p:cNvSpPr txBox="1"/>
          <p:nvPr/>
        </p:nvSpPr>
        <p:spPr>
          <a:xfrm>
            <a:off x="4729219" y="3219228"/>
            <a:ext cx="178190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Effortless site navigation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Easy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Faster pickup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UI </a:t>
            </a:r>
            <a:r>
              <a:rPr lang="en-US" sz="950" dirty="0" err="1"/>
              <a:t>checksFont</a:t>
            </a:r>
            <a:r>
              <a:rPr lang="en-US" sz="950" dirty="0"/>
              <a:t> and font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Application logo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Warning/error messages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UI responsiveness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Minimize and restore functionality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5E0D68-54BB-46C6-9F32-860203BAE180}"/>
              </a:ext>
            </a:extLst>
          </p:cNvPr>
          <p:cNvSpPr txBox="1"/>
          <p:nvPr/>
        </p:nvSpPr>
        <p:spPr>
          <a:xfrm>
            <a:off x="7104644" y="2788618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il 8N &amp;L1ON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22E876-5C7E-4C15-A382-D07CCF8DD7DD}"/>
              </a:ext>
            </a:extLst>
          </p:cNvPr>
          <p:cNvSpPr txBox="1"/>
          <p:nvPr/>
        </p:nvSpPr>
        <p:spPr>
          <a:xfrm>
            <a:off x="6705137" y="3257328"/>
            <a:ext cx="196009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UI element and label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Line wrapping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Word breaks or punctuation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Alphabetical sorting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Layout and text direction</a:t>
            </a:r>
          </a:p>
        </p:txBody>
      </p:sp>
    </p:spTree>
    <p:extLst>
      <p:ext uri="{BB962C8B-B14F-4D97-AF65-F5344CB8AC3E}">
        <p14:creationId xmlns:p14="http://schemas.microsoft.com/office/powerpoint/2010/main" val="3998114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FB5E7C5-598D-42EC-8DC9-FA730C3BCF80}"/>
              </a:ext>
            </a:extLst>
          </p:cNvPr>
          <p:cNvCxnSpPr/>
          <p:nvPr/>
        </p:nvCxnSpPr>
        <p:spPr>
          <a:xfrm>
            <a:off x="426541" y="3112345"/>
            <a:ext cx="359139" cy="6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548939-BFD5-4DB5-A003-3D34FF83BAFA}"/>
              </a:ext>
            </a:extLst>
          </p:cNvPr>
          <p:cNvCxnSpPr/>
          <p:nvPr/>
        </p:nvCxnSpPr>
        <p:spPr>
          <a:xfrm>
            <a:off x="423155" y="3833704"/>
            <a:ext cx="359139" cy="6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BF57CD5-6396-4932-B895-00AFB0E45AC9}"/>
              </a:ext>
            </a:extLst>
          </p:cNvPr>
          <p:cNvCxnSpPr/>
          <p:nvPr/>
        </p:nvCxnSpPr>
        <p:spPr>
          <a:xfrm>
            <a:off x="426542" y="4555063"/>
            <a:ext cx="359139" cy="6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8FF294-FCC0-4D43-B370-88E58FDE9922}"/>
              </a:ext>
            </a:extLst>
          </p:cNvPr>
          <p:cNvCxnSpPr>
            <a:endCxn id="24" idx="1"/>
          </p:cNvCxnSpPr>
          <p:nvPr/>
        </p:nvCxnSpPr>
        <p:spPr>
          <a:xfrm>
            <a:off x="436702" y="2418080"/>
            <a:ext cx="359139" cy="6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NON -Functional Testing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2F9358-5A69-4D81-BEFC-A30095E6DABF}"/>
              </a:ext>
            </a:extLst>
          </p:cNvPr>
          <p:cNvSpPr/>
          <p:nvPr/>
        </p:nvSpPr>
        <p:spPr>
          <a:xfrm>
            <a:off x="140212" y="961813"/>
            <a:ext cx="1236811" cy="508000"/>
          </a:xfrm>
          <a:prstGeom prst="roundRect">
            <a:avLst>
              <a:gd name="adj" fmla="val 50000"/>
            </a:avLst>
          </a:prstGeom>
          <a:solidFill>
            <a:srgbClr val="026E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3A4FE3-9548-46B0-AD4E-963EF7F99D20}"/>
              </a:ext>
            </a:extLst>
          </p:cNvPr>
          <p:cNvSpPr/>
          <p:nvPr/>
        </p:nvSpPr>
        <p:spPr>
          <a:xfrm>
            <a:off x="760984" y="2218728"/>
            <a:ext cx="1065446" cy="415636"/>
          </a:xfrm>
          <a:prstGeom prst="roundRect">
            <a:avLst>
              <a:gd name="adj" fmla="val 50000"/>
            </a:avLst>
          </a:prstGeom>
          <a:solidFill>
            <a:srgbClr val="00A2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F6AFBC-0DC1-4A80-9582-4FA1EF85BE39}"/>
              </a:ext>
            </a:extLst>
          </p:cNvPr>
          <p:cNvSpPr/>
          <p:nvPr/>
        </p:nvSpPr>
        <p:spPr>
          <a:xfrm>
            <a:off x="774532" y="2919766"/>
            <a:ext cx="1065446" cy="415636"/>
          </a:xfrm>
          <a:prstGeom prst="roundRect">
            <a:avLst>
              <a:gd name="adj" fmla="val 50000"/>
            </a:avLst>
          </a:prstGeom>
          <a:solidFill>
            <a:srgbClr val="00D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48C347-B252-44C1-817E-65A1FE1C4B1D}"/>
              </a:ext>
            </a:extLst>
          </p:cNvPr>
          <p:cNvSpPr/>
          <p:nvPr/>
        </p:nvSpPr>
        <p:spPr>
          <a:xfrm>
            <a:off x="788080" y="3620804"/>
            <a:ext cx="1065446" cy="415636"/>
          </a:xfrm>
          <a:prstGeom prst="roundRect">
            <a:avLst>
              <a:gd name="adj" fmla="val 50000"/>
            </a:avLst>
          </a:prstGeom>
          <a:solidFill>
            <a:srgbClr val="50F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412ACA-50FA-4A76-A039-3E353378BBB1}"/>
              </a:ext>
            </a:extLst>
          </p:cNvPr>
          <p:cNvSpPr/>
          <p:nvPr/>
        </p:nvSpPr>
        <p:spPr>
          <a:xfrm>
            <a:off x="774536" y="4321842"/>
            <a:ext cx="1065446" cy="415636"/>
          </a:xfrm>
          <a:prstGeom prst="roundRect">
            <a:avLst>
              <a:gd name="adj" fmla="val 50000"/>
            </a:avLst>
          </a:prstGeom>
          <a:solidFill>
            <a:srgbClr val="50F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CB53E-59D0-43BD-8FF2-4983FF6EEA20}"/>
              </a:ext>
            </a:extLst>
          </p:cNvPr>
          <p:cNvSpPr txBox="1"/>
          <p:nvPr/>
        </p:nvSpPr>
        <p:spPr>
          <a:xfrm>
            <a:off x="203205" y="1043090"/>
            <a:ext cx="1205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D74AC2-D860-46B5-865F-5A3BB50AC202}"/>
              </a:ext>
            </a:extLst>
          </p:cNvPr>
          <p:cNvSpPr txBox="1"/>
          <p:nvPr/>
        </p:nvSpPr>
        <p:spPr>
          <a:xfrm>
            <a:off x="1050778" y="2245355"/>
            <a:ext cx="82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Load/Stress Testing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D1295-CDC3-4DBC-9A52-3663F9BE9441}"/>
              </a:ext>
            </a:extLst>
          </p:cNvPr>
          <p:cNvSpPr txBox="1"/>
          <p:nvPr/>
        </p:nvSpPr>
        <p:spPr>
          <a:xfrm>
            <a:off x="1145605" y="2939622"/>
            <a:ext cx="82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Latency testing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AD6E21-0884-4CE4-ACF8-B0E0F0102929}"/>
              </a:ext>
            </a:extLst>
          </p:cNvPr>
          <p:cNvSpPr txBox="1"/>
          <p:nvPr/>
        </p:nvSpPr>
        <p:spPr>
          <a:xfrm>
            <a:off x="1125281" y="3633888"/>
            <a:ext cx="82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Capacity Testing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07B33D-93D8-4266-AE2E-37576A813C6E}"/>
              </a:ext>
            </a:extLst>
          </p:cNvPr>
          <p:cNvSpPr txBox="1"/>
          <p:nvPr/>
        </p:nvSpPr>
        <p:spPr>
          <a:xfrm>
            <a:off x="1016913" y="4341700"/>
            <a:ext cx="90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Browser Performance</a:t>
            </a:r>
          </a:p>
        </p:txBody>
      </p:sp>
      <p:pic>
        <p:nvPicPr>
          <p:cNvPr id="24" name="Graphic 23" descr="Database with solid fill">
            <a:extLst>
              <a:ext uri="{FF2B5EF4-FFF2-40B4-BE49-F238E27FC236}">
                <a16:creationId xmlns:a16="http://schemas.microsoft.com/office/drawing/2014/main" id="{D994392E-9017-4B9C-93BD-72A66F156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841" y="2277789"/>
            <a:ext cx="293961" cy="293961"/>
          </a:xfrm>
          <a:prstGeom prst="rect">
            <a:avLst/>
          </a:prstGeom>
        </p:spPr>
      </p:pic>
      <p:pic>
        <p:nvPicPr>
          <p:cNvPr id="26" name="Graphic 25" descr="Research with solid fill">
            <a:extLst>
              <a:ext uri="{FF2B5EF4-FFF2-40B4-BE49-F238E27FC236}">
                <a16:creationId xmlns:a16="http://schemas.microsoft.com/office/drawing/2014/main" id="{4BCA32D9-27F4-441E-B662-C3F13C953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790" y="2974868"/>
            <a:ext cx="331608" cy="331608"/>
          </a:xfrm>
          <a:prstGeom prst="rect">
            <a:avLst/>
          </a:prstGeom>
        </p:spPr>
      </p:pic>
      <p:pic>
        <p:nvPicPr>
          <p:cNvPr id="28" name="Graphic 27" descr="Stopwatch with solid fill">
            <a:extLst>
              <a:ext uri="{FF2B5EF4-FFF2-40B4-BE49-F238E27FC236}">
                <a16:creationId xmlns:a16="http://schemas.microsoft.com/office/drawing/2014/main" id="{6D7323DF-E02C-4002-9A0E-D73CF72D80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018" y="3672085"/>
            <a:ext cx="315664" cy="315664"/>
          </a:xfrm>
          <a:prstGeom prst="rect">
            <a:avLst/>
          </a:prstGeom>
        </p:spPr>
      </p:pic>
      <p:pic>
        <p:nvPicPr>
          <p:cNvPr id="30" name="Graphic 29" descr="Bar graph with upward trend with solid fill">
            <a:extLst>
              <a:ext uri="{FF2B5EF4-FFF2-40B4-BE49-F238E27FC236}">
                <a16:creationId xmlns:a16="http://schemas.microsoft.com/office/drawing/2014/main" id="{63375B44-E50D-41A7-B437-9E8A900272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402" y="4389079"/>
            <a:ext cx="285400" cy="285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7CDAFD-DAE9-40AB-996E-D0D76DD38283}"/>
              </a:ext>
            </a:extLst>
          </p:cNvPr>
          <p:cNvSpPr txBox="1"/>
          <p:nvPr/>
        </p:nvSpPr>
        <p:spPr>
          <a:xfrm>
            <a:off x="1873656" y="2194667"/>
            <a:ext cx="160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Measuring the optimal response time while the system is subjected to increasing load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F83EFF-8962-410F-99CC-4A31E8F00EAA}"/>
              </a:ext>
            </a:extLst>
          </p:cNvPr>
          <p:cNvSpPr txBox="1"/>
          <p:nvPr/>
        </p:nvSpPr>
        <p:spPr>
          <a:xfrm>
            <a:off x="1873656" y="2941323"/>
            <a:ext cx="1765850" cy="43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Monitoring the time taken to move data messages between two points within the cloud network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F6DBB8-FF79-4533-BFD8-5807D1D1ABEE}"/>
              </a:ext>
            </a:extLst>
          </p:cNvPr>
          <p:cNvSpPr txBox="1"/>
          <p:nvPr/>
        </p:nvSpPr>
        <p:spPr>
          <a:xfrm>
            <a:off x="1873656" y="3606649"/>
            <a:ext cx="1459380" cy="450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Benchmarking the maximum amount of traffic that can be handled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2DC63E-A843-4F12-8DB1-495A46CB3F37}"/>
              </a:ext>
            </a:extLst>
          </p:cNvPr>
          <p:cNvSpPr txBox="1"/>
          <p:nvPr/>
        </p:nvSpPr>
        <p:spPr>
          <a:xfrm>
            <a:off x="1873656" y="4278748"/>
            <a:ext cx="1459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Validating the compatibility of different browsers with the overall system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003C25-E9AC-4B03-A40D-70D87ED43553}"/>
              </a:ext>
            </a:extLst>
          </p:cNvPr>
          <p:cNvSpPr txBox="1"/>
          <p:nvPr/>
        </p:nvSpPr>
        <p:spPr>
          <a:xfrm>
            <a:off x="3432654" y="2245355"/>
            <a:ext cx="251424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A27F"/>
                </a:solidFill>
              </a:rPr>
              <a:t>Speed:</a:t>
            </a:r>
            <a:r>
              <a:rPr lang="en-US" sz="1000" dirty="0"/>
              <a:t> Evaluates the system for good speed even under different 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A27F"/>
                </a:solidFill>
              </a:rPr>
              <a:t>Scalability:</a:t>
            </a:r>
            <a:r>
              <a:rPr lang="en-US" sz="1000" dirty="0"/>
              <a:t> Checks the variation in response time/scalability as the load on the system varies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A27F"/>
                </a:solidFill>
              </a:rPr>
              <a:t>Reliability:</a:t>
            </a:r>
            <a:r>
              <a:rPr lang="en-US" sz="1000" dirty="0"/>
              <a:t> Validates whether the app is reliable under prolonged periods of high user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A27F"/>
                </a:solidFill>
              </a:rPr>
              <a:t>Stability:</a:t>
            </a:r>
            <a:r>
              <a:rPr lang="en-US" sz="1000" dirty="0"/>
              <a:t> Evaluates if the system is stable under heavy concurrent user load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DC567B-93D0-4D85-89CE-90C22F5D606F}"/>
              </a:ext>
            </a:extLst>
          </p:cNvPr>
          <p:cNvCxnSpPr/>
          <p:nvPr/>
        </p:nvCxnSpPr>
        <p:spPr>
          <a:xfrm>
            <a:off x="436702" y="1469813"/>
            <a:ext cx="0" cy="30818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E5F5807-7F41-4285-9071-4F3C773F3B98}"/>
              </a:ext>
            </a:extLst>
          </p:cNvPr>
          <p:cNvSpPr/>
          <p:nvPr/>
        </p:nvSpPr>
        <p:spPr>
          <a:xfrm>
            <a:off x="6635457" y="1298033"/>
            <a:ext cx="2508543" cy="3596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177AE0-ED79-4DA7-BAFB-4684D247A555}"/>
              </a:ext>
            </a:extLst>
          </p:cNvPr>
          <p:cNvSpPr/>
          <p:nvPr/>
        </p:nvSpPr>
        <p:spPr>
          <a:xfrm>
            <a:off x="6454471" y="1298033"/>
            <a:ext cx="203396" cy="3596640"/>
          </a:xfrm>
          <a:prstGeom prst="rect">
            <a:avLst/>
          </a:prstGeom>
          <a:solidFill>
            <a:srgbClr val="00D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E7DCEF-92B8-4427-826F-0C6E45997448}"/>
              </a:ext>
            </a:extLst>
          </p:cNvPr>
          <p:cNvSpPr/>
          <p:nvPr/>
        </p:nvSpPr>
        <p:spPr>
          <a:xfrm>
            <a:off x="6004767" y="1298033"/>
            <a:ext cx="463671" cy="3596640"/>
          </a:xfrm>
          <a:prstGeom prst="rect">
            <a:avLst/>
          </a:prstGeom>
          <a:solidFill>
            <a:srgbClr val="016D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676549-3E10-4CBD-9918-AA5E2C1B52DB}"/>
              </a:ext>
            </a:extLst>
          </p:cNvPr>
          <p:cNvSpPr txBox="1"/>
          <p:nvPr/>
        </p:nvSpPr>
        <p:spPr>
          <a:xfrm>
            <a:off x="6854612" y="826342"/>
            <a:ext cx="1544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Security Testing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625662-A564-467E-9FA8-6125E9B10DE6}"/>
              </a:ext>
            </a:extLst>
          </p:cNvPr>
          <p:cNvSpPr txBox="1"/>
          <p:nvPr/>
        </p:nvSpPr>
        <p:spPr>
          <a:xfrm>
            <a:off x="6732693" y="1350867"/>
            <a:ext cx="22615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Identification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Password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Provisioning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Registration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Access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Authorization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Authentication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Plugins &amp; Extensions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Web Interfaces (SQL Injections)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Unauthorized access to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Data leakage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Multitenancy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Connectivity to cloud from on-prem or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Open 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Interfaces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Network services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Cloud interface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Mobile interface </a:t>
            </a:r>
          </a:p>
        </p:txBody>
      </p:sp>
      <p:pic>
        <p:nvPicPr>
          <p:cNvPr id="49" name="Graphic 48" descr="Bullseye with solid fill">
            <a:extLst>
              <a:ext uri="{FF2B5EF4-FFF2-40B4-BE49-F238E27FC236}">
                <a16:creationId xmlns:a16="http://schemas.microsoft.com/office/drawing/2014/main" id="{57D9A536-F1BB-4F3C-A312-CD2191480A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1688" y="1366894"/>
            <a:ext cx="426010" cy="4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32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Cloud Specific Testing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3C561D-5047-4021-9967-6DD0D49E63BB}"/>
              </a:ext>
            </a:extLst>
          </p:cNvPr>
          <p:cNvGrpSpPr/>
          <p:nvPr/>
        </p:nvGrpSpPr>
        <p:grpSpPr>
          <a:xfrm>
            <a:off x="481749" y="721174"/>
            <a:ext cx="2004061" cy="1798505"/>
            <a:chOff x="434338" y="721174"/>
            <a:chExt cx="2004061" cy="179850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144D93-C355-437F-B7A2-9CA51B475122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73E4A6-CABC-4A57-9640-34A37AE06980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47AED2-E052-47FF-A4E0-63512E3CFD57}"/>
              </a:ext>
            </a:extLst>
          </p:cNvPr>
          <p:cNvGrpSpPr/>
          <p:nvPr/>
        </p:nvGrpSpPr>
        <p:grpSpPr>
          <a:xfrm>
            <a:off x="2557493" y="721174"/>
            <a:ext cx="2004061" cy="1798505"/>
            <a:chOff x="434338" y="721174"/>
            <a:chExt cx="2004061" cy="17985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81F52D-C6E4-417D-A1D7-366760A80CB6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A8D86F5-4E4C-4B2E-8553-14E62583993D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349C14-51B8-4E23-8381-8C644B684D68}"/>
              </a:ext>
            </a:extLst>
          </p:cNvPr>
          <p:cNvGrpSpPr/>
          <p:nvPr/>
        </p:nvGrpSpPr>
        <p:grpSpPr>
          <a:xfrm>
            <a:off x="4633237" y="721174"/>
            <a:ext cx="2004061" cy="1798505"/>
            <a:chOff x="434338" y="721174"/>
            <a:chExt cx="2004061" cy="179850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4FD149B-D89F-471A-B1BB-EA594C6928BE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8EFD5A-C7A6-4EB7-BC6B-6838511F334A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73F6C2-83B3-44EA-9C52-F11674CC5008}"/>
              </a:ext>
            </a:extLst>
          </p:cNvPr>
          <p:cNvGrpSpPr/>
          <p:nvPr/>
        </p:nvGrpSpPr>
        <p:grpSpPr>
          <a:xfrm>
            <a:off x="6708981" y="721174"/>
            <a:ext cx="2004061" cy="1798505"/>
            <a:chOff x="434338" y="721174"/>
            <a:chExt cx="2004061" cy="179850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49EF02-AEE3-41D6-8083-E631C3AAB8E1}"/>
                </a:ext>
              </a:extLst>
            </p:cNvPr>
            <p:cNvSpPr/>
            <p:nvPr/>
          </p:nvSpPr>
          <p:spPr>
            <a:xfrm>
              <a:off x="434339" y="1090506"/>
              <a:ext cx="2004060" cy="1429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7F22D2-F91B-486A-A6E3-71FB803FD4EB}"/>
                </a:ext>
              </a:extLst>
            </p:cNvPr>
            <p:cNvSpPr/>
            <p:nvPr/>
          </p:nvSpPr>
          <p:spPr>
            <a:xfrm>
              <a:off x="434338" y="721174"/>
              <a:ext cx="2004060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FEA9D6A-34EA-4286-A68C-E66864855BAE}"/>
              </a:ext>
            </a:extLst>
          </p:cNvPr>
          <p:cNvSpPr/>
          <p:nvPr/>
        </p:nvSpPr>
        <p:spPr>
          <a:xfrm>
            <a:off x="481750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54A0DB-3A48-4912-989C-FC9BB27D91C4}"/>
              </a:ext>
            </a:extLst>
          </p:cNvPr>
          <p:cNvSpPr/>
          <p:nvPr/>
        </p:nvSpPr>
        <p:spPr>
          <a:xfrm>
            <a:off x="481749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ED744B-F415-4FE2-BCBF-D9F4A31E51B8}"/>
              </a:ext>
            </a:extLst>
          </p:cNvPr>
          <p:cNvSpPr/>
          <p:nvPr/>
        </p:nvSpPr>
        <p:spPr>
          <a:xfrm>
            <a:off x="2557494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E0B121-7A85-4C20-BC2D-EFAEACE02582}"/>
              </a:ext>
            </a:extLst>
          </p:cNvPr>
          <p:cNvSpPr/>
          <p:nvPr/>
        </p:nvSpPr>
        <p:spPr>
          <a:xfrm>
            <a:off x="2557493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5C52A3-E1F7-4030-A0D0-BAC60D73A0FC}"/>
              </a:ext>
            </a:extLst>
          </p:cNvPr>
          <p:cNvSpPr/>
          <p:nvPr/>
        </p:nvSpPr>
        <p:spPr>
          <a:xfrm>
            <a:off x="4633238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069867-BA49-4FF9-80C0-2E23038AAAF5}"/>
              </a:ext>
            </a:extLst>
          </p:cNvPr>
          <p:cNvSpPr/>
          <p:nvPr/>
        </p:nvSpPr>
        <p:spPr>
          <a:xfrm>
            <a:off x="4633237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0C8173-7A6F-4268-AC6F-83220E929110}"/>
              </a:ext>
            </a:extLst>
          </p:cNvPr>
          <p:cNvSpPr/>
          <p:nvPr/>
        </p:nvSpPr>
        <p:spPr>
          <a:xfrm>
            <a:off x="6708982" y="3126530"/>
            <a:ext cx="2004060" cy="1729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BEBC08-1C1B-415B-9DAB-9CAE5128CB8B}"/>
              </a:ext>
            </a:extLst>
          </p:cNvPr>
          <p:cNvSpPr/>
          <p:nvPr/>
        </p:nvSpPr>
        <p:spPr>
          <a:xfrm>
            <a:off x="6708981" y="2770101"/>
            <a:ext cx="200406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D61BF2-1FD6-4AEF-A59B-8813B89C211D}"/>
              </a:ext>
            </a:extLst>
          </p:cNvPr>
          <p:cNvSpPr txBox="1"/>
          <p:nvPr/>
        </p:nvSpPr>
        <p:spPr>
          <a:xfrm>
            <a:off x="767366" y="736800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Elasticity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430249-1AB9-4F9E-9408-1D186EAA8BC6}"/>
              </a:ext>
            </a:extLst>
          </p:cNvPr>
          <p:cNvSpPr txBox="1"/>
          <p:nvPr/>
        </p:nvSpPr>
        <p:spPr>
          <a:xfrm>
            <a:off x="582261" y="1207548"/>
            <a:ext cx="178190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Automatic provisioning of computing power and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Dynamic scaling with no loss of data, and end-user connectivity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3C2714-C1C1-43B6-AB33-195AE90DF5BA}"/>
              </a:ext>
            </a:extLst>
          </p:cNvPr>
          <p:cNvSpPr txBox="1"/>
          <p:nvPr/>
        </p:nvSpPr>
        <p:spPr>
          <a:xfrm>
            <a:off x="2702303" y="736800"/>
            <a:ext cx="1781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Disaster Recovery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F146EA-1101-49A7-8EEF-29914FCAE5D4}"/>
              </a:ext>
            </a:extLst>
          </p:cNvPr>
          <p:cNvSpPr txBox="1"/>
          <p:nvPr/>
        </p:nvSpPr>
        <p:spPr>
          <a:xfrm>
            <a:off x="2569184" y="1207548"/>
            <a:ext cx="196009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Failback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Failover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Business continuity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Self-healing 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Upgrade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Rollback to stable version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2A1DF-988D-49B8-829C-0D07F0DBF3C6}"/>
              </a:ext>
            </a:extLst>
          </p:cNvPr>
          <p:cNvSpPr txBox="1"/>
          <p:nvPr/>
        </p:nvSpPr>
        <p:spPr>
          <a:xfrm>
            <a:off x="4932950" y="738838"/>
            <a:ext cx="1472650" cy="330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 migration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3772E1-C392-4894-9ED8-8B8945886742}"/>
              </a:ext>
            </a:extLst>
          </p:cNvPr>
          <p:cNvSpPr txBox="1"/>
          <p:nvPr/>
        </p:nvSpPr>
        <p:spPr>
          <a:xfrm>
            <a:off x="4794975" y="1207548"/>
            <a:ext cx="161991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Rigid failures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Data 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Multi-tenant security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Business continuity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00C10B-E986-49E6-8355-EE879E1BF37B}"/>
              </a:ext>
            </a:extLst>
          </p:cNvPr>
          <p:cNvSpPr txBox="1"/>
          <p:nvPr/>
        </p:nvSpPr>
        <p:spPr>
          <a:xfrm>
            <a:off x="6901472" y="738838"/>
            <a:ext cx="1619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Synchronization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1F2B45-C164-4851-8797-B3ABABAFE0F7}"/>
              </a:ext>
            </a:extLst>
          </p:cNvPr>
          <p:cNvSpPr txBox="1"/>
          <p:nvPr/>
        </p:nvSpPr>
        <p:spPr>
          <a:xfrm>
            <a:off x="6667037" y="1207548"/>
            <a:ext cx="196009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Sync across services and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Recovery situations when a sync is disrupted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Restart of services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F76047-82AF-4098-9EE7-EA16F829B243}"/>
              </a:ext>
            </a:extLst>
          </p:cNvPr>
          <p:cNvSpPr txBox="1"/>
          <p:nvPr/>
        </p:nvSpPr>
        <p:spPr>
          <a:xfrm>
            <a:off x="767366" y="2786580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Compliance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75EE71-63B0-4C39-AF66-0AB63C1DF404}"/>
              </a:ext>
            </a:extLst>
          </p:cNvPr>
          <p:cNvSpPr txBox="1"/>
          <p:nvPr/>
        </p:nvSpPr>
        <p:spPr>
          <a:xfrm>
            <a:off x="500785" y="3250553"/>
            <a:ext cx="1960098" cy="140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Licensing of the base product and its different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Only licensed functionality is available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Devices should meet certification requirements for the network, protocol compliance, device drivers, app store, etc.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EE731F-E554-4588-ACFB-1A15558B231E}"/>
              </a:ext>
            </a:extLst>
          </p:cNvPr>
          <p:cNvSpPr txBox="1"/>
          <p:nvPr/>
        </p:nvSpPr>
        <p:spPr>
          <a:xfrm>
            <a:off x="2923870" y="2786580"/>
            <a:ext cx="133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Compatibility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639BC9-8DCB-4085-AB76-A02391D1FC78}"/>
              </a:ext>
            </a:extLst>
          </p:cNvPr>
          <p:cNvSpPr txBox="1"/>
          <p:nvPr/>
        </p:nvSpPr>
        <p:spPr>
          <a:xfrm>
            <a:off x="2599664" y="3211608"/>
            <a:ext cx="196009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Cross-platform compatibility is ensured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Compatibility is ensured across different generations of devices, versions, mobile devices, operating systems, etc.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020153-8545-4095-AD2F-B75D71BE8B9E}"/>
              </a:ext>
            </a:extLst>
          </p:cNvPr>
          <p:cNvSpPr txBox="1"/>
          <p:nvPr/>
        </p:nvSpPr>
        <p:spPr>
          <a:xfrm>
            <a:off x="4932950" y="2796238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Interrupt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BF2DB1-B3FB-4373-B91A-47B1D68B9F7F}"/>
              </a:ext>
            </a:extLst>
          </p:cNvPr>
          <p:cNvSpPr txBox="1"/>
          <p:nvPr/>
        </p:nvSpPr>
        <p:spPr>
          <a:xfrm>
            <a:off x="7104644" y="2788618"/>
            <a:ext cx="147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End-to-end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EBACFB-B528-4413-8CFB-9CA3073F7649}"/>
              </a:ext>
            </a:extLst>
          </p:cNvPr>
          <p:cNvSpPr txBox="1"/>
          <p:nvPr/>
        </p:nvSpPr>
        <p:spPr>
          <a:xfrm>
            <a:off x="6705137" y="3257328"/>
            <a:ext cx="196009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Validation of end-to-end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Validate SaaS/cloud services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Automated suite compatibility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Links and page layout are working as expected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0BDCCA-ED2D-41F3-A0BF-A94C2980CDCE}"/>
              </a:ext>
            </a:extLst>
          </p:cNvPr>
          <p:cNvSpPr txBox="1"/>
          <p:nvPr/>
        </p:nvSpPr>
        <p:spPr>
          <a:xfrm>
            <a:off x="4657067" y="3211608"/>
            <a:ext cx="1960098" cy="140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Validation of application behavior against all types of interruptions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Network  outage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Graceful shutdown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Abrupt shutdown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Graceful stop of services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Reboot hosts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/>
              <a:t>Kill processes</a:t>
            </a:r>
          </a:p>
        </p:txBody>
      </p:sp>
    </p:spTree>
    <p:extLst>
      <p:ext uri="{BB962C8B-B14F-4D97-AF65-F5344CB8AC3E}">
        <p14:creationId xmlns:p14="http://schemas.microsoft.com/office/powerpoint/2010/main" val="109638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</a:t>
            </a:r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</a:rPr>
              <a:t>TestsTooling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18220-F683-417A-97D2-49F0C5677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6" y="795201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1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Datafication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CAAD4-DF6A-4AD7-84CE-E68938786A22}"/>
              </a:ext>
            </a:extLst>
          </p:cNvPr>
          <p:cNvSpPr txBox="1"/>
          <p:nvPr/>
        </p:nvSpPr>
        <p:spPr>
          <a:xfrm>
            <a:off x="251460" y="428923"/>
            <a:ext cx="83340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Goal – </a:t>
            </a:r>
          </a:p>
          <a:p>
            <a:r>
              <a:rPr lang="en-IN" sz="2400" dirty="0"/>
              <a:t>A KPI driven (framework + Instrumentation) ensuring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50% Reduction is migration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100% Test Coverage for Go-Live certification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30% time reduction in deployment certification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50% increase in resiliency and scalability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 80% Early defect detection</a:t>
            </a:r>
          </a:p>
        </p:txBody>
      </p:sp>
    </p:spTree>
    <p:extLst>
      <p:ext uri="{BB962C8B-B14F-4D97-AF65-F5344CB8AC3E}">
        <p14:creationId xmlns:p14="http://schemas.microsoft.com/office/powerpoint/2010/main" val="298816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Datafication – KPI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E49EF-7BF5-4A3F-ACF7-03D07E2F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531"/>
            <a:ext cx="9144000" cy="356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62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Datafication – KPI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1F3A3C-AD83-470D-AD92-7943DC46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835"/>
            <a:ext cx="9144000" cy="425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29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Instrumentation</a:t>
            </a:r>
            <a:endParaRPr lang="en-US" b="1" dirty="0">
              <a:solidFill>
                <a:srgbClr val="C00000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468362-7D8D-4152-BEBA-2C8A55BFA7CE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06A26-1F08-4397-AF76-7B98071D1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13" y="428923"/>
            <a:ext cx="8927731" cy="471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32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9A1D1F-2955-4E4F-82B1-0D5D16C5558F}"/>
              </a:ext>
            </a:extLst>
          </p:cNvPr>
          <p:cNvGrpSpPr/>
          <p:nvPr/>
        </p:nvGrpSpPr>
        <p:grpSpPr>
          <a:xfrm>
            <a:off x="6346105" y="656420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477708" y="1621026"/>
              <a:ext cx="208422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Experience Team with a proven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track record of CloudOps delivery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enabled with DevSecOps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Capabilities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4134941" y="1400893"/>
              <a:ext cx="7697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Expertise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AFA6C39-B349-42A8-BD9B-B643DAE3D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998" y="823581"/>
              <a:ext cx="559168" cy="55916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DB8FA62-00E4-4787-B505-87E0680796F3}"/>
              </a:ext>
            </a:extLst>
          </p:cNvPr>
          <p:cNvGrpSpPr/>
          <p:nvPr/>
        </p:nvGrpSpPr>
        <p:grpSpPr>
          <a:xfrm>
            <a:off x="3487705" y="65642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71948" y="1621026"/>
              <a:ext cx="198163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10+ Large Scale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Migration And Modernization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experience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323377" y="1400893"/>
              <a:ext cx="8787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Experience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A4C9E413-DB2D-4EBF-8396-DCC17636F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6793" y="886588"/>
              <a:ext cx="474725" cy="47472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0E1E57-D637-47A0-AD98-FDFE44F0B7B7}"/>
              </a:ext>
            </a:extLst>
          </p:cNvPr>
          <p:cNvGrpSpPr/>
          <p:nvPr/>
        </p:nvGrpSpPr>
        <p:grpSpPr>
          <a:xfrm>
            <a:off x="629306" y="656420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22746" y="1621026"/>
              <a:ext cx="2108269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open Product Driven Delivery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Model allows customers to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quickly build, deliver and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orchestrate cross cloud services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 @50% time &amp; cost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736510" y="1400893"/>
              <a:ext cx="10807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Time &amp; Money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FE3E376-43E4-4A68-83F2-04F49C1E7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10932" y="871190"/>
              <a:ext cx="450109" cy="45010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FE2753-F811-4D49-8120-8FFDDB647595}"/>
              </a:ext>
            </a:extLst>
          </p:cNvPr>
          <p:cNvGrpSpPr/>
          <p:nvPr/>
        </p:nvGrpSpPr>
        <p:grpSpPr>
          <a:xfrm>
            <a:off x="3506241" y="2937350"/>
            <a:ext cx="2156360" cy="2041482"/>
            <a:chOff x="3463806" y="2937350"/>
            <a:chExt cx="2156360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463806" y="3927810"/>
              <a:ext cx="2156360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Xformation Product is a single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platform to manage all your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workloads distributed across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multiple clouds and boundaries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within a single control plane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812462" y="3720751"/>
              <a:ext cx="14590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Single Control Panel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C7159AAD-AF33-4A59-A68F-EDDFA8B89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67405" y="3170719"/>
              <a:ext cx="409190" cy="40919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432C30-421E-46CC-8FC3-AE0FFC42E14D}"/>
              </a:ext>
            </a:extLst>
          </p:cNvPr>
          <p:cNvGrpSpPr/>
          <p:nvPr/>
        </p:nvGrpSpPr>
        <p:grpSpPr>
          <a:xfrm>
            <a:off x="6346105" y="2937350"/>
            <a:ext cx="2147146" cy="2041482"/>
            <a:chOff x="6203307" y="2937350"/>
            <a:chExt cx="2147146" cy="204148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3F2A7D-7C3A-4DF4-9C29-E27614BDEE65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126DD3-0726-411A-8106-C3DC1C3E1BE2}"/>
                </a:ext>
              </a:extLst>
            </p:cNvPr>
            <p:cNvSpPr txBox="1"/>
            <p:nvPr/>
          </p:nvSpPr>
          <p:spPr>
            <a:xfrm>
              <a:off x="6271637" y="3927810"/>
              <a:ext cx="201048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compliance and security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assessment tools make sure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your hybrid cloud journey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meets your business compliance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1DD8A5-47A8-4FA7-99AD-9BC26EA031E0}"/>
                </a:ext>
              </a:extLst>
            </p:cNvPr>
            <p:cNvSpPr txBox="1"/>
            <p:nvPr/>
          </p:nvSpPr>
          <p:spPr>
            <a:xfrm>
              <a:off x="6479229" y="3720751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Compliance &amp; Security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1B8E0D0D-BF9F-4C38-86FD-B8AA862D4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76298" y="3150260"/>
              <a:ext cx="450109" cy="45010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D8AE21-E826-4C08-9E20-C911EC502090}"/>
              </a:ext>
            </a:extLst>
          </p:cNvPr>
          <p:cNvGrpSpPr/>
          <p:nvPr/>
        </p:nvGrpSpPr>
        <p:grpSpPr>
          <a:xfrm>
            <a:off x="583020" y="2937350"/>
            <a:ext cx="2239717" cy="2041482"/>
            <a:chOff x="6157022" y="2937350"/>
            <a:chExt cx="2239717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2EEE2A-6D98-4EE5-A072-915D1EAAB76F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95942E-F129-415C-BB6A-A62D55CD334B}"/>
                </a:ext>
              </a:extLst>
            </p:cNvPr>
            <p:cNvSpPr txBox="1"/>
            <p:nvPr/>
          </p:nvSpPr>
          <p:spPr>
            <a:xfrm>
              <a:off x="6157022" y="3927810"/>
              <a:ext cx="223971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100% Customer Retention Rate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s</a:t>
              </a:r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ubstantiated by excellent services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CFDD9C-5C2D-4034-836B-76C52C90D5F5}"/>
                </a:ext>
              </a:extLst>
            </p:cNvPr>
            <p:cNvSpPr txBox="1"/>
            <p:nvPr/>
          </p:nvSpPr>
          <p:spPr>
            <a:xfrm>
              <a:off x="6523312" y="3720751"/>
              <a:ext cx="1507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Long Term Retention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F873C04-7716-4CD0-BCBD-0F3BDF94D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54111" y="3114212"/>
              <a:ext cx="522197" cy="522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333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8352A-25F3-43AF-A4E4-C568CC1A7FD5}"/>
              </a:ext>
            </a:extLst>
          </p:cNvPr>
          <p:cNvGrpSpPr/>
          <p:nvPr/>
        </p:nvGrpSpPr>
        <p:grpSpPr>
          <a:xfrm>
            <a:off x="6345936" y="293735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26259" y="1621026"/>
              <a:ext cx="207300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Use our existing automation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capabilities to automate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infrastructure, operations,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security in hybrid IT environment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015603" y="1400893"/>
              <a:ext cx="14943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Extreme Automation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0363C06-E528-4201-8A1D-D8BFC484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18888" y="841755"/>
              <a:ext cx="495120" cy="49512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292871-787C-468F-ABB3-5FBE2DEB4CC5}"/>
              </a:ext>
            </a:extLst>
          </p:cNvPr>
          <p:cNvGrpSpPr/>
          <p:nvPr/>
        </p:nvGrpSpPr>
        <p:grpSpPr>
          <a:xfrm>
            <a:off x="3488436" y="706767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679686" y="1621026"/>
              <a:ext cx="168026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advanced partnership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with major public cloud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providers help you to get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support at every stage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3650836" y="1400893"/>
              <a:ext cx="17379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Public Cloud Partnership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B16FA376-851B-4E67-9719-E5FD710B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7818" y="803622"/>
              <a:ext cx="599095" cy="59909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4369B7-46B3-43A7-9416-D2F492692E93}"/>
              </a:ext>
            </a:extLst>
          </p:cNvPr>
          <p:cNvGrpSpPr/>
          <p:nvPr/>
        </p:nvGrpSpPr>
        <p:grpSpPr>
          <a:xfrm>
            <a:off x="6345936" y="706767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80462" y="1621026"/>
              <a:ext cx="199285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Committed to codifying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our know-how, we write open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Products and Distribute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307709" y="1400893"/>
              <a:ext cx="19383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Myriad Pro" panose="020B0503030403020204" pitchFamily="34" charset="0"/>
                </a:rPr>
                <a:t>Open-Source Contribution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33D78A1B-7420-454B-994A-5F3576EB0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48587" y="843477"/>
              <a:ext cx="450109" cy="45010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E6BCCA-E098-42FA-AEA0-89CF07D38CFC}"/>
              </a:ext>
            </a:extLst>
          </p:cNvPr>
          <p:cNvGrpSpPr/>
          <p:nvPr/>
        </p:nvGrpSpPr>
        <p:grpSpPr>
          <a:xfrm>
            <a:off x="630936" y="2937350"/>
            <a:ext cx="2147146" cy="2041482"/>
            <a:chOff x="689187" y="2937350"/>
            <a:chExt cx="2147146" cy="204148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4372AF-A4BA-4693-A78E-2FCEF169017F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18D696-0450-4347-87C4-AE07256728AE}"/>
                </a:ext>
              </a:extLst>
            </p:cNvPr>
            <p:cNvSpPr txBox="1"/>
            <p:nvPr/>
          </p:nvSpPr>
          <p:spPr>
            <a:xfrm>
              <a:off x="754311" y="3927810"/>
              <a:ext cx="201689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We do optimal resource pooling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from multiple clouds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DFCC1B-F0DA-4084-9A9A-6FAC1C746F1D}"/>
                </a:ext>
              </a:extLst>
            </p:cNvPr>
            <p:cNvSpPr txBox="1"/>
            <p:nvPr/>
          </p:nvSpPr>
          <p:spPr>
            <a:xfrm>
              <a:off x="1013202" y="3720751"/>
              <a:ext cx="14991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Optimization Service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EAC1EDEA-F65B-49F3-994A-8FB31510A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73670" y="3158737"/>
              <a:ext cx="474725" cy="47472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B15903E-72D3-4F96-A3BD-1DE46B6FDC3F}"/>
              </a:ext>
            </a:extLst>
          </p:cNvPr>
          <p:cNvGrpSpPr/>
          <p:nvPr/>
        </p:nvGrpSpPr>
        <p:grpSpPr>
          <a:xfrm>
            <a:off x="3488436" y="2937350"/>
            <a:ext cx="2147146" cy="2041482"/>
            <a:chOff x="3468412" y="2937350"/>
            <a:chExt cx="2147146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689828" y="3927810"/>
              <a:ext cx="170431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every engagement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focused on empowerment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– not dependency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837309" y="3720751"/>
              <a:ext cx="14093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Engagement Model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D4091BA8-1794-473A-88FA-A5EE5C1FA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89805" y="3134681"/>
              <a:ext cx="495120" cy="49512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5CEC4F-56C3-43E8-8770-AB3D4F134FF0}"/>
              </a:ext>
            </a:extLst>
          </p:cNvPr>
          <p:cNvGrpSpPr/>
          <p:nvPr/>
        </p:nvGrpSpPr>
        <p:grpSpPr>
          <a:xfrm>
            <a:off x="630936" y="662395"/>
            <a:ext cx="2147146" cy="2041482"/>
            <a:chOff x="689187" y="2937350"/>
            <a:chExt cx="2147146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0AA6E9-4ADC-4229-BBA7-11AB8625A6BD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B44323-DC03-4634-B9D5-236FED081938}"/>
                </a:ext>
              </a:extLst>
            </p:cNvPr>
            <p:cNvSpPr txBox="1"/>
            <p:nvPr/>
          </p:nvSpPr>
          <p:spPr>
            <a:xfrm>
              <a:off x="774349" y="3927810"/>
              <a:ext cx="197682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Single point of contact for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Application Migration,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Transformation and Integration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to cloud-native Apps services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EA2D88-10BE-423F-A6AC-744B49424C10}"/>
                </a:ext>
              </a:extLst>
            </p:cNvPr>
            <p:cNvSpPr txBox="1"/>
            <p:nvPr/>
          </p:nvSpPr>
          <p:spPr>
            <a:xfrm>
              <a:off x="1274488" y="3720751"/>
              <a:ext cx="976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E2E Solution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9ED8C96-ADBD-4440-AD05-268861F9A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13686" y="3143338"/>
              <a:ext cx="450109" cy="45010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23F76E-C6B7-4AB1-94B6-BEF690821E40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8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5216</TotalTime>
  <Words>1247</Words>
  <Application>Microsoft Office PowerPoint</Application>
  <PresentationFormat>On-screen Show (16:9)</PresentationFormat>
  <Paragraphs>303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Helvetica</vt:lpstr>
      <vt:lpstr>Myriad Pro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Akbar Khan</cp:lastModifiedBy>
  <cp:revision>114</cp:revision>
  <dcterms:created xsi:type="dcterms:W3CDTF">2020-09-08T11:22:38Z</dcterms:created>
  <dcterms:modified xsi:type="dcterms:W3CDTF">2021-11-26T11:01:34Z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