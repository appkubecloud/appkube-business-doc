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4" r:id="rId4"/>
  </p:sldMasterIdLst>
  <p:notesMasterIdLst>
    <p:notesMasterId r:id="rId15"/>
  </p:notesMasterIdLst>
  <p:handoutMasterIdLst>
    <p:handoutMasterId r:id="rId16"/>
  </p:handoutMasterIdLst>
  <p:sldIdLst>
    <p:sldId id="360" r:id="rId5"/>
    <p:sldId id="419" r:id="rId6"/>
    <p:sldId id="336" r:id="rId7"/>
    <p:sldId id="446" r:id="rId8"/>
    <p:sldId id="448" r:id="rId9"/>
    <p:sldId id="447" r:id="rId10"/>
    <p:sldId id="449" r:id="rId11"/>
    <p:sldId id="450" r:id="rId12"/>
    <p:sldId id="432" r:id="rId13"/>
    <p:sldId id="433" r:id="rId14"/>
  </p:sldIdLst>
  <p:sldSz cx="9144000" cy="5143500" type="screen16x9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3DD9"/>
    <a:srgbClr val="FF3654"/>
    <a:srgbClr val="FFB300"/>
    <a:srgbClr val="FFFFFF"/>
    <a:srgbClr val="16CABD"/>
    <a:srgbClr val="00DAAB"/>
    <a:srgbClr val="016D56"/>
    <a:srgbClr val="F5F5F5"/>
    <a:srgbClr val="00A27F"/>
    <a:srgbClr val="026E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91" autoAdjust="0"/>
  </p:normalViewPr>
  <p:slideViewPr>
    <p:cSldViewPr snapToGrid="0">
      <p:cViewPr>
        <p:scale>
          <a:sx n="80" d="100"/>
          <a:sy n="80" d="100"/>
        </p:scale>
        <p:origin x="1140" y="258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outlineViewPr>
    <p:cViewPr>
      <p:scale>
        <a:sx n="33" d="100"/>
        <a:sy n="33" d="100"/>
      </p:scale>
      <p:origin x="0" y="17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5490"/>
    </p:cViewPr>
  </p:sorterViewPr>
  <p:notesViewPr>
    <p:cSldViewPr snapToGrid="0">
      <p:cViewPr varScale="1">
        <p:scale>
          <a:sx n="98" d="100"/>
          <a:sy n="98" d="100"/>
        </p:scale>
        <p:origin x="3516" y="72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9/20/2022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9/20/2022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698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317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38BC4-A547-4D3A-B6AA-E8386FC03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DE963-94FB-4E7F-8ED9-DABC5B5A7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3F490-324D-4289-B024-6675AD95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7AA4F-B2B7-4D4F-A263-B329CDEE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05013-8926-4B30-8D77-BD3EFC81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86420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46DB-24D7-437D-8EC1-CEFC7CBD7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0DDBB-FA4B-4012-9257-B11F5E3D5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2F17C-148F-44BD-872F-A575D02DD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486F3-D503-48BB-AC96-52E4E6D4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797D4-869E-46DD-BFF4-2B38220D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1420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D5C9-77D6-44FE-8CCC-284964621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D2073-29E1-4E94-AB0A-04E1B38C0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22732-F87F-40A5-BEB1-D27D4BF04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52FC0-84F5-4474-80AE-8961864D8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057BC-E475-4DCE-A61C-29BAF7CAD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24232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AEF5-DFED-4C21-888D-D7BED2D2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E111A-5EB3-4490-9307-70D935F75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E1F54-CA9E-4C4D-9C51-0D92F37A3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464EB-5873-4C58-942F-292D85500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F9439-6DD3-4668-8CF0-4688B7BC4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EB6FD-D6B1-4F02-98D2-4C363CFC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41076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35A2E-BAA3-4E34-B724-80A1F0D2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A9807-C8BB-4234-8860-3F68BE08D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AEDF8-3BFA-49F6-99AF-2BE841385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FD341-B7E4-44B0-9D48-BEF005DD1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F43030-77F2-4ADB-9944-3AF525854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9B3C9-487B-4040-805A-A310B4B6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3A9871-48F8-4850-9F26-89D0E1FE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9C7D0-4810-44BC-B20D-5EF9FBFE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3712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C320-690D-49B4-91F5-C81F2B38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2612F1-84F3-44A8-81AE-49EAE40E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FF993-8FCA-48CF-B85F-80B0E64B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3CB4D-B770-49B5-9D96-451D90E9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94405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289ED-BC44-42E9-A1FE-AB2AD213A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5124C0-8767-4C67-A78E-32ADC58C4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312F6-0C46-4CDE-8FFD-3DA06D75D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19756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DD26-D23F-4D83-93BC-B89EDD45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BDA66-B8C4-4614-AE44-7E1C453D9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6DCCE-D0B2-4282-84F1-11D675F3A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7502F-D39D-4EBB-BF29-F535F25A3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D6705-95C1-46CD-87DA-00463E40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34521-9210-42EA-A79B-1CD85AA8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216245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3AA4B-24BF-4290-9C02-3CB84746B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0D23B6-AA70-482B-A6AE-B8E5ACAFB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E2872-1849-4BEF-B7B0-263788058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03588-CC90-4BAF-8FE0-1103BE110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FC51A-B2CE-4CAC-A3F9-AC3F8B083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A2259-6DCB-4E0A-A386-8A50ED45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99134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EC70-26BC-4EE2-8107-1D6068F2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128FD-A093-41E0-9199-9737B37C7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0F7E2-DFB9-4894-B6EE-C0A70D8C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ECD0A-9BB8-461B-AB3D-F750A02C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24A06-BDCF-42CC-953D-0F78B9AF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72374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1AC359-4D48-4680-B1E0-00CB3C23C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74572-3123-4FB2-98FC-1DAC45C9E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41ABD-D28A-4AE4-8B55-6862AE38A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3F08A-35EB-470E-94EB-4704B8F6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5F89D-1A84-46DE-987B-3CCC9E80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96417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64298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69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173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EC3C52-4500-4CA3-A206-F85571BA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60867-C9D9-4675-A550-02D62B46F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2B27E-4705-4E1E-9CA1-00FDD5D330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D98AD-7C5B-4994-98B8-765221AB7D4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70698-B20A-4D82-AA53-61843F48A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B147F-9946-473B-98F7-7A14B0D35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sv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sv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E520EA-5F2A-4D8A-BD76-DAD2517D46B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8862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FADA0-5E43-48D1-BDC7-1C83EA86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799272"/>
            <a:ext cx="914400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chemeClr val="bg1"/>
                </a:solidFill>
                <a:latin typeface="Raleway Medium" panose="020B0603030101060003" pitchFamily="34" charset="0"/>
              </a:rPr>
              <a:t>Open Products Accelerating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rgbClr val="DA291C"/>
                </a:solidFill>
                <a:latin typeface="Raleway ExtraBold" panose="020B0903030101060003" pitchFamily="34" charset="0"/>
              </a:rPr>
              <a:t>Enterprise Transformation</a:t>
            </a:r>
          </a:p>
        </p:txBody>
      </p:sp>
      <p:grpSp>
        <p:nvGrpSpPr>
          <p:cNvPr id="36864" name="Group 36863">
            <a:extLst>
              <a:ext uri="{FF2B5EF4-FFF2-40B4-BE49-F238E27FC236}">
                <a16:creationId xmlns:a16="http://schemas.microsoft.com/office/drawing/2014/main" id="{EF8582F1-C5DB-4534-89E0-07978C7C0FAC}"/>
              </a:ext>
            </a:extLst>
          </p:cNvPr>
          <p:cNvGrpSpPr/>
          <p:nvPr/>
        </p:nvGrpSpPr>
        <p:grpSpPr>
          <a:xfrm>
            <a:off x="451541" y="1786181"/>
            <a:ext cx="1785098" cy="3449696"/>
            <a:chOff x="591895" y="2381574"/>
            <a:chExt cx="2380130" cy="459959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5294FF-0750-4E16-9783-831B09A1BD47}"/>
                </a:ext>
              </a:extLst>
            </p:cNvPr>
            <p:cNvSpPr/>
            <p:nvPr/>
          </p:nvSpPr>
          <p:spPr>
            <a:xfrm>
              <a:off x="591895" y="3218137"/>
              <a:ext cx="2380130" cy="3763032"/>
            </a:xfrm>
            <a:custGeom>
              <a:avLst/>
              <a:gdLst>
                <a:gd name="connsiteX0" fmla="*/ 847165 w 1603937"/>
                <a:gd name="connsiteY0" fmla="*/ 0 h 2003612"/>
                <a:gd name="connsiteX1" fmla="*/ 860612 w 1603937"/>
                <a:gd name="connsiteY1" fmla="*/ 94129 h 2003612"/>
                <a:gd name="connsiteX2" fmla="*/ 820271 w 1603937"/>
                <a:gd name="connsiteY2" fmla="*/ 389965 h 2003612"/>
                <a:gd name="connsiteX3" fmla="*/ 766483 w 1603937"/>
                <a:gd name="connsiteY3" fmla="*/ 470647 h 2003612"/>
                <a:gd name="connsiteX4" fmla="*/ 726142 w 1603937"/>
                <a:gd name="connsiteY4" fmla="*/ 510988 h 2003612"/>
                <a:gd name="connsiteX5" fmla="*/ 672353 w 1603937"/>
                <a:gd name="connsiteY5" fmla="*/ 524435 h 2003612"/>
                <a:gd name="connsiteX6" fmla="*/ 537883 w 1603937"/>
                <a:gd name="connsiteY6" fmla="*/ 564776 h 2003612"/>
                <a:gd name="connsiteX7" fmla="*/ 510989 w 1603937"/>
                <a:gd name="connsiteY7" fmla="*/ 591671 h 2003612"/>
                <a:gd name="connsiteX8" fmla="*/ 174812 w 1603937"/>
                <a:gd name="connsiteY8" fmla="*/ 578224 h 2003612"/>
                <a:gd name="connsiteX9" fmla="*/ 80683 w 1603937"/>
                <a:gd name="connsiteY9" fmla="*/ 537882 h 2003612"/>
                <a:gd name="connsiteX10" fmla="*/ 40342 w 1603937"/>
                <a:gd name="connsiteY10" fmla="*/ 524435 h 2003612"/>
                <a:gd name="connsiteX11" fmla="*/ 13447 w 1603937"/>
                <a:gd name="connsiteY11" fmla="*/ 443753 h 2003612"/>
                <a:gd name="connsiteX12" fmla="*/ 0 w 1603937"/>
                <a:gd name="connsiteY12" fmla="*/ 403412 h 2003612"/>
                <a:gd name="connsiteX13" fmla="*/ 13447 w 1603937"/>
                <a:gd name="connsiteY13" fmla="*/ 215153 h 2003612"/>
                <a:gd name="connsiteX14" fmla="*/ 53789 w 1603937"/>
                <a:gd name="connsiteY14" fmla="*/ 188259 h 2003612"/>
                <a:gd name="connsiteX15" fmla="*/ 134471 w 1603937"/>
                <a:gd name="connsiteY15" fmla="*/ 147918 h 2003612"/>
                <a:gd name="connsiteX16" fmla="*/ 484095 w 1603937"/>
                <a:gd name="connsiteY16" fmla="*/ 161365 h 2003612"/>
                <a:gd name="connsiteX17" fmla="*/ 510989 w 1603937"/>
                <a:gd name="connsiteY17" fmla="*/ 201706 h 2003612"/>
                <a:gd name="connsiteX18" fmla="*/ 551330 w 1603937"/>
                <a:gd name="connsiteY18" fmla="*/ 215153 h 2003612"/>
                <a:gd name="connsiteX19" fmla="*/ 605118 w 1603937"/>
                <a:gd name="connsiteY19" fmla="*/ 255494 h 2003612"/>
                <a:gd name="connsiteX20" fmla="*/ 672353 w 1603937"/>
                <a:gd name="connsiteY20" fmla="*/ 349624 h 2003612"/>
                <a:gd name="connsiteX21" fmla="*/ 712695 w 1603937"/>
                <a:gd name="connsiteY21" fmla="*/ 363071 h 2003612"/>
                <a:gd name="connsiteX22" fmla="*/ 766483 w 1603937"/>
                <a:gd name="connsiteY22" fmla="*/ 389965 h 2003612"/>
                <a:gd name="connsiteX23" fmla="*/ 806824 w 1603937"/>
                <a:gd name="connsiteY23" fmla="*/ 430306 h 2003612"/>
                <a:gd name="connsiteX24" fmla="*/ 860612 w 1603937"/>
                <a:gd name="connsiteY24" fmla="*/ 443753 h 2003612"/>
                <a:gd name="connsiteX25" fmla="*/ 900953 w 1603937"/>
                <a:gd name="connsiteY25" fmla="*/ 457200 h 2003612"/>
                <a:gd name="connsiteX26" fmla="*/ 1371600 w 1603937"/>
                <a:gd name="connsiteY26" fmla="*/ 403412 h 2003612"/>
                <a:gd name="connsiteX27" fmla="*/ 1385047 w 1603937"/>
                <a:gd name="connsiteY27" fmla="*/ 349624 h 2003612"/>
                <a:gd name="connsiteX28" fmla="*/ 1371600 w 1603937"/>
                <a:gd name="connsiteY28" fmla="*/ 174812 h 2003612"/>
                <a:gd name="connsiteX29" fmla="*/ 981636 w 1603937"/>
                <a:gd name="connsiteY29" fmla="*/ 201706 h 2003612"/>
                <a:gd name="connsiteX30" fmla="*/ 954742 w 1603937"/>
                <a:gd name="connsiteY30" fmla="*/ 242047 h 2003612"/>
                <a:gd name="connsiteX31" fmla="*/ 887506 w 1603937"/>
                <a:gd name="connsiteY31" fmla="*/ 309282 h 2003612"/>
                <a:gd name="connsiteX32" fmla="*/ 860612 w 1603937"/>
                <a:gd name="connsiteY32" fmla="*/ 389965 h 2003612"/>
                <a:gd name="connsiteX33" fmla="*/ 833718 w 1603937"/>
                <a:gd name="connsiteY33" fmla="*/ 430306 h 2003612"/>
                <a:gd name="connsiteX34" fmla="*/ 820271 w 1603937"/>
                <a:gd name="connsiteY34" fmla="*/ 470647 h 2003612"/>
                <a:gd name="connsiteX35" fmla="*/ 766483 w 1603937"/>
                <a:gd name="connsiteY35" fmla="*/ 551329 h 2003612"/>
                <a:gd name="connsiteX36" fmla="*/ 739589 w 1603937"/>
                <a:gd name="connsiteY36" fmla="*/ 591671 h 2003612"/>
                <a:gd name="connsiteX37" fmla="*/ 685800 w 1603937"/>
                <a:gd name="connsiteY37" fmla="*/ 658906 h 2003612"/>
                <a:gd name="connsiteX38" fmla="*/ 645459 w 1603937"/>
                <a:gd name="connsiteY38" fmla="*/ 712694 h 2003612"/>
                <a:gd name="connsiteX39" fmla="*/ 605118 w 1603937"/>
                <a:gd name="connsiteY39" fmla="*/ 726141 h 2003612"/>
                <a:gd name="connsiteX40" fmla="*/ 443753 w 1603937"/>
                <a:gd name="connsiteY40" fmla="*/ 712694 h 2003612"/>
                <a:gd name="connsiteX41" fmla="*/ 430306 w 1603937"/>
                <a:gd name="connsiteY41" fmla="*/ 672353 h 2003612"/>
                <a:gd name="connsiteX42" fmla="*/ 403412 w 1603937"/>
                <a:gd name="connsiteY42" fmla="*/ 618565 h 2003612"/>
                <a:gd name="connsiteX43" fmla="*/ 376518 w 1603937"/>
                <a:gd name="connsiteY43" fmla="*/ 537882 h 2003612"/>
                <a:gd name="connsiteX44" fmla="*/ 430306 w 1603937"/>
                <a:gd name="connsiteY44" fmla="*/ 349624 h 2003612"/>
                <a:gd name="connsiteX45" fmla="*/ 484095 w 1603937"/>
                <a:gd name="connsiteY45" fmla="*/ 363071 h 2003612"/>
                <a:gd name="connsiteX46" fmla="*/ 524436 w 1603937"/>
                <a:gd name="connsiteY46" fmla="*/ 416859 h 2003612"/>
                <a:gd name="connsiteX47" fmla="*/ 564777 w 1603937"/>
                <a:gd name="connsiteY47" fmla="*/ 457200 h 2003612"/>
                <a:gd name="connsiteX48" fmla="*/ 591671 w 1603937"/>
                <a:gd name="connsiteY48" fmla="*/ 537882 h 2003612"/>
                <a:gd name="connsiteX49" fmla="*/ 618565 w 1603937"/>
                <a:gd name="connsiteY49" fmla="*/ 578224 h 2003612"/>
                <a:gd name="connsiteX50" fmla="*/ 658906 w 1603937"/>
                <a:gd name="connsiteY50" fmla="*/ 672353 h 2003612"/>
                <a:gd name="connsiteX51" fmla="*/ 672353 w 1603937"/>
                <a:gd name="connsiteY51" fmla="*/ 712694 h 2003612"/>
                <a:gd name="connsiteX52" fmla="*/ 685800 w 1603937"/>
                <a:gd name="connsiteY52" fmla="*/ 766482 h 2003612"/>
                <a:gd name="connsiteX53" fmla="*/ 712695 w 1603937"/>
                <a:gd name="connsiteY53" fmla="*/ 793376 h 2003612"/>
                <a:gd name="connsiteX54" fmla="*/ 766483 w 1603937"/>
                <a:gd name="connsiteY54" fmla="*/ 860612 h 2003612"/>
                <a:gd name="connsiteX55" fmla="*/ 793377 w 1603937"/>
                <a:gd name="connsiteY55" fmla="*/ 900953 h 2003612"/>
                <a:gd name="connsiteX56" fmla="*/ 874059 w 1603937"/>
                <a:gd name="connsiteY56" fmla="*/ 968188 h 2003612"/>
                <a:gd name="connsiteX57" fmla="*/ 1385047 w 1603937"/>
                <a:gd name="connsiteY57" fmla="*/ 954741 h 2003612"/>
                <a:gd name="connsiteX58" fmla="*/ 1452283 w 1603937"/>
                <a:gd name="connsiteY58" fmla="*/ 887506 h 2003612"/>
                <a:gd name="connsiteX59" fmla="*/ 1519518 w 1603937"/>
                <a:gd name="connsiteY59" fmla="*/ 793376 h 2003612"/>
                <a:gd name="connsiteX60" fmla="*/ 1546412 w 1603937"/>
                <a:gd name="connsiteY60" fmla="*/ 699247 h 2003612"/>
                <a:gd name="connsiteX61" fmla="*/ 1519518 w 1603937"/>
                <a:gd name="connsiteY61" fmla="*/ 443753 h 2003612"/>
                <a:gd name="connsiteX62" fmla="*/ 1479177 w 1603937"/>
                <a:gd name="connsiteY62" fmla="*/ 416859 h 2003612"/>
                <a:gd name="connsiteX63" fmla="*/ 1411942 w 1603937"/>
                <a:gd name="connsiteY63" fmla="*/ 363071 h 2003612"/>
                <a:gd name="connsiteX64" fmla="*/ 1290918 w 1603937"/>
                <a:gd name="connsiteY64" fmla="*/ 389965 h 2003612"/>
                <a:gd name="connsiteX65" fmla="*/ 1223683 w 1603937"/>
                <a:gd name="connsiteY65" fmla="*/ 470647 h 2003612"/>
                <a:gd name="connsiteX66" fmla="*/ 1183342 w 1603937"/>
                <a:gd name="connsiteY66" fmla="*/ 497541 h 2003612"/>
                <a:gd name="connsiteX67" fmla="*/ 1143000 w 1603937"/>
                <a:gd name="connsiteY67" fmla="*/ 578224 h 2003612"/>
                <a:gd name="connsiteX68" fmla="*/ 1116106 w 1603937"/>
                <a:gd name="connsiteY68" fmla="*/ 618565 h 2003612"/>
                <a:gd name="connsiteX69" fmla="*/ 1089212 w 1603937"/>
                <a:gd name="connsiteY69" fmla="*/ 699247 h 2003612"/>
                <a:gd name="connsiteX70" fmla="*/ 1062318 w 1603937"/>
                <a:gd name="connsiteY70" fmla="*/ 779929 h 2003612"/>
                <a:gd name="connsiteX71" fmla="*/ 1048871 w 1603937"/>
                <a:gd name="connsiteY71" fmla="*/ 820271 h 2003612"/>
                <a:gd name="connsiteX72" fmla="*/ 1062318 w 1603937"/>
                <a:gd name="connsiteY72" fmla="*/ 1021976 h 2003612"/>
                <a:gd name="connsiteX73" fmla="*/ 1089212 w 1603937"/>
                <a:gd name="connsiteY73" fmla="*/ 1102659 h 2003612"/>
                <a:gd name="connsiteX74" fmla="*/ 1183342 w 1603937"/>
                <a:gd name="connsiteY74" fmla="*/ 1183341 h 2003612"/>
                <a:gd name="connsiteX75" fmla="*/ 1223683 w 1603937"/>
                <a:gd name="connsiteY75" fmla="*/ 1223682 h 2003612"/>
                <a:gd name="connsiteX76" fmla="*/ 1304365 w 1603937"/>
                <a:gd name="connsiteY76" fmla="*/ 1277471 h 2003612"/>
                <a:gd name="connsiteX77" fmla="*/ 1573306 w 1603937"/>
                <a:gd name="connsiteY77" fmla="*/ 1250576 h 2003612"/>
                <a:gd name="connsiteX78" fmla="*/ 1532965 w 1603937"/>
                <a:gd name="connsiteY78" fmla="*/ 712694 h 2003612"/>
                <a:gd name="connsiteX79" fmla="*/ 1465730 w 1603937"/>
                <a:gd name="connsiteY79" fmla="*/ 645459 h 2003612"/>
                <a:gd name="connsiteX80" fmla="*/ 1385047 w 1603937"/>
                <a:gd name="connsiteY80" fmla="*/ 591671 h 2003612"/>
                <a:gd name="connsiteX81" fmla="*/ 1331259 w 1603937"/>
                <a:gd name="connsiteY81" fmla="*/ 551329 h 2003612"/>
                <a:gd name="connsiteX82" fmla="*/ 1277471 w 1603937"/>
                <a:gd name="connsiteY82" fmla="*/ 578224 h 2003612"/>
                <a:gd name="connsiteX83" fmla="*/ 1264024 w 1603937"/>
                <a:gd name="connsiteY83" fmla="*/ 618565 h 2003612"/>
                <a:gd name="connsiteX84" fmla="*/ 1237130 w 1603937"/>
                <a:gd name="connsiteY84" fmla="*/ 672353 h 2003612"/>
                <a:gd name="connsiteX85" fmla="*/ 1196789 w 1603937"/>
                <a:gd name="connsiteY85" fmla="*/ 766482 h 2003612"/>
                <a:gd name="connsiteX86" fmla="*/ 1169895 w 1603937"/>
                <a:gd name="connsiteY86" fmla="*/ 806824 h 2003612"/>
                <a:gd name="connsiteX87" fmla="*/ 1102659 w 1603937"/>
                <a:gd name="connsiteY87" fmla="*/ 981635 h 2003612"/>
                <a:gd name="connsiteX88" fmla="*/ 1035424 w 1603937"/>
                <a:gd name="connsiteY88" fmla="*/ 1116106 h 2003612"/>
                <a:gd name="connsiteX89" fmla="*/ 995083 w 1603937"/>
                <a:gd name="connsiteY89" fmla="*/ 1156447 h 2003612"/>
                <a:gd name="connsiteX90" fmla="*/ 941295 w 1603937"/>
                <a:gd name="connsiteY90" fmla="*/ 1169894 h 2003612"/>
                <a:gd name="connsiteX91" fmla="*/ 510989 w 1603937"/>
                <a:gd name="connsiteY91" fmla="*/ 1156447 h 2003612"/>
                <a:gd name="connsiteX92" fmla="*/ 470647 w 1603937"/>
                <a:gd name="connsiteY92" fmla="*/ 1129553 h 2003612"/>
                <a:gd name="connsiteX93" fmla="*/ 376518 w 1603937"/>
                <a:gd name="connsiteY93" fmla="*/ 1062318 h 2003612"/>
                <a:gd name="connsiteX94" fmla="*/ 349624 w 1603937"/>
                <a:gd name="connsiteY94" fmla="*/ 1021976 h 2003612"/>
                <a:gd name="connsiteX95" fmla="*/ 255495 w 1603937"/>
                <a:gd name="connsiteY95" fmla="*/ 981635 h 2003612"/>
                <a:gd name="connsiteX96" fmla="*/ 174812 w 1603937"/>
                <a:gd name="connsiteY96" fmla="*/ 874059 h 2003612"/>
                <a:gd name="connsiteX97" fmla="*/ 121024 w 1603937"/>
                <a:gd name="connsiteY97" fmla="*/ 793376 h 2003612"/>
                <a:gd name="connsiteX98" fmla="*/ 134471 w 1603937"/>
                <a:gd name="connsiteY98" fmla="*/ 699247 h 2003612"/>
                <a:gd name="connsiteX99" fmla="*/ 242047 w 1603937"/>
                <a:gd name="connsiteY99" fmla="*/ 672353 h 2003612"/>
                <a:gd name="connsiteX100" fmla="*/ 497542 w 1603937"/>
                <a:gd name="connsiteY100" fmla="*/ 699247 h 2003612"/>
                <a:gd name="connsiteX101" fmla="*/ 591671 w 1603937"/>
                <a:gd name="connsiteY101" fmla="*/ 726141 h 2003612"/>
                <a:gd name="connsiteX102" fmla="*/ 632012 w 1603937"/>
                <a:gd name="connsiteY102" fmla="*/ 779929 h 2003612"/>
                <a:gd name="connsiteX103" fmla="*/ 658906 w 1603937"/>
                <a:gd name="connsiteY103" fmla="*/ 860612 h 2003612"/>
                <a:gd name="connsiteX104" fmla="*/ 685800 w 1603937"/>
                <a:gd name="connsiteY104" fmla="*/ 1223682 h 2003612"/>
                <a:gd name="connsiteX105" fmla="*/ 712695 w 1603937"/>
                <a:gd name="connsiteY105" fmla="*/ 1277471 h 2003612"/>
                <a:gd name="connsiteX106" fmla="*/ 766483 w 1603937"/>
                <a:gd name="connsiteY106" fmla="*/ 1331259 h 2003612"/>
                <a:gd name="connsiteX107" fmla="*/ 847165 w 1603937"/>
                <a:gd name="connsiteY107" fmla="*/ 1425388 h 2003612"/>
                <a:gd name="connsiteX108" fmla="*/ 1129553 w 1603937"/>
                <a:gd name="connsiteY108" fmla="*/ 1398494 h 2003612"/>
                <a:gd name="connsiteX109" fmla="*/ 1156447 w 1603937"/>
                <a:gd name="connsiteY109" fmla="*/ 1331259 h 2003612"/>
                <a:gd name="connsiteX110" fmla="*/ 1183342 w 1603937"/>
                <a:gd name="connsiteY110" fmla="*/ 1223682 h 2003612"/>
                <a:gd name="connsiteX111" fmla="*/ 1210236 w 1603937"/>
                <a:gd name="connsiteY111" fmla="*/ 1008529 h 2003612"/>
                <a:gd name="connsiteX112" fmla="*/ 1183342 w 1603937"/>
                <a:gd name="connsiteY112" fmla="*/ 712694 h 2003612"/>
                <a:gd name="connsiteX113" fmla="*/ 1143000 w 1603937"/>
                <a:gd name="connsiteY113" fmla="*/ 699247 h 2003612"/>
                <a:gd name="connsiteX114" fmla="*/ 1075765 w 1603937"/>
                <a:gd name="connsiteY114" fmla="*/ 658906 h 2003612"/>
                <a:gd name="connsiteX115" fmla="*/ 1008530 w 1603937"/>
                <a:gd name="connsiteY115" fmla="*/ 645459 h 2003612"/>
                <a:gd name="connsiteX116" fmla="*/ 954742 w 1603937"/>
                <a:gd name="connsiteY116" fmla="*/ 632012 h 2003612"/>
                <a:gd name="connsiteX117" fmla="*/ 564777 w 1603937"/>
                <a:gd name="connsiteY117" fmla="*/ 645459 h 2003612"/>
                <a:gd name="connsiteX118" fmla="*/ 524436 w 1603937"/>
                <a:gd name="connsiteY118" fmla="*/ 685800 h 2003612"/>
                <a:gd name="connsiteX119" fmla="*/ 497542 w 1603937"/>
                <a:gd name="connsiteY119" fmla="*/ 739588 h 2003612"/>
                <a:gd name="connsiteX120" fmla="*/ 470647 w 1603937"/>
                <a:gd name="connsiteY120" fmla="*/ 779929 h 2003612"/>
                <a:gd name="connsiteX121" fmla="*/ 430306 w 1603937"/>
                <a:gd name="connsiteY121" fmla="*/ 847165 h 2003612"/>
                <a:gd name="connsiteX122" fmla="*/ 416859 w 1603937"/>
                <a:gd name="connsiteY122" fmla="*/ 900953 h 2003612"/>
                <a:gd name="connsiteX123" fmla="*/ 403412 w 1603937"/>
                <a:gd name="connsiteY123" fmla="*/ 941294 h 2003612"/>
                <a:gd name="connsiteX124" fmla="*/ 376518 w 1603937"/>
                <a:gd name="connsiteY124" fmla="*/ 1143000 h 2003612"/>
                <a:gd name="connsiteX125" fmla="*/ 457200 w 1603937"/>
                <a:gd name="connsiteY125" fmla="*/ 1479176 h 2003612"/>
                <a:gd name="connsiteX126" fmla="*/ 551330 w 1603937"/>
                <a:gd name="connsiteY126" fmla="*/ 1532965 h 2003612"/>
                <a:gd name="connsiteX127" fmla="*/ 658906 w 1603937"/>
                <a:gd name="connsiteY127" fmla="*/ 1559859 h 2003612"/>
                <a:gd name="connsiteX128" fmla="*/ 1183342 w 1603937"/>
                <a:gd name="connsiteY128" fmla="*/ 1519518 h 2003612"/>
                <a:gd name="connsiteX129" fmla="*/ 1210236 w 1603937"/>
                <a:gd name="connsiteY129" fmla="*/ 1479176 h 2003612"/>
                <a:gd name="connsiteX130" fmla="*/ 1250577 w 1603937"/>
                <a:gd name="connsiteY130" fmla="*/ 1425388 h 2003612"/>
                <a:gd name="connsiteX131" fmla="*/ 1277471 w 1603937"/>
                <a:gd name="connsiteY131" fmla="*/ 1344706 h 2003612"/>
                <a:gd name="connsiteX132" fmla="*/ 1304365 w 1603937"/>
                <a:gd name="connsiteY132" fmla="*/ 1250576 h 2003612"/>
                <a:gd name="connsiteX133" fmla="*/ 1196789 w 1603937"/>
                <a:gd name="connsiteY133" fmla="*/ 793376 h 2003612"/>
                <a:gd name="connsiteX134" fmla="*/ 1156447 w 1603937"/>
                <a:gd name="connsiteY134" fmla="*/ 766482 h 2003612"/>
                <a:gd name="connsiteX135" fmla="*/ 1089212 w 1603937"/>
                <a:gd name="connsiteY135" fmla="*/ 779929 h 2003612"/>
                <a:gd name="connsiteX136" fmla="*/ 1062318 w 1603937"/>
                <a:gd name="connsiteY136" fmla="*/ 860612 h 2003612"/>
                <a:gd name="connsiteX137" fmla="*/ 1048871 w 1603937"/>
                <a:gd name="connsiteY137" fmla="*/ 900953 h 2003612"/>
                <a:gd name="connsiteX138" fmla="*/ 1062318 w 1603937"/>
                <a:gd name="connsiteY138" fmla="*/ 1156447 h 2003612"/>
                <a:gd name="connsiteX139" fmla="*/ 1102659 w 1603937"/>
                <a:gd name="connsiteY139" fmla="*/ 1196788 h 2003612"/>
                <a:gd name="connsiteX140" fmla="*/ 1210236 w 1603937"/>
                <a:gd name="connsiteY140" fmla="*/ 1317812 h 2003612"/>
                <a:gd name="connsiteX141" fmla="*/ 1264024 w 1603937"/>
                <a:gd name="connsiteY141" fmla="*/ 1344706 h 2003612"/>
                <a:gd name="connsiteX142" fmla="*/ 1385047 w 1603937"/>
                <a:gd name="connsiteY142" fmla="*/ 1411941 h 2003612"/>
                <a:gd name="connsiteX143" fmla="*/ 1411942 w 1603937"/>
                <a:gd name="connsiteY143" fmla="*/ 1452282 h 2003612"/>
                <a:gd name="connsiteX144" fmla="*/ 1425389 w 1603937"/>
                <a:gd name="connsiteY144" fmla="*/ 1492624 h 2003612"/>
                <a:gd name="connsiteX145" fmla="*/ 1452283 w 1603937"/>
                <a:gd name="connsiteY145" fmla="*/ 1613647 h 2003612"/>
                <a:gd name="connsiteX146" fmla="*/ 1465730 w 1603937"/>
                <a:gd name="connsiteY146" fmla="*/ 1653988 h 2003612"/>
                <a:gd name="connsiteX147" fmla="*/ 1479177 w 1603937"/>
                <a:gd name="connsiteY147" fmla="*/ 1734671 h 2003612"/>
                <a:gd name="connsiteX148" fmla="*/ 1492624 w 1603937"/>
                <a:gd name="connsiteY148" fmla="*/ 1775012 h 2003612"/>
                <a:gd name="connsiteX149" fmla="*/ 1465730 w 1603937"/>
                <a:gd name="connsiteY149" fmla="*/ 1936376 h 2003612"/>
                <a:gd name="connsiteX150" fmla="*/ 1438836 w 1603937"/>
                <a:gd name="connsiteY150" fmla="*/ 1976718 h 2003612"/>
                <a:gd name="connsiteX151" fmla="*/ 1425389 w 1603937"/>
                <a:gd name="connsiteY151" fmla="*/ 2003612 h 200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1603937" h="2003612">
                  <a:moveTo>
                    <a:pt x="847165" y="0"/>
                  </a:moveTo>
                  <a:cubicBezTo>
                    <a:pt x="851647" y="31376"/>
                    <a:pt x="860612" y="62434"/>
                    <a:pt x="860612" y="94129"/>
                  </a:cubicBezTo>
                  <a:cubicBezTo>
                    <a:pt x="860612" y="126098"/>
                    <a:pt x="863885" y="324543"/>
                    <a:pt x="820271" y="389965"/>
                  </a:cubicBezTo>
                  <a:cubicBezTo>
                    <a:pt x="802342" y="416859"/>
                    <a:pt x="789339" y="447791"/>
                    <a:pt x="766483" y="470647"/>
                  </a:cubicBezTo>
                  <a:cubicBezTo>
                    <a:pt x="753036" y="484094"/>
                    <a:pt x="742653" y="501553"/>
                    <a:pt x="726142" y="510988"/>
                  </a:cubicBezTo>
                  <a:cubicBezTo>
                    <a:pt x="710096" y="520157"/>
                    <a:pt x="690055" y="519124"/>
                    <a:pt x="672353" y="524435"/>
                  </a:cubicBezTo>
                  <a:cubicBezTo>
                    <a:pt x="508654" y="573544"/>
                    <a:pt x="661864" y="533781"/>
                    <a:pt x="537883" y="564776"/>
                  </a:cubicBezTo>
                  <a:cubicBezTo>
                    <a:pt x="528918" y="573741"/>
                    <a:pt x="523659" y="591202"/>
                    <a:pt x="510989" y="591671"/>
                  </a:cubicBezTo>
                  <a:cubicBezTo>
                    <a:pt x="398917" y="595822"/>
                    <a:pt x="286676" y="586215"/>
                    <a:pt x="174812" y="578224"/>
                  </a:cubicBezTo>
                  <a:cubicBezTo>
                    <a:pt x="149587" y="576422"/>
                    <a:pt x="98878" y="545680"/>
                    <a:pt x="80683" y="537882"/>
                  </a:cubicBezTo>
                  <a:cubicBezTo>
                    <a:pt x="67655" y="532298"/>
                    <a:pt x="53789" y="528917"/>
                    <a:pt x="40342" y="524435"/>
                  </a:cubicBezTo>
                  <a:lnTo>
                    <a:pt x="13447" y="443753"/>
                  </a:lnTo>
                  <a:lnTo>
                    <a:pt x="0" y="403412"/>
                  </a:lnTo>
                  <a:cubicBezTo>
                    <a:pt x="4482" y="340659"/>
                    <a:pt x="-1812" y="276187"/>
                    <a:pt x="13447" y="215153"/>
                  </a:cubicBezTo>
                  <a:cubicBezTo>
                    <a:pt x="17367" y="199474"/>
                    <a:pt x="39334" y="195487"/>
                    <a:pt x="53789" y="188259"/>
                  </a:cubicBezTo>
                  <a:cubicBezTo>
                    <a:pt x="165131" y="132589"/>
                    <a:pt x="18864" y="224989"/>
                    <a:pt x="134471" y="147918"/>
                  </a:cubicBezTo>
                  <a:cubicBezTo>
                    <a:pt x="251012" y="152400"/>
                    <a:pt x="368640" y="144871"/>
                    <a:pt x="484095" y="161365"/>
                  </a:cubicBezTo>
                  <a:cubicBezTo>
                    <a:pt x="500094" y="163651"/>
                    <a:pt x="498369" y="191610"/>
                    <a:pt x="510989" y="201706"/>
                  </a:cubicBezTo>
                  <a:cubicBezTo>
                    <a:pt x="522057" y="210561"/>
                    <a:pt x="537883" y="210671"/>
                    <a:pt x="551330" y="215153"/>
                  </a:cubicBezTo>
                  <a:cubicBezTo>
                    <a:pt x="569259" y="228600"/>
                    <a:pt x="589271" y="239647"/>
                    <a:pt x="605118" y="255494"/>
                  </a:cubicBezTo>
                  <a:cubicBezTo>
                    <a:pt x="654170" y="304546"/>
                    <a:pt x="608827" y="296686"/>
                    <a:pt x="672353" y="349624"/>
                  </a:cubicBezTo>
                  <a:cubicBezTo>
                    <a:pt x="683242" y="358698"/>
                    <a:pt x="699666" y="357487"/>
                    <a:pt x="712695" y="363071"/>
                  </a:cubicBezTo>
                  <a:cubicBezTo>
                    <a:pt x="731120" y="370967"/>
                    <a:pt x="750171" y="378314"/>
                    <a:pt x="766483" y="389965"/>
                  </a:cubicBezTo>
                  <a:cubicBezTo>
                    <a:pt x="781958" y="401018"/>
                    <a:pt x="790313" y="420871"/>
                    <a:pt x="806824" y="430306"/>
                  </a:cubicBezTo>
                  <a:cubicBezTo>
                    <a:pt x="822870" y="439475"/>
                    <a:pt x="842842" y="438676"/>
                    <a:pt x="860612" y="443753"/>
                  </a:cubicBezTo>
                  <a:cubicBezTo>
                    <a:pt x="874241" y="447647"/>
                    <a:pt x="887506" y="452718"/>
                    <a:pt x="900953" y="457200"/>
                  </a:cubicBezTo>
                  <a:cubicBezTo>
                    <a:pt x="999770" y="454206"/>
                    <a:pt x="1302053" y="565689"/>
                    <a:pt x="1371600" y="403412"/>
                  </a:cubicBezTo>
                  <a:cubicBezTo>
                    <a:pt x="1378880" y="386425"/>
                    <a:pt x="1380565" y="367553"/>
                    <a:pt x="1385047" y="349624"/>
                  </a:cubicBezTo>
                  <a:cubicBezTo>
                    <a:pt x="1380565" y="291353"/>
                    <a:pt x="1426471" y="194931"/>
                    <a:pt x="1371600" y="174812"/>
                  </a:cubicBezTo>
                  <a:cubicBezTo>
                    <a:pt x="1249268" y="129957"/>
                    <a:pt x="1110270" y="180959"/>
                    <a:pt x="981636" y="201706"/>
                  </a:cubicBezTo>
                  <a:cubicBezTo>
                    <a:pt x="965681" y="204279"/>
                    <a:pt x="965384" y="229884"/>
                    <a:pt x="954742" y="242047"/>
                  </a:cubicBezTo>
                  <a:cubicBezTo>
                    <a:pt x="933870" y="265900"/>
                    <a:pt x="887506" y="309282"/>
                    <a:pt x="887506" y="309282"/>
                  </a:cubicBezTo>
                  <a:cubicBezTo>
                    <a:pt x="878541" y="336176"/>
                    <a:pt x="876337" y="366377"/>
                    <a:pt x="860612" y="389965"/>
                  </a:cubicBezTo>
                  <a:cubicBezTo>
                    <a:pt x="851647" y="403412"/>
                    <a:pt x="840946" y="415851"/>
                    <a:pt x="833718" y="430306"/>
                  </a:cubicBezTo>
                  <a:cubicBezTo>
                    <a:pt x="827379" y="442984"/>
                    <a:pt x="827155" y="458256"/>
                    <a:pt x="820271" y="470647"/>
                  </a:cubicBezTo>
                  <a:cubicBezTo>
                    <a:pt x="804574" y="498902"/>
                    <a:pt x="784412" y="524435"/>
                    <a:pt x="766483" y="551329"/>
                  </a:cubicBezTo>
                  <a:lnTo>
                    <a:pt x="739589" y="591671"/>
                  </a:lnTo>
                  <a:cubicBezTo>
                    <a:pt x="673098" y="691409"/>
                    <a:pt x="749669" y="582264"/>
                    <a:pt x="685800" y="658906"/>
                  </a:cubicBezTo>
                  <a:cubicBezTo>
                    <a:pt x="671452" y="676123"/>
                    <a:pt x="662676" y="698346"/>
                    <a:pt x="645459" y="712694"/>
                  </a:cubicBezTo>
                  <a:cubicBezTo>
                    <a:pt x="634570" y="721768"/>
                    <a:pt x="618565" y="721659"/>
                    <a:pt x="605118" y="726141"/>
                  </a:cubicBezTo>
                  <a:cubicBezTo>
                    <a:pt x="551330" y="721659"/>
                    <a:pt x="495341" y="728567"/>
                    <a:pt x="443753" y="712694"/>
                  </a:cubicBezTo>
                  <a:cubicBezTo>
                    <a:pt x="430205" y="708526"/>
                    <a:pt x="435890" y="685381"/>
                    <a:pt x="430306" y="672353"/>
                  </a:cubicBezTo>
                  <a:cubicBezTo>
                    <a:pt x="422410" y="653928"/>
                    <a:pt x="410857" y="637177"/>
                    <a:pt x="403412" y="618565"/>
                  </a:cubicBezTo>
                  <a:cubicBezTo>
                    <a:pt x="392883" y="592244"/>
                    <a:pt x="376518" y="537882"/>
                    <a:pt x="376518" y="537882"/>
                  </a:cubicBezTo>
                  <a:cubicBezTo>
                    <a:pt x="378729" y="511346"/>
                    <a:pt x="348822" y="361264"/>
                    <a:pt x="430306" y="349624"/>
                  </a:cubicBezTo>
                  <a:cubicBezTo>
                    <a:pt x="448602" y="347010"/>
                    <a:pt x="466165" y="358589"/>
                    <a:pt x="484095" y="363071"/>
                  </a:cubicBezTo>
                  <a:cubicBezTo>
                    <a:pt x="497542" y="381000"/>
                    <a:pt x="509851" y="399843"/>
                    <a:pt x="524436" y="416859"/>
                  </a:cubicBezTo>
                  <a:cubicBezTo>
                    <a:pt x="536812" y="431298"/>
                    <a:pt x="555542" y="440576"/>
                    <a:pt x="564777" y="457200"/>
                  </a:cubicBezTo>
                  <a:cubicBezTo>
                    <a:pt x="578544" y="481981"/>
                    <a:pt x="582706" y="510988"/>
                    <a:pt x="591671" y="537882"/>
                  </a:cubicBezTo>
                  <a:cubicBezTo>
                    <a:pt x="596782" y="553214"/>
                    <a:pt x="609600" y="564777"/>
                    <a:pt x="618565" y="578224"/>
                  </a:cubicBezTo>
                  <a:cubicBezTo>
                    <a:pt x="646551" y="690168"/>
                    <a:pt x="612474" y="579489"/>
                    <a:pt x="658906" y="672353"/>
                  </a:cubicBezTo>
                  <a:cubicBezTo>
                    <a:pt x="665245" y="685031"/>
                    <a:pt x="668459" y="699065"/>
                    <a:pt x="672353" y="712694"/>
                  </a:cubicBezTo>
                  <a:cubicBezTo>
                    <a:pt x="677430" y="730464"/>
                    <a:pt x="677535" y="749952"/>
                    <a:pt x="685800" y="766482"/>
                  </a:cubicBezTo>
                  <a:cubicBezTo>
                    <a:pt x="691470" y="777822"/>
                    <a:pt x="703730" y="784411"/>
                    <a:pt x="712695" y="793376"/>
                  </a:cubicBezTo>
                  <a:cubicBezTo>
                    <a:pt x="738873" y="871913"/>
                    <a:pt x="705659" y="799788"/>
                    <a:pt x="766483" y="860612"/>
                  </a:cubicBezTo>
                  <a:cubicBezTo>
                    <a:pt x="777911" y="872040"/>
                    <a:pt x="783031" y="888538"/>
                    <a:pt x="793377" y="900953"/>
                  </a:cubicBezTo>
                  <a:cubicBezTo>
                    <a:pt x="825732" y="939780"/>
                    <a:pt x="834393" y="941744"/>
                    <a:pt x="874059" y="968188"/>
                  </a:cubicBezTo>
                  <a:lnTo>
                    <a:pt x="1385047" y="954741"/>
                  </a:lnTo>
                  <a:cubicBezTo>
                    <a:pt x="1416438" y="950361"/>
                    <a:pt x="1433266" y="912862"/>
                    <a:pt x="1452283" y="887506"/>
                  </a:cubicBezTo>
                  <a:cubicBezTo>
                    <a:pt x="1461423" y="875319"/>
                    <a:pt x="1509685" y="813043"/>
                    <a:pt x="1519518" y="793376"/>
                  </a:cubicBezTo>
                  <a:cubicBezTo>
                    <a:pt x="1529164" y="774084"/>
                    <a:pt x="1542103" y="716481"/>
                    <a:pt x="1546412" y="699247"/>
                  </a:cubicBezTo>
                  <a:cubicBezTo>
                    <a:pt x="1537447" y="614082"/>
                    <a:pt x="1539353" y="527059"/>
                    <a:pt x="1519518" y="443753"/>
                  </a:cubicBezTo>
                  <a:cubicBezTo>
                    <a:pt x="1515775" y="428031"/>
                    <a:pt x="1490605" y="428287"/>
                    <a:pt x="1479177" y="416859"/>
                  </a:cubicBezTo>
                  <a:cubicBezTo>
                    <a:pt x="1418353" y="356035"/>
                    <a:pt x="1490478" y="389250"/>
                    <a:pt x="1411942" y="363071"/>
                  </a:cubicBezTo>
                  <a:cubicBezTo>
                    <a:pt x="1371601" y="372036"/>
                    <a:pt x="1330123" y="376897"/>
                    <a:pt x="1290918" y="389965"/>
                  </a:cubicBezTo>
                  <a:cubicBezTo>
                    <a:pt x="1230435" y="410126"/>
                    <a:pt x="1262099" y="424547"/>
                    <a:pt x="1223683" y="470647"/>
                  </a:cubicBezTo>
                  <a:cubicBezTo>
                    <a:pt x="1213337" y="483062"/>
                    <a:pt x="1196789" y="488576"/>
                    <a:pt x="1183342" y="497541"/>
                  </a:cubicBezTo>
                  <a:cubicBezTo>
                    <a:pt x="1106271" y="613143"/>
                    <a:pt x="1198669" y="466885"/>
                    <a:pt x="1143000" y="578224"/>
                  </a:cubicBezTo>
                  <a:cubicBezTo>
                    <a:pt x="1135773" y="592679"/>
                    <a:pt x="1122670" y="603797"/>
                    <a:pt x="1116106" y="618565"/>
                  </a:cubicBezTo>
                  <a:cubicBezTo>
                    <a:pt x="1104592" y="644470"/>
                    <a:pt x="1098177" y="672353"/>
                    <a:pt x="1089212" y="699247"/>
                  </a:cubicBezTo>
                  <a:lnTo>
                    <a:pt x="1062318" y="779929"/>
                  </a:lnTo>
                  <a:lnTo>
                    <a:pt x="1048871" y="820271"/>
                  </a:lnTo>
                  <a:cubicBezTo>
                    <a:pt x="1053353" y="887506"/>
                    <a:pt x="1052788" y="955269"/>
                    <a:pt x="1062318" y="1021976"/>
                  </a:cubicBezTo>
                  <a:cubicBezTo>
                    <a:pt x="1066327" y="1050040"/>
                    <a:pt x="1069166" y="1082613"/>
                    <a:pt x="1089212" y="1102659"/>
                  </a:cubicBezTo>
                  <a:cubicBezTo>
                    <a:pt x="1189312" y="1202759"/>
                    <a:pt x="1062588" y="1079839"/>
                    <a:pt x="1183342" y="1183341"/>
                  </a:cubicBezTo>
                  <a:cubicBezTo>
                    <a:pt x="1197781" y="1195717"/>
                    <a:pt x="1208672" y="1212007"/>
                    <a:pt x="1223683" y="1223682"/>
                  </a:cubicBezTo>
                  <a:cubicBezTo>
                    <a:pt x="1249197" y="1243526"/>
                    <a:pt x="1304365" y="1277471"/>
                    <a:pt x="1304365" y="1277471"/>
                  </a:cubicBezTo>
                  <a:cubicBezTo>
                    <a:pt x="1394012" y="1268506"/>
                    <a:pt x="1533848" y="1331570"/>
                    <a:pt x="1573306" y="1250576"/>
                  </a:cubicBezTo>
                  <a:cubicBezTo>
                    <a:pt x="1592651" y="1210867"/>
                    <a:pt x="1648651" y="844907"/>
                    <a:pt x="1532965" y="712694"/>
                  </a:cubicBezTo>
                  <a:cubicBezTo>
                    <a:pt x="1512094" y="688841"/>
                    <a:pt x="1490261" y="665529"/>
                    <a:pt x="1465730" y="645459"/>
                  </a:cubicBezTo>
                  <a:cubicBezTo>
                    <a:pt x="1440713" y="624991"/>
                    <a:pt x="1410905" y="611065"/>
                    <a:pt x="1385047" y="591671"/>
                  </a:cubicBezTo>
                  <a:lnTo>
                    <a:pt x="1331259" y="551329"/>
                  </a:lnTo>
                  <a:cubicBezTo>
                    <a:pt x="1313330" y="560294"/>
                    <a:pt x="1291645" y="564049"/>
                    <a:pt x="1277471" y="578224"/>
                  </a:cubicBezTo>
                  <a:cubicBezTo>
                    <a:pt x="1267448" y="588247"/>
                    <a:pt x="1269608" y="605537"/>
                    <a:pt x="1264024" y="618565"/>
                  </a:cubicBezTo>
                  <a:cubicBezTo>
                    <a:pt x="1256128" y="636990"/>
                    <a:pt x="1245425" y="654104"/>
                    <a:pt x="1237130" y="672353"/>
                  </a:cubicBezTo>
                  <a:cubicBezTo>
                    <a:pt x="1223004" y="703430"/>
                    <a:pt x="1212055" y="735949"/>
                    <a:pt x="1196789" y="766482"/>
                  </a:cubicBezTo>
                  <a:cubicBezTo>
                    <a:pt x="1189561" y="780937"/>
                    <a:pt x="1176373" y="792017"/>
                    <a:pt x="1169895" y="806824"/>
                  </a:cubicBezTo>
                  <a:cubicBezTo>
                    <a:pt x="1144871" y="864021"/>
                    <a:pt x="1125287" y="923448"/>
                    <a:pt x="1102659" y="981635"/>
                  </a:cubicBezTo>
                  <a:cubicBezTo>
                    <a:pt x="1081287" y="1036590"/>
                    <a:pt x="1071695" y="1067745"/>
                    <a:pt x="1035424" y="1116106"/>
                  </a:cubicBezTo>
                  <a:cubicBezTo>
                    <a:pt x="1024014" y="1131320"/>
                    <a:pt x="1011594" y="1147012"/>
                    <a:pt x="995083" y="1156447"/>
                  </a:cubicBezTo>
                  <a:cubicBezTo>
                    <a:pt x="979037" y="1165616"/>
                    <a:pt x="959224" y="1165412"/>
                    <a:pt x="941295" y="1169894"/>
                  </a:cubicBezTo>
                  <a:cubicBezTo>
                    <a:pt x="797860" y="1165412"/>
                    <a:pt x="653970" y="1168702"/>
                    <a:pt x="510989" y="1156447"/>
                  </a:cubicBezTo>
                  <a:cubicBezTo>
                    <a:pt x="494886" y="1155067"/>
                    <a:pt x="483798" y="1138947"/>
                    <a:pt x="470647" y="1129553"/>
                  </a:cubicBezTo>
                  <a:cubicBezTo>
                    <a:pt x="353874" y="1046144"/>
                    <a:pt x="471603" y="1125708"/>
                    <a:pt x="376518" y="1062318"/>
                  </a:cubicBezTo>
                  <a:cubicBezTo>
                    <a:pt x="367553" y="1048871"/>
                    <a:pt x="361052" y="1033404"/>
                    <a:pt x="349624" y="1021976"/>
                  </a:cubicBezTo>
                  <a:cubicBezTo>
                    <a:pt x="318670" y="991022"/>
                    <a:pt x="296643" y="991922"/>
                    <a:pt x="255495" y="981635"/>
                  </a:cubicBezTo>
                  <a:cubicBezTo>
                    <a:pt x="228601" y="945776"/>
                    <a:pt x="199675" y="911355"/>
                    <a:pt x="174812" y="874059"/>
                  </a:cubicBezTo>
                  <a:lnTo>
                    <a:pt x="121024" y="793376"/>
                  </a:lnTo>
                  <a:cubicBezTo>
                    <a:pt x="125506" y="762000"/>
                    <a:pt x="112059" y="721659"/>
                    <a:pt x="134471" y="699247"/>
                  </a:cubicBezTo>
                  <a:cubicBezTo>
                    <a:pt x="160607" y="673111"/>
                    <a:pt x="242047" y="672353"/>
                    <a:pt x="242047" y="672353"/>
                  </a:cubicBezTo>
                  <a:cubicBezTo>
                    <a:pt x="327212" y="681318"/>
                    <a:pt x="412626" y="688171"/>
                    <a:pt x="497542" y="699247"/>
                  </a:cubicBezTo>
                  <a:cubicBezTo>
                    <a:pt x="525281" y="702865"/>
                    <a:pt x="564322" y="717025"/>
                    <a:pt x="591671" y="726141"/>
                  </a:cubicBezTo>
                  <a:cubicBezTo>
                    <a:pt x="605118" y="744070"/>
                    <a:pt x="621989" y="759883"/>
                    <a:pt x="632012" y="779929"/>
                  </a:cubicBezTo>
                  <a:cubicBezTo>
                    <a:pt x="644690" y="805285"/>
                    <a:pt x="658906" y="860612"/>
                    <a:pt x="658906" y="860612"/>
                  </a:cubicBezTo>
                  <a:cubicBezTo>
                    <a:pt x="659068" y="864347"/>
                    <a:pt x="649848" y="1127813"/>
                    <a:pt x="685800" y="1223682"/>
                  </a:cubicBezTo>
                  <a:cubicBezTo>
                    <a:pt x="692839" y="1242452"/>
                    <a:pt x="700667" y="1261434"/>
                    <a:pt x="712695" y="1277471"/>
                  </a:cubicBezTo>
                  <a:cubicBezTo>
                    <a:pt x="727909" y="1297756"/>
                    <a:pt x="751269" y="1310974"/>
                    <a:pt x="766483" y="1331259"/>
                  </a:cubicBezTo>
                  <a:cubicBezTo>
                    <a:pt x="845590" y="1436736"/>
                    <a:pt x="730170" y="1337642"/>
                    <a:pt x="847165" y="1425388"/>
                  </a:cubicBezTo>
                  <a:cubicBezTo>
                    <a:pt x="941294" y="1416423"/>
                    <a:pt x="1039094" y="1426025"/>
                    <a:pt x="1129553" y="1398494"/>
                  </a:cubicBezTo>
                  <a:cubicBezTo>
                    <a:pt x="1152645" y="1391466"/>
                    <a:pt x="1147971" y="1353860"/>
                    <a:pt x="1156447" y="1331259"/>
                  </a:cubicBezTo>
                  <a:cubicBezTo>
                    <a:pt x="1170889" y="1292748"/>
                    <a:pt x="1177167" y="1266904"/>
                    <a:pt x="1183342" y="1223682"/>
                  </a:cubicBezTo>
                  <a:cubicBezTo>
                    <a:pt x="1193563" y="1152133"/>
                    <a:pt x="1210236" y="1008529"/>
                    <a:pt x="1210236" y="1008529"/>
                  </a:cubicBezTo>
                  <a:cubicBezTo>
                    <a:pt x="1201271" y="909917"/>
                    <a:pt x="1204377" y="809452"/>
                    <a:pt x="1183342" y="712694"/>
                  </a:cubicBezTo>
                  <a:cubicBezTo>
                    <a:pt x="1180331" y="698843"/>
                    <a:pt x="1155678" y="705586"/>
                    <a:pt x="1143000" y="699247"/>
                  </a:cubicBezTo>
                  <a:cubicBezTo>
                    <a:pt x="1119623" y="687559"/>
                    <a:pt x="1100032" y="668613"/>
                    <a:pt x="1075765" y="658906"/>
                  </a:cubicBezTo>
                  <a:cubicBezTo>
                    <a:pt x="1054544" y="650418"/>
                    <a:pt x="1030841" y="650417"/>
                    <a:pt x="1008530" y="645459"/>
                  </a:cubicBezTo>
                  <a:cubicBezTo>
                    <a:pt x="990489" y="641450"/>
                    <a:pt x="972671" y="636494"/>
                    <a:pt x="954742" y="632012"/>
                  </a:cubicBezTo>
                  <a:cubicBezTo>
                    <a:pt x="824754" y="636494"/>
                    <a:pt x="693838" y="629326"/>
                    <a:pt x="564777" y="645459"/>
                  </a:cubicBezTo>
                  <a:cubicBezTo>
                    <a:pt x="545907" y="647818"/>
                    <a:pt x="535489" y="670325"/>
                    <a:pt x="524436" y="685800"/>
                  </a:cubicBezTo>
                  <a:cubicBezTo>
                    <a:pt x="512785" y="702112"/>
                    <a:pt x="507488" y="722184"/>
                    <a:pt x="497542" y="739588"/>
                  </a:cubicBezTo>
                  <a:cubicBezTo>
                    <a:pt x="489524" y="753620"/>
                    <a:pt x="479213" y="766224"/>
                    <a:pt x="470647" y="779929"/>
                  </a:cubicBezTo>
                  <a:cubicBezTo>
                    <a:pt x="456795" y="802093"/>
                    <a:pt x="443753" y="824753"/>
                    <a:pt x="430306" y="847165"/>
                  </a:cubicBezTo>
                  <a:cubicBezTo>
                    <a:pt x="425824" y="865094"/>
                    <a:pt x="421936" y="883183"/>
                    <a:pt x="416859" y="900953"/>
                  </a:cubicBezTo>
                  <a:cubicBezTo>
                    <a:pt x="412965" y="914582"/>
                    <a:pt x="405417" y="927262"/>
                    <a:pt x="403412" y="941294"/>
                  </a:cubicBezTo>
                  <a:cubicBezTo>
                    <a:pt x="368132" y="1188258"/>
                    <a:pt x="409498" y="1011079"/>
                    <a:pt x="376518" y="1143000"/>
                  </a:cubicBezTo>
                  <a:cubicBezTo>
                    <a:pt x="393311" y="1254953"/>
                    <a:pt x="378127" y="1386925"/>
                    <a:pt x="457200" y="1479176"/>
                  </a:cubicBezTo>
                  <a:cubicBezTo>
                    <a:pt x="469005" y="1492948"/>
                    <a:pt x="539169" y="1528911"/>
                    <a:pt x="551330" y="1532965"/>
                  </a:cubicBezTo>
                  <a:cubicBezTo>
                    <a:pt x="586395" y="1544653"/>
                    <a:pt x="658906" y="1559859"/>
                    <a:pt x="658906" y="1559859"/>
                  </a:cubicBezTo>
                  <a:cubicBezTo>
                    <a:pt x="783296" y="1556497"/>
                    <a:pt x="1068614" y="1662927"/>
                    <a:pt x="1183342" y="1519518"/>
                  </a:cubicBezTo>
                  <a:cubicBezTo>
                    <a:pt x="1193438" y="1506898"/>
                    <a:pt x="1200842" y="1492327"/>
                    <a:pt x="1210236" y="1479176"/>
                  </a:cubicBezTo>
                  <a:cubicBezTo>
                    <a:pt x="1223262" y="1460939"/>
                    <a:pt x="1237130" y="1443317"/>
                    <a:pt x="1250577" y="1425388"/>
                  </a:cubicBezTo>
                  <a:cubicBezTo>
                    <a:pt x="1259542" y="1398494"/>
                    <a:pt x="1270595" y="1372208"/>
                    <a:pt x="1277471" y="1344706"/>
                  </a:cubicBezTo>
                  <a:cubicBezTo>
                    <a:pt x="1294356" y="1277167"/>
                    <a:pt x="1285074" y="1308451"/>
                    <a:pt x="1304365" y="1250576"/>
                  </a:cubicBezTo>
                  <a:cubicBezTo>
                    <a:pt x="1265566" y="862588"/>
                    <a:pt x="1368617" y="922247"/>
                    <a:pt x="1196789" y="793376"/>
                  </a:cubicBezTo>
                  <a:cubicBezTo>
                    <a:pt x="1183860" y="783679"/>
                    <a:pt x="1169894" y="775447"/>
                    <a:pt x="1156447" y="766482"/>
                  </a:cubicBezTo>
                  <a:cubicBezTo>
                    <a:pt x="1134035" y="770964"/>
                    <a:pt x="1105373" y="763768"/>
                    <a:pt x="1089212" y="779929"/>
                  </a:cubicBezTo>
                  <a:cubicBezTo>
                    <a:pt x="1069166" y="799975"/>
                    <a:pt x="1071283" y="833718"/>
                    <a:pt x="1062318" y="860612"/>
                  </a:cubicBezTo>
                  <a:lnTo>
                    <a:pt x="1048871" y="900953"/>
                  </a:lnTo>
                  <a:cubicBezTo>
                    <a:pt x="1053353" y="986118"/>
                    <a:pt x="1047062" y="1072540"/>
                    <a:pt x="1062318" y="1156447"/>
                  </a:cubicBezTo>
                  <a:cubicBezTo>
                    <a:pt x="1065720" y="1175157"/>
                    <a:pt x="1090283" y="1182349"/>
                    <a:pt x="1102659" y="1196788"/>
                  </a:cubicBezTo>
                  <a:cubicBezTo>
                    <a:pt x="1132796" y="1231948"/>
                    <a:pt x="1168479" y="1296933"/>
                    <a:pt x="1210236" y="1317812"/>
                  </a:cubicBezTo>
                  <a:cubicBezTo>
                    <a:pt x="1228165" y="1326777"/>
                    <a:pt x="1246835" y="1334393"/>
                    <a:pt x="1264024" y="1344706"/>
                  </a:cubicBezTo>
                  <a:cubicBezTo>
                    <a:pt x="1379619" y="1414063"/>
                    <a:pt x="1303904" y="1384893"/>
                    <a:pt x="1385047" y="1411941"/>
                  </a:cubicBezTo>
                  <a:cubicBezTo>
                    <a:pt x="1394012" y="1425388"/>
                    <a:pt x="1404714" y="1437827"/>
                    <a:pt x="1411942" y="1452282"/>
                  </a:cubicBezTo>
                  <a:cubicBezTo>
                    <a:pt x="1418281" y="1464960"/>
                    <a:pt x="1421495" y="1478995"/>
                    <a:pt x="1425389" y="1492624"/>
                  </a:cubicBezTo>
                  <a:cubicBezTo>
                    <a:pt x="1452999" y="1589261"/>
                    <a:pt x="1424551" y="1502720"/>
                    <a:pt x="1452283" y="1613647"/>
                  </a:cubicBezTo>
                  <a:cubicBezTo>
                    <a:pt x="1455721" y="1627398"/>
                    <a:pt x="1461248" y="1640541"/>
                    <a:pt x="1465730" y="1653988"/>
                  </a:cubicBezTo>
                  <a:cubicBezTo>
                    <a:pt x="1470212" y="1680882"/>
                    <a:pt x="1473262" y="1708055"/>
                    <a:pt x="1479177" y="1734671"/>
                  </a:cubicBezTo>
                  <a:cubicBezTo>
                    <a:pt x="1482252" y="1748508"/>
                    <a:pt x="1492624" y="1760838"/>
                    <a:pt x="1492624" y="1775012"/>
                  </a:cubicBezTo>
                  <a:cubicBezTo>
                    <a:pt x="1492624" y="1804838"/>
                    <a:pt x="1486770" y="1894296"/>
                    <a:pt x="1465730" y="1936376"/>
                  </a:cubicBezTo>
                  <a:cubicBezTo>
                    <a:pt x="1458502" y="1950831"/>
                    <a:pt x="1447151" y="1962860"/>
                    <a:pt x="1438836" y="1976718"/>
                  </a:cubicBezTo>
                  <a:cubicBezTo>
                    <a:pt x="1433679" y="1985313"/>
                    <a:pt x="1429871" y="1994647"/>
                    <a:pt x="1425389" y="2003612"/>
                  </a:cubicBezTo>
                </a:path>
              </a:pathLst>
            </a:cu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555765-277B-45E4-81FA-0DEBFB937580}"/>
                </a:ext>
              </a:extLst>
            </p:cNvPr>
            <p:cNvGrpSpPr/>
            <p:nvPr/>
          </p:nvGrpSpPr>
          <p:grpSpPr>
            <a:xfrm rot="10800000">
              <a:off x="1393816" y="2381574"/>
              <a:ext cx="914400" cy="914400"/>
              <a:chOff x="9757619" y="2093495"/>
              <a:chExt cx="914400" cy="91440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</a:gradFill>
          </p:grpSpPr>
          <p:grpSp>
            <p:nvGrpSpPr>
              <p:cNvPr id="18" name="Graphic 2" descr="Lightbulb">
                <a:extLst>
                  <a:ext uri="{FF2B5EF4-FFF2-40B4-BE49-F238E27FC236}">
                    <a16:creationId xmlns:a16="http://schemas.microsoft.com/office/drawing/2014/main" id="{13A6E969-530B-4193-995B-AE1F80BAF26B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B8D8659-C068-4CA9-99B2-6307F4F49F43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B94DE0F-6ED1-4594-82D6-19A77CB1117F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CAE5DA39-4960-48C2-A455-680759D6D352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3FE4E93-F418-4B70-BE07-048F74B44B96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2455C61-0793-4DBB-8BF9-03D1BF5FF2BF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BE6B62-A2B2-4E0A-9208-77D5179B9475}"/>
              </a:ext>
            </a:extLst>
          </p:cNvPr>
          <p:cNvGrpSpPr/>
          <p:nvPr/>
        </p:nvGrpSpPr>
        <p:grpSpPr>
          <a:xfrm>
            <a:off x="7831520" y="0"/>
            <a:ext cx="685800" cy="3333489"/>
            <a:chOff x="9757619" y="-26894"/>
            <a:chExt cx="914400" cy="303478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348050-D971-41B5-AEE8-856EABC5BDBD}"/>
                </a:ext>
              </a:extLst>
            </p:cNvPr>
            <p:cNvCxnSpPr/>
            <p:nvPr/>
          </p:nvCxnSpPr>
          <p:spPr>
            <a:xfrm flipV="1">
              <a:off x="10223528" y="-26894"/>
              <a:ext cx="0" cy="218160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06EB8CE-EA91-426B-86EB-62FAC860BC63}"/>
                </a:ext>
              </a:extLst>
            </p:cNvPr>
            <p:cNvGrpSpPr/>
            <p:nvPr/>
          </p:nvGrpSpPr>
          <p:grpSpPr>
            <a:xfrm>
              <a:off x="9757619" y="2093495"/>
              <a:ext cx="914400" cy="914400"/>
              <a:chOff x="9757619" y="2093495"/>
              <a:chExt cx="914400" cy="914400"/>
            </a:xfrm>
          </p:grpSpPr>
          <p:grpSp>
            <p:nvGrpSpPr>
              <p:cNvPr id="4" name="Graphic 2" descr="Lightbulb">
                <a:extLst>
                  <a:ext uri="{FF2B5EF4-FFF2-40B4-BE49-F238E27FC236}">
                    <a16:creationId xmlns:a16="http://schemas.microsoft.com/office/drawing/2014/main" id="{FD2BB3C1-3444-4585-9E80-54FB43266207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FEA3A4F-F5F3-4DB7-8456-4768B01FDB91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5CC37F91-1EDC-4A39-B54C-5EC0BAB5E1B8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EB1A4252-13E8-43EB-A5F8-64A9E33EED4F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2AAC16E2-8A3E-4664-B069-26A9B96006C1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D76A508-0D8E-4FE9-B177-B36E6A23E986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pic>
        <p:nvPicPr>
          <p:cNvPr id="36871" name="Picture 36870">
            <a:extLst>
              <a:ext uri="{FF2B5EF4-FFF2-40B4-BE49-F238E27FC236}">
                <a16:creationId xmlns:a16="http://schemas.microsoft.com/office/drawing/2014/main" id="{3A8F1B80-B132-4FBA-B4A4-D802F899D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97" y="220967"/>
            <a:ext cx="1331785" cy="158477"/>
          </a:xfrm>
          <a:prstGeom prst="rect">
            <a:avLst/>
          </a:prstGeom>
        </p:spPr>
      </p:pic>
      <p:sp>
        <p:nvSpPr>
          <p:cNvPr id="36873" name="TextBox 36872">
            <a:extLst>
              <a:ext uri="{FF2B5EF4-FFF2-40B4-BE49-F238E27FC236}">
                <a16:creationId xmlns:a16="http://schemas.microsoft.com/office/drawing/2014/main" id="{D213D14F-503E-4E61-A079-A575362B8A1F}"/>
              </a:ext>
            </a:extLst>
          </p:cNvPr>
          <p:cNvSpPr txBox="1"/>
          <p:nvPr/>
        </p:nvSpPr>
        <p:spPr>
          <a:xfrm>
            <a:off x="6391126" y="4143218"/>
            <a:ext cx="16062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1500" dirty="0">
                <a:solidFill>
                  <a:schemeClr val="bg1"/>
                </a:solidFill>
                <a:latin typeface="Raleway Medium" panose="020B0603030101060003" pitchFamily="34" charset="0"/>
              </a:rPr>
              <a:t>Keep it simple…</a:t>
            </a:r>
            <a:endParaRPr lang="ru-RU" altLang="ru-RU" sz="15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36874" name="Rectangle 36873">
            <a:extLst>
              <a:ext uri="{FF2B5EF4-FFF2-40B4-BE49-F238E27FC236}">
                <a16:creationId xmlns:a16="http://schemas.microsoft.com/office/drawing/2014/main" id="{7969B4D2-DFDA-4EF0-ACC7-B55EC956D001}"/>
              </a:ext>
            </a:extLst>
          </p:cNvPr>
          <p:cNvSpPr/>
          <p:nvPr/>
        </p:nvSpPr>
        <p:spPr>
          <a:xfrm>
            <a:off x="4214061" y="3690687"/>
            <a:ext cx="1019677" cy="653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DA6AF9-CEEC-45F8-B98A-B66F266AABA9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solidFill>
                  <a:schemeClr val="bg1"/>
                </a:solidFill>
                <a:latin typeface="Arial"/>
              </a:rPr>
              <a:t>© 2020 SYNECTIKS. All Rights Reserved. Proprietary and Confidential.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57B0A0-5621-4BF7-A5AB-F5232AFED085}"/>
              </a:ext>
            </a:extLst>
          </p:cNvPr>
          <p:cNvSpPr txBox="1"/>
          <p:nvPr/>
        </p:nvSpPr>
        <p:spPr>
          <a:xfrm>
            <a:off x="1701622" y="115539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Raleway" panose="020B0003030101060003" pitchFamily="34" charset="0"/>
                <a:cs typeface="Segoe UI" panose="020B0502040204020203" pitchFamily="34" charset="0"/>
              </a:rPr>
              <a:t>Delivering TAAS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1" presetClass="entr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32" presetID="1" presetClass="entr" presetSubtype="0" fill="hold" grpId="0" nodeType="after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6873" grpId="0"/>
      <p:bldP spid="368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1119641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 cap="small">
                <a:solidFill>
                  <a:srgbClr val="DA291C"/>
                </a:solidFill>
                <a:latin typeface="Helvetica" panose="020B0604020202020204" pitchFamily="2" charset="0"/>
              </a:defRPr>
            </a:lvl1pPr>
          </a:lstStyle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Our TAAS Capabilities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FD3C48-BA0F-4B60-A233-D7410E8094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6372" y="513728"/>
            <a:ext cx="8454366" cy="449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269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>
            <a:extLst>
              <a:ext uri="{FF2B5EF4-FFF2-40B4-BE49-F238E27FC236}">
                <a16:creationId xmlns:a16="http://schemas.microsoft.com/office/drawing/2014/main" id="{E85B5817-9E14-4673-92EB-9ECDD66C37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091" r="13806" b="-2"/>
          <a:stretch/>
        </p:blipFill>
        <p:spPr>
          <a:xfrm>
            <a:off x="3344448" y="10"/>
            <a:ext cx="5799551" cy="51434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D37DF7F-C465-4C61-8C40-6C5D6855FD92}"/>
              </a:ext>
            </a:extLst>
          </p:cNvPr>
          <p:cNvSpPr txBox="1"/>
          <p:nvPr/>
        </p:nvSpPr>
        <p:spPr>
          <a:xfrm>
            <a:off x="278320" y="870966"/>
            <a:ext cx="2578608" cy="8435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D90000"/>
              </a:buClr>
              <a:buSzPct val="100000"/>
            </a:pPr>
            <a:r>
              <a:rPr lang="en-US" sz="2800" b="1" dirty="0">
                <a:solidFill>
                  <a:srgbClr val="C00000"/>
                </a:solidFill>
                <a:latin typeface="Raleway ExtraBold" panose="020B0903030101060003" pitchFamily="34" charset="0"/>
                <a:ea typeface="+mj-ea"/>
                <a:cs typeface="+mj-cs"/>
              </a:rPr>
              <a:t>Agenda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0CFBE8-FF4A-4E85-ABB0-D9E4CA2CA889}"/>
              </a:ext>
            </a:extLst>
          </p:cNvPr>
          <p:cNvSpPr txBox="1">
            <a:spLocks/>
          </p:cNvSpPr>
          <p:nvPr/>
        </p:nvSpPr>
        <p:spPr>
          <a:xfrm>
            <a:off x="-97461" y="2000962"/>
            <a:ext cx="3567171" cy="24054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75000"/>
              <a:buFontTx/>
              <a:buNone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233363" indent="-233363" algn="l" defTabSz="457200" rtl="0" eaLnBrk="1" latinLnBrk="0" hangingPunct="1">
              <a:spcBef>
                <a:spcPct val="20000"/>
              </a:spcBef>
              <a:buClr>
                <a:srgbClr val="DA291C"/>
              </a:buClr>
              <a:buSzPct val="80000"/>
              <a:buFont typeface="Wingdings" panose="05000000000000000000" pitchFamily="2" charset="2"/>
              <a:buChar char="u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461963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Clr>
                <a:srgbClr val="919D9D"/>
              </a:buClr>
              <a:buFont typeface="Arial" panose="020B0604020202020204" pitchFamily="34" charset="0"/>
              <a:buChar char="■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909638" indent="-219075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28600" defTabSz="914400">
              <a:lnSpc>
                <a:spcPct val="90000"/>
              </a:lnSpc>
              <a:buClr>
                <a:srgbClr val="D9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Raleway Medium"/>
              </a:rPr>
              <a:t>Automated Service Mesh Assurance Framework for Mesh Adoption-</a:t>
            </a:r>
          </a:p>
          <a:p>
            <a:pPr marL="971550" lvl="3" defTabSz="914400">
              <a:lnSpc>
                <a:spcPct val="90000"/>
              </a:lnSpc>
              <a:buClr>
                <a:srgbClr val="D9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Raleway Medium"/>
              </a:rPr>
              <a:t>Rationale</a:t>
            </a:r>
          </a:p>
          <a:p>
            <a:pPr marL="971550" lvl="3" defTabSz="914400">
              <a:lnSpc>
                <a:spcPct val="90000"/>
              </a:lnSpc>
              <a:buClr>
                <a:srgbClr val="D9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Raleway Medium"/>
              </a:rPr>
              <a:t>Process / Tooling</a:t>
            </a:r>
          </a:p>
          <a:p>
            <a:pPr marL="971550" lvl="3" defTabSz="914400">
              <a:lnSpc>
                <a:spcPct val="90000"/>
              </a:lnSpc>
              <a:buClr>
                <a:srgbClr val="D9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Raleway Medium"/>
              </a:rPr>
              <a:t>Datafication</a:t>
            </a:r>
          </a:p>
          <a:p>
            <a:pPr marL="971550" lvl="3" defTabSz="914400">
              <a:lnSpc>
                <a:spcPct val="90000"/>
              </a:lnSpc>
              <a:buClr>
                <a:srgbClr val="D9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Raleway Medium"/>
              </a:rPr>
              <a:t>Accelerator</a:t>
            </a:r>
          </a:p>
          <a:p>
            <a:pPr marL="742950" lvl="3" indent="0" defTabSz="914400">
              <a:lnSpc>
                <a:spcPct val="90000"/>
              </a:lnSpc>
              <a:buClr>
                <a:srgbClr val="D90000"/>
              </a:buClr>
              <a:buSzPct val="100000"/>
              <a:buNone/>
            </a:pPr>
            <a:endParaRPr lang="en-US" sz="1600" dirty="0">
              <a:latin typeface="Raleway Medium"/>
            </a:endParaRPr>
          </a:p>
        </p:txBody>
      </p:sp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08279" y="4767262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  <a:defRPr/>
            </a:pPr>
            <a:fld id="{4D82F6D6-BD64-564F-BDB4-3E98167DF08D}" type="slidenum">
              <a:rPr lang="en-US" sz="1200">
                <a:solidFill>
                  <a:schemeClr val="tx1"/>
                </a:solidFill>
                <a:latin typeface="Calibri" panose="020F0502020204030204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sz="120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FF6E38-F753-46CF-AFD0-097191BDF204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latin typeface="Arial"/>
              </a:rPr>
              <a:t>© 2020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726366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7943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Rationale for Automated Service Mesh Assurance Framework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8F0BCD-F8D4-42DA-9327-C304F383B01D}"/>
              </a:ext>
            </a:extLst>
          </p:cNvPr>
          <p:cNvSpPr/>
          <p:nvPr/>
        </p:nvSpPr>
        <p:spPr>
          <a:xfrm>
            <a:off x="6555543" y="534173"/>
            <a:ext cx="2352910" cy="4503817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ontent Placeholder 5">
            <a:extLst>
              <a:ext uri="{FF2B5EF4-FFF2-40B4-BE49-F238E27FC236}">
                <a16:creationId xmlns:a16="http://schemas.microsoft.com/office/drawing/2014/main" id="{A583A4E5-E71E-45F6-933B-80414AB965A2}"/>
              </a:ext>
            </a:extLst>
          </p:cNvPr>
          <p:cNvSpPr txBox="1">
            <a:spLocks/>
          </p:cNvSpPr>
          <p:nvPr/>
        </p:nvSpPr>
        <p:spPr>
          <a:xfrm>
            <a:off x="6374396" y="534173"/>
            <a:ext cx="2534056" cy="45566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Automated Service Mesh and Workloads Provisioning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Available golden config based on best practice /patterns 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Standard Validation and Performance Verification Framework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Multi-mesh operation automation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endParaRPr lang="en-US" sz="1000" dirty="0">
              <a:solidFill>
                <a:schemeClr val="bg1"/>
              </a:solidFill>
              <a:latin typeface="Raleway" panose="020B0003030101060003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Our Answer?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An automated Mesh assurance framework for Mesh and Workload Provisioning, configuration, validation, verification and operation automation 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50% Reduced enterprise adoption time cycle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Availability of Specialized resource Pool executing the framework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CDD47B-7F52-6816-F49E-DDE6112C4D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36702" y="639683"/>
            <a:ext cx="2377440" cy="19517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243D62-A811-B263-3192-AD22623ADC8D}"/>
              </a:ext>
            </a:extLst>
          </p:cNvPr>
          <p:cNvSpPr txBox="1"/>
          <p:nvPr/>
        </p:nvSpPr>
        <p:spPr>
          <a:xfrm>
            <a:off x="2110355" y="2873138"/>
            <a:ext cx="2171201" cy="324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Raleway" panose="020B0003030101060003" pitchFamily="34" charset="0"/>
              </a:rPr>
              <a:t>Adoption Challenges</a:t>
            </a:r>
            <a:endParaRPr lang="en-US" sz="1000" b="1" dirty="0">
              <a:latin typeface="Raleway" panose="020B0003030101060003" pitchFamily="34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5272DAF-1641-BD36-C6E0-706CF29661E4}"/>
              </a:ext>
            </a:extLst>
          </p:cNvPr>
          <p:cNvGrpSpPr/>
          <p:nvPr/>
        </p:nvGrpSpPr>
        <p:grpSpPr>
          <a:xfrm>
            <a:off x="3101925" y="639683"/>
            <a:ext cx="3158198" cy="1932067"/>
            <a:chOff x="3101925" y="639683"/>
            <a:chExt cx="3158198" cy="193206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FBAF9B1-5B84-09D0-1A5E-3202F22EDF89}"/>
                </a:ext>
              </a:extLst>
            </p:cNvPr>
            <p:cNvSpPr/>
            <p:nvPr/>
          </p:nvSpPr>
          <p:spPr>
            <a:xfrm>
              <a:off x="3101926" y="639683"/>
              <a:ext cx="3158197" cy="193206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7361038-21A2-F791-9820-DBD769998015}"/>
                </a:ext>
              </a:extLst>
            </p:cNvPr>
            <p:cNvSpPr/>
            <p:nvPr/>
          </p:nvSpPr>
          <p:spPr>
            <a:xfrm>
              <a:off x="3101925" y="652974"/>
              <a:ext cx="3158197" cy="36933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Raleway" panose="020B0003030101060003" pitchFamily="34" charset="0"/>
                </a:rPr>
                <a:t>Service Mesh Offerings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A7E738B4-57E2-1BE8-5521-13BE0E313C39}"/>
                </a:ext>
              </a:extLst>
            </p:cNvPr>
            <p:cNvGrpSpPr/>
            <p:nvPr/>
          </p:nvGrpSpPr>
          <p:grpSpPr>
            <a:xfrm>
              <a:off x="3200399" y="1119727"/>
              <a:ext cx="1315330" cy="596532"/>
              <a:chOff x="3200399" y="1119727"/>
              <a:chExt cx="1315330" cy="596532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9A73DC1-CF16-14FD-119C-F96204A504F8}"/>
                  </a:ext>
                </a:extLst>
              </p:cNvPr>
              <p:cNvSpPr/>
              <p:nvPr/>
            </p:nvSpPr>
            <p:spPr>
              <a:xfrm>
                <a:off x="3200399" y="1119727"/>
                <a:ext cx="1315330" cy="596532"/>
              </a:xfrm>
              <a:prstGeom prst="rect">
                <a:avLst/>
              </a:prstGeom>
              <a:solidFill>
                <a:srgbClr val="D7111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53CBD74-0112-2828-02E5-D53EF9D2E65D}"/>
                  </a:ext>
                </a:extLst>
              </p:cNvPr>
              <p:cNvGrpSpPr/>
              <p:nvPr/>
            </p:nvGrpSpPr>
            <p:grpSpPr>
              <a:xfrm flipH="1">
                <a:off x="3258787" y="1257026"/>
                <a:ext cx="265169" cy="320992"/>
                <a:chOff x="3533108" y="2242561"/>
                <a:chExt cx="543878" cy="658373"/>
              </a:xfrm>
              <a:solidFill>
                <a:schemeClr val="bg1"/>
              </a:solidFill>
            </p:grpSpPr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27227385-DF7F-D732-92F7-CC66ADA360F9}"/>
                    </a:ext>
                  </a:extLst>
                </p:cNvPr>
                <p:cNvSpPr/>
                <p:nvPr/>
              </p:nvSpPr>
              <p:spPr>
                <a:xfrm rot="5400000">
                  <a:off x="3486723" y="2602592"/>
                  <a:ext cx="344727" cy="251957"/>
                </a:xfrm>
                <a:custGeom>
                  <a:avLst/>
                  <a:gdLst>
                    <a:gd name="connsiteX0" fmla="*/ 238254 w 344727"/>
                    <a:gd name="connsiteY0" fmla="*/ 14670 h 251957"/>
                    <a:gd name="connsiteX1" fmla="*/ 207897 w 344727"/>
                    <a:gd name="connsiteY1" fmla="*/ 15198 h 251957"/>
                    <a:gd name="connsiteX2" fmla="*/ 207897 w 344727"/>
                    <a:gd name="connsiteY2" fmla="*/ 45027 h 251957"/>
                    <a:gd name="connsiteX3" fmla="*/ 271438 w 344727"/>
                    <a:gd name="connsiteY3" fmla="*/ 108568 h 251957"/>
                    <a:gd name="connsiteX4" fmla="*/ 189327 w 344727"/>
                    <a:gd name="connsiteY4" fmla="*/ 108568 h 251957"/>
                    <a:gd name="connsiteX5" fmla="*/ 103308 w 344727"/>
                    <a:gd name="connsiteY5" fmla="*/ 72937 h 251957"/>
                    <a:gd name="connsiteX6" fmla="*/ 30364 w 344727"/>
                    <a:gd name="connsiteY6" fmla="*/ 0 h 251957"/>
                    <a:gd name="connsiteX7" fmla="*/ 0 w 344727"/>
                    <a:gd name="connsiteY7" fmla="*/ 30350 h 251957"/>
                    <a:gd name="connsiteX8" fmla="*/ 72944 w 344727"/>
                    <a:gd name="connsiteY8" fmla="*/ 103301 h 251957"/>
                    <a:gd name="connsiteX9" fmla="*/ 189327 w 344727"/>
                    <a:gd name="connsiteY9" fmla="*/ 151506 h 251957"/>
                    <a:gd name="connsiteX10" fmla="*/ 271438 w 344727"/>
                    <a:gd name="connsiteY10" fmla="*/ 151506 h 251957"/>
                    <a:gd name="connsiteX11" fmla="*/ 207897 w 344727"/>
                    <a:gd name="connsiteY11" fmla="*/ 215046 h 251957"/>
                    <a:gd name="connsiteX12" fmla="*/ 207370 w 344727"/>
                    <a:gd name="connsiteY12" fmla="*/ 245403 h 251957"/>
                    <a:gd name="connsiteX13" fmla="*/ 237727 w 344727"/>
                    <a:gd name="connsiteY13" fmla="*/ 245931 h 251957"/>
                    <a:gd name="connsiteX14" fmla="*/ 238254 w 344727"/>
                    <a:gd name="connsiteY14" fmla="*/ 245403 h 251957"/>
                    <a:gd name="connsiteX15" fmla="*/ 338442 w 344727"/>
                    <a:gd name="connsiteY15" fmla="*/ 145215 h 251957"/>
                    <a:gd name="connsiteX16" fmla="*/ 338442 w 344727"/>
                    <a:gd name="connsiteY16" fmla="*/ 114858 h 251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44727" h="251957">
                      <a:moveTo>
                        <a:pt x="238254" y="14670"/>
                      </a:moveTo>
                      <a:cubicBezTo>
                        <a:pt x="229725" y="6434"/>
                        <a:pt x="216134" y="6670"/>
                        <a:pt x="207897" y="15198"/>
                      </a:cubicBezTo>
                      <a:cubicBezTo>
                        <a:pt x="199862" y="23518"/>
                        <a:pt x="199862" y="36707"/>
                        <a:pt x="207897" y="45027"/>
                      </a:cubicBezTo>
                      <a:lnTo>
                        <a:pt x="271438" y="108568"/>
                      </a:lnTo>
                      <a:lnTo>
                        <a:pt x="189327" y="108568"/>
                      </a:lnTo>
                      <a:cubicBezTo>
                        <a:pt x="157046" y="108654"/>
                        <a:pt x="126072" y="95824"/>
                        <a:pt x="103308" y="72937"/>
                      </a:cubicBezTo>
                      <a:lnTo>
                        <a:pt x="30364" y="0"/>
                      </a:lnTo>
                      <a:lnTo>
                        <a:pt x="0" y="30350"/>
                      </a:lnTo>
                      <a:lnTo>
                        <a:pt x="72944" y="103301"/>
                      </a:lnTo>
                      <a:cubicBezTo>
                        <a:pt x="103745" y="134265"/>
                        <a:pt x="145652" y="151622"/>
                        <a:pt x="189327" y="151506"/>
                      </a:cubicBezTo>
                      <a:lnTo>
                        <a:pt x="271438" y="151506"/>
                      </a:lnTo>
                      <a:lnTo>
                        <a:pt x="207897" y="215046"/>
                      </a:lnTo>
                      <a:cubicBezTo>
                        <a:pt x="199368" y="223283"/>
                        <a:pt x="199132" y="236874"/>
                        <a:pt x="207370" y="245403"/>
                      </a:cubicBezTo>
                      <a:cubicBezTo>
                        <a:pt x="215607" y="253932"/>
                        <a:pt x="229198" y="254168"/>
                        <a:pt x="237727" y="245931"/>
                      </a:cubicBezTo>
                      <a:cubicBezTo>
                        <a:pt x="237906" y="245758"/>
                        <a:pt x="238081" y="245582"/>
                        <a:pt x="238254" y="245403"/>
                      </a:cubicBezTo>
                      <a:lnTo>
                        <a:pt x="338442" y="145215"/>
                      </a:lnTo>
                      <a:cubicBezTo>
                        <a:pt x="346823" y="136832"/>
                        <a:pt x="346823" y="123242"/>
                        <a:pt x="338442" y="114858"/>
                      </a:cubicBezTo>
                      <a:close/>
                    </a:path>
                  </a:pathLst>
                </a:custGeom>
                <a:grpFill/>
                <a:ln w="714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5B12AA51-B039-7B5B-7BD0-DB3144D44933}"/>
                    </a:ext>
                  </a:extLst>
                </p:cNvPr>
                <p:cNvSpPr/>
                <p:nvPr/>
              </p:nvSpPr>
              <p:spPr>
                <a:xfrm rot="5400000">
                  <a:off x="3526086" y="2350035"/>
                  <a:ext cx="658373" cy="443426"/>
                </a:xfrm>
                <a:custGeom>
                  <a:avLst/>
                  <a:gdLst>
                    <a:gd name="connsiteX0" fmla="*/ 502972 w 658373"/>
                    <a:gd name="connsiteY0" fmla="*/ 142862 h 443426"/>
                    <a:gd name="connsiteX1" fmla="*/ 585083 w 658373"/>
                    <a:gd name="connsiteY1" fmla="*/ 142862 h 443426"/>
                    <a:gd name="connsiteX2" fmla="*/ 521543 w 658373"/>
                    <a:gd name="connsiteY2" fmla="*/ 206403 h 443426"/>
                    <a:gd name="connsiteX3" fmla="*/ 521015 w 658373"/>
                    <a:gd name="connsiteY3" fmla="*/ 236759 h 443426"/>
                    <a:gd name="connsiteX4" fmla="*/ 551372 w 658373"/>
                    <a:gd name="connsiteY4" fmla="*/ 237287 h 443426"/>
                    <a:gd name="connsiteX5" fmla="*/ 551900 w 658373"/>
                    <a:gd name="connsiteY5" fmla="*/ 236759 h 443426"/>
                    <a:gd name="connsiteX6" fmla="*/ 652088 w 658373"/>
                    <a:gd name="connsiteY6" fmla="*/ 136572 h 443426"/>
                    <a:gd name="connsiteX7" fmla="*/ 652088 w 658373"/>
                    <a:gd name="connsiteY7" fmla="*/ 106215 h 443426"/>
                    <a:gd name="connsiteX8" fmla="*/ 551900 w 658373"/>
                    <a:gd name="connsiteY8" fmla="*/ 6027 h 443426"/>
                    <a:gd name="connsiteX9" fmla="*/ 521543 w 658373"/>
                    <a:gd name="connsiteY9" fmla="*/ 6554 h 443426"/>
                    <a:gd name="connsiteX10" fmla="*/ 521543 w 658373"/>
                    <a:gd name="connsiteY10" fmla="*/ 36384 h 443426"/>
                    <a:gd name="connsiteX11" fmla="*/ 585083 w 658373"/>
                    <a:gd name="connsiteY11" fmla="*/ 99924 h 443426"/>
                    <a:gd name="connsiteX12" fmla="*/ 502972 w 658373"/>
                    <a:gd name="connsiteY12" fmla="*/ 99924 h 443426"/>
                    <a:gd name="connsiteX13" fmla="*/ 386589 w 658373"/>
                    <a:gd name="connsiteY13" fmla="*/ 148129 h 443426"/>
                    <a:gd name="connsiteX14" fmla="*/ 169861 w 658373"/>
                    <a:gd name="connsiteY14" fmla="*/ 364857 h 443426"/>
                    <a:gd name="connsiteX15" fmla="*/ 83843 w 658373"/>
                    <a:gd name="connsiteY15" fmla="*/ 400488 h 443426"/>
                    <a:gd name="connsiteX16" fmla="*/ 21469 w 658373"/>
                    <a:gd name="connsiteY16" fmla="*/ 400488 h 443426"/>
                    <a:gd name="connsiteX17" fmla="*/ 0 w 658373"/>
                    <a:gd name="connsiteY17" fmla="*/ 421957 h 443426"/>
                    <a:gd name="connsiteX18" fmla="*/ 21469 w 658373"/>
                    <a:gd name="connsiteY18" fmla="*/ 443426 h 443426"/>
                    <a:gd name="connsiteX19" fmla="*/ 83843 w 658373"/>
                    <a:gd name="connsiteY19" fmla="*/ 443426 h 443426"/>
                    <a:gd name="connsiteX20" fmla="*/ 200226 w 658373"/>
                    <a:gd name="connsiteY20" fmla="*/ 395221 h 443426"/>
                    <a:gd name="connsiteX21" fmla="*/ 416954 w 658373"/>
                    <a:gd name="connsiteY21" fmla="*/ 178493 h 443426"/>
                    <a:gd name="connsiteX22" fmla="*/ 502972 w 658373"/>
                    <a:gd name="connsiteY22" fmla="*/ 142862 h 443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658373" h="443426">
                      <a:moveTo>
                        <a:pt x="502972" y="142862"/>
                      </a:moveTo>
                      <a:lnTo>
                        <a:pt x="585083" y="142862"/>
                      </a:lnTo>
                      <a:lnTo>
                        <a:pt x="521543" y="206403"/>
                      </a:lnTo>
                      <a:cubicBezTo>
                        <a:pt x="513014" y="214639"/>
                        <a:pt x="512778" y="228231"/>
                        <a:pt x="521015" y="236759"/>
                      </a:cubicBezTo>
                      <a:cubicBezTo>
                        <a:pt x="529252" y="245288"/>
                        <a:pt x="542843" y="245524"/>
                        <a:pt x="551372" y="237287"/>
                      </a:cubicBezTo>
                      <a:cubicBezTo>
                        <a:pt x="551551" y="237114"/>
                        <a:pt x="551726" y="236938"/>
                        <a:pt x="551900" y="236759"/>
                      </a:cubicBezTo>
                      <a:lnTo>
                        <a:pt x="652088" y="136572"/>
                      </a:lnTo>
                      <a:cubicBezTo>
                        <a:pt x="660468" y="128188"/>
                        <a:pt x="660468" y="114598"/>
                        <a:pt x="652088" y="106215"/>
                      </a:cubicBezTo>
                      <a:lnTo>
                        <a:pt x="551900" y="6027"/>
                      </a:lnTo>
                      <a:cubicBezTo>
                        <a:pt x="543371" y="-2211"/>
                        <a:pt x="529780" y="-1974"/>
                        <a:pt x="521543" y="6554"/>
                      </a:cubicBezTo>
                      <a:cubicBezTo>
                        <a:pt x="513508" y="14874"/>
                        <a:pt x="513508" y="28064"/>
                        <a:pt x="521543" y="36384"/>
                      </a:cubicBezTo>
                      <a:lnTo>
                        <a:pt x="585083" y="99924"/>
                      </a:lnTo>
                      <a:lnTo>
                        <a:pt x="502972" y="99924"/>
                      </a:lnTo>
                      <a:cubicBezTo>
                        <a:pt x="459297" y="99808"/>
                        <a:pt x="417391" y="117165"/>
                        <a:pt x="386589" y="148129"/>
                      </a:cubicBezTo>
                      <a:lnTo>
                        <a:pt x="169861" y="364857"/>
                      </a:lnTo>
                      <a:cubicBezTo>
                        <a:pt x="147097" y="387744"/>
                        <a:pt x="116124" y="400574"/>
                        <a:pt x="83843" y="400488"/>
                      </a:cubicBezTo>
                      <a:lnTo>
                        <a:pt x="21469" y="400488"/>
                      </a:lnTo>
                      <a:cubicBezTo>
                        <a:pt x="9612" y="400488"/>
                        <a:pt x="0" y="410100"/>
                        <a:pt x="0" y="421957"/>
                      </a:cubicBezTo>
                      <a:cubicBezTo>
                        <a:pt x="0" y="433814"/>
                        <a:pt x="9612" y="443426"/>
                        <a:pt x="21469" y="443426"/>
                      </a:cubicBezTo>
                      <a:lnTo>
                        <a:pt x="83843" y="443426"/>
                      </a:lnTo>
                      <a:cubicBezTo>
                        <a:pt x="127518" y="443542"/>
                        <a:pt x="169424" y="426185"/>
                        <a:pt x="200226" y="395221"/>
                      </a:cubicBezTo>
                      <a:lnTo>
                        <a:pt x="416954" y="178493"/>
                      </a:lnTo>
                      <a:cubicBezTo>
                        <a:pt x="439718" y="155606"/>
                        <a:pt x="470692" y="142776"/>
                        <a:pt x="502972" y="142862"/>
                      </a:cubicBezTo>
                      <a:close/>
                    </a:path>
                  </a:pathLst>
                </a:custGeom>
                <a:grpFill/>
                <a:ln w="714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7850F70-86D1-ACBA-4E84-0FFC65DFAF92}"/>
                  </a:ext>
                </a:extLst>
              </p:cNvPr>
              <p:cNvSpPr txBox="1"/>
              <p:nvPr/>
            </p:nvSpPr>
            <p:spPr>
              <a:xfrm>
                <a:off x="3474894" y="1170441"/>
                <a:ext cx="102784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Traffic Control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7D89297-60FB-2CBB-9D2B-72F86FF4E6A3}"/>
                  </a:ext>
                </a:extLst>
              </p:cNvPr>
              <p:cNvSpPr txBox="1"/>
              <p:nvPr/>
            </p:nvSpPr>
            <p:spPr>
              <a:xfrm>
                <a:off x="3556956" y="1350977"/>
                <a:ext cx="86594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Roboto Light" panose="02000000000000000000" pitchFamily="2" charset="0"/>
                  </a:rPr>
                  <a:t>Content based </a:t>
                </a:r>
              </a:p>
              <a:p>
                <a:r>
                  <a:rPr lang="en-US" sz="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Roboto Light" panose="02000000000000000000" pitchFamily="2" charset="0"/>
                  </a:rPr>
                  <a:t>traffic steering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EC6205E-5E47-257F-3CAC-94AB15EBDB01}"/>
                </a:ext>
              </a:extLst>
            </p:cNvPr>
            <p:cNvGrpSpPr/>
            <p:nvPr/>
          </p:nvGrpSpPr>
          <p:grpSpPr>
            <a:xfrm>
              <a:off x="3200399" y="1833729"/>
              <a:ext cx="1315330" cy="614297"/>
              <a:chOff x="3200399" y="1833729"/>
              <a:chExt cx="1315330" cy="614297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D1BBA15-F69A-1A19-F080-392A83FBAF6D}"/>
                  </a:ext>
                </a:extLst>
              </p:cNvPr>
              <p:cNvSpPr/>
              <p:nvPr/>
            </p:nvSpPr>
            <p:spPr>
              <a:xfrm>
                <a:off x="3200399" y="1833729"/>
                <a:ext cx="1315330" cy="596532"/>
              </a:xfrm>
              <a:prstGeom prst="rect">
                <a:avLst/>
              </a:prstGeom>
              <a:solidFill>
                <a:srgbClr val="00DAA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6F8C3EA-AEC4-F320-7F39-399ABE5197F0}"/>
                  </a:ext>
                </a:extLst>
              </p:cNvPr>
              <p:cNvSpPr txBox="1"/>
              <p:nvPr/>
            </p:nvSpPr>
            <p:spPr>
              <a:xfrm>
                <a:off x="3517027" y="1862097"/>
                <a:ext cx="93968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Observability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36C7A34-4164-AB16-599B-4B106AF0D9BB}"/>
                  </a:ext>
                </a:extLst>
              </p:cNvPr>
              <p:cNvSpPr txBox="1"/>
              <p:nvPr/>
            </p:nvSpPr>
            <p:spPr>
              <a:xfrm>
                <a:off x="3504203" y="1986361"/>
                <a:ext cx="9653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Roboto Light" panose="02000000000000000000" pitchFamily="2" charset="0"/>
                  </a:rPr>
                  <a:t>What gets people</a:t>
                </a:r>
              </a:p>
              <a:p>
                <a:pPr algn="ctr"/>
                <a:r>
                  <a:rPr lang="en-US" sz="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Roboto Light" panose="02000000000000000000" pitchFamily="2" charset="0"/>
                  </a:rPr>
                  <a:t>Hooked on </a:t>
                </a:r>
              </a:p>
              <a:p>
                <a:pPr algn="ctr"/>
                <a:r>
                  <a:rPr lang="en-US" sz="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Roboto Light" panose="02000000000000000000" pitchFamily="2" charset="0"/>
                  </a:rPr>
                  <a:t>service metrics</a:t>
                </a:r>
              </a:p>
            </p:txBody>
          </p:sp>
          <p:pic>
            <p:nvPicPr>
              <p:cNvPr id="36" name="Graphic 35" descr="Eye with solid fill">
                <a:extLst>
                  <a:ext uri="{FF2B5EF4-FFF2-40B4-BE49-F238E27FC236}">
                    <a16:creationId xmlns:a16="http://schemas.microsoft.com/office/drawing/2014/main" id="{29B20FBD-0F6D-39CB-A722-D0AB1C4F3C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239135" y="1991507"/>
                <a:ext cx="319059" cy="319059"/>
              </a:xfrm>
              <a:prstGeom prst="rect">
                <a:avLst/>
              </a:prstGeom>
            </p:spPr>
          </p:pic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FEDC269-FA37-2311-1C8E-E28820C55C5B}"/>
                </a:ext>
              </a:extLst>
            </p:cNvPr>
            <p:cNvGrpSpPr/>
            <p:nvPr/>
          </p:nvGrpSpPr>
          <p:grpSpPr>
            <a:xfrm>
              <a:off x="4803513" y="1833729"/>
              <a:ext cx="1315330" cy="596532"/>
              <a:chOff x="4803513" y="1833729"/>
              <a:chExt cx="1315330" cy="596532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BBE6B8-EADF-0824-BD5B-550F4E1A45F6}"/>
                  </a:ext>
                </a:extLst>
              </p:cNvPr>
              <p:cNvSpPr/>
              <p:nvPr/>
            </p:nvSpPr>
            <p:spPr>
              <a:xfrm>
                <a:off x="4803513" y="1833729"/>
                <a:ext cx="1315330" cy="596532"/>
              </a:xfrm>
              <a:prstGeom prst="rect">
                <a:avLst/>
              </a:prstGeom>
              <a:solidFill>
                <a:srgbClr val="D7111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9CFC9EC-B54B-BEE0-0707-4C0061F7D5B5}"/>
                  </a:ext>
                </a:extLst>
              </p:cNvPr>
              <p:cNvSpPr txBox="1"/>
              <p:nvPr/>
            </p:nvSpPr>
            <p:spPr>
              <a:xfrm>
                <a:off x="5301567" y="1923055"/>
                <a:ext cx="65915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Security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2785C47-9B0C-698B-BFFE-E2C5B1E4C3A1}"/>
                  </a:ext>
                </a:extLst>
              </p:cNvPr>
              <p:cNvSpPr txBox="1"/>
              <p:nvPr/>
            </p:nvSpPr>
            <p:spPr>
              <a:xfrm>
                <a:off x="5182945" y="2103591"/>
                <a:ext cx="89639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Roboto Light" panose="02000000000000000000" pitchFamily="2" charset="0"/>
                  </a:rPr>
                  <a:t>Identity &amp; Policy</a:t>
                </a:r>
              </a:p>
            </p:txBody>
          </p:sp>
          <p:pic>
            <p:nvPicPr>
              <p:cNvPr id="38" name="Graphic 37" descr="Lock with solid fill">
                <a:extLst>
                  <a:ext uri="{FF2B5EF4-FFF2-40B4-BE49-F238E27FC236}">
                    <a16:creationId xmlns:a16="http://schemas.microsoft.com/office/drawing/2014/main" id="{ABA0C5AB-B70E-5286-E864-F071D44C49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842337" y="1927680"/>
                <a:ext cx="387795" cy="387795"/>
              </a:xfrm>
              <a:prstGeom prst="rect">
                <a:avLst/>
              </a:prstGeom>
            </p:spPr>
          </p:pic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F47EBF57-281D-D068-7B76-D7A6E623CFDC}"/>
                </a:ext>
              </a:extLst>
            </p:cNvPr>
            <p:cNvGrpSpPr/>
            <p:nvPr/>
          </p:nvGrpSpPr>
          <p:grpSpPr>
            <a:xfrm>
              <a:off x="4803513" y="1119727"/>
              <a:ext cx="1331915" cy="596532"/>
              <a:chOff x="4803513" y="1119727"/>
              <a:chExt cx="1331915" cy="596532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9CB5626-635F-F4DC-C5A8-C1C8C77AFCD5}"/>
                  </a:ext>
                </a:extLst>
              </p:cNvPr>
              <p:cNvSpPr/>
              <p:nvPr/>
            </p:nvSpPr>
            <p:spPr>
              <a:xfrm>
                <a:off x="4803513" y="1119727"/>
                <a:ext cx="1315330" cy="596532"/>
              </a:xfrm>
              <a:prstGeom prst="rect">
                <a:avLst/>
              </a:prstGeom>
              <a:solidFill>
                <a:srgbClr val="00DAA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2D35B96-F79B-59B8-7A34-758D0D78240E}"/>
                  </a:ext>
                </a:extLst>
              </p:cNvPr>
              <p:cNvSpPr txBox="1"/>
              <p:nvPr/>
            </p:nvSpPr>
            <p:spPr>
              <a:xfrm>
                <a:off x="5251484" y="1318011"/>
                <a:ext cx="77457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Resiliency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226110B-2696-1F74-9AB5-504E10EAFA37}"/>
                  </a:ext>
                </a:extLst>
              </p:cNvPr>
              <p:cNvSpPr txBox="1"/>
              <p:nvPr/>
            </p:nvSpPr>
            <p:spPr>
              <a:xfrm>
                <a:off x="5101169" y="1471251"/>
                <a:ext cx="103425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Roboto Light" panose="02000000000000000000" pitchFamily="2" charset="0"/>
                  </a:rPr>
                  <a:t>Control over chaos</a:t>
                </a: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5E9BB1DE-8ED1-2388-5129-9A041B59F0AA}"/>
                  </a:ext>
                </a:extLst>
              </p:cNvPr>
              <p:cNvGrpSpPr/>
              <p:nvPr/>
            </p:nvGrpSpPr>
            <p:grpSpPr>
              <a:xfrm>
                <a:off x="4957811" y="1199296"/>
                <a:ext cx="719157" cy="141906"/>
                <a:chOff x="4289571" y="1351737"/>
                <a:chExt cx="1200365" cy="236860"/>
              </a:xfrm>
            </p:grpSpPr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1EBC1182-CE11-E0E5-5B27-ACA0FF2C8A68}"/>
                    </a:ext>
                  </a:extLst>
                </p:cNvPr>
                <p:cNvGrpSpPr/>
                <p:nvPr/>
              </p:nvGrpSpPr>
              <p:grpSpPr>
                <a:xfrm>
                  <a:off x="4289571" y="1351737"/>
                  <a:ext cx="628793" cy="236860"/>
                  <a:chOff x="4289571" y="2689220"/>
                  <a:chExt cx="628793" cy="236860"/>
                </a:xfrm>
                <a:noFill/>
              </p:grpSpPr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A78A4F16-8D81-5A45-4930-7D84A12A0611}"/>
                      </a:ext>
                    </a:extLst>
                  </p:cNvPr>
                  <p:cNvSpPr/>
                  <p:nvPr/>
                </p:nvSpPr>
                <p:spPr>
                  <a:xfrm>
                    <a:off x="4564966" y="2722098"/>
                    <a:ext cx="203982" cy="203982"/>
                  </a:xfrm>
                  <a:prstGeom prst="ellipse">
                    <a:avLst/>
                  </a:prstGeom>
                  <a:grpFill/>
                  <a:ln w="285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C8C8A9AA-62F6-69D3-E190-3813AA173B66}"/>
                      </a:ext>
                    </a:extLst>
                  </p:cNvPr>
                  <p:cNvCxnSpPr/>
                  <p:nvPr/>
                </p:nvCxnSpPr>
                <p:spPr>
                  <a:xfrm>
                    <a:off x="4289571" y="2827501"/>
                    <a:ext cx="275710" cy="0"/>
                  </a:xfrm>
                  <a:prstGeom prst="line">
                    <a:avLst/>
                  </a:prstGeom>
                  <a:grpFill/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449CD823-BFAF-BA4A-CBFE-D6EDA1AD27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768948" y="2689220"/>
                    <a:ext cx="149416" cy="123785"/>
                  </a:xfrm>
                  <a:prstGeom prst="line">
                    <a:avLst/>
                  </a:prstGeom>
                  <a:grpFill/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CF4F46FB-3603-8DAA-E252-B680AD3549A9}"/>
                    </a:ext>
                  </a:extLst>
                </p:cNvPr>
                <p:cNvGrpSpPr/>
                <p:nvPr/>
              </p:nvGrpSpPr>
              <p:grpSpPr>
                <a:xfrm flipH="1">
                  <a:off x="5010559" y="1368176"/>
                  <a:ext cx="479377" cy="203982"/>
                  <a:chOff x="4441971" y="3229342"/>
                  <a:chExt cx="479377" cy="203982"/>
                </a:xfrm>
                <a:noFill/>
              </p:grpSpPr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5C895A75-2CC6-9EF3-5787-F79AA5AD5B74}"/>
                      </a:ext>
                    </a:extLst>
                  </p:cNvPr>
                  <p:cNvSpPr/>
                  <p:nvPr/>
                </p:nvSpPr>
                <p:spPr>
                  <a:xfrm>
                    <a:off x="4717366" y="3229342"/>
                    <a:ext cx="203982" cy="203982"/>
                  </a:xfrm>
                  <a:prstGeom prst="ellipse">
                    <a:avLst/>
                  </a:prstGeom>
                  <a:grpFill/>
                  <a:ln w="285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D6374884-9573-DB5C-1A35-FFC11EE78653}"/>
                      </a:ext>
                    </a:extLst>
                  </p:cNvPr>
                  <p:cNvCxnSpPr/>
                  <p:nvPr/>
                </p:nvCxnSpPr>
                <p:spPr>
                  <a:xfrm>
                    <a:off x="4441971" y="3334745"/>
                    <a:ext cx="275710" cy="0"/>
                  </a:xfrm>
                  <a:prstGeom prst="line">
                    <a:avLst/>
                  </a:prstGeom>
                  <a:grpFill/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585B1082-B5E7-A187-370A-78E27C2C4732}"/>
              </a:ext>
            </a:extLst>
          </p:cNvPr>
          <p:cNvSpPr txBox="1"/>
          <p:nvPr/>
        </p:nvSpPr>
        <p:spPr>
          <a:xfrm>
            <a:off x="1232198" y="3415354"/>
            <a:ext cx="1973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Raleway" panose="020B0003030101060003" pitchFamily="34" charset="0"/>
              </a:rPr>
              <a:t>	</a:t>
            </a:r>
          </a:p>
          <a:p>
            <a:r>
              <a:rPr lang="en-US" sz="1000" dirty="0">
                <a:latin typeface="Raleway" panose="020B0003030101060003" pitchFamily="34" charset="0"/>
              </a:rPr>
              <a:t>It’s Multi Mesh World, Messy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386B8A-FEDC-1861-D295-E30E4DDDB662}"/>
              </a:ext>
            </a:extLst>
          </p:cNvPr>
          <p:cNvSpPr txBox="1"/>
          <p:nvPr/>
        </p:nvSpPr>
        <p:spPr>
          <a:xfrm>
            <a:off x="4174511" y="4247819"/>
            <a:ext cx="2171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Raleway" panose="020B0003030101060003" pitchFamily="34" charset="0"/>
              </a:rPr>
              <a:t>Significant time for integration and Operation Automation.</a:t>
            </a:r>
          </a:p>
          <a:p>
            <a:endParaRPr lang="en-US" sz="1000" dirty="0">
              <a:latin typeface="Raleway" panose="020B0003030101060003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68551F-4FCA-1867-E67F-578DC90EE969}"/>
              </a:ext>
            </a:extLst>
          </p:cNvPr>
          <p:cNvSpPr txBox="1"/>
          <p:nvPr/>
        </p:nvSpPr>
        <p:spPr>
          <a:xfrm>
            <a:off x="1225371" y="4386153"/>
            <a:ext cx="19738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Raleway" panose="020B0003030101060003" pitchFamily="34" charset="0"/>
              </a:rPr>
              <a:t>Complex configuration cycle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929AECF-C416-8A92-6044-0CFFA0893FAB}"/>
              </a:ext>
            </a:extLst>
          </p:cNvPr>
          <p:cNvSpPr txBox="1"/>
          <p:nvPr/>
        </p:nvSpPr>
        <p:spPr>
          <a:xfrm>
            <a:off x="4140391" y="3551834"/>
            <a:ext cx="2171201" cy="436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Raleway" panose="020B0003030101060003" pitchFamily="34" charset="0"/>
              </a:rPr>
              <a:t>Time to do standard compliance  and performance validation</a:t>
            </a:r>
          </a:p>
        </p:txBody>
      </p:sp>
      <p:pic>
        <p:nvPicPr>
          <p:cNvPr id="64" name="Graphic 63" descr="Network with solid fill">
            <a:extLst>
              <a:ext uri="{FF2B5EF4-FFF2-40B4-BE49-F238E27FC236}">
                <a16:creationId xmlns:a16="http://schemas.microsoft.com/office/drawing/2014/main" id="{F3FE03A7-6B8D-1425-EEAD-0BC54B1E4B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5886" y="3363237"/>
            <a:ext cx="621564" cy="621564"/>
          </a:xfrm>
          <a:prstGeom prst="rect">
            <a:avLst/>
          </a:prstGeom>
        </p:spPr>
      </p:pic>
      <p:pic>
        <p:nvPicPr>
          <p:cNvPr id="67" name="Graphic 66" descr="Gears with solid fill">
            <a:extLst>
              <a:ext uri="{FF2B5EF4-FFF2-40B4-BE49-F238E27FC236}">
                <a16:creationId xmlns:a16="http://schemas.microsoft.com/office/drawing/2014/main" id="{68EF0B9C-8139-525D-8FA8-0DC9CD55BC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2880" y="4172994"/>
            <a:ext cx="604475" cy="604475"/>
          </a:xfrm>
          <a:prstGeom prst="rect">
            <a:avLst/>
          </a:prstGeom>
        </p:spPr>
      </p:pic>
      <p:pic>
        <p:nvPicPr>
          <p:cNvPr id="69" name="Graphic 68" descr="Clipboard Mixed with solid fill">
            <a:extLst>
              <a:ext uri="{FF2B5EF4-FFF2-40B4-BE49-F238E27FC236}">
                <a16:creationId xmlns:a16="http://schemas.microsoft.com/office/drawing/2014/main" id="{236E4DDF-D36D-0FA0-8E54-D8F9D0958E2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69149" y="3442616"/>
            <a:ext cx="586592" cy="586592"/>
          </a:xfrm>
          <a:prstGeom prst="rect">
            <a:avLst/>
          </a:prstGeom>
        </p:spPr>
      </p:pic>
      <p:pic>
        <p:nvPicPr>
          <p:cNvPr id="71" name="Graphic 70" descr="Robot with solid fill">
            <a:extLst>
              <a:ext uri="{FF2B5EF4-FFF2-40B4-BE49-F238E27FC236}">
                <a16:creationId xmlns:a16="http://schemas.microsoft.com/office/drawing/2014/main" id="{EB33AD2A-CA7B-B0EB-30C0-32A42C78420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08489" y="4145217"/>
            <a:ext cx="563478" cy="56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880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Our Cloud Assurance QA Framework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4F8CBC2-7E6C-70E9-BAE6-9DA4A6B7F8C7}"/>
              </a:ext>
            </a:extLst>
          </p:cNvPr>
          <p:cNvGrpSpPr/>
          <p:nvPr/>
        </p:nvGrpSpPr>
        <p:grpSpPr>
          <a:xfrm>
            <a:off x="2175933" y="634999"/>
            <a:ext cx="3403600" cy="635000"/>
            <a:chOff x="2328333" y="1032933"/>
            <a:chExt cx="3403600" cy="63500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3999313-919A-6508-0F5B-7F5912E7F143}"/>
                </a:ext>
              </a:extLst>
            </p:cNvPr>
            <p:cNvSpPr/>
            <p:nvPr/>
          </p:nvSpPr>
          <p:spPr>
            <a:xfrm>
              <a:off x="2328333" y="1032933"/>
              <a:ext cx="3403600" cy="635000"/>
            </a:xfrm>
            <a:prstGeom prst="roundRect">
              <a:avLst/>
            </a:prstGeom>
            <a:noFill/>
            <a:ln w="19050">
              <a:solidFill>
                <a:srgbClr val="2BB1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15F9EEA-8DCD-874E-1250-D9CC80337038}"/>
                </a:ext>
              </a:extLst>
            </p:cNvPr>
            <p:cNvSpPr/>
            <p:nvPr/>
          </p:nvSpPr>
          <p:spPr>
            <a:xfrm>
              <a:off x="2425700" y="1096880"/>
              <a:ext cx="3208867" cy="507107"/>
            </a:xfrm>
            <a:prstGeom prst="roundRect">
              <a:avLst/>
            </a:prstGeom>
            <a:solidFill>
              <a:srgbClr val="2BB17B"/>
            </a:solidFill>
            <a:ln w="19050">
              <a:solidFill>
                <a:srgbClr val="2BB1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739B0A4-4B02-22D9-A658-5D541A162DF0}"/>
                </a:ext>
              </a:extLst>
            </p:cNvPr>
            <p:cNvSpPr/>
            <p:nvPr/>
          </p:nvSpPr>
          <p:spPr>
            <a:xfrm>
              <a:off x="2476500" y="1140418"/>
              <a:ext cx="3107267" cy="420031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2BB1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4D8CF3F-8DD4-4670-6EB6-A2CDDDA216BE}"/>
                </a:ext>
              </a:extLst>
            </p:cNvPr>
            <p:cNvSpPr txBox="1"/>
            <p:nvPr/>
          </p:nvSpPr>
          <p:spPr>
            <a:xfrm>
              <a:off x="2437222" y="1132411"/>
              <a:ext cx="31858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Raleway" panose="020B0003030101060003" pitchFamily="34" charset="0"/>
                </a:rPr>
                <a:t>Service Mesh Assessment for Product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CF1BB9C-E472-A2D5-3ED5-2443F8BCAB88}"/>
                </a:ext>
              </a:extLst>
            </p:cNvPr>
            <p:cNvSpPr txBox="1"/>
            <p:nvPr/>
          </p:nvSpPr>
          <p:spPr>
            <a:xfrm>
              <a:off x="3128009" y="1346199"/>
              <a:ext cx="180424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Raleway" panose="020B0003030101060003" pitchFamily="34" charset="0"/>
                </a:rPr>
                <a:t>Discovery &amp; Analysis Report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12E41C-4377-09D3-F2AE-676F9D1345F4}"/>
              </a:ext>
            </a:extLst>
          </p:cNvPr>
          <p:cNvGrpSpPr/>
          <p:nvPr/>
        </p:nvGrpSpPr>
        <p:grpSpPr>
          <a:xfrm>
            <a:off x="1046480" y="1437537"/>
            <a:ext cx="5662507" cy="768350"/>
            <a:chOff x="1207345" y="1973794"/>
            <a:chExt cx="5662507" cy="76835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CAEE414-B7C3-84C8-F2A8-5F239384A482}"/>
                </a:ext>
              </a:extLst>
            </p:cNvPr>
            <p:cNvSpPr/>
            <p:nvPr/>
          </p:nvSpPr>
          <p:spPr>
            <a:xfrm>
              <a:off x="1207345" y="1973794"/>
              <a:ext cx="5574453" cy="768350"/>
            </a:xfrm>
            <a:prstGeom prst="roundRect">
              <a:avLst/>
            </a:prstGeom>
            <a:noFill/>
            <a:ln w="19050">
              <a:solidFill>
                <a:srgbClr val="69C0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F888043-1EBF-7516-4607-D69E2DB3B3D1}"/>
                </a:ext>
              </a:extLst>
            </p:cNvPr>
            <p:cNvSpPr/>
            <p:nvPr/>
          </p:nvSpPr>
          <p:spPr>
            <a:xfrm>
              <a:off x="1337733" y="2020489"/>
              <a:ext cx="5359398" cy="674960"/>
            </a:xfrm>
            <a:prstGeom prst="roundRect">
              <a:avLst/>
            </a:prstGeom>
            <a:solidFill>
              <a:srgbClr val="69C0D1"/>
            </a:solidFill>
            <a:ln w="19050">
              <a:solidFill>
                <a:srgbClr val="2BB1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C58CCF2-487F-3AB5-6299-C6ED2220D5BA}"/>
                </a:ext>
              </a:extLst>
            </p:cNvPr>
            <p:cNvSpPr/>
            <p:nvPr/>
          </p:nvSpPr>
          <p:spPr>
            <a:xfrm>
              <a:off x="1422398" y="2078439"/>
              <a:ext cx="5198534" cy="559061"/>
            </a:xfrm>
            <a:prstGeom prst="round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71AA1C-E992-87AF-CDDD-15F3A311A31A}"/>
                </a:ext>
              </a:extLst>
            </p:cNvPr>
            <p:cNvSpPr txBox="1"/>
            <p:nvPr/>
          </p:nvSpPr>
          <p:spPr>
            <a:xfrm>
              <a:off x="2445687" y="2060060"/>
              <a:ext cx="31858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Raleway" panose="020B0003030101060003" pitchFamily="34" charset="0"/>
                </a:rPr>
                <a:t>Design &amp; Planning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42AD97E-0B48-A0AF-B370-5CC4FA541FD1}"/>
                </a:ext>
              </a:extLst>
            </p:cNvPr>
            <p:cNvSpPr txBox="1"/>
            <p:nvPr/>
          </p:nvSpPr>
          <p:spPr>
            <a:xfrm>
              <a:off x="1207345" y="2280312"/>
              <a:ext cx="56625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Raleway" panose="020B0003030101060003" pitchFamily="34" charset="0"/>
                </a:rPr>
                <a:t>Design specification determining deployment architecture, Golden configuration, Tooling &amp; Operation Automation and Verification Strategy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CFB6376-21E7-5D55-A827-12A9F9F0F175}"/>
              </a:ext>
            </a:extLst>
          </p:cNvPr>
          <p:cNvGrpSpPr/>
          <p:nvPr/>
        </p:nvGrpSpPr>
        <p:grpSpPr>
          <a:xfrm>
            <a:off x="542356" y="2415759"/>
            <a:ext cx="6632654" cy="477085"/>
            <a:chOff x="561406" y="2458094"/>
            <a:chExt cx="6632654" cy="477085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99A422FC-F5D9-2409-2CFF-60F440B36A24}"/>
                </a:ext>
              </a:extLst>
            </p:cNvPr>
            <p:cNvSpPr/>
            <p:nvPr/>
          </p:nvSpPr>
          <p:spPr>
            <a:xfrm>
              <a:off x="561406" y="2458094"/>
              <a:ext cx="6632654" cy="477085"/>
            </a:xfrm>
            <a:prstGeom prst="roundRect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5D8BCBFE-E81D-130D-9DA2-59012B730273}"/>
                </a:ext>
              </a:extLst>
            </p:cNvPr>
            <p:cNvSpPr/>
            <p:nvPr/>
          </p:nvSpPr>
          <p:spPr>
            <a:xfrm>
              <a:off x="638850" y="2506138"/>
              <a:ext cx="6511636" cy="38099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BC3B514-73EE-2B57-FA6C-924C50E3E62A}"/>
                </a:ext>
              </a:extLst>
            </p:cNvPr>
            <p:cNvSpPr/>
            <p:nvPr/>
          </p:nvSpPr>
          <p:spPr>
            <a:xfrm>
              <a:off x="731983" y="2538325"/>
              <a:ext cx="6342304" cy="316623"/>
            </a:xfrm>
            <a:prstGeom prst="round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33E7A34-FA00-57FD-3305-64A33161B4FD}"/>
                </a:ext>
              </a:extLst>
            </p:cNvPr>
            <p:cNvSpPr txBox="1"/>
            <p:nvPr/>
          </p:nvSpPr>
          <p:spPr>
            <a:xfrm>
              <a:off x="2125531" y="2565238"/>
              <a:ext cx="35044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Raleway" panose="020B0003030101060003" pitchFamily="34" charset="0"/>
                </a:rPr>
                <a:t>Service Mesh Adoption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FF3A397-4EEA-7ABD-4435-E5CA4C6A5C99}"/>
              </a:ext>
            </a:extLst>
          </p:cNvPr>
          <p:cNvGrpSpPr/>
          <p:nvPr/>
        </p:nvGrpSpPr>
        <p:grpSpPr>
          <a:xfrm>
            <a:off x="688060" y="3042343"/>
            <a:ext cx="1004715" cy="1004715"/>
            <a:chOff x="688060" y="3245551"/>
            <a:chExt cx="1004715" cy="1004715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B46DC45-145F-317C-CEA7-E5B81663382F}"/>
                </a:ext>
              </a:extLst>
            </p:cNvPr>
            <p:cNvSpPr/>
            <p:nvPr/>
          </p:nvSpPr>
          <p:spPr>
            <a:xfrm>
              <a:off x="688060" y="3245551"/>
              <a:ext cx="1004715" cy="1004715"/>
            </a:xfrm>
            <a:prstGeom prst="ellipse">
              <a:avLst/>
            </a:prstGeom>
            <a:no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5FBAB12-5B24-79FB-499A-C86EFE90DA81}"/>
                </a:ext>
              </a:extLst>
            </p:cNvPr>
            <p:cNvSpPr/>
            <p:nvPr/>
          </p:nvSpPr>
          <p:spPr>
            <a:xfrm>
              <a:off x="758758" y="3316249"/>
              <a:ext cx="863319" cy="863319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B7A7847-56C0-F4AD-DD46-67F7B6668BEC}"/>
                </a:ext>
              </a:extLst>
            </p:cNvPr>
            <p:cNvSpPr/>
            <p:nvPr/>
          </p:nvSpPr>
          <p:spPr>
            <a:xfrm>
              <a:off x="836534" y="3394025"/>
              <a:ext cx="707766" cy="7077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3FFCF11-A5EF-9734-9C55-294BF7ADD9AA}"/>
                </a:ext>
              </a:extLst>
            </p:cNvPr>
            <p:cNvSpPr txBox="1"/>
            <p:nvPr/>
          </p:nvSpPr>
          <p:spPr>
            <a:xfrm>
              <a:off x="825357" y="3640186"/>
              <a:ext cx="78386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b="1" dirty="0">
                  <a:latin typeface="Raleway" panose="020B0003030101060003" pitchFamily="34" charset="0"/>
                </a:rPr>
                <a:t>Provisioning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43E2E39-3B19-A1CD-ACD3-D5589CBD1C78}"/>
              </a:ext>
            </a:extLst>
          </p:cNvPr>
          <p:cNvGrpSpPr/>
          <p:nvPr/>
        </p:nvGrpSpPr>
        <p:grpSpPr>
          <a:xfrm>
            <a:off x="2507297" y="3042343"/>
            <a:ext cx="1004715" cy="1004715"/>
            <a:chOff x="688060" y="3245551"/>
            <a:chExt cx="1004715" cy="1004715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65F0608-1C93-CAE0-3D54-63B45F9EF4B1}"/>
                </a:ext>
              </a:extLst>
            </p:cNvPr>
            <p:cNvSpPr/>
            <p:nvPr/>
          </p:nvSpPr>
          <p:spPr>
            <a:xfrm>
              <a:off x="688060" y="3245551"/>
              <a:ext cx="1004715" cy="1004715"/>
            </a:xfrm>
            <a:prstGeom prst="ellipse">
              <a:avLst/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331F858-EA54-BC07-98C3-CB0609D3CDD7}"/>
                </a:ext>
              </a:extLst>
            </p:cNvPr>
            <p:cNvSpPr/>
            <p:nvPr/>
          </p:nvSpPr>
          <p:spPr>
            <a:xfrm>
              <a:off x="758758" y="3316249"/>
              <a:ext cx="863319" cy="86331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4B1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D9127B2-C46B-9BC0-773E-2BDEC32C7C36}"/>
                </a:ext>
              </a:extLst>
            </p:cNvPr>
            <p:cNvSpPr/>
            <p:nvPr/>
          </p:nvSpPr>
          <p:spPr>
            <a:xfrm>
              <a:off x="836534" y="3394025"/>
              <a:ext cx="707766" cy="7077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B216E5-1679-2429-A1A7-C54B5DE77049}"/>
                </a:ext>
              </a:extLst>
            </p:cNvPr>
            <p:cNvSpPr txBox="1"/>
            <p:nvPr/>
          </p:nvSpPr>
          <p:spPr>
            <a:xfrm>
              <a:off x="752296" y="3606318"/>
              <a:ext cx="8622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dirty="0">
                  <a:latin typeface="Raleway" panose="020B0003030101060003" pitchFamily="34" charset="0"/>
                </a:rPr>
                <a:t>Configuration Validation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238309F-AE79-C96E-218F-8F84998DFE78}"/>
              </a:ext>
            </a:extLst>
          </p:cNvPr>
          <p:cNvGrpSpPr/>
          <p:nvPr/>
        </p:nvGrpSpPr>
        <p:grpSpPr>
          <a:xfrm>
            <a:off x="4326534" y="3042343"/>
            <a:ext cx="1004715" cy="1004715"/>
            <a:chOff x="688060" y="3245551"/>
            <a:chExt cx="1004715" cy="1004715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2CDFCD4-2982-54A1-FC28-48983D3EA0A4}"/>
                </a:ext>
              </a:extLst>
            </p:cNvPr>
            <p:cNvSpPr/>
            <p:nvPr/>
          </p:nvSpPr>
          <p:spPr>
            <a:xfrm>
              <a:off x="688060" y="3245551"/>
              <a:ext cx="1004715" cy="1004715"/>
            </a:xfrm>
            <a:prstGeom prst="ellipse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2CE2091-A1F2-F9F8-E6DA-45E6E4E2BCA1}"/>
                </a:ext>
              </a:extLst>
            </p:cNvPr>
            <p:cNvSpPr/>
            <p:nvPr/>
          </p:nvSpPr>
          <p:spPr>
            <a:xfrm>
              <a:off x="758758" y="3316249"/>
              <a:ext cx="863319" cy="86331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8FAA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F5A71F2-42E5-003E-9614-D3060670323A}"/>
                </a:ext>
              </a:extLst>
            </p:cNvPr>
            <p:cNvSpPr/>
            <p:nvPr/>
          </p:nvSpPr>
          <p:spPr>
            <a:xfrm>
              <a:off x="836534" y="3394025"/>
              <a:ext cx="707766" cy="7077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58D6534-EBC8-673F-61A0-4C91EF099036}"/>
                </a:ext>
              </a:extLst>
            </p:cNvPr>
            <p:cNvSpPr txBox="1"/>
            <p:nvPr/>
          </p:nvSpPr>
          <p:spPr>
            <a:xfrm>
              <a:off x="726117" y="3572450"/>
              <a:ext cx="948478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dirty="0">
                  <a:latin typeface="Raleway" panose="020B0003030101060003" pitchFamily="34" charset="0"/>
                </a:rPr>
                <a:t>Compliance &amp; Performance Validation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066C7E9-0727-FAA1-490C-C3AD2BE00F8D}"/>
              </a:ext>
            </a:extLst>
          </p:cNvPr>
          <p:cNvGrpSpPr/>
          <p:nvPr/>
        </p:nvGrpSpPr>
        <p:grpSpPr>
          <a:xfrm>
            <a:off x="6145771" y="3042343"/>
            <a:ext cx="1004715" cy="1004715"/>
            <a:chOff x="688060" y="3245551"/>
            <a:chExt cx="1004715" cy="1004715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D716E1F-C917-585B-6363-F8741A20F7AD}"/>
                </a:ext>
              </a:extLst>
            </p:cNvPr>
            <p:cNvSpPr/>
            <p:nvPr/>
          </p:nvSpPr>
          <p:spPr>
            <a:xfrm>
              <a:off x="688060" y="3245551"/>
              <a:ext cx="1004715" cy="1004715"/>
            </a:xfrm>
            <a:prstGeom prst="ellipse">
              <a:avLst/>
            </a:prstGeom>
            <a:noFill/>
            <a:ln>
              <a:solidFill>
                <a:srgbClr val="50FFD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965D4A2-9C69-DB2F-BAAD-99FEABEDF97B}"/>
                </a:ext>
              </a:extLst>
            </p:cNvPr>
            <p:cNvSpPr/>
            <p:nvPr/>
          </p:nvSpPr>
          <p:spPr>
            <a:xfrm>
              <a:off x="758758" y="3316249"/>
              <a:ext cx="863319" cy="863319"/>
            </a:xfrm>
            <a:prstGeom prst="ellipse">
              <a:avLst/>
            </a:prstGeom>
            <a:solidFill>
              <a:srgbClr val="50FFD8"/>
            </a:solidFill>
            <a:ln>
              <a:solidFill>
                <a:srgbClr val="50FFD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BB82FA8-B134-7BD3-095A-05054B5BD5F1}"/>
                </a:ext>
              </a:extLst>
            </p:cNvPr>
            <p:cNvSpPr/>
            <p:nvPr/>
          </p:nvSpPr>
          <p:spPr>
            <a:xfrm>
              <a:off x="836534" y="3394025"/>
              <a:ext cx="707766" cy="7077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3D204B1-E522-E518-C9CF-48FB570E2FA3}"/>
                </a:ext>
              </a:extLst>
            </p:cNvPr>
            <p:cNvSpPr txBox="1"/>
            <p:nvPr/>
          </p:nvSpPr>
          <p:spPr>
            <a:xfrm>
              <a:off x="808423" y="3606318"/>
              <a:ext cx="7838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dirty="0">
                  <a:latin typeface="Raleway" panose="020B0003030101060003" pitchFamily="34" charset="0"/>
                </a:rPr>
                <a:t>Operation Tooling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65098D6B-43C0-7069-C248-BF4783920C70}"/>
              </a:ext>
            </a:extLst>
          </p:cNvPr>
          <p:cNvSpPr txBox="1"/>
          <p:nvPr/>
        </p:nvSpPr>
        <p:spPr>
          <a:xfrm>
            <a:off x="604333" y="4165231"/>
            <a:ext cx="1562795" cy="248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Raleway" panose="020B0003030101060003" pitchFamily="34" charset="0"/>
              </a:rPr>
              <a:t>Mesh Readied for test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B5F5B3-E772-93C5-FA48-B29A0DAB82A6}"/>
              </a:ext>
            </a:extLst>
          </p:cNvPr>
          <p:cNvSpPr txBox="1"/>
          <p:nvPr/>
        </p:nvSpPr>
        <p:spPr>
          <a:xfrm>
            <a:off x="3067352" y="4165231"/>
            <a:ext cx="20800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Raleway" panose="020B0003030101060003" pitchFamily="34" charset="0"/>
              </a:rPr>
              <a:t>Test Results &amp; Defect Reports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FDF004-F62B-BB00-0D5A-23A3764D4D87}"/>
              </a:ext>
            </a:extLst>
          </p:cNvPr>
          <p:cNvSpPr txBox="1"/>
          <p:nvPr/>
        </p:nvSpPr>
        <p:spPr>
          <a:xfrm>
            <a:off x="5985316" y="4095958"/>
            <a:ext cx="1420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Raleway" panose="020B0003030101060003" pitchFamily="34" charset="0"/>
              </a:rPr>
              <a:t>Integration with </a:t>
            </a:r>
          </a:p>
          <a:p>
            <a:pPr algn="ctr"/>
            <a:r>
              <a:rPr lang="en-US" sz="1000" b="1" dirty="0">
                <a:latin typeface="Raleway" panose="020B0003030101060003" pitchFamily="34" charset="0"/>
              </a:rPr>
              <a:t>Management Stack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3D61E63-B036-666B-7CBC-5E0DB6E017C0}"/>
              </a:ext>
            </a:extLst>
          </p:cNvPr>
          <p:cNvSpPr/>
          <p:nvPr/>
        </p:nvSpPr>
        <p:spPr>
          <a:xfrm>
            <a:off x="342900" y="4565341"/>
            <a:ext cx="8455944" cy="40011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2F53135-9988-70D9-9D2C-3E3A4C1DE525}"/>
              </a:ext>
            </a:extLst>
          </p:cNvPr>
          <p:cNvSpPr txBox="1"/>
          <p:nvPr/>
        </p:nvSpPr>
        <p:spPr>
          <a:xfrm>
            <a:off x="573195" y="4629989"/>
            <a:ext cx="83320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" panose="020B0003030101060003" pitchFamily="34" charset="0"/>
              </a:rPr>
              <a:t>Our Enablers:  Automated Provisioning, Config Pattern, Best Practices, Automated Verification, integration Tooling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8FDAF3C-6305-E398-CE67-9269316073C2}"/>
              </a:ext>
            </a:extLst>
          </p:cNvPr>
          <p:cNvGrpSpPr/>
          <p:nvPr/>
        </p:nvGrpSpPr>
        <p:grpSpPr>
          <a:xfrm>
            <a:off x="7783452" y="578117"/>
            <a:ext cx="350118" cy="3759350"/>
            <a:chOff x="8147522" y="805015"/>
            <a:chExt cx="350118" cy="4135285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08B49670-AB6E-E39C-3CF4-D6FFC06D2284}"/>
                </a:ext>
              </a:extLst>
            </p:cNvPr>
            <p:cNvSpPr/>
            <p:nvPr/>
          </p:nvSpPr>
          <p:spPr>
            <a:xfrm>
              <a:off x="8147522" y="805015"/>
              <a:ext cx="342636" cy="4135285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4D914EF-34E3-4D57-FB5F-EA4A72DDB59C}"/>
                </a:ext>
              </a:extLst>
            </p:cNvPr>
            <p:cNvSpPr txBox="1"/>
            <p:nvPr/>
          </p:nvSpPr>
          <p:spPr>
            <a:xfrm rot="5400000">
              <a:off x="7046319" y="2849154"/>
              <a:ext cx="25948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Raleway" panose="020B0003030101060003" pitchFamily="34" charset="0"/>
                </a:rPr>
                <a:t>Program Management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5FB53D3-CA99-9E6B-4044-CE2761544EAB}"/>
              </a:ext>
            </a:extLst>
          </p:cNvPr>
          <p:cNvGrpSpPr/>
          <p:nvPr/>
        </p:nvGrpSpPr>
        <p:grpSpPr>
          <a:xfrm>
            <a:off x="8317461" y="578117"/>
            <a:ext cx="357367" cy="3759350"/>
            <a:chOff x="8681531" y="805015"/>
            <a:chExt cx="357367" cy="4135285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CB571B2D-DDEE-D479-91F5-DEBD9FEA2740}"/>
                </a:ext>
              </a:extLst>
            </p:cNvPr>
            <p:cNvSpPr/>
            <p:nvPr/>
          </p:nvSpPr>
          <p:spPr>
            <a:xfrm>
              <a:off x="8689387" y="805015"/>
              <a:ext cx="342636" cy="4135285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8B293EA-61C1-8952-6C62-8261955F4317}"/>
                </a:ext>
              </a:extLst>
            </p:cNvPr>
            <p:cNvSpPr txBox="1"/>
            <p:nvPr/>
          </p:nvSpPr>
          <p:spPr>
            <a:xfrm rot="5400000">
              <a:off x="8127848" y="2693975"/>
              <a:ext cx="1464734" cy="357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Raleway" panose="020B0003030101060003" pitchFamily="34" charset="0"/>
                </a:rPr>
                <a:t>Governance</a:t>
              </a:r>
            </a:p>
          </p:txBody>
        </p:sp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B76A83A-8772-2D5B-583C-4EE8946F6446}"/>
              </a:ext>
            </a:extLst>
          </p:cNvPr>
          <p:cNvCxnSpPr>
            <a:cxnSpLocks/>
          </p:cNvCxnSpPr>
          <p:nvPr/>
        </p:nvCxnSpPr>
        <p:spPr>
          <a:xfrm flipH="1" flipV="1">
            <a:off x="1622077" y="948265"/>
            <a:ext cx="553856" cy="4234"/>
          </a:xfrm>
          <a:prstGeom prst="line">
            <a:avLst/>
          </a:prstGeom>
          <a:ln w="28575">
            <a:solidFill>
              <a:srgbClr val="2BB1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BB69F05-E811-74F4-8CA4-996B7A17F7E3}"/>
              </a:ext>
            </a:extLst>
          </p:cNvPr>
          <p:cNvCxnSpPr>
            <a:cxnSpLocks/>
          </p:cNvCxnSpPr>
          <p:nvPr/>
        </p:nvCxnSpPr>
        <p:spPr>
          <a:xfrm flipV="1">
            <a:off x="1622077" y="948265"/>
            <a:ext cx="0" cy="489272"/>
          </a:xfrm>
          <a:prstGeom prst="line">
            <a:avLst/>
          </a:prstGeom>
          <a:ln w="28575">
            <a:solidFill>
              <a:srgbClr val="2BB1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B7B21D6-77F5-A8AE-4CE9-3B767FF21E57}"/>
              </a:ext>
            </a:extLst>
          </p:cNvPr>
          <p:cNvGrpSpPr/>
          <p:nvPr/>
        </p:nvGrpSpPr>
        <p:grpSpPr>
          <a:xfrm flipH="1">
            <a:off x="5589758" y="948265"/>
            <a:ext cx="553856" cy="489272"/>
            <a:chOff x="4111282" y="1100665"/>
            <a:chExt cx="553856" cy="489272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7C510C5-2D4F-E747-A248-31567DF89215}"/>
                </a:ext>
              </a:extLst>
            </p:cNvPr>
            <p:cNvCxnSpPr/>
            <p:nvPr/>
          </p:nvCxnSpPr>
          <p:spPr>
            <a:xfrm flipH="1" flipV="1">
              <a:off x="4111282" y="1100665"/>
              <a:ext cx="553856" cy="4234"/>
            </a:xfrm>
            <a:prstGeom prst="line">
              <a:avLst/>
            </a:prstGeom>
            <a:ln w="28575">
              <a:solidFill>
                <a:srgbClr val="2BB17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A219349-FAFC-EE08-5C41-1F6956A968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11282" y="1100665"/>
              <a:ext cx="0" cy="489272"/>
            </a:xfrm>
            <a:prstGeom prst="line">
              <a:avLst/>
            </a:prstGeom>
            <a:ln w="28575">
              <a:solidFill>
                <a:srgbClr val="2BB17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D4783DFC-2737-497C-8489-2B5760B41162}"/>
              </a:ext>
            </a:extLst>
          </p:cNvPr>
          <p:cNvSpPr/>
          <p:nvPr/>
        </p:nvSpPr>
        <p:spPr>
          <a:xfrm rot="16200000">
            <a:off x="1745314" y="837246"/>
            <a:ext cx="248530" cy="214250"/>
          </a:xfrm>
          <a:prstGeom prst="triangle">
            <a:avLst/>
          </a:prstGeom>
          <a:solidFill>
            <a:srgbClr val="2BB1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Isosceles Triangle 68">
            <a:extLst>
              <a:ext uri="{FF2B5EF4-FFF2-40B4-BE49-F238E27FC236}">
                <a16:creationId xmlns:a16="http://schemas.microsoft.com/office/drawing/2014/main" id="{7217F43A-EA47-71A2-AC9C-EC295A9118F1}"/>
              </a:ext>
            </a:extLst>
          </p:cNvPr>
          <p:cNvSpPr/>
          <p:nvPr/>
        </p:nvSpPr>
        <p:spPr>
          <a:xfrm rot="5400000" flipH="1">
            <a:off x="5801171" y="850744"/>
            <a:ext cx="248530" cy="214250"/>
          </a:xfrm>
          <a:prstGeom prst="triangle">
            <a:avLst/>
          </a:prstGeom>
          <a:solidFill>
            <a:srgbClr val="2BB1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D08DC2E-FBD1-3467-5F58-6C12D00908A1}"/>
              </a:ext>
            </a:extLst>
          </p:cNvPr>
          <p:cNvGrpSpPr/>
          <p:nvPr/>
        </p:nvGrpSpPr>
        <p:grpSpPr>
          <a:xfrm>
            <a:off x="6614224" y="1688737"/>
            <a:ext cx="472176" cy="727022"/>
            <a:chOff x="6614224" y="1688737"/>
            <a:chExt cx="472176" cy="727022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28BF8B1-C664-BA3C-96A7-506F83505AFE}"/>
                </a:ext>
              </a:extLst>
            </p:cNvPr>
            <p:cNvCxnSpPr>
              <a:cxnSpLocks/>
            </p:cNvCxnSpPr>
            <p:nvPr/>
          </p:nvCxnSpPr>
          <p:spPr>
            <a:xfrm>
              <a:off x="6614224" y="1807632"/>
              <a:ext cx="472176" cy="0"/>
            </a:xfrm>
            <a:prstGeom prst="line">
              <a:avLst/>
            </a:prstGeom>
            <a:ln w="28575">
              <a:solidFill>
                <a:srgbClr val="69C0D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D2661680-2F67-05CB-7944-C0EA3E311DF2}"/>
                </a:ext>
              </a:extLst>
            </p:cNvPr>
            <p:cNvGrpSpPr/>
            <p:nvPr/>
          </p:nvGrpSpPr>
          <p:grpSpPr>
            <a:xfrm>
              <a:off x="6783508" y="1688737"/>
              <a:ext cx="298088" cy="727022"/>
              <a:chOff x="6783508" y="1688737"/>
              <a:chExt cx="298088" cy="727022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2A4B9B7E-DF6E-A8D2-1A74-1A246DD2B6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81596" y="1803398"/>
                <a:ext cx="0" cy="612361"/>
              </a:xfrm>
              <a:prstGeom prst="line">
                <a:avLst/>
              </a:prstGeom>
              <a:ln w="28575">
                <a:solidFill>
                  <a:srgbClr val="69C0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A33BD2A5-0AAD-5CF3-A23B-F130EF8FDF03}"/>
                  </a:ext>
                </a:extLst>
              </p:cNvPr>
              <p:cNvSpPr/>
              <p:nvPr/>
            </p:nvSpPr>
            <p:spPr>
              <a:xfrm rot="5400000" flipH="1">
                <a:off x="6766368" y="1705877"/>
                <a:ext cx="248530" cy="214250"/>
              </a:xfrm>
              <a:prstGeom prst="triangle">
                <a:avLst/>
              </a:prstGeom>
              <a:solidFill>
                <a:srgbClr val="69C0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E7AC009-4446-453C-52F2-8F639B56C439}"/>
              </a:ext>
            </a:extLst>
          </p:cNvPr>
          <p:cNvGrpSpPr/>
          <p:nvPr/>
        </p:nvGrpSpPr>
        <p:grpSpPr>
          <a:xfrm flipH="1">
            <a:off x="586230" y="1688737"/>
            <a:ext cx="472176" cy="727022"/>
            <a:chOff x="6614224" y="1688737"/>
            <a:chExt cx="472176" cy="727022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5ACDC77-0CA1-2A39-AC48-C8B6AD01258A}"/>
                </a:ext>
              </a:extLst>
            </p:cNvPr>
            <p:cNvCxnSpPr>
              <a:cxnSpLocks/>
            </p:cNvCxnSpPr>
            <p:nvPr/>
          </p:nvCxnSpPr>
          <p:spPr>
            <a:xfrm>
              <a:off x="6614224" y="1807632"/>
              <a:ext cx="472176" cy="0"/>
            </a:xfrm>
            <a:prstGeom prst="line">
              <a:avLst/>
            </a:prstGeom>
            <a:ln w="28575">
              <a:solidFill>
                <a:srgbClr val="69C0D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F0CA34B3-9962-F7FE-4762-0640E78E3FD6}"/>
                </a:ext>
              </a:extLst>
            </p:cNvPr>
            <p:cNvGrpSpPr/>
            <p:nvPr/>
          </p:nvGrpSpPr>
          <p:grpSpPr>
            <a:xfrm>
              <a:off x="6783508" y="1688737"/>
              <a:ext cx="298088" cy="727022"/>
              <a:chOff x="6783508" y="1688737"/>
              <a:chExt cx="298088" cy="727022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09339487-5D32-4BEC-831A-81C9C6FF9F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81596" y="1803398"/>
                <a:ext cx="0" cy="612361"/>
              </a:xfrm>
              <a:prstGeom prst="line">
                <a:avLst/>
              </a:prstGeom>
              <a:ln w="28575">
                <a:solidFill>
                  <a:srgbClr val="69C0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Isosceles Triangle 81">
                <a:extLst>
                  <a:ext uri="{FF2B5EF4-FFF2-40B4-BE49-F238E27FC236}">
                    <a16:creationId xmlns:a16="http://schemas.microsoft.com/office/drawing/2014/main" id="{19DF1F0E-18DB-F67A-7FEF-075338ACA11C}"/>
                  </a:ext>
                </a:extLst>
              </p:cNvPr>
              <p:cNvSpPr/>
              <p:nvPr/>
            </p:nvSpPr>
            <p:spPr>
              <a:xfrm rot="5400000" flipH="1">
                <a:off x="6766368" y="1705877"/>
                <a:ext cx="248530" cy="214250"/>
              </a:xfrm>
              <a:prstGeom prst="triangle">
                <a:avLst/>
              </a:prstGeom>
              <a:solidFill>
                <a:srgbClr val="69C0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F0B91FF-12C9-ECB1-C03F-F93E846B7F1E}"/>
              </a:ext>
            </a:extLst>
          </p:cNvPr>
          <p:cNvCxnSpPr>
            <a:cxnSpLocks/>
          </p:cNvCxnSpPr>
          <p:nvPr/>
        </p:nvCxnSpPr>
        <p:spPr>
          <a:xfrm>
            <a:off x="1176868" y="2892844"/>
            <a:ext cx="3810" cy="148474"/>
          </a:xfrm>
          <a:prstGeom prst="line">
            <a:avLst/>
          </a:prstGeom>
          <a:ln w="19050">
            <a:solidFill>
              <a:srgbClr val="A9D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9D1F0C6-7865-4ADC-764C-1F424C85B405}"/>
              </a:ext>
            </a:extLst>
          </p:cNvPr>
          <p:cNvCxnSpPr>
            <a:cxnSpLocks/>
          </p:cNvCxnSpPr>
          <p:nvPr/>
        </p:nvCxnSpPr>
        <p:spPr>
          <a:xfrm>
            <a:off x="3008478" y="2901314"/>
            <a:ext cx="3810" cy="148474"/>
          </a:xfrm>
          <a:prstGeom prst="line">
            <a:avLst/>
          </a:prstGeom>
          <a:ln w="19050">
            <a:solidFill>
              <a:srgbClr val="F4B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B904D1C-AFAD-EBDE-00DD-2EE0A712CA75}"/>
              </a:ext>
            </a:extLst>
          </p:cNvPr>
          <p:cNvCxnSpPr>
            <a:cxnSpLocks/>
          </p:cNvCxnSpPr>
          <p:nvPr/>
        </p:nvCxnSpPr>
        <p:spPr>
          <a:xfrm>
            <a:off x="4818242" y="2901307"/>
            <a:ext cx="3810" cy="148474"/>
          </a:xfrm>
          <a:prstGeom prst="line">
            <a:avLst/>
          </a:prstGeom>
          <a:ln w="19050">
            <a:solidFill>
              <a:srgbClr val="8FAA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D29B251-50CE-B478-E223-2F6D40AD13A8}"/>
              </a:ext>
            </a:extLst>
          </p:cNvPr>
          <p:cNvCxnSpPr>
            <a:cxnSpLocks/>
          </p:cNvCxnSpPr>
          <p:nvPr/>
        </p:nvCxnSpPr>
        <p:spPr>
          <a:xfrm>
            <a:off x="6623234" y="2901303"/>
            <a:ext cx="3810" cy="148474"/>
          </a:xfrm>
          <a:prstGeom prst="line">
            <a:avLst/>
          </a:prstGeom>
          <a:ln w="19050">
            <a:solidFill>
              <a:srgbClr val="50FF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Graphic 94" descr="Document with solid fill">
            <a:extLst>
              <a:ext uri="{FF2B5EF4-FFF2-40B4-BE49-F238E27FC236}">
                <a16:creationId xmlns:a16="http://schemas.microsoft.com/office/drawing/2014/main" id="{EA951B8C-1287-70DF-0391-15CD3844C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587" y="4081693"/>
            <a:ext cx="382867" cy="382867"/>
          </a:xfrm>
          <a:prstGeom prst="rect">
            <a:avLst/>
          </a:prstGeom>
        </p:spPr>
      </p:pic>
      <p:pic>
        <p:nvPicPr>
          <p:cNvPr id="96" name="Graphic 95" descr="Document with solid fill">
            <a:extLst>
              <a:ext uri="{FF2B5EF4-FFF2-40B4-BE49-F238E27FC236}">
                <a16:creationId xmlns:a16="http://schemas.microsoft.com/office/drawing/2014/main" id="{71E60C4F-55BF-C5C6-E228-164C6FF0E7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8989" y="4081693"/>
            <a:ext cx="382867" cy="382867"/>
          </a:xfrm>
          <a:prstGeom prst="rect">
            <a:avLst/>
          </a:prstGeom>
        </p:spPr>
      </p:pic>
      <p:pic>
        <p:nvPicPr>
          <p:cNvPr id="97" name="Graphic 96" descr="Document with solid fill">
            <a:extLst>
              <a:ext uri="{FF2B5EF4-FFF2-40B4-BE49-F238E27FC236}">
                <a16:creationId xmlns:a16="http://schemas.microsoft.com/office/drawing/2014/main" id="{81F4F006-BDE2-1E4A-2807-B7C559C064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1576" y="4081693"/>
            <a:ext cx="382867" cy="382867"/>
          </a:xfrm>
          <a:prstGeom prst="rect">
            <a:avLst/>
          </a:prstGeom>
        </p:spPr>
      </p:pic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98D5857-8D84-EB70-D34D-718EA6E51FAD}"/>
              </a:ext>
            </a:extLst>
          </p:cNvPr>
          <p:cNvGrpSpPr/>
          <p:nvPr/>
        </p:nvGrpSpPr>
        <p:grpSpPr>
          <a:xfrm>
            <a:off x="2263760" y="4219705"/>
            <a:ext cx="427815" cy="152400"/>
            <a:chOff x="2263760" y="4219705"/>
            <a:chExt cx="427815" cy="152400"/>
          </a:xfrm>
        </p:grpSpPr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B1EFB7D-656B-EB8B-206C-008D78138428}"/>
                </a:ext>
              </a:extLst>
            </p:cNvPr>
            <p:cNvCxnSpPr/>
            <p:nvPr/>
          </p:nvCxnSpPr>
          <p:spPr>
            <a:xfrm>
              <a:off x="2270689" y="4295905"/>
              <a:ext cx="420886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F6892CD5-05CC-2961-9E9A-CE49F92EFE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3760" y="4219705"/>
              <a:ext cx="0" cy="1524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C1E2BDE-0910-8311-2CCB-8C7D23B5F9D5}"/>
              </a:ext>
            </a:extLst>
          </p:cNvPr>
          <p:cNvGrpSpPr/>
          <p:nvPr/>
        </p:nvGrpSpPr>
        <p:grpSpPr>
          <a:xfrm flipH="1">
            <a:off x="5027749" y="4219705"/>
            <a:ext cx="427815" cy="152400"/>
            <a:chOff x="2263760" y="4219705"/>
            <a:chExt cx="427815" cy="152400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40F4F593-32B1-1E0A-5C87-45F1696A9B92}"/>
                </a:ext>
              </a:extLst>
            </p:cNvPr>
            <p:cNvCxnSpPr/>
            <p:nvPr/>
          </p:nvCxnSpPr>
          <p:spPr>
            <a:xfrm>
              <a:off x="2270689" y="4295905"/>
              <a:ext cx="420886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10BE84F9-B34F-845B-F211-1E61BD06B1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3760" y="4219705"/>
              <a:ext cx="0" cy="1524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6619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7943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Process for Automated Service Mesh Assurance Framework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7E2A7B2-4FDB-C1B7-457C-5C972B7193A7}"/>
              </a:ext>
            </a:extLst>
          </p:cNvPr>
          <p:cNvGrpSpPr/>
          <p:nvPr/>
        </p:nvGrpSpPr>
        <p:grpSpPr>
          <a:xfrm>
            <a:off x="267369" y="552608"/>
            <a:ext cx="2682811" cy="4387692"/>
            <a:chOff x="504436" y="552608"/>
            <a:chExt cx="2682811" cy="4387692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31C5950-5393-4F6C-7477-1B835EF261CA}"/>
                </a:ext>
              </a:extLst>
            </p:cNvPr>
            <p:cNvSpPr/>
            <p:nvPr/>
          </p:nvSpPr>
          <p:spPr>
            <a:xfrm>
              <a:off x="668600" y="552608"/>
              <a:ext cx="2071304" cy="4387692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1AEF670-D14C-4B81-1354-3C8549EED0B5}"/>
                </a:ext>
              </a:extLst>
            </p:cNvPr>
            <p:cNvSpPr/>
            <p:nvPr/>
          </p:nvSpPr>
          <p:spPr>
            <a:xfrm>
              <a:off x="504436" y="1088124"/>
              <a:ext cx="2399631" cy="37260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77800" sx="98000" sy="98000" algn="ctr" rotWithShape="0">
                <a:prstClr val="black">
                  <a:alpha val="5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B15C0CA-2DE6-A610-1523-300EE575B45D}"/>
                </a:ext>
              </a:extLst>
            </p:cNvPr>
            <p:cNvSpPr txBox="1"/>
            <p:nvPr/>
          </p:nvSpPr>
          <p:spPr>
            <a:xfrm>
              <a:off x="782697" y="678933"/>
              <a:ext cx="1819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aleway" panose="020B0003030101060003" pitchFamily="34" charset="0"/>
                </a:rPr>
                <a:t>Assessment &amp; Plan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48A0F34-C4B1-7234-8E85-0F59E97C6ECD}"/>
                </a:ext>
              </a:extLst>
            </p:cNvPr>
            <p:cNvSpPr txBox="1"/>
            <p:nvPr/>
          </p:nvSpPr>
          <p:spPr>
            <a:xfrm>
              <a:off x="523827" y="1039712"/>
              <a:ext cx="2663420" cy="3785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000" dirty="0">
                <a:latin typeface="Raleway" panose="020B0003030101060003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>
                  <a:latin typeface="Raleway" panose="020B0003030101060003" pitchFamily="34" charset="0"/>
                </a:rPr>
                <a:t>Mesh Candidate Selection</a:t>
              </a:r>
            </a:p>
            <a:p>
              <a:endParaRPr lang="en-US" sz="1000" dirty="0">
                <a:latin typeface="Raleway" panose="020B0003030101060003" pitchFamily="34" charset="0"/>
              </a:endParaRPr>
            </a:p>
            <a:p>
              <a:r>
                <a:rPr lang="en-US" sz="1000" dirty="0">
                  <a:latin typeface="Raleway" panose="020B0003030101060003" pitchFamily="34" charset="0"/>
                </a:rPr>
                <a:t>     Establish selection criterion and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 validate key use-cases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00" dirty="0">
                <a:latin typeface="Raleway" panose="020B0003030101060003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>
                  <a:latin typeface="Raleway" panose="020B0003030101060003" pitchFamily="34" charset="0"/>
                </a:rPr>
                <a:t>Key Use-Cases Validation</a:t>
              </a:r>
              <a:r>
                <a:rPr lang="en-US" sz="1000" dirty="0">
                  <a:latin typeface="Raleway" panose="020B0003030101060003" pitchFamily="34" charset="0"/>
                </a:rPr>
                <a:t> </a:t>
              </a:r>
            </a:p>
            <a:p>
              <a:endParaRPr lang="en-US" sz="1000" dirty="0">
                <a:latin typeface="Raleway" panose="020B0003030101060003" pitchFamily="34" charset="0"/>
              </a:endParaRPr>
            </a:p>
            <a:p>
              <a:r>
                <a:rPr lang="en-US" sz="1000" dirty="0">
                  <a:latin typeface="Raleway" panose="020B0003030101060003" pitchFamily="34" charset="0"/>
                </a:rPr>
                <a:t>    Use sample application, well 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known services mesh pattern and 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filter to validate use cases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00" dirty="0">
                <a:latin typeface="Raleway" panose="020B0003030101060003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>
                  <a:latin typeface="Raleway" panose="020B0003030101060003" pitchFamily="34" charset="0"/>
                </a:rPr>
                <a:t>Service Design</a:t>
              </a:r>
            </a:p>
            <a:p>
              <a:endParaRPr lang="en-US" sz="1000" dirty="0">
                <a:latin typeface="Raleway" panose="020B0003030101060003" pitchFamily="34" charset="0"/>
              </a:endParaRPr>
            </a:p>
            <a:p>
              <a:r>
                <a:rPr lang="en-US" sz="1000" dirty="0">
                  <a:latin typeface="Raleway" panose="020B0003030101060003" pitchFamily="34" charset="0"/>
                </a:rPr>
                <a:t>     Collaboratively Design Services 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 Network and dry run your 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 deployment in custom editor.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00" dirty="0">
                <a:latin typeface="Raleway" panose="020B0003030101060003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>
                  <a:latin typeface="Raleway" panose="020B0003030101060003" pitchFamily="34" charset="0"/>
                </a:rPr>
                <a:t>Tooling and Operation Planning</a:t>
              </a:r>
            </a:p>
            <a:p>
              <a:endParaRPr lang="en-US" sz="1000" dirty="0">
                <a:latin typeface="Raleway" panose="020B0003030101060003" pitchFamily="34" charset="0"/>
              </a:endParaRPr>
            </a:p>
            <a:p>
              <a:r>
                <a:rPr lang="en-US" sz="1000" dirty="0">
                  <a:latin typeface="Raleway" panose="020B0003030101060003" pitchFamily="34" charset="0"/>
                </a:rPr>
                <a:t>     Use different toolset and their 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 integration with management 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 plane to support operation 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 readiness.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F670B62-DBBD-2154-39F6-820168D725F4}"/>
              </a:ext>
            </a:extLst>
          </p:cNvPr>
          <p:cNvGrpSpPr/>
          <p:nvPr/>
        </p:nvGrpSpPr>
        <p:grpSpPr>
          <a:xfrm>
            <a:off x="3268420" y="552608"/>
            <a:ext cx="2682811" cy="4387692"/>
            <a:chOff x="504436" y="552608"/>
            <a:chExt cx="2682811" cy="4387692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CA9DBD7A-4918-178D-8F47-8DB4B1248356}"/>
                </a:ext>
              </a:extLst>
            </p:cNvPr>
            <p:cNvSpPr/>
            <p:nvPr/>
          </p:nvSpPr>
          <p:spPr>
            <a:xfrm>
              <a:off x="668600" y="552608"/>
              <a:ext cx="2071304" cy="4387692"/>
            </a:xfrm>
            <a:prstGeom prst="roundRect">
              <a:avLst/>
            </a:prstGeom>
            <a:solidFill>
              <a:srgbClr val="026E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E6C2D55-341B-BE3C-02FF-5148A460240B}"/>
                </a:ext>
              </a:extLst>
            </p:cNvPr>
            <p:cNvSpPr/>
            <p:nvPr/>
          </p:nvSpPr>
          <p:spPr>
            <a:xfrm>
              <a:off x="504436" y="1088124"/>
              <a:ext cx="2399631" cy="37260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77800" sx="98000" sy="98000" algn="ctr" rotWithShape="0">
                <a:prstClr val="black">
                  <a:alpha val="5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05D3541-6FFA-4CAE-6A96-2B0D9728185C}"/>
                </a:ext>
              </a:extLst>
            </p:cNvPr>
            <p:cNvSpPr txBox="1"/>
            <p:nvPr/>
          </p:nvSpPr>
          <p:spPr>
            <a:xfrm>
              <a:off x="782697" y="678933"/>
              <a:ext cx="1819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aleway" panose="020B0003030101060003" pitchFamily="34" charset="0"/>
                </a:rPr>
                <a:t>Execute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79026D1-0A35-B50C-A466-AE2210A06997}"/>
                </a:ext>
              </a:extLst>
            </p:cNvPr>
            <p:cNvSpPr txBox="1"/>
            <p:nvPr/>
          </p:nvSpPr>
          <p:spPr>
            <a:xfrm>
              <a:off x="523827" y="1039712"/>
              <a:ext cx="2663420" cy="3477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000" dirty="0">
                <a:latin typeface="Raleway" panose="020B0003030101060003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>
                  <a:latin typeface="Raleway" panose="020B0003030101060003" pitchFamily="34" charset="0"/>
                </a:rPr>
                <a:t>Service Mesh Provisioning</a:t>
              </a:r>
            </a:p>
            <a:p>
              <a:endParaRPr lang="en-US" sz="1000" dirty="0">
                <a:latin typeface="Raleway" panose="020B0003030101060003" pitchFamily="34" charset="0"/>
              </a:endParaRPr>
            </a:p>
            <a:p>
              <a:r>
                <a:rPr lang="en-US" sz="1000" dirty="0">
                  <a:latin typeface="Raleway" panose="020B0003030101060003" pitchFamily="34" charset="0"/>
                </a:rPr>
                <a:t>     Automated Mesh provisioning of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 different mesh (Istio ,</a:t>
              </a:r>
              <a:r>
                <a:rPr lang="en-US" sz="1000" dirty="0" err="1">
                  <a:latin typeface="Raleway" panose="020B0003030101060003" pitchFamily="34" charset="0"/>
                </a:rPr>
                <a:t>linkerd</a:t>
              </a:r>
              <a:r>
                <a:rPr lang="en-US" sz="1000" dirty="0">
                  <a:latin typeface="Raleway" panose="020B0003030101060003" pitchFamily="34" charset="0"/>
                </a:rPr>
                <a:t>, 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 AWS App Mesh, Consul, </a:t>
              </a:r>
              <a:r>
                <a:rPr lang="en-US" sz="1000" dirty="0" err="1">
                  <a:latin typeface="Raleway" panose="020B0003030101060003" pitchFamily="34" charset="0"/>
                </a:rPr>
                <a:t>Traefik</a:t>
              </a:r>
              <a:r>
                <a:rPr lang="en-US" sz="1000" dirty="0">
                  <a:latin typeface="Raleway" panose="020B0003030101060003" pitchFamily="34" charset="0"/>
                </a:rPr>
                <a:t>…) 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 with built-in industry pattern and         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 known best practices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00" dirty="0">
                <a:latin typeface="Raleway" panose="020B0003030101060003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>
                  <a:latin typeface="Raleway" panose="020B0003030101060003" pitchFamily="34" charset="0"/>
                </a:rPr>
                <a:t>Apply Custom Configuration</a:t>
              </a:r>
            </a:p>
            <a:p>
              <a:endParaRPr lang="en-US" sz="1000" dirty="0">
                <a:latin typeface="Raleway" panose="020B0003030101060003" pitchFamily="34" charset="0"/>
              </a:endParaRPr>
            </a:p>
            <a:p>
              <a:r>
                <a:rPr lang="en-US" sz="1000" dirty="0">
                  <a:latin typeface="Raleway" panose="020B0003030101060003" pitchFamily="34" charset="0"/>
                </a:rPr>
                <a:t>     Apply custom config based on 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 built-in config pattern and web     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 assembly filter.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00" dirty="0">
                <a:latin typeface="Raleway" panose="020B0003030101060003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>
                  <a:latin typeface="Raleway" panose="020B0003030101060003" pitchFamily="34" charset="0"/>
                </a:rPr>
                <a:t>Setup Operation Tooling</a:t>
              </a:r>
            </a:p>
            <a:p>
              <a:endParaRPr lang="en-US" sz="1000" dirty="0">
                <a:latin typeface="Raleway" panose="020B0003030101060003" pitchFamily="34" charset="0"/>
              </a:endParaRPr>
            </a:p>
            <a:p>
              <a:r>
                <a:rPr lang="en-US" sz="1000" dirty="0">
                  <a:latin typeface="Raleway" panose="020B0003030101060003" pitchFamily="34" charset="0"/>
                </a:rPr>
                <a:t>     Automated setup of Prometheus 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and Grafana stack with our own 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custom Grafana plugin and tooling 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for topology and performance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benchmarking.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5B02178-A280-2F41-E4F9-8AC952FCE069}"/>
              </a:ext>
            </a:extLst>
          </p:cNvPr>
          <p:cNvGrpSpPr/>
          <p:nvPr/>
        </p:nvGrpSpPr>
        <p:grpSpPr>
          <a:xfrm>
            <a:off x="6269471" y="552608"/>
            <a:ext cx="2682811" cy="4387692"/>
            <a:chOff x="504436" y="552608"/>
            <a:chExt cx="2682811" cy="4387692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65BD901D-FEE1-9FF9-C903-C912E79A2CFD}"/>
                </a:ext>
              </a:extLst>
            </p:cNvPr>
            <p:cNvSpPr/>
            <p:nvPr/>
          </p:nvSpPr>
          <p:spPr>
            <a:xfrm>
              <a:off x="668600" y="552608"/>
              <a:ext cx="2071304" cy="4387692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0E5522C-4AA6-A079-2E9C-95946B828E16}"/>
                </a:ext>
              </a:extLst>
            </p:cNvPr>
            <p:cNvSpPr/>
            <p:nvPr/>
          </p:nvSpPr>
          <p:spPr>
            <a:xfrm>
              <a:off x="504436" y="1088124"/>
              <a:ext cx="2399631" cy="37260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77800" sx="98000" sy="98000" algn="ctr" rotWithShape="0">
                <a:prstClr val="black">
                  <a:alpha val="5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70C0310-27D3-6F05-3DBE-61FE1146426D}"/>
                </a:ext>
              </a:extLst>
            </p:cNvPr>
            <p:cNvSpPr txBox="1"/>
            <p:nvPr/>
          </p:nvSpPr>
          <p:spPr>
            <a:xfrm>
              <a:off x="782697" y="678933"/>
              <a:ext cx="1819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aleway" panose="020B0003030101060003" pitchFamily="34" charset="0"/>
                </a:rPr>
                <a:t>Test &amp;Verification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20BF2BE-56CD-A75C-8763-16D3562DBA1C}"/>
                </a:ext>
              </a:extLst>
            </p:cNvPr>
            <p:cNvSpPr txBox="1"/>
            <p:nvPr/>
          </p:nvSpPr>
          <p:spPr>
            <a:xfrm>
              <a:off x="523827" y="1200580"/>
              <a:ext cx="2663420" cy="3323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>
                  <a:latin typeface="Raleway" panose="020B0003030101060003" pitchFamily="34" charset="0"/>
                </a:rPr>
                <a:t>Validate Configuration</a:t>
              </a:r>
              <a:r>
                <a:rPr lang="en-US" sz="1000" dirty="0">
                  <a:latin typeface="Raleway" panose="020B0003030101060003" pitchFamily="34" charset="0"/>
                </a:rPr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00" dirty="0">
                <a:latin typeface="Raleway" panose="020B0003030101060003" pitchFamily="34" charset="0"/>
              </a:endParaRPr>
            </a:p>
            <a:p>
              <a:r>
                <a:rPr lang="en-US" sz="1000" dirty="0">
                  <a:latin typeface="Raleway" panose="020B0003030101060003" pitchFamily="34" charset="0"/>
                </a:rPr>
                <a:t>     Validate Mesh configuration 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 against industry best practices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00" dirty="0">
                <a:latin typeface="Raleway" panose="020B0003030101060003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>
                  <a:latin typeface="Raleway" panose="020B0003030101060003" pitchFamily="34" charset="0"/>
                </a:rPr>
                <a:t>Standard Compliance</a:t>
              </a:r>
              <a:r>
                <a:rPr lang="en-US" sz="1000" dirty="0">
                  <a:latin typeface="Raleway" panose="020B0003030101060003" pitchFamily="34" charset="0"/>
                </a:rPr>
                <a:t> </a:t>
              </a:r>
            </a:p>
            <a:p>
              <a:endParaRPr lang="en-US" sz="1000" dirty="0">
                <a:latin typeface="Raleway" panose="020B0003030101060003" pitchFamily="34" charset="0"/>
              </a:endParaRPr>
            </a:p>
            <a:p>
              <a:r>
                <a:rPr lang="en-US" sz="1000" dirty="0">
                  <a:latin typeface="Raleway" panose="020B0003030101060003" pitchFamily="34" charset="0"/>
                </a:rPr>
                <a:t>     Run SMI conformance and  Service 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 Mesh Interoperability Tests </a:t>
              </a:r>
            </a:p>
            <a:p>
              <a:endParaRPr lang="en-US" sz="1000" dirty="0">
                <a:latin typeface="Raleway" panose="020B0003030101060003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>
                  <a:latin typeface="Raleway" panose="020B0003030101060003" pitchFamily="34" charset="0"/>
                </a:rPr>
                <a:t>Performance Verification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00" dirty="0">
                <a:latin typeface="Raleway" panose="020B0003030101060003" pitchFamily="34" charset="0"/>
              </a:endParaRPr>
            </a:p>
            <a:p>
              <a:r>
                <a:rPr lang="en-US" sz="1000" dirty="0">
                  <a:latin typeface="Raleway" panose="020B0003030101060003" pitchFamily="34" charset="0"/>
                </a:rPr>
                <a:t>      Run prebuilt performance tests for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  Service Mesh and its Workloads</a:t>
              </a:r>
            </a:p>
            <a:p>
              <a:endParaRPr lang="en-US" sz="1000" dirty="0">
                <a:latin typeface="Raleway" panose="020B0003030101060003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>
                  <a:latin typeface="Raleway" panose="020B0003030101060003" pitchFamily="34" charset="0"/>
                </a:rPr>
                <a:t>Operation Tooling Verification</a:t>
              </a:r>
            </a:p>
            <a:p>
              <a:endParaRPr lang="en-US" sz="1000" dirty="0">
                <a:latin typeface="Raleway" panose="020B0003030101060003" pitchFamily="34" charset="0"/>
              </a:endParaRPr>
            </a:p>
            <a:p>
              <a:r>
                <a:rPr lang="en-US" sz="1000" dirty="0">
                  <a:latin typeface="Raleway" panose="020B0003030101060003" pitchFamily="34" charset="0"/>
                </a:rPr>
                <a:t>     Verify the management stack and 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 tooling (Mesh Manager, topology,    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 benchmarking, tracing) </a:t>
              </a:r>
            </a:p>
            <a:p>
              <a:r>
                <a:rPr lang="en-US" sz="1000" dirty="0">
                  <a:latin typeface="Raleway" panose="020B0003030101060003" pitchFamily="34" charset="0"/>
                </a:rPr>
                <a:t>     integrations.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004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AED5262-EE24-7B64-C83F-D77E10CE113A}"/>
              </a:ext>
            </a:extLst>
          </p:cNvPr>
          <p:cNvSpPr/>
          <p:nvPr/>
        </p:nvSpPr>
        <p:spPr>
          <a:xfrm>
            <a:off x="719214" y="3058887"/>
            <a:ext cx="3134327" cy="188559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139700" dist="152400" dir="30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CE9A2C1-D9EF-8C31-9ACB-14BDD867FFFA}"/>
              </a:ext>
            </a:extLst>
          </p:cNvPr>
          <p:cNvSpPr/>
          <p:nvPr/>
        </p:nvSpPr>
        <p:spPr>
          <a:xfrm>
            <a:off x="4930657" y="3058887"/>
            <a:ext cx="3134327" cy="188559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139700" dist="152400" dir="30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46472BA-EFAC-5EDD-8F50-B6EE2A152DAD}"/>
              </a:ext>
            </a:extLst>
          </p:cNvPr>
          <p:cNvSpPr/>
          <p:nvPr/>
        </p:nvSpPr>
        <p:spPr>
          <a:xfrm>
            <a:off x="4930657" y="676243"/>
            <a:ext cx="3134327" cy="188559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139700" dist="152400" dir="30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79EC373-682B-EFD1-87C6-6E4F34DC1E09}"/>
              </a:ext>
            </a:extLst>
          </p:cNvPr>
          <p:cNvSpPr/>
          <p:nvPr/>
        </p:nvSpPr>
        <p:spPr>
          <a:xfrm>
            <a:off x="719214" y="676243"/>
            <a:ext cx="3134327" cy="188559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139700" dist="152400" dir="30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Our focus area –Service Mesh Adoption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27582A0-C1A0-B10C-8FDC-47999A06BD22}"/>
              </a:ext>
            </a:extLst>
          </p:cNvPr>
          <p:cNvSpPr/>
          <p:nvPr/>
        </p:nvSpPr>
        <p:spPr>
          <a:xfrm>
            <a:off x="3394539" y="1880400"/>
            <a:ext cx="934824" cy="2074153"/>
          </a:xfrm>
          <a:custGeom>
            <a:avLst/>
            <a:gdLst>
              <a:gd name="connsiteX0" fmla="*/ 659511 w 659531"/>
              <a:gd name="connsiteY0" fmla="*/ 1330311 h 1330312"/>
              <a:gd name="connsiteX1" fmla="*/ 659521 w 659531"/>
              <a:gd name="connsiteY1" fmla="*/ 1330311 h 1330312"/>
              <a:gd name="connsiteX2" fmla="*/ 659531 w 659531"/>
              <a:gd name="connsiteY2" fmla="*/ 1330311 h 1330312"/>
              <a:gd name="connsiteX3" fmla="*/ 659521 w 659531"/>
              <a:gd name="connsiteY3" fmla="*/ 1330312 h 1330312"/>
              <a:gd name="connsiteX4" fmla="*/ 659521 w 659531"/>
              <a:gd name="connsiteY4" fmla="*/ 0 h 1330312"/>
              <a:gd name="connsiteX5" fmla="*/ 659521 w 659531"/>
              <a:gd name="connsiteY5" fmla="*/ 609256 h 1330312"/>
              <a:gd name="connsiteX6" fmla="*/ 0 w 659531"/>
              <a:gd name="connsiteY6" fmla="*/ 609256 h 1330312"/>
              <a:gd name="connsiteX7" fmla="*/ 7879 w 659531"/>
              <a:gd name="connsiteY7" fmla="*/ 531104 h 1330312"/>
              <a:gd name="connsiteX8" fmla="*/ 659521 w 659531"/>
              <a:gd name="connsiteY8" fmla="*/ 0 h 1330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9531" h="1330312">
                <a:moveTo>
                  <a:pt x="659511" y="1330311"/>
                </a:moveTo>
                <a:lnTo>
                  <a:pt x="659521" y="1330311"/>
                </a:lnTo>
                <a:lnTo>
                  <a:pt x="659531" y="1330311"/>
                </a:lnTo>
                <a:lnTo>
                  <a:pt x="659521" y="1330312"/>
                </a:lnTo>
                <a:close/>
                <a:moveTo>
                  <a:pt x="659521" y="0"/>
                </a:moveTo>
                <a:lnTo>
                  <a:pt x="659521" y="609256"/>
                </a:lnTo>
                <a:lnTo>
                  <a:pt x="0" y="609256"/>
                </a:lnTo>
                <a:lnTo>
                  <a:pt x="7879" y="531104"/>
                </a:lnTo>
                <a:cubicBezTo>
                  <a:pt x="69902" y="228003"/>
                  <a:pt x="338085" y="0"/>
                  <a:pt x="659521" y="0"/>
                </a:cubicBezTo>
                <a:close/>
              </a:path>
            </a:pathLst>
          </a:custGeom>
          <a:solidFill>
            <a:srgbClr val="16CA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4D0E9D4-3E60-BD63-7D64-22CCE6677716}"/>
              </a:ext>
            </a:extLst>
          </p:cNvPr>
          <p:cNvSpPr/>
          <p:nvPr/>
        </p:nvSpPr>
        <p:spPr>
          <a:xfrm flipH="1">
            <a:off x="4470119" y="1880400"/>
            <a:ext cx="934824" cy="2074153"/>
          </a:xfrm>
          <a:custGeom>
            <a:avLst/>
            <a:gdLst>
              <a:gd name="connsiteX0" fmla="*/ 659511 w 659531"/>
              <a:gd name="connsiteY0" fmla="*/ 1330311 h 1330312"/>
              <a:gd name="connsiteX1" fmla="*/ 659521 w 659531"/>
              <a:gd name="connsiteY1" fmla="*/ 1330311 h 1330312"/>
              <a:gd name="connsiteX2" fmla="*/ 659531 w 659531"/>
              <a:gd name="connsiteY2" fmla="*/ 1330311 h 1330312"/>
              <a:gd name="connsiteX3" fmla="*/ 659521 w 659531"/>
              <a:gd name="connsiteY3" fmla="*/ 1330312 h 1330312"/>
              <a:gd name="connsiteX4" fmla="*/ 659521 w 659531"/>
              <a:gd name="connsiteY4" fmla="*/ 0 h 1330312"/>
              <a:gd name="connsiteX5" fmla="*/ 659521 w 659531"/>
              <a:gd name="connsiteY5" fmla="*/ 609256 h 1330312"/>
              <a:gd name="connsiteX6" fmla="*/ 0 w 659531"/>
              <a:gd name="connsiteY6" fmla="*/ 609256 h 1330312"/>
              <a:gd name="connsiteX7" fmla="*/ 7879 w 659531"/>
              <a:gd name="connsiteY7" fmla="*/ 531104 h 1330312"/>
              <a:gd name="connsiteX8" fmla="*/ 659521 w 659531"/>
              <a:gd name="connsiteY8" fmla="*/ 0 h 1330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9531" h="1330312">
                <a:moveTo>
                  <a:pt x="659511" y="1330311"/>
                </a:moveTo>
                <a:lnTo>
                  <a:pt x="659521" y="1330311"/>
                </a:lnTo>
                <a:lnTo>
                  <a:pt x="659531" y="1330311"/>
                </a:lnTo>
                <a:lnTo>
                  <a:pt x="659521" y="1330312"/>
                </a:lnTo>
                <a:close/>
                <a:moveTo>
                  <a:pt x="659521" y="0"/>
                </a:moveTo>
                <a:lnTo>
                  <a:pt x="659521" y="609256"/>
                </a:lnTo>
                <a:lnTo>
                  <a:pt x="0" y="609256"/>
                </a:lnTo>
                <a:lnTo>
                  <a:pt x="7879" y="531104"/>
                </a:lnTo>
                <a:cubicBezTo>
                  <a:pt x="69902" y="228003"/>
                  <a:pt x="338085" y="0"/>
                  <a:pt x="659521" y="0"/>
                </a:cubicBezTo>
                <a:close/>
              </a:path>
            </a:pathLst>
          </a:cu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18F612E-8508-9B59-CB31-365778930971}"/>
              </a:ext>
            </a:extLst>
          </p:cNvPr>
          <p:cNvSpPr/>
          <p:nvPr/>
        </p:nvSpPr>
        <p:spPr>
          <a:xfrm flipV="1">
            <a:off x="3394539" y="1847740"/>
            <a:ext cx="934824" cy="2074153"/>
          </a:xfrm>
          <a:custGeom>
            <a:avLst/>
            <a:gdLst>
              <a:gd name="connsiteX0" fmla="*/ 659511 w 659531"/>
              <a:gd name="connsiteY0" fmla="*/ 1330311 h 1330312"/>
              <a:gd name="connsiteX1" fmla="*/ 659521 w 659531"/>
              <a:gd name="connsiteY1" fmla="*/ 1330311 h 1330312"/>
              <a:gd name="connsiteX2" fmla="*/ 659531 w 659531"/>
              <a:gd name="connsiteY2" fmla="*/ 1330311 h 1330312"/>
              <a:gd name="connsiteX3" fmla="*/ 659521 w 659531"/>
              <a:gd name="connsiteY3" fmla="*/ 1330312 h 1330312"/>
              <a:gd name="connsiteX4" fmla="*/ 659521 w 659531"/>
              <a:gd name="connsiteY4" fmla="*/ 0 h 1330312"/>
              <a:gd name="connsiteX5" fmla="*/ 659521 w 659531"/>
              <a:gd name="connsiteY5" fmla="*/ 609256 h 1330312"/>
              <a:gd name="connsiteX6" fmla="*/ 0 w 659531"/>
              <a:gd name="connsiteY6" fmla="*/ 609256 h 1330312"/>
              <a:gd name="connsiteX7" fmla="*/ 7879 w 659531"/>
              <a:gd name="connsiteY7" fmla="*/ 531104 h 1330312"/>
              <a:gd name="connsiteX8" fmla="*/ 659521 w 659531"/>
              <a:gd name="connsiteY8" fmla="*/ 0 h 1330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9531" h="1330312">
                <a:moveTo>
                  <a:pt x="659511" y="1330311"/>
                </a:moveTo>
                <a:lnTo>
                  <a:pt x="659521" y="1330311"/>
                </a:lnTo>
                <a:lnTo>
                  <a:pt x="659531" y="1330311"/>
                </a:lnTo>
                <a:lnTo>
                  <a:pt x="659521" y="1330312"/>
                </a:lnTo>
                <a:close/>
                <a:moveTo>
                  <a:pt x="659521" y="0"/>
                </a:moveTo>
                <a:lnTo>
                  <a:pt x="659521" y="609256"/>
                </a:lnTo>
                <a:lnTo>
                  <a:pt x="0" y="609256"/>
                </a:lnTo>
                <a:lnTo>
                  <a:pt x="7879" y="531104"/>
                </a:lnTo>
                <a:cubicBezTo>
                  <a:pt x="69902" y="228003"/>
                  <a:pt x="338085" y="0"/>
                  <a:pt x="659521" y="0"/>
                </a:cubicBezTo>
                <a:close/>
              </a:path>
            </a:pathLst>
          </a:custGeom>
          <a:solidFill>
            <a:srgbClr val="7B3D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677067A-151E-42E4-8725-2CE17F17D65F}"/>
              </a:ext>
            </a:extLst>
          </p:cNvPr>
          <p:cNvSpPr/>
          <p:nvPr/>
        </p:nvSpPr>
        <p:spPr>
          <a:xfrm flipH="1" flipV="1">
            <a:off x="4470119" y="1847740"/>
            <a:ext cx="934824" cy="2074153"/>
          </a:xfrm>
          <a:custGeom>
            <a:avLst/>
            <a:gdLst>
              <a:gd name="connsiteX0" fmla="*/ 659511 w 659531"/>
              <a:gd name="connsiteY0" fmla="*/ 1330311 h 1330312"/>
              <a:gd name="connsiteX1" fmla="*/ 659521 w 659531"/>
              <a:gd name="connsiteY1" fmla="*/ 1330311 h 1330312"/>
              <a:gd name="connsiteX2" fmla="*/ 659531 w 659531"/>
              <a:gd name="connsiteY2" fmla="*/ 1330311 h 1330312"/>
              <a:gd name="connsiteX3" fmla="*/ 659521 w 659531"/>
              <a:gd name="connsiteY3" fmla="*/ 1330312 h 1330312"/>
              <a:gd name="connsiteX4" fmla="*/ 659521 w 659531"/>
              <a:gd name="connsiteY4" fmla="*/ 0 h 1330312"/>
              <a:gd name="connsiteX5" fmla="*/ 659521 w 659531"/>
              <a:gd name="connsiteY5" fmla="*/ 609256 h 1330312"/>
              <a:gd name="connsiteX6" fmla="*/ 0 w 659531"/>
              <a:gd name="connsiteY6" fmla="*/ 609256 h 1330312"/>
              <a:gd name="connsiteX7" fmla="*/ 7879 w 659531"/>
              <a:gd name="connsiteY7" fmla="*/ 531104 h 1330312"/>
              <a:gd name="connsiteX8" fmla="*/ 659521 w 659531"/>
              <a:gd name="connsiteY8" fmla="*/ 0 h 1330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9531" h="1330312">
                <a:moveTo>
                  <a:pt x="659511" y="1330311"/>
                </a:moveTo>
                <a:lnTo>
                  <a:pt x="659521" y="1330311"/>
                </a:lnTo>
                <a:lnTo>
                  <a:pt x="659531" y="1330311"/>
                </a:lnTo>
                <a:lnTo>
                  <a:pt x="659521" y="1330312"/>
                </a:lnTo>
                <a:close/>
                <a:moveTo>
                  <a:pt x="659521" y="0"/>
                </a:moveTo>
                <a:lnTo>
                  <a:pt x="659521" y="609256"/>
                </a:lnTo>
                <a:lnTo>
                  <a:pt x="0" y="609256"/>
                </a:lnTo>
                <a:lnTo>
                  <a:pt x="7879" y="531104"/>
                </a:lnTo>
                <a:cubicBezTo>
                  <a:pt x="69902" y="228003"/>
                  <a:pt x="338085" y="0"/>
                  <a:pt x="659521" y="0"/>
                </a:cubicBezTo>
                <a:close/>
              </a:path>
            </a:pathLst>
          </a:custGeom>
          <a:solidFill>
            <a:srgbClr val="FF3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0398E5D-E910-5783-D5CF-542B974BDC02}"/>
              </a:ext>
            </a:extLst>
          </p:cNvPr>
          <p:cNvSpPr/>
          <p:nvPr/>
        </p:nvSpPr>
        <p:spPr>
          <a:xfrm>
            <a:off x="3734586" y="2230546"/>
            <a:ext cx="1330311" cy="133031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8C5F5-2554-4E95-8DF2-6DA1AD409608}"/>
              </a:ext>
            </a:extLst>
          </p:cNvPr>
          <p:cNvSpPr txBox="1"/>
          <p:nvPr/>
        </p:nvSpPr>
        <p:spPr>
          <a:xfrm>
            <a:off x="3555372" y="2606179"/>
            <a:ext cx="164653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Raleway" panose="020B0003030101060003" pitchFamily="34" charset="0"/>
              </a:rPr>
              <a:t>FOCUS AREAS </a:t>
            </a:r>
          </a:p>
          <a:p>
            <a:pPr algn="ctr"/>
            <a:r>
              <a:rPr lang="en-US" sz="1100" b="1" dirty="0">
                <a:latin typeface="Raleway" panose="020B0003030101060003" pitchFamily="34" charset="0"/>
              </a:rPr>
              <a:t>OF </a:t>
            </a:r>
          </a:p>
          <a:p>
            <a:pPr algn="ctr"/>
            <a:r>
              <a:rPr lang="en-US" sz="1100" b="1" dirty="0">
                <a:latin typeface="Raleway" panose="020B0003030101060003" pitchFamily="34" charset="0"/>
              </a:rPr>
              <a:t>SERVICE MESH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0F491B-6B7D-A566-F9CA-A84BA048ED85}"/>
              </a:ext>
            </a:extLst>
          </p:cNvPr>
          <p:cNvSpPr txBox="1"/>
          <p:nvPr/>
        </p:nvSpPr>
        <p:spPr>
          <a:xfrm>
            <a:off x="1477411" y="695802"/>
            <a:ext cx="1564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16CABD"/>
                </a:solidFill>
                <a:latin typeface="Raleway" panose="020B0003030101060003" pitchFamily="34" charset="0"/>
              </a:rPr>
              <a:t>Automation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73257D-EA13-E7B4-8E49-AAFD02F0A853}"/>
              </a:ext>
            </a:extLst>
          </p:cNvPr>
          <p:cNvSpPr txBox="1"/>
          <p:nvPr/>
        </p:nvSpPr>
        <p:spPr>
          <a:xfrm>
            <a:off x="966597" y="1053020"/>
            <a:ext cx="25903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Raleway" panose="020B0003030101060003" pitchFamily="34" charset="0"/>
              </a:rPr>
              <a:t>Automatically Provision Multiple Service Mesh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Raleway" panose="020B0003030101060003" pitchFamily="34" charset="0"/>
              </a:rPr>
              <a:t>Automatically deploy services from service catalogue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Raleway" panose="020B0003030101060003" pitchFamily="34" charset="0"/>
              </a:rPr>
              <a:t>Automatic Side Car injection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Raleway" panose="020B0003030101060003" pitchFamily="34" charset="0"/>
              </a:rPr>
              <a:t>Automated discovery and integration with management plane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3B0929-8196-7F87-A086-9254DC690499}"/>
              </a:ext>
            </a:extLst>
          </p:cNvPr>
          <p:cNvSpPr txBox="1"/>
          <p:nvPr/>
        </p:nvSpPr>
        <p:spPr>
          <a:xfrm>
            <a:off x="5438384" y="705483"/>
            <a:ext cx="21184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B300"/>
                </a:solidFill>
                <a:latin typeface="Raleway" panose="020B0003030101060003" pitchFamily="34" charset="0"/>
              </a:rPr>
              <a:t>Golden Configuration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7A4CF9-29E8-2067-AC80-6FB6262EEF70}"/>
              </a:ext>
            </a:extLst>
          </p:cNvPr>
          <p:cNvSpPr txBox="1"/>
          <p:nvPr/>
        </p:nvSpPr>
        <p:spPr>
          <a:xfrm>
            <a:off x="5344394" y="1061254"/>
            <a:ext cx="2237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Raleway" panose="020B0003030101060003" pitchFamily="34" charset="0"/>
              </a:rPr>
              <a:t>Built In configuration Templates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Raleway" panose="020B0003030101060003" pitchFamily="34" charset="0"/>
              </a:rPr>
              <a:t>Baselined and versioned infrastructure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Raleway" panose="020B0003030101060003" pitchFamily="34" charset="0"/>
              </a:rPr>
              <a:t>Sample Application Catalogue for accelerated learning.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0104BC-2763-D5C7-F62B-717DE5A906E7}"/>
              </a:ext>
            </a:extLst>
          </p:cNvPr>
          <p:cNvSpPr txBox="1"/>
          <p:nvPr/>
        </p:nvSpPr>
        <p:spPr>
          <a:xfrm>
            <a:off x="5791879" y="3066596"/>
            <a:ext cx="1378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3654"/>
                </a:solidFill>
                <a:latin typeface="Raleway" panose="020B0003030101060003" pitchFamily="34" charset="0"/>
              </a:rPr>
              <a:t>Integration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826D19-761B-CE15-B862-18406DF7DA45}"/>
              </a:ext>
            </a:extLst>
          </p:cNvPr>
          <p:cNvSpPr txBox="1"/>
          <p:nvPr/>
        </p:nvSpPr>
        <p:spPr>
          <a:xfrm>
            <a:off x="5330828" y="3333154"/>
            <a:ext cx="283451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Raleway" panose="020B0003030101060003" pitchFamily="34" charset="0"/>
              </a:rPr>
              <a:t>Integration with existing  Operation Management Stack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Raleway" panose="020B0003030101060003" pitchFamily="34" charset="0"/>
              </a:rPr>
              <a:t>Integration with CI/CD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Raleway" panose="020B0003030101060003" pitchFamily="34" charset="0"/>
              </a:rPr>
              <a:t>Extensible Management backplane (As standalone app or as Grafana plugin)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Raleway" panose="020B0003030101060003" pitchFamily="34" charset="0"/>
              </a:rPr>
              <a:t>Consolidation of services running in different Service Mesh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Raleway" panose="020B0003030101060003" pitchFamily="34" charset="0"/>
              </a:rPr>
              <a:t>Cost and SLA consolidation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Raleway" panose="020B0003030101060003" pitchFamily="34" charset="0"/>
              </a:rPr>
              <a:t>Optimize services data revenue from service Mesh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5B7BA5-6998-98BC-D58C-5AACC820F530}"/>
              </a:ext>
            </a:extLst>
          </p:cNvPr>
          <p:cNvSpPr txBox="1"/>
          <p:nvPr/>
        </p:nvSpPr>
        <p:spPr>
          <a:xfrm>
            <a:off x="1272568" y="3078917"/>
            <a:ext cx="1893214" cy="324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B3DD9"/>
                </a:solidFill>
                <a:latin typeface="Raleway" panose="020B0003030101060003" pitchFamily="34" charset="0"/>
              </a:rPr>
              <a:t>Tests &amp; Verification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4F7AB7-2004-2B67-B607-A0B0A59C8327}"/>
              </a:ext>
            </a:extLst>
          </p:cNvPr>
          <p:cNvSpPr txBox="1"/>
          <p:nvPr/>
        </p:nvSpPr>
        <p:spPr>
          <a:xfrm>
            <a:off x="1135602" y="3449847"/>
            <a:ext cx="21920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Raleway" panose="020B0003030101060003" pitchFamily="34" charset="0"/>
              </a:rPr>
              <a:t>Configuration Validation Tests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Raleway" panose="020B0003030101060003" pitchFamily="34" charset="0"/>
              </a:rPr>
              <a:t>Standard Conformance Tests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Raleway" panose="020B0003030101060003" pitchFamily="34" charset="0"/>
              </a:rPr>
              <a:t>Performance Tests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419EA4-8F86-9626-182F-7E14CE6B1EAF}"/>
              </a:ext>
            </a:extLst>
          </p:cNvPr>
          <p:cNvSpPr txBox="1"/>
          <p:nvPr/>
        </p:nvSpPr>
        <p:spPr>
          <a:xfrm>
            <a:off x="3598592" y="2047278"/>
            <a:ext cx="309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8EF9E11-F6C4-A5C4-36F7-F42A6776E03B}"/>
              </a:ext>
            </a:extLst>
          </p:cNvPr>
          <p:cNvSpPr txBox="1"/>
          <p:nvPr/>
        </p:nvSpPr>
        <p:spPr>
          <a:xfrm>
            <a:off x="4863231" y="2061070"/>
            <a:ext cx="309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B0A7BE-EB6C-B9FE-F1C9-1DC359376EFD}"/>
              </a:ext>
            </a:extLst>
          </p:cNvPr>
          <p:cNvSpPr txBox="1"/>
          <p:nvPr/>
        </p:nvSpPr>
        <p:spPr>
          <a:xfrm>
            <a:off x="4870254" y="3153891"/>
            <a:ext cx="309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338635-368A-67FB-55FD-B477787838B1}"/>
              </a:ext>
            </a:extLst>
          </p:cNvPr>
          <p:cNvSpPr txBox="1"/>
          <p:nvPr/>
        </p:nvSpPr>
        <p:spPr>
          <a:xfrm>
            <a:off x="3590001" y="3184703"/>
            <a:ext cx="309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55162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Datafication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9C74EA-9236-F909-D8DA-9C7087302B8D}"/>
              </a:ext>
            </a:extLst>
          </p:cNvPr>
          <p:cNvSpPr/>
          <p:nvPr/>
        </p:nvSpPr>
        <p:spPr>
          <a:xfrm>
            <a:off x="0" y="596034"/>
            <a:ext cx="3044952" cy="43398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01A4E-4C42-C118-9D76-18289DC848CA}"/>
              </a:ext>
            </a:extLst>
          </p:cNvPr>
          <p:cNvSpPr/>
          <p:nvPr/>
        </p:nvSpPr>
        <p:spPr>
          <a:xfrm>
            <a:off x="3044952" y="596034"/>
            <a:ext cx="3054096" cy="433980"/>
          </a:xfrm>
          <a:prstGeom prst="rect">
            <a:avLst/>
          </a:prstGeom>
          <a:solidFill>
            <a:srgbClr val="FF3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631EEB-0A9C-528A-8186-0B257A519E1F}"/>
              </a:ext>
            </a:extLst>
          </p:cNvPr>
          <p:cNvSpPr/>
          <p:nvPr/>
        </p:nvSpPr>
        <p:spPr>
          <a:xfrm>
            <a:off x="6099048" y="596034"/>
            <a:ext cx="3044952" cy="433980"/>
          </a:xfrm>
          <a:prstGeom prst="rect">
            <a:avLst/>
          </a:prstGeom>
          <a:solidFill>
            <a:srgbClr val="7B3D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84847F-0199-E38B-D432-D221AFC8CD49}"/>
              </a:ext>
            </a:extLst>
          </p:cNvPr>
          <p:cNvSpPr txBox="1"/>
          <p:nvPr/>
        </p:nvSpPr>
        <p:spPr>
          <a:xfrm>
            <a:off x="612900" y="659136"/>
            <a:ext cx="1819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" panose="020B0003030101060003" pitchFamily="34" charset="0"/>
              </a:rPr>
              <a:t>Assessment &amp; Plan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435603-F42B-3515-83EC-2155189C4528}"/>
              </a:ext>
            </a:extLst>
          </p:cNvPr>
          <p:cNvSpPr txBox="1"/>
          <p:nvPr/>
        </p:nvSpPr>
        <p:spPr>
          <a:xfrm>
            <a:off x="4105244" y="659136"/>
            <a:ext cx="933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" panose="020B0003030101060003" pitchFamily="34" charset="0"/>
              </a:rPr>
              <a:t>Execute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1D56AD-7562-730F-39E1-5D5A6908ABC7}"/>
              </a:ext>
            </a:extLst>
          </p:cNvPr>
          <p:cNvSpPr txBox="1"/>
          <p:nvPr/>
        </p:nvSpPr>
        <p:spPr>
          <a:xfrm>
            <a:off x="6711948" y="659136"/>
            <a:ext cx="1819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" panose="020B0003030101060003" pitchFamily="34" charset="0"/>
              </a:rPr>
              <a:t>Test &amp;Verification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B3EC75-BBEE-247F-05F0-603C120BDE2C}"/>
              </a:ext>
            </a:extLst>
          </p:cNvPr>
          <p:cNvCxnSpPr>
            <a:cxnSpLocks/>
          </p:cNvCxnSpPr>
          <p:nvPr/>
        </p:nvCxnSpPr>
        <p:spPr>
          <a:xfrm>
            <a:off x="3044952" y="1166648"/>
            <a:ext cx="0" cy="3710152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425B2BA-C2C4-24D4-291E-E927E6BD24CF}"/>
              </a:ext>
            </a:extLst>
          </p:cNvPr>
          <p:cNvSpPr txBox="1"/>
          <p:nvPr/>
        </p:nvSpPr>
        <p:spPr>
          <a:xfrm>
            <a:off x="1557620" y="1216750"/>
            <a:ext cx="145678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latin typeface="Raleway" panose="020B0003030101060003" pitchFamily="34" charset="0"/>
              </a:rPr>
              <a:t>Use-Case</a:t>
            </a:r>
          </a:p>
          <a:p>
            <a:pPr algn="ctr"/>
            <a:r>
              <a:rPr lang="en-US" sz="1050" b="1" dirty="0">
                <a:latin typeface="Raleway" panose="020B0003030101060003" pitchFamily="34" charset="0"/>
              </a:rPr>
              <a:t>Validation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0CA94B-FF01-939D-3EFF-57BAC8F94AAA}"/>
              </a:ext>
            </a:extLst>
          </p:cNvPr>
          <p:cNvSpPr txBox="1"/>
          <p:nvPr/>
        </p:nvSpPr>
        <p:spPr>
          <a:xfrm>
            <a:off x="70408" y="1216750"/>
            <a:ext cx="145678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latin typeface="Raleway" panose="020B0003030101060003" pitchFamily="34" charset="0"/>
              </a:rPr>
              <a:t>Candidate</a:t>
            </a:r>
          </a:p>
          <a:p>
            <a:pPr algn="ctr"/>
            <a:r>
              <a:rPr lang="en-US" sz="1050" b="1" dirty="0">
                <a:latin typeface="Raleway" panose="020B0003030101060003" pitchFamily="34" charset="0"/>
              </a:rPr>
              <a:t>Selection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D39DC1-A3F1-3560-D920-C4414217CB31}"/>
              </a:ext>
            </a:extLst>
          </p:cNvPr>
          <p:cNvSpPr/>
          <p:nvPr/>
        </p:nvSpPr>
        <p:spPr>
          <a:xfrm>
            <a:off x="171320" y="1101868"/>
            <a:ext cx="1258088" cy="620111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62FD58-7988-3C78-D5F4-7047A51C1B7F}"/>
              </a:ext>
            </a:extLst>
          </p:cNvPr>
          <p:cNvSpPr/>
          <p:nvPr/>
        </p:nvSpPr>
        <p:spPr>
          <a:xfrm>
            <a:off x="1658532" y="1101868"/>
            <a:ext cx="1258088" cy="620111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B9F31C-94C7-3C83-3BDE-F115D9B5B8F5}"/>
              </a:ext>
            </a:extLst>
          </p:cNvPr>
          <p:cNvSpPr txBox="1"/>
          <p:nvPr/>
        </p:nvSpPr>
        <p:spPr>
          <a:xfrm>
            <a:off x="1547110" y="1968240"/>
            <a:ext cx="145678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Raleway" panose="020B0003030101060003" pitchFamily="34" charset="0"/>
              </a:rPr>
              <a:t>Tooling and Operation Planning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01C272-FAD6-0019-09A3-6EFB4C1FC271}"/>
              </a:ext>
            </a:extLst>
          </p:cNvPr>
          <p:cNvSpPr txBox="1"/>
          <p:nvPr/>
        </p:nvSpPr>
        <p:spPr>
          <a:xfrm>
            <a:off x="80918" y="2052320"/>
            <a:ext cx="145678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latin typeface="Raleway" panose="020B0003030101060003" pitchFamily="34" charset="0"/>
              </a:rPr>
              <a:t>Service Design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5FA858E-458D-7562-EEB3-1076FA751FCC}"/>
              </a:ext>
            </a:extLst>
          </p:cNvPr>
          <p:cNvSpPr/>
          <p:nvPr/>
        </p:nvSpPr>
        <p:spPr>
          <a:xfrm>
            <a:off x="171320" y="1884888"/>
            <a:ext cx="1258088" cy="620111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49511CC-5DAE-2773-CB3F-6FA10E5791E4}"/>
              </a:ext>
            </a:extLst>
          </p:cNvPr>
          <p:cNvSpPr/>
          <p:nvPr/>
        </p:nvSpPr>
        <p:spPr>
          <a:xfrm>
            <a:off x="1658532" y="1884888"/>
            <a:ext cx="1258088" cy="620111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AD7692-86AF-BC0D-216C-7A0F61D2BE39}"/>
              </a:ext>
            </a:extLst>
          </p:cNvPr>
          <p:cNvSpPr txBox="1"/>
          <p:nvPr/>
        </p:nvSpPr>
        <p:spPr>
          <a:xfrm>
            <a:off x="4631888" y="1216750"/>
            <a:ext cx="145678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latin typeface="Raleway" panose="020B0003030101060003" pitchFamily="34" charset="0"/>
              </a:rPr>
              <a:t>Custom Configuration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D27C3D6-250E-CDE0-2D0A-2C51D317A50C}"/>
              </a:ext>
            </a:extLst>
          </p:cNvPr>
          <p:cNvSpPr txBox="1"/>
          <p:nvPr/>
        </p:nvSpPr>
        <p:spPr>
          <a:xfrm>
            <a:off x="3102636" y="1206240"/>
            <a:ext cx="145678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latin typeface="Raleway" panose="020B0003030101060003" pitchFamily="34" charset="0"/>
              </a:rPr>
              <a:t>Service Mesh</a:t>
            </a:r>
          </a:p>
          <a:p>
            <a:pPr algn="ctr"/>
            <a:r>
              <a:rPr lang="en-US" sz="1050" b="1" dirty="0">
                <a:latin typeface="Raleway" panose="020B0003030101060003" pitchFamily="34" charset="0"/>
              </a:rPr>
              <a:t>Provisioning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FE95BFC-78C7-B2C5-81F1-0331C7A13F0F}"/>
              </a:ext>
            </a:extLst>
          </p:cNvPr>
          <p:cNvSpPr/>
          <p:nvPr/>
        </p:nvSpPr>
        <p:spPr>
          <a:xfrm>
            <a:off x="3214058" y="1101868"/>
            <a:ext cx="1258088" cy="620111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6FDEEDE-4657-6D36-F53A-0A4395670DBF}"/>
              </a:ext>
            </a:extLst>
          </p:cNvPr>
          <p:cNvSpPr/>
          <p:nvPr/>
        </p:nvSpPr>
        <p:spPr>
          <a:xfrm>
            <a:off x="4701270" y="1101868"/>
            <a:ext cx="1258088" cy="620111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E0B2D2-70D8-BBF2-EC98-8D83B4761615}"/>
              </a:ext>
            </a:extLst>
          </p:cNvPr>
          <p:cNvSpPr txBox="1"/>
          <p:nvPr/>
        </p:nvSpPr>
        <p:spPr>
          <a:xfrm>
            <a:off x="3113146" y="2041810"/>
            <a:ext cx="145678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latin typeface="Raleway" panose="020B0003030101060003" pitchFamily="34" charset="0"/>
              </a:rPr>
              <a:t>Operation Tooling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6A2741-53E6-570F-A49A-0878F61B70E3}"/>
              </a:ext>
            </a:extLst>
          </p:cNvPr>
          <p:cNvSpPr/>
          <p:nvPr/>
        </p:nvSpPr>
        <p:spPr>
          <a:xfrm>
            <a:off x="3214058" y="1884888"/>
            <a:ext cx="1258088" cy="620111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1132C8-1061-E008-6BA9-631B41161313}"/>
              </a:ext>
            </a:extLst>
          </p:cNvPr>
          <p:cNvSpPr txBox="1"/>
          <p:nvPr/>
        </p:nvSpPr>
        <p:spPr>
          <a:xfrm>
            <a:off x="7643092" y="1216750"/>
            <a:ext cx="145678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latin typeface="Raleway" panose="020B0003030101060003" pitchFamily="34" charset="0"/>
              </a:rPr>
              <a:t>Standard Compliance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1BB33B-295E-4C19-FB1A-7DEE264480D9}"/>
              </a:ext>
            </a:extLst>
          </p:cNvPr>
          <p:cNvSpPr txBox="1"/>
          <p:nvPr/>
        </p:nvSpPr>
        <p:spPr>
          <a:xfrm>
            <a:off x="6155880" y="1216750"/>
            <a:ext cx="145678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latin typeface="Raleway" panose="020B0003030101060003" pitchFamily="34" charset="0"/>
              </a:rPr>
              <a:t>Validate Configuration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D5C7BBC-B8A5-54F7-4AC4-8EC97DC9DF5F}"/>
              </a:ext>
            </a:extLst>
          </p:cNvPr>
          <p:cNvSpPr/>
          <p:nvPr/>
        </p:nvSpPr>
        <p:spPr>
          <a:xfrm>
            <a:off x="6225262" y="1101868"/>
            <a:ext cx="1258088" cy="620111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FC6FC8B-024A-B637-90E6-37C306794231}"/>
              </a:ext>
            </a:extLst>
          </p:cNvPr>
          <p:cNvSpPr/>
          <p:nvPr/>
        </p:nvSpPr>
        <p:spPr>
          <a:xfrm>
            <a:off x="7712474" y="1101868"/>
            <a:ext cx="1258088" cy="620111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CBFB883-235B-C9AE-0206-2236B8DD30CF}"/>
              </a:ext>
            </a:extLst>
          </p:cNvPr>
          <p:cNvSpPr txBox="1"/>
          <p:nvPr/>
        </p:nvSpPr>
        <p:spPr>
          <a:xfrm>
            <a:off x="7622072" y="1999770"/>
            <a:ext cx="145678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latin typeface="Raleway" panose="020B0003030101060003" pitchFamily="34" charset="0"/>
              </a:rPr>
              <a:t>Operation Tooling Verification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57F210F-ACD9-B269-3B4F-D9CCD23D08F0}"/>
              </a:ext>
            </a:extLst>
          </p:cNvPr>
          <p:cNvSpPr txBox="1"/>
          <p:nvPr/>
        </p:nvSpPr>
        <p:spPr>
          <a:xfrm>
            <a:off x="6155880" y="1999770"/>
            <a:ext cx="145678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latin typeface="Raleway" panose="020B0003030101060003" pitchFamily="34" charset="0"/>
              </a:rPr>
              <a:t>Performance Verification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7D1A72C-E376-3FF8-339C-5E51E8949B4F}"/>
              </a:ext>
            </a:extLst>
          </p:cNvPr>
          <p:cNvSpPr/>
          <p:nvPr/>
        </p:nvSpPr>
        <p:spPr>
          <a:xfrm>
            <a:off x="6225262" y="1884888"/>
            <a:ext cx="1258088" cy="620111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00794D9-E874-C64C-35BC-73FCE9108A4E}"/>
              </a:ext>
            </a:extLst>
          </p:cNvPr>
          <p:cNvSpPr/>
          <p:nvPr/>
        </p:nvSpPr>
        <p:spPr>
          <a:xfrm>
            <a:off x="7712474" y="1884888"/>
            <a:ext cx="1258088" cy="620111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9095376-935D-5E4C-4FC1-15B9E1DB14B9}"/>
              </a:ext>
            </a:extLst>
          </p:cNvPr>
          <p:cNvCxnSpPr>
            <a:cxnSpLocks/>
          </p:cNvCxnSpPr>
          <p:nvPr/>
        </p:nvCxnSpPr>
        <p:spPr>
          <a:xfrm>
            <a:off x="6098199" y="1166648"/>
            <a:ext cx="0" cy="3710152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78C5C18-6E70-5C1D-6CC8-13B8583F7C04}"/>
              </a:ext>
            </a:extLst>
          </p:cNvPr>
          <p:cNvSpPr txBox="1"/>
          <p:nvPr/>
        </p:nvSpPr>
        <p:spPr>
          <a:xfrm>
            <a:off x="821896" y="2572215"/>
            <a:ext cx="14567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Raleway" panose="020B0003030101060003" pitchFamily="34" charset="0"/>
              </a:rPr>
              <a:t>KPI’s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882A861-65D4-868E-E92E-FA0F2F156901}"/>
              </a:ext>
            </a:extLst>
          </p:cNvPr>
          <p:cNvSpPr txBox="1"/>
          <p:nvPr/>
        </p:nvSpPr>
        <p:spPr>
          <a:xfrm>
            <a:off x="3843612" y="2572215"/>
            <a:ext cx="14567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Raleway" panose="020B0003030101060003" pitchFamily="34" charset="0"/>
              </a:rPr>
              <a:t>KPI’s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F8C05CE-D845-2D32-A7C1-30C619D2A194}"/>
              </a:ext>
            </a:extLst>
          </p:cNvPr>
          <p:cNvSpPr txBox="1"/>
          <p:nvPr/>
        </p:nvSpPr>
        <p:spPr>
          <a:xfrm>
            <a:off x="6917878" y="2572215"/>
            <a:ext cx="14567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Raleway" panose="020B0003030101060003" pitchFamily="34" charset="0"/>
              </a:rPr>
              <a:t>KPI’s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5F8CECA-F549-911D-62F7-608B45A27F6F}"/>
              </a:ext>
            </a:extLst>
          </p:cNvPr>
          <p:cNvSpPr txBox="1"/>
          <p:nvPr/>
        </p:nvSpPr>
        <p:spPr>
          <a:xfrm>
            <a:off x="238877" y="2834977"/>
            <a:ext cx="258077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Raleway" panose="020B0003030101060003" pitchFamily="34" charset="0"/>
              </a:rPr>
              <a:t>Mean Time to Prepare Service Mesh Design Specification Per Project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2AD0DEC-CCBA-74BB-6EF6-0832FEFE056E}"/>
              </a:ext>
            </a:extLst>
          </p:cNvPr>
          <p:cNvSpPr txBox="1"/>
          <p:nvPr/>
        </p:nvSpPr>
        <p:spPr>
          <a:xfrm>
            <a:off x="2979103" y="2834977"/>
            <a:ext cx="3122741" cy="654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Raleway" panose="020B0003030101060003" pitchFamily="34" charset="0"/>
              </a:rPr>
              <a:t>Mean Time for Deployment / Configuration / Management Plane Integration</a:t>
            </a:r>
          </a:p>
          <a:p>
            <a:pPr algn="ctr"/>
            <a:endParaRPr lang="en-US" sz="500" dirty="0">
              <a:latin typeface="Raleway" panose="020B0003030101060003" pitchFamily="34" charset="0"/>
            </a:endParaRPr>
          </a:p>
          <a:p>
            <a:pPr algn="ctr"/>
            <a:r>
              <a:rPr lang="en-US" sz="1050" dirty="0">
                <a:latin typeface="Raleway" panose="020B0003030101060003" pitchFamily="34" charset="0"/>
              </a:rPr>
              <a:t>Services Reliability Index  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A6ECE5E-3EDD-1E32-C7FB-A1217CBCC34E}"/>
              </a:ext>
            </a:extLst>
          </p:cNvPr>
          <p:cNvSpPr txBox="1"/>
          <p:nvPr/>
        </p:nvSpPr>
        <p:spPr>
          <a:xfrm>
            <a:off x="6292815" y="2834977"/>
            <a:ext cx="258077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Raleway" panose="020B0003030101060003" pitchFamily="34" charset="0"/>
              </a:rPr>
              <a:t>Mean Time to Prepare Service Mesh Design Specification Per Project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609F567-678E-D0CE-05D2-5280049B7440}"/>
              </a:ext>
            </a:extLst>
          </p:cNvPr>
          <p:cNvSpPr txBox="1"/>
          <p:nvPr/>
        </p:nvSpPr>
        <p:spPr>
          <a:xfrm>
            <a:off x="806133" y="3507758"/>
            <a:ext cx="14567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Raleway" panose="020B0003030101060003" pitchFamily="34" charset="0"/>
              </a:rPr>
              <a:t>Accelerator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07ADEF5-585C-E0C2-F26A-8C0FCFD58B1A}"/>
              </a:ext>
            </a:extLst>
          </p:cNvPr>
          <p:cNvSpPr txBox="1"/>
          <p:nvPr/>
        </p:nvSpPr>
        <p:spPr>
          <a:xfrm>
            <a:off x="223114" y="3725353"/>
            <a:ext cx="258077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Raleway" panose="020B0003030101060003" pitchFamily="34" charset="0"/>
              </a:rPr>
              <a:t>Application Catalogues / Patterns / WASM filters /  Dry Run Simulation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0822F50-57D7-29ED-17D9-18B04AF364E5}"/>
              </a:ext>
            </a:extLst>
          </p:cNvPr>
          <p:cNvSpPr txBox="1"/>
          <p:nvPr/>
        </p:nvSpPr>
        <p:spPr>
          <a:xfrm>
            <a:off x="3817339" y="3507758"/>
            <a:ext cx="14567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Raleway" panose="020B0003030101060003" pitchFamily="34" charset="0"/>
              </a:rPr>
              <a:t>Accelerator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EB17359-01FC-6828-A58E-78D9EBBD2640}"/>
              </a:ext>
            </a:extLst>
          </p:cNvPr>
          <p:cNvSpPr txBox="1"/>
          <p:nvPr/>
        </p:nvSpPr>
        <p:spPr>
          <a:xfrm>
            <a:off x="3136811" y="3725353"/>
            <a:ext cx="283885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Raleway" panose="020B0003030101060003" pitchFamily="34" charset="0"/>
              </a:rPr>
              <a:t>Provisioning Automation / Golden Configs / Management Stack Extensions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C5C6115-DDE6-7A67-9D5E-9EE6434A5869}"/>
              </a:ext>
            </a:extLst>
          </p:cNvPr>
          <p:cNvSpPr txBox="1"/>
          <p:nvPr/>
        </p:nvSpPr>
        <p:spPr>
          <a:xfrm>
            <a:off x="6849565" y="3507758"/>
            <a:ext cx="14567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Raleway" panose="020B0003030101060003" pitchFamily="34" charset="0"/>
              </a:rPr>
              <a:t>Accelerator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F905C2A-9EF3-9266-16C3-32FA70CFE458}"/>
              </a:ext>
            </a:extLst>
          </p:cNvPr>
          <p:cNvSpPr txBox="1"/>
          <p:nvPr/>
        </p:nvSpPr>
        <p:spPr>
          <a:xfrm>
            <a:off x="6266546" y="3725353"/>
            <a:ext cx="258077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Raleway" panose="020B0003030101060003" pitchFamily="34" charset="0"/>
              </a:rPr>
              <a:t>Existing Verification And Validation Framework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E0C5335-E0A6-189F-C1BD-74A4EE23426E}"/>
              </a:ext>
            </a:extLst>
          </p:cNvPr>
          <p:cNvSpPr txBox="1"/>
          <p:nvPr/>
        </p:nvSpPr>
        <p:spPr>
          <a:xfrm>
            <a:off x="790368" y="4160254"/>
            <a:ext cx="14567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Raleway" panose="020B0003030101060003" pitchFamily="34" charset="0"/>
              </a:rPr>
              <a:t>Expected Result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A0E4A62-948E-9F0A-076C-03025C4F9358}"/>
              </a:ext>
            </a:extLst>
          </p:cNvPr>
          <p:cNvSpPr txBox="1"/>
          <p:nvPr/>
        </p:nvSpPr>
        <p:spPr>
          <a:xfrm>
            <a:off x="207349" y="4433649"/>
            <a:ext cx="258077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Raleway" panose="020B0003030101060003" pitchFamily="34" charset="0"/>
              </a:rPr>
              <a:t>30% Less Time for Design Specifications</a:t>
            </a:r>
          </a:p>
        </p:txBody>
      </p:sp>
      <p:sp>
        <p:nvSpPr>
          <p:cNvPr id="85" name="Arrow: Down 84">
            <a:extLst>
              <a:ext uri="{FF2B5EF4-FFF2-40B4-BE49-F238E27FC236}">
                <a16:creationId xmlns:a16="http://schemas.microsoft.com/office/drawing/2014/main" id="{67414DC2-8A62-8FBA-B1ED-6F749F2B2AD2}"/>
              </a:ext>
            </a:extLst>
          </p:cNvPr>
          <p:cNvSpPr/>
          <p:nvPr/>
        </p:nvSpPr>
        <p:spPr>
          <a:xfrm rot="10800000">
            <a:off x="3305610" y="4766242"/>
            <a:ext cx="181870" cy="246988"/>
          </a:xfrm>
          <a:prstGeom prst="downArrow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41E82BB-5FF6-3C73-00D4-CFBEE20F106F}"/>
              </a:ext>
            </a:extLst>
          </p:cNvPr>
          <p:cNvSpPr txBox="1"/>
          <p:nvPr/>
        </p:nvSpPr>
        <p:spPr>
          <a:xfrm>
            <a:off x="3896170" y="4160254"/>
            <a:ext cx="14567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Raleway" panose="020B0003030101060003" pitchFamily="34" charset="0"/>
              </a:rPr>
              <a:t>Expected Result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DEDAF67-3302-539B-FF11-479284292489}"/>
              </a:ext>
            </a:extLst>
          </p:cNvPr>
          <p:cNvSpPr txBox="1"/>
          <p:nvPr/>
        </p:nvSpPr>
        <p:spPr>
          <a:xfrm>
            <a:off x="3407742" y="4438172"/>
            <a:ext cx="2580777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Raleway" panose="020B0003030101060003" pitchFamily="34" charset="0"/>
              </a:rPr>
              <a:t>50% Reduced time for Execution</a:t>
            </a:r>
          </a:p>
          <a:p>
            <a:pPr algn="ctr"/>
            <a:endParaRPr lang="en-US" sz="1050" dirty="0">
              <a:latin typeface="Raleway" panose="020B0003030101060003" pitchFamily="34" charset="0"/>
            </a:endParaRPr>
          </a:p>
          <a:p>
            <a:pPr algn="ctr"/>
            <a:r>
              <a:rPr lang="en-US" sz="1050" dirty="0">
                <a:latin typeface="Raleway" panose="020B0003030101060003" pitchFamily="34" charset="0"/>
              </a:rPr>
              <a:t>20% increase in Service Reliability</a:t>
            </a:r>
          </a:p>
        </p:txBody>
      </p:sp>
      <p:pic>
        <p:nvPicPr>
          <p:cNvPr id="92" name="Graphic 91" descr="Hourglass 60% with solid fill">
            <a:extLst>
              <a:ext uri="{FF2B5EF4-FFF2-40B4-BE49-F238E27FC236}">
                <a16:creationId xmlns:a16="http://schemas.microsoft.com/office/drawing/2014/main" id="{1C4B8D8A-F45E-C033-BAA6-8307E3F0D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9816" y="4384423"/>
            <a:ext cx="342724" cy="342724"/>
          </a:xfrm>
          <a:prstGeom prst="rect">
            <a:avLst/>
          </a:prstGeom>
        </p:spPr>
      </p:pic>
      <p:pic>
        <p:nvPicPr>
          <p:cNvPr id="93" name="Graphic 92" descr="Hourglass 60% with solid fill">
            <a:extLst>
              <a:ext uri="{FF2B5EF4-FFF2-40B4-BE49-F238E27FC236}">
                <a16:creationId xmlns:a16="http://schemas.microsoft.com/office/drawing/2014/main" id="{98ABDF5B-F688-0034-796E-C23B6B3C3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3197" y="4430493"/>
            <a:ext cx="342724" cy="342724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0B23085A-E19E-2AC0-BE6F-245F46E0FEC1}"/>
              </a:ext>
            </a:extLst>
          </p:cNvPr>
          <p:cNvSpPr txBox="1"/>
          <p:nvPr/>
        </p:nvSpPr>
        <p:spPr>
          <a:xfrm>
            <a:off x="6823678" y="4160254"/>
            <a:ext cx="14567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Raleway" panose="020B0003030101060003" pitchFamily="34" charset="0"/>
              </a:rPr>
              <a:t>Expected Result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F10D48D-48B0-3A6C-87D6-552A4836FA21}"/>
              </a:ext>
            </a:extLst>
          </p:cNvPr>
          <p:cNvSpPr txBox="1"/>
          <p:nvPr/>
        </p:nvSpPr>
        <p:spPr>
          <a:xfrm>
            <a:off x="6335250" y="4441714"/>
            <a:ext cx="258077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Raleway" panose="020B0003030101060003" pitchFamily="34" charset="0"/>
              </a:rPr>
              <a:t>50% Reduced time</a:t>
            </a:r>
          </a:p>
        </p:txBody>
      </p:sp>
      <p:pic>
        <p:nvPicPr>
          <p:cNvPr id="2" name="Graphic 1" descr="Hourglass 60% with solid fill">
            <a:extLst>
              <a:ext uri="{FF2B5EF4-FFF2-40B4-BE49-F238E27FC236}">
                <a16:creationId xmlns:a16="http://schemas.microsoft.com/office/drawing/2014/main" id="{94B3AD8C-4307-6E60-8D68-99C0AE47A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9389" y="4431720"/>
            <a:ext cx="342724" cy="34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802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1119641" y="41559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Differentiator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09A1D1F-2955-4E4F-82B1-0D5D16C5558F}"/>
              </a:ext>
            </a:extLst>
          </p:cNvPr>
          <p:cNvGrpSpPr/>
          <p:nvPr/>
        </p:nvGrpSpPr>
        <p:grpSpPr>
          <a:xfrm>
            <a:off x="6256539" y="656420"/>
            <a:ext cx="2326279" cy="2041482"/>
            <a:chOff x="3356681" y="706767"/>
            <a:chExt cx="2326279" cy="204148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7D55C3-5CCB-4769-BDA1-2AF3082B0F60}"/>
                </a:ext>
              </a:extLst>
            </p:cNvPr>
            <p:cNvSpPr/>
            <p:nvPr/>
          </p:nvSpPr>
          <p:spPr>
            <a:xfrm>
              <a:off x="344624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A4D4D41-B53F-4656-A02E-339B4565C531}"/>
                </a:ext>
              </a:extLst>
            </p:cNvPr>
            <p:cNvSpPr txBox="1"/>
            <p:nvPr/>
          </p:nvSpPr>
          <p:spPr>
            <a:xfrm>
              <a:off x="3356681" y="1621026"/>
              <a:ext cx="2326279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Experience Team with a proven</a:t>
              </a:r>
            </a:p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track record of CloudOps delivery </a:t>
              </a:r>
            </a:p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enabled with DevSecOps </a:t>
              </a:r>
            </a:p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Capabilities</a:t>
              </a:r>
              <a:endParaRPr lang="en-US" sz="1050" dirty="0">
                <a:latin typeface="Raleway" panose="020B0003030101060003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65F285-400D-4C11-B715-CDAB18E3977A}"/>
                </a:ext>
              </a:extLst>
            </p:cNvPr>
            <p:cNvSpPr txBox="1"/>
            <p:nvPr/>
          </p:nvSpPr>
          <p:spPr>
            <a:xfrm>
              <a:off x="4110095" y="1400893"/>
              <a:ext cx="8194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Raleway" panose="020B0003030101060003" pitchFamily="34" charset="0"/>
                </a:rPr>
                <a:t>Expertise</a:t>
              </a:r>
              <a:endParaRPr lang="en-US" sz="1100" b="1" dirty="0">
                <a:latin typeface="Raleway" panose="020B0003030101060003" pitchFamily="34" charset="0"/>
              </a:endParaRPr>
            </a:p>
          </p:txBody>
        </p: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FAFA6C39-B349-42A8-BD9B-B643DAE3D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6998" y="823581"/>
              <a:ext cx="559168" cy="559168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DB8FA62-00E4-4787-B505-87E0680796F3}"/>
              </a:ext>
            </a:extLst>
          </p:cNvPr>
          <p:cNvGrpSpPr/>
          <p:nvPr/>
        </p:nvGrpSpPr>
        <p:grpSpPr>
          <a:xfrm>
            <a:off x="3487705" y="656420"/>
            <a:ext cx="2147146" cy="2041482"/>
            <a:chOff x="689187" y="706767"/>
            <a:chExt cx="2147146" cy="204148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53709F2-385A-4A43-A223-78E6DF562B06}"/>
                </a:ext>
              </a:extLst>
            </p:cNvPr>
            <p:cNvSpPr/>
            <p:nvPr/>
          </p:nvSpPr>
          <p:spPr>
            <a:xfrm>
              <a:off x="68918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9B1BA7-02FB-4C2B-BFEB-CD9AF398550A}"/>
                </a:ext>
              </a:extLst>
            </p:cNvPr>
            <p:cNvSpPr txBox="1"/>
            <p:nvPr/>
          </p:nvSpPr>
          <p:spPr>
            <a:xfrm>
              <a:off x="755918" y="1621026"/>
              <a:ext cx="2013693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10+ Large Scale </a:t>
              </a:r>
            </a:p>
            <a:p>
              <a:pPr algn="ctr"/>
              <a:r>
                <a:rPr lang="en-US" sz="1050" dirty="0">
                  <a:latin typeface="Raleway" panose="020B0003030101060003" pitchFamily="34" charset="0"/>
                </a:rPr>
                <a:t>Migration And Modernization </a:t>
              </a:r>
            </a:p>
            <a:p>
              <a:pPr algn="ctr"/>
              <a:r>
                <a:rPr lang="en-US" sz="1050" dirty="0">
                  <a:latin typeface="Raleway" panose="020B0003030101060003" pitchFamily="34" charset="0"/>
                </a:rPr>
                <a:t>experience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4840CAF-018E-48B0-BA68-083E25C80582}"/>
                </a:ext>
              </a:extLst>
            </p:cNvPr>
            <p:cNvSpPr txBox="1"/>
            <p:nvPr/>
          </p:nvSpPr>
          <p:spPr>
            <a:xfrm>
              <a:off x="1290516" y="1400893"/>
              <a:ext cx="94448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Raleway" panose="020B0003030101060003" pitchFamily="34" charset="0"/>
                </a:rPr>
                <a:t>Experience</a:t>
              </a:r>
              <a:endParaRPr lang="en-US" sz="1100" b="1" dirty="0">
                <a:latin typeface="Raleway" panose="020B0003030101060003" pitchFamily="34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A4C9E413-DB2D-4EBF-8396-DCC17636F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56793" y="886588"/>
              <a:ext cx="474725" cy="474725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60E1E57-D637-47A0-AD98-FDFE44F0B7B7}"/>
              </a:ext>
            </a:extLst>
          </p:cNvPr>
          <p:cNvGrpSpPr/>
          <p:nvPr/>
        </p:nvGrpSpPr>
        <p:grpSpPr>
          <a:xfrm>
            <a:off x="600655" y="656420"/>
            <a:ext cx="2204450" cy="2041482"/>
            <a:chOff x="6174656" y="706767"/>
            <a:chExt cx="2204450" cy="204148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A1A75E-C6BE-4B3C-9F0E-79B3387B1CC7}"/>
                </a:ext>
              </a:extLst>
            </p:cNvPr>
            <p:cNvSpPr/>
            <p:nvPr/>
          </p:nvSpPr>
          <p:spPr>
            <a:xfrm>
              <a:off x="620330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78FA91E-B4BF-43B6-BBDA-AA09F2462F7B}"/>
                </a:ext>
              </a:extLst>
            </p:cNvPr>
            <p:cNvSpPr txBox="1"/>
            <p:nvPr/>
          </p:nvSpPr>
          <p:spPr>
            <a:xfrm>
              <a:off x="6174656" y="1621026"/>
              <a:ext cx="2204450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b="0" i="0" dirty="0">
                  <a:effectLst/>
                  <a:latin typeface="Raleway" panose="020B0003030101060003" pitchFamily="34" charset="0"/>
                </a:rPr>
                <a:t>Our open Product Driven Delivery </a:t>
              </a:r>
            </a:p>
            <a:p>
              <a:pPr algn="ctr"/>
              <a:r>
                <a:rPr lang="en-US" sz="1000" b="0" i="0" dirty="0">
                  <a:effectLst/>
                  <a:latin typeface="Raleway" panose="020B0003030101060003" pitchFamily="34" charset="0"/>
                </a:rPr>
                <a:t>Model allows customers to </a:t>
              </a:r>
            </a:p>
            <a:p>
              <a:pPr algn="ctr"/>
              <a:r>
                <a:rPr lang="en-US" sz="1000" b="0" i="0" dirty="0">
                  <a:effectLst/>
                  <a:latin typeface="Raleway" panose="020B0003030101060003" pitchFamily="34" charset="0"/>
                </a:rPr>
                <a:t>quickly build, deliver and </a:t>
              </a:r>
            </a:p>
            <a:p>
              <a:pPr algn="ctr"/>
              <a:r>
                <a:rPr lang="en-US" sz="1000" b="0" i="0" dirty="0">
                  <a:effectLst/>
                  <a:latin typeface="Raleway" panose="020B0003030101060003" pitchFamily="34" charset="0"/>
                </a:rPr>
                <a:t>orchestrate cross cloud mesh </a:t>
              </a:r>
            </a:p>
            <a:p>
              <a:pPr algn="ctr"/>
              <a:r>
                <a:rPr lang="en-US" sz="1000" b="0" i="0" dirty="0">
                  <a:effectLst/>
                  <a:latin typeface="Raleway" panose="020B0003030101060003" pitchFamily="34" charset="0"/>
                </a:rPr>
                <a:t>services @50% time &amp; cost</a:t>
              </a:r>
              <a:endParaRPr lang="en-US" sz="1000" dirty="0">
                <a:latin typeface="Raleway" panose="020B0003030101060003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4577B70-8676-4F68-98C7-1A9A87BDBB3E}"/>
                </a:ext>
              </a:extLst>
            </p:cNvPr>
            <p:cNvSpPr txBox="1"/>
            <p:nvPr/>
          </p:nvSpPr>
          <p:spPr>
            <a:xfrm>
              <a:off x="6704450" y="1400893"/>
              <a:ext cx="11448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Raleway" panose="020B0003030101060003" pitchFamily="34" charset="0"/>
                </a:rPr>
                <a:t>Time &amp; Money</a:t>
              </a:r>
              <a:endParaRPr lang="en-US" sz="1100" b="1" dirty="0">
                <a:latin typeface="Raleway" panose="020B0003030101060003" pitchFamily="34" charset="0"/>
              </a:endParaRP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EFE3E376-43E4-4A68-83F2-04F49C1E7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10932" y="871190"/>
              <a:ext cx="450109" cy="450109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7FE2753-F811-4D49-8120-8FFDDB647595}"/>
              </a:ext>
            </a:extLst>
          </p:cNvPr>
          <p:cNvGrpSpPr/>
          <p:nvPr/>
        </p:nvGrpSpPr>
        <p:grpSpPr>
          <a:xfrm>
            <a:off x="3510847" y="2937350"/>
            <a:ext cx="2147146" cy="2052289"/>
            <a:chOff x="3468412" y="2937350"/>
            <a:chExt cx="2147146" cy="205228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7F6D91D-B73C-48F6-9B33-AA0A98BD4CC5}"/>
                </a:ext>
              </a:extLst>
            </p:cNvPr>
            <p:cNvSpPr/>
            <p:nvPr/>
          </p:nvSpPr>
          <p:spPr>
            <a:xfrm>
              <a:off x="3468412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A68159C-08AE-4285-8858-ABBB346332E1}"/>
                </a:ext>
              </a:extLst>
            </p:cNvPr>
            <p:cNvSpPr txBox="1"/>
            <p:nvPr/>
          </p:nvSpPr>
          <p:spPr>
            <a:xfrm>
              <a:off x="3468413" y="3927810"/>
              <a:ext cx="2124004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Raleway" panose="020B0003030101060003" pitchFamily="34" charset="0"/>
                </a:rPr>
                <a:t>Appkube </a:t>
              </a:r>
              <a:r>
                <a:rPr lang="en-US" sz="1050" b="0" i="0" dirty="0">
                  <a:effectLst/>
                  <a:latin typeface="Raleway" panose="020B0003030101060003" pitchFamily="34" charset="0"/>
                </a:rPr>
                <a:t>platform manage all </a:t>
              </a:r>
            </a:p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your </a:t>
              </a:r>
              <a:r>
                <a:rPr lang="en-US" sz="1050" dirty="0">
                  <a:latin typeface="Raleway" panose="020B0003030101060003" pitchFamily="34" charset="0"/>
                </a:rPr>
                <a:t>Service Mesh instances </a:t>
              </a:r>
              <a:r>
                <a:rPr lang="en-US" sz="1050" b="0" i="0" dirty="0">
                  <a:effectLst/>
                  <a:latin typeface="Raleway" panose="020B0003030101060003" pitchFamily="34" charset="0"/>
                </a:rPr>
                <a:t>distributed across multiple clouds and boundaries within a single </a:t>
              </a:r>
              <a:r>
                <a:rPr lang="en-US" sz="1050" dirty="0">
                  <a:latin typeface="Raleway" panose="020B0003030101060003" pitchFamily="34" charset="0"/>
                </a:rPr>
                <a:t>window or as Grafana App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E6A388-4A47-46EC-9919-B64ADA6BE61D}"/>
                </a:ext>
              </a:extLst>
            </p:cNvPr>
            <p:cNvSpPr txBox="1"/>
            <p:nvPr/>
          </p:nvSpPr>
          <p:spPr>
            <a:xfrm>
              <a:off x="3542359" y="3720751"/>
              <a:ext cx="19992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Raleway" panose="020B0003030101060003" pitchFamily="34" charset="0"/>
                </a:rPr>
                <a:t>Simple </a:t>
              </a:r>
              <a:r>
                <a:rPr lang="en-US" sz="1100" b="1" dirty="0">
                  <a:latin typeface="Raleway" panose="020B0003030101060003" pitchFamily="34" charset="0"/>
                </a:rPr>
                <a:t>Management</a:t>
              </a:r>
              <a:r>
                <a:rPr lang="en-US" sz="1100" b="1" i="0" dirty="0">
                  <a:effectLst/>
                  <a:latin typeface="Raleway" panose="020B0003030101060003" pitchFamily="34" charset="0"/>
                </a:rPr>
                <a:t> Plane</a:t>
              </a:r>
              <a:endParaRPr lang="en-US" sz="1100" b="1" dirty="0">
                <a:latin typeface="Raleway" panose="020B0003030101060003" pitchFamily="34" charset="0"/>
              </a:endParaRPr>
            </a:p>
          </p:txBody>
        </p:sp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C7159AAD-AF33-4A59-A68F-EDDFA8B89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367405" y="3170719"/>
              <a:ext cx="409190" cy="40919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7432C30-421E-46CC-8FC3-AE0FFC42E14D}"/>
              </a:ext>
            </a:extLst>
          </p:cNvPr>
          <p:cNvGrpSpPr/>
          <p:nvPr/>
        </p:nvGrpSpPr>
        <p:grpSpPr>
          <a:xfrm>
            <a:off x="6346105" y="2937350"/>
            <a:ext cx="2147146" cy="2041482"/>
            <a:chOff x="6203307" y="2937350"/>
            <a:chExt cx="2147146" cy="204148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D3F2A7D-7C3A-4DF4-9C29-E27614BDEE65}"/>
                </a:ext>
              </a:extLst>
            </p:cNvPr>
            <p:cNvSpPr/>
            <p:nvPr/>
          </p:nvSpPr>
          <p:spPr>
            <a:xfrm>
              <a:off x="6203307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126DD3-0726-411A-8106-C3DC1C3E1BE2}"/>
                </a:ext>
              </a:extLst>
            </p:cNvPr>
            <p:cNvSpPr txBox="1"/>
            <p:nvPr/>
          </p:nvSpPr>
          <p:spPr>
            <a:xfrm>
              <a:off x="6203509" y="3927810"/>
              <a:ext cx="2146742" cy="9002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Our compliance and </a:t>
              </a:r>
            </a:p>
            <a:p>
              <a:pPr algn="ctr"/>
              <a:r>
                <a:rPr lang="en-US" sz="1050" dirty="0">
                  <a:latin typeface="Raleway" panose="020B0003030101060003" pitchFamily="34" charset="0"/>
                </a:rPr>
                <a:t>performance</a:t>
              </a:r>
              <a:r>
                <a:rPr lang="en-US" sz="1050" b="0" i="0" dirty="0">
                  <a:effectLst/>
                  <a:latin typeface="Raleway" panose="020B0003030101060003" pitchFamily="34" charset="0"/>
                </a:rPr>
                <a:t> assessment tools </a:t>
              </a:r>
            </a:p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make sure your </a:t>
              </a:r>
              <a:r>
                <a:rPr lang="en-US" sz="1050" dirty="0">
                  <a:latin typeface="Raleway" panose="020B0003030101060003" pitchFamily="34" charset="0"/>
                </a:rPr>
                <a:t>service mesh</a:t>
              </a:r>
              <a:r>
                <a:rPr lang="en-US" sz="1050" b="0" i="0" dirty="0">
                  <a:effectLst/>
                  <a:latin typeface="Raleway" panose="020B0003030101060003" pitchFamily="34" charset="0"/>
                </a:rPr>
                <a:t> </a:t>
              </a:r>
            </a:p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journey meets your </a:t>
              </a:r>
            </a:p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business SLO</a:t>
              </a:r>
              <a:endParaRPr lang="en-US" sz="1050" dirty="0">
                <a:latin typeface="Raleway" panose="020B0003030101060003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1DD8A5-47A8-4FA7-99AD-9BC26EA031E0}"/>
                </a:ext>
              </a:extLst>
            </p:cNvPr>
            <p:cNvSpPr txBox="1"/>
            <p:nvPr/>
          </p:nvSpPr>
          <p:spPr>
            <a:xfrm>
              <a:off x="6311717" y="3720751"/>
              <a:ext cx="193033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Raleway" panose="020B0003030101060003" pitchFamily="34" charset="0"/>
                </a:rPr>
                <a:t>Compliance &amp; </a:t>
              </a:r>
              <a:r>
                <a:rPr lang="en-US" sz="1100" b="1" dirty="0">
                  <a:latin typeface="Raleway" panose="020B0003030101060003" pitchFamily="34" charset="0"/>
                </a:rPr>
                <a:t>Verification</a:t>
              </a: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1B8E0D0D-BF9F-4C38-86FD-B8AA862D46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076298" y="3150260"/>
              <a:ext cx="450109" cy="450109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2D8AE21-E826-4C08-9E20-C911EC502090}"/>
              </a:ext>
            </a:extLst>
          </p:cNvPr>
          <p:cNvGrpSpPr/>
          <p:nvPr/>
        </p:nvGrpSpPr>
        <p:grpSpPr>
          <a:xfrm>
            <a:off x="629305" y="2937350"/>
            <a:ext cx="2147146" cy="2041482"/>
            <a:chOff x="6203307" y="2937350"/>
            <a:chExt cx="2147146" cy="204148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F2EEE2A-6D98-4EE5-A072-915D1EAAB76F}"/>
                </a:ext>
              </a:extLst>
            </p:cNvPr>
            <p:cNvSpPr/>
            <p:nvPr/>
          </p:nvSpPr>
          <p:spPr>
            <a:xfrm>
              <a:off x="6203307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395942E-F129-415C-BB6A-A62D55CD334B}"/>
                </a:ext>
              </a:extLst>
            </p:cNvPr>
            <p:cNvSpPr txBox="1"/>
            <p:nvPr/>
          </p:nvSpPr>
          <p:spPr>
            <a:xfrm>
              <a:off x="6221142" y="3927810"/>
              <a:ext cx="2111475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100% Customer Retention Rate</a:t>
              </a:r>
            </a:p>
            <a:p>
              <a:pPr algn="ctr"/>
              <a:r>
                <a:rPr lang="en-US" sz="1050" dirty="0">
                  <a:latin typeface="Raleway" panose="020B0003030101060003" pitchFamily="34" charset="0"/>
                </a:rPr>
                <a:t>s</a:t>
              </a:r>
              <a:r>
                <a:rPr lang="en-US" sz="1050" b="0" i="0" dirty="0">
                  <a:effectLst/>
                  <a:latin typeface="Raleway" panose="020B0003030101060003" pitchFamily="34" charset="0"/>
                </a:rPr>
                <a:t>ubstantiated by excellent </a:t>
              </a:r>
            </a:p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services</a:t>
              </a:r>
              <a:endParaRPr lang="en-US" sz="1050" dirty="0">
                <a:latin typeface="Raleway" panose="020B0003030101060003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0CFDD9C-5C2D-4034-836B-76C52C90D5F5}"/>
                </a:ext>
              </a:extLst>
            </p:cNvPr>
            <p:cNvSpPr txBox="1"/>
            <p:nvPr/>
          </p:nvSpPr>
          <p:spPr>
            <a:xfrm>
              <a:off x="6469611" y="3720751"/>
              <a:ext cx="161454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Raleway" panose="020B0003030101060003" pitchFamily="34" charset="0"/>
                </a:rPr>
                <a:t>Long Term Retention</a:t>
              </a:r>
              <a:endParaRPr lang="en-US" sz="1100" b="1" dirty="0">
                <a:latin typeface="Raleway" panose="020B0003030101060003" pitchFamily="34" charset="0"/>
              </a:endParaRP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CF873C04-7716-4CD0-BCBD-0F3BDF94D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054111" y="3114212"/>
              <a:ext cx="522197" cy="5221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8333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478352A-25F3-43AF-A4E4-C568CC1A7FD5}"/>
              </a:ext>
            </a:extLst>
          </p:cNvPr>
          <p:cNvGrpSpPr/>
          <p:nvPr/>
        </p:nvGrpSpPr>
        <p:grpSpPr>
          <a:xfrm>
            <a:off x="6306865" y="2937350"/>
            <a:ext cx="2225289" cy="2041482"/>
            <a:chOff x="650116" y="706767"/>
            <a:chExt cx="2225289" cy="204148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53709F2-385A-4A43-A223-78E6DF562B06}"/>
                </a:ext>
              </a:extLst>
            </p:cNvPr>
            <p:cNvSpPr/>
            <p:nvPr/>
          </p:nvSpPr>
          <p:spPr>
            <a:xfrm>
              <a:off x="68918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9B1BA7-02FB-4C2B-BFEB-CD9AF398550A}"/>
                </a:ext>
              </a:extLst>
            </p:cNvPr>
            <p:cNvSpPr txBox="1"/>
            <p:nvPr/>
          </p:nvSpPr>
          <p:spPr>
            <a:xfrm>
              <a:off x="650116" y="1621026"/>
              <a:ext cx="2225289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Use our existing automation</a:t>
              </a:r>
            </a:p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capabilities to automate </a:t>
              </a:r>
            </a:p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infrastructure, operations,</a:t>
              </a:r>
            </a:p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security in hybrid IT environment</a:t>
              </a:r>
              <a:endParaRPr lang="en-US" sz="1050" dirty="0">
                <a:latin typeface="Raleway" panose="020B0003030101060003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4840CAF-018E-48B0-BA68-083E25C80582}"/>
                </a:ext>
              </a:extLst>
            </p:cNvPr>
            <p:cNvSpPr txBox="1"/>
            <p:nvPr/>
          </p:nvSpPr>
          <p:spPr>
            <a:xfrm>
              <a:off x="1273687" y="1400893"/>
              <a:ext cx="9781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Raleway" panose="020B0003030101060003" pitchFamily="34" charset="0"/>
                </a:rPr>
                <a:t>Automation</a:t>
              </a:r>
              <a:endParaRPr lang="en-US" sz="1100" b="1" dirty="0">
                <a:latin typeface="Raleway" panose="020B0003030101060003" pitchFamily="34" charset="0"/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0363C06-E528-4201-8A1D-D8BFC4849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18888" y="841755"/>
              <a:ext cx="495120" cy="49512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8292871-787C-468F-ABB3-5FBE2DEB4CC5}"/>
              </a:ext>
            </a:extLst>
          </p:cNvPr>
          <p:cNvGrpSpPr/>
          <p:nvPr/>
        </p:nvGrpSpPr>
        <p:grpSpPr>
          <a:xfrm>
            <a:off x="3488436" y="706767"/>
            <a:ext cx="2147146" cy="2041482"/>
            <a:chOff x="3446247" y="706767"/>
            <a:chExt cx="2147146" cy="204148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7D55C3-5CCB-4769-BDA1-2AF3082B0F60}"/>
                </a:ext>
              </a:extLst>
            </p:cNvPr>
            <p:cNvSpPr/>
            <p:nvPr/>
          </p:nvSpPr>
          <p:spPr>
            <a:xfrm>
              <a:off x="344624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A4D4D41-B53F-4656-A02E-339B4565C531}"/>
                </a:ext>
              </a:extLst>
            </p:cNvPr>
            <p:cNvSpPr txBox="1"/>
            <p:nvPr/>
          </p:nvSpPr>
          <p:spPr>
            <a:xfrm>
              <a:off x="3597131" y="1621026"/>
              <a:ext cx="1845377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Our advanced partnership </a:t>
              </a:r>
            </a:p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with major public cloud </a:t>
              </a:r>
            </a:p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providers help you to get </a:t>
              </a:r>
            </a:p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support at every stage</a:t>
              </a:r>
              <a:endParaRPr lang="en-US" sz="1050" dirty="0">
                <a:latin typeface="Raleway" panose="020B0003030101060003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65F285-400D-4C11-B715-CDAB18E3977A}"/>
                </a:ext>
              </a:extLst>
            </p:cNvPr>
            <p:cNvSpPr txBox="1"/>
            <p:nvPr/>
          </p:nvSpPr>
          <p:spPr>
            <a:xfrm>
              <a:off x="3587518" y="1400893"/>
              <a:ext cx="186461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Raleway" panose="020B0003030101060003" pitchFamily="34" charset="0"/>
                </a:rPr>
                <a:t>Public Cloud Partnership</a:t>
              </a:r>
              <a:endParaRPr lang="en-US" sz="1100" b="1" dirty="0">
                <a:latin typeface="Raleway" panose="020B0003030101060003" pitchFamily="34" charset="0"/>
              </a:endParaRPr>
            </a:p>
          </p:txBody>
        </p:sp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B16FA376-851B-4E67-9719-E5FD710BA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37818" y="803622"/>
              <a:ext cx="599095" cy="599095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94369B7-46B3-43A7-9416-D2F492692E93}"/>
              </a:ext>
            </a:extLst>
          </p:cNvPr>
          <p:cNvGrpSpPr/>
          <p:nvPr/>
        </p:nvGrpSpPr>
        <p:grpSpPr>
          <a:xfrm>
            <a:off x="6345936" y="706767"/>
            <a:ext cx="2147146" cy="2041482"/>
            <a:chOff x="6203307" y="706767"/>
            <a:chExt cx="2147146" cy="204148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A1A75E-C6BE-4B3C-9F0E-79B3387B1CC7}"/>
                </a:ext>
              </a:extLst>
            </p:cNvPr>
            <p:cNvSpPr/>
            <p:nvPr/>
          </p:nvSpPr>
          <p:spPr>
            <a:xfrm>
              <a:off x="620330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78FA91E-B4BF-43B6-BBDA-AA09F2462F7B}"/>
                </a:ext>
              </a:extLst>
            </p:cNvPr>
            <p:cNvSpPr txBox="1"/>
            <p:nvPr/>
          </p:nvSpPr>
          <p:spPr>
            <a:xfrm>
              <a:off x="6239585" y="1621026"/>
              <a:ext cx="2074607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>
                  <a:latin typeface="Raleway" panose="020B0003030101060003" pitchFamily="34" charset="0"/>
                </a:rPr>
                <a:t>Committed to codifying </a:t>
              </a:r>
            </a:p>
            <a:p>
              <a:pPr algn="ctr"/>
              <a:r>
                <a:rPr lang="en-US" sz="1050" dirty="0">
                  <a:latin typeface="Raleway" panose="020B0003030101060003" pitchFamily="34" charset="0"/>
                </a:rPr>
                <a:t>our know-how, we write open </a:t>
              </a:r>
            </a:p>
            <a:p>
              <a:pPr algn="ctr"/>
              <a:r>
                <a:rPr lang="en-US" sz="1050" dirty="0">
                  <a:latin typeface="Raleway" panose="020B0003030101060003" pitchFamily="34" charset="0"/>
                </a:rPr>
                <a:t>Products and Distribute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4577B70-8676-4F68-98C7-1A9A87BDBB3E}"/>
                </a:ext>
              </a:extLst>
            </p:cNvPr>
            <p:cNvSpPr txBox="1"/>
            <p:nvPr/>
          </p:nvSpPr>
          <p:spPr>
            <a:xfrm>
              <a:off x="6292480" y="1400893"/>
              <a:ext cx="19688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Raleway" panose="020B0003030101060003" pitchFamily="34" charset="0"/>
                </a:rPr>
                <a:t>Open-Source Contribution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33D78A1B-7420-454B-994A-5F3576EB0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048587" y="843477"/>
              <a:ext cx="450109" cy="450109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CE6BCCA-E098-42FA-AEA0-89CF07D38CFC}"/>
              </a:ext>
            </a:extLst>
          </p:cNvPr>
          <p:cNvGrpSpPr/>
          <p:nvPr/>
        </p:nvGrpSpPr>
        <p:grpSpPr>
          <a:xfrm>
            <a:off x="607099" y="2937350"/>
            <a:ext cx="2194832" cy="2041482"/>
            <a:chOff x="665350" y="2937350"/>
            <a:chExt cx="2194832" cy="204148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D4372AF-A4BA-4693-A78E-2FCEF169017F}"/>
                </a:ext>
              </a:extLst>
            </p:cNvPr>
            <p:cNvSpPr/>
            <p:nvPr/>
          </p:nvSpPr>
          <p:spPr>
            <a:xfrm>
              <a:off x="689187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A18D696-0450-4347-87C4-AE07256728AE}"/>
                </a:ext>
              </a:extLst>
            </p:cNvPr>
            <p:cNvSpPr txBox="1"/>
            <p:nvPr/>
          </p:nvSpPr>
          <p:spPr>
            <a:xfrm>
              <a:off x="665350" y="3927810"/>
              <a:ext cx="2194832" cy="9002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>
                  <a:latin typeface="Raleway" panose="020B0003030101060003" pitchFamily="34" charset="0"/>
                </a:rPr>
                <a:t>Our tools and utilities are </a:t>
              </a:r>
            </a:p>
            <a:p>
              <a:pPr algn="ctr"/>
              <a:r>
                <a:rPr lang="en-US" sz="1050" dirty="0">
                  <a:latin typeface="Raleway" panose="020B0003030101060003" pitchFamily="34" charset="0"/>
                </a:rPr>
                <a:t>Complete open, highly </a:t>
              </a:r>
            </a:p>
            <a:p>
              <a:pPr algn="ctr"/>
              <a:r>
                <a:rPr lang="en-US" sz="1050" dirty="0">
                  <a:latin typeface="Raleway" panose="020B0003030101060003" pitchFamily="34" charset="0"/>
                </a:rPr>
                <a:t>extensible. They can modernize </a:t>
              </a:r>
            </a:p>
            <a:p>
              <a:pPr algn="ctr"/>
              <a:r>
                <a:rPr lang="en-US" sz="1050" dirty="0">
                  <a:latin typeface="Raleway" panose="020B0003030101060003" pitchFamily="34" charset="0"/>
                </a:rPr>
                <a:t>your IT inventory without </a:t>
              </a:r>
            </a:p>
            <a:p>
              <a:pPr algn="ctr"/>
              <a:r>
                <a:rPr lang="en-US" sz="1050" dirty="0">
                  <a:latin typeface="Raleway" panose="020B0003030101060003" pitchFamily="34" charset="0"/>
                </a:rPr>
                <a:t>rewriting your application.</a:t>
              </a:r>
              <a:endParaRPr lang="en-US" sz="1050" b="0" i="0" dirty="0">
                <a:effectLst/>
                <a:latin typeface="Raleway" panose="020B0003030101060003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ADFCC1B-F0DA-4084-9A9A-6FAC1C746F1D}"/>
                </a:ext>
              </a:extLst>
            </p:cNvPr>
            <p:cNvSpPr txBox="1"/>
            <p:nvPr/>
          </p:nvSpPr>
          <p:spPr>
            <a:xfrm>
              <a:off x="1327392" y="3720751"/>
              <a:ext cx="8707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Raleway" panose="020B0003030101060003" pitchFamily="34" charset="0"/>
                </a:rPr>
                <a:t>Flexibility </a:t>
              </a:r>
            </a:p>
          </p:txBody>
        </p: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EAC1EDEA-F65B-49F3-994A-8FB31510A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73670" y="3158737"/>
              <a:ext cx="474725" cy="474725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B15903E-72D3-4F96-A3BD-1DE46B6FDC3F}"/>
              </a:ext>
            </a:extLst>
          </p:cNvPr>
          <p:cNvGrpSpPr/>
          <p:nvPr/>
        </p:nvGrpSpPr>
        <p:grpSpPr>
          <a:xfrm>
            <a:off x="3488436" y="2937350"/>
            <a:ext cx="2147146" cy="2041482"/>
            <a:chOff x="3468412" y="2937350"/>
            <a:chExt cx="2147146" cy="204148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7F6D91D-B73C-48F6-9B33-AA0A98BD4CC5}"/>
                </a:ext>
              </a:extLst>
            </p:cNvPr>
            <p:cNvSpPr/>
            <p:nvPr/>
          </p:nvSpPr>
          <p:spPr>
            <a:xfrm>
              <a:off x="3468412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A68159C-08AE-4285-8858-ABBB346332E1}"/>
                </a:ext>
              </a:extLst>
            </p:cNvPr>
            <p:cNvSpPr txBox="1"/>
            <p:nvPr/>
          </p:nvSpPr>
          <p:spPr>
            <a:xfrm>
              <a:off x="3600861" y="3927810"/>
              <a:ext cx="1882247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Our every engagement </a:t>
              </a:r>
            </a:p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focused on empowerment </a:t>
              </a:r>
            </a:p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– not dependency</a:t>
              </a:r>
              <a:endParaRPr lang="en-US" sz="1050" dirty="0">
                <a:latin typeface="Raleway" panose="020B0003030101060003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E6A388-4A47-46EC-9919-B64ADA6BE61D}"/>
                </a:ext>
              </a:extLst>
            </p:cNvPr>
            <p:cNvSpPr txBox="1"/>
            <p:nvPr/>
          </p:nvSpPr>
          <p:spPr>
            <a:xfrm>
              <a:off x="3782807" y="3720751"/>
              <a:ext cx="15183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Raleway" panose="020B0003030101060003" pitchFamily="34" charset="0"/>
                </a:rPr>
                <a:t>Engagement Model</a:t>
              </a:r>
              <a:endParaRPr lang="en-US" sz="1100" b="1" dirty="0">
                <a:latin typeface="Raleway" panose="020B0003030101060003" pitchFamily="34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D4091BA8-1794-473A-88FA-A5EE5C1FA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289805" y="3134681"/>
              <a:ext cx="495120" cy="49512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E5CEC4F-56C3-43E8-8770-AB3D4F134FF0}"/>
              </a:ext>
            </a:extLst>
          </p:cNvPr>
          <p:cNvGrpSpPr/>
          <p:nvPr/>
        </p:nvGrpSpPr>
        <p:grpSpPr>
          <a:xfrm>
            <a:off x="618316" y="662395"/>
            <a:ext cx="2172390" cy="2041482"/>
            <a:chOff x="676567" y="2937350"/>
            <a:chExt cx="2172390" cy="204148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F0AA6E9-4ADC-4229-BBA7-11AB8625A6BD}"/>
                </a:ext>
              </a:extLst>
            </p:cNvPr>
            <p:cNvSpPr/>
            <p:nvPr/>
          </p:nvSpPr>
          <p:spPr>
            <a:xfrm>
              <a:off x="689187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4B44323-DC03-4634-B9D5-236FED081938}"/>
                </a:ext>
              </a:extLst>
            </p:cNvPr>
            <p:cNvSpPr txBox="1"/>
            <p:nvPr/>
          </p:nvSpPr>
          <p:spPr>
            <a:xfrm>
              <a:off x="676567" y="3927810"/>
              <a:ext cx="2172390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Single point of contact for </a:t>
              </a:r>
            </a:p>
            <a:p>
              <a:pPr algn="ctr"/>
              <a:r>
                <a:rPr lang="en-US" sz="1050" b="0" i="0" dirty="0">
                  <a:effectLst/>
                  <a:latin typeface="Raleway" panose="020B0003030101060003" pitchFamily="34" charset="0"/>
                </a:rPr>
                <a:t>Assessment, Planning, Design, </a:t>
              </a:r>
            </a:p>
            <a:p>
              <a:pPr algn="ctr"/>
              <a:r>
                <a:rPr lang="en-US" sz="1050" dirty="0">
                  <a:latin typeface="Raleway" panose="020B0003030101060003" pitchFamily="34" charset="0"/>
                </a:rPr>
                <a:t>Execution</a:t>
              </a:r>
              <a:r>
                <a:rPr lang="en-US" sz="1050" b="0" i="0" dirty="0">
                  <a:effectLst/>
                  <a:latin typeface="Raleway" panose="020B0003030101060003" pitchFamily="34" charset="0"/>
                </a:rPr>
                <a:t> and Integration </a:t>
              </a:r>
            </a:p>
            <a:p>
              <a:pPr algn="ctr"/>
              <a:r>
                <a:rPr lang="en-US" sz="1050" dirty="0">
                  <a:latin typeface="Raleway" panose="020B0003030101060003" pitchFamily="34" charset="0"/>
                </a:rPr>
                <a:t>of </a:t>
              </a:r>
              <a:r>
                <a:rPr lang="en-US" sz="1050" b="0" i="0" dirty="0">
                  <a:effectLst/>
                  <a:latin typeface="Raleway" panose="020B0003030101060003" pitchFamily="34" charset="0"/>
                </a:rPr>
                <a:t> cloud-native mesh.</a:t>
              </a:r>
              <a:endParaRPr lang="en-US" sz="1050" dirty="0">
                <a:latin typeface="Raleway" panose="020B0003030101060003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CEA2D88-10BE-423F-A6AC-744B49424C10}"/>
                </a:ext>
              </a:extLst>
            </p:cNvPr>
            <p:cNvSpPr txBox="1"/>
            <p:nvPr/>
          </p:nvSpPr>
          <p:spPr>
            <a:xfrm>
              <a:off x="1247238" y="3720751"/>
              <a:ext cx="10310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Raleway" panose="020B0003030101060003" pitchFamily="34" charset="0"/>
                </a:rPr>
                <a:t>E2E Solution</a:t>
              </a:r>
              <a:endParaRPr lang="en-US" sz="1100" b="1" dirty="0">
                <a:latin typeface="Raleway" panose="020B0003030101060003" pitchFamily="34" charset="0"/>
              </a:endParaRP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29ED8C96-ADBD-4440-AD05-268861F9A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513686" y="3143338"/>
              <a:ext cx="450109" cy="450109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F23F76E-C6B7-4AB1-94B6-BEF690821E40}"/>
              </a:ext>
            </a:extLst>
          </p:cNvPr>
          <p:cNvSpPr txBox="1"/>
          <p:nvPr/>
        </p:nvSpPr>
        <p:spPr>
          <a:xfrm>
            <a:off x="1119641" y="41559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Differentiator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885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1BF9A0-A380-42E8-B81F-03D2471160C1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3044F30-6B1E-4C15-80A9-7FE40FEE09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ca88f8-a7ae-4cfc-9184-d6b131f630bb"/>
    <ds:schemaRef ds:uri="c5a4b99e-4ccc-4a5c-98e4-7ab8633fd4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7103</TotalTime>
  <Words>945</Words>
  <Application>Microsoft Office PowerPoint</Application>
  <PresentationFormat>On-screen Show (16:9)</PresentationFormat>
  <Paragraphs>260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Calibri</vt:lpstr>
      <vt:lpstr>Calibri Light</vt:lpstr>
      <vt:lpstr>Helvetica</vt:lpstr>
      <vt:lpstr>Raleway</vt:lpstr>
      <vt:lpstr>Raleway ExtraBold</vt:lpstr>
      <vt:lpstr>Raleway Medium</vt:lpstr>
      <vt:lpstr>Roboto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Akbar Khan</dc:creator>
  <cp:lastModifiedBy>Akbar Khan</cp:lastModifiedBy>
  <cp:revision>162</cp:revision>
  <dcterms:created xsi:type="dcterms:W3CDTF">2020-09-08T11:22:38Z</dcterms:created>
  <dcterms:modified xsi:type="dcterms:W3CDTF">2022-09-20T15:03:47Z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</Properties>
</file>