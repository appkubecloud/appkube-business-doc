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324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pu Bhattacharya" initials="PB" lastIdx="1" clrIdx="0">
    <p:extLst>
      <p:ext uri="{19B8F6BF-5375-455C-9EA6-DF929625EA0E}">
        <p15:presenceInfo xmlns:p15="http://schemas.microsoft.com/office/powerpoint/2012/main" userId="S::papu.bhattacharya@synectiks.com::2280e00b-70e3-47b8-954c-0faca14d8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919D9D"/>
    <a:srgbClr val="FFC000"/>
    <a:srgbClr val="5A6F8C"/>
    <a:srgbClr val="3D97CF"/>
    <a:srgbClr val="EE853E"/>
    <a:srgbClr val="2B2B2B"/>
    <a:srgbClr val="2E2E2D"/>
    <a:srgbClr val="859EAB"/>
    <a:srgbClr val="E23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3730" autoAdjust="0"/>
  </p:normalViewPr>
  <p:slideViewPr>
    <p:cSldViewPr snapToGrid="0">
      <p:cViewPr varScale="1">
        <p:scale>
          <a:sx n="77" d="100"/>
          <a:sy n="77" d="100"/>
        </p:scale>
        <p:origin x="192" y="68"/>
      </p:cViewPr>
      <p:guideLst>
        <p:guide pos="3840"/>
        <p:guide orient="horz" pos="324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711C8D9-35FB-4256-B7B4-7311814253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010164-668F-464C-B7B2-1730F6EED1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8A0DAC6-5924-43D2-9238-6A3A8FA5DAE7}" type="datetimeFigureOut">
              <a:rPr lang="ru-RU"/>
              <a:pPr>
                <a:defRPr/>
              </a:pPr>
              <a:t>20.03.2022</a:t>
            </a:fld>
            <a:endParaRPr lang="ru-RU" dirty="0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55D7B54E-1B69-461A-9760-B9A0B18B3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7E1E3FF1-3635-4414-8E43-095C316C4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432E30-D37F-4020-BD96-76D507996B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F17E46-5BB4-4DF6-81B8-FE420597A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D54283D-B617-4C0C-8B6C-DC7F41934E1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2914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1536700" y="1174049"/>
            <a:ext cx="1828800" cy="329565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6938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EF28CCA-ACB3-4A11-933F-7EBB3F7FB4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13B4B77-E309-4776-BDE2-F9F2DECBECA7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C664F10-4CBB-4938-BF70-C5B071D909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9396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6">
            <a:extLst>
              <a:ext uri="{FF2B5EF4-FFF2-40B4-BE49-F238E27FC236}">
                <a16:creationId xmlns:a16="http://schemas.microsoft.com/office/drawing/2014/main" id="{5CFBCA73-2F0C-4522-9A20-54B788A8FB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587E485-6DB0-4D55-8091-530723EB146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84C42049-9CF1-4C33-9D2B-63ABEFF35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1"/>
          </p:nvPr>
        </p:nvSpPr>
        <p:spPr>
          <a:xfrm>
            <a:off x="985962" y="1502796"/>
            <a:ext cx="2997641" cy="40154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644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0F6B3C34-BC18-4C25-AA33-07C5907A217C}"/>
              </a:ext>
            </a:extLst>
          </p:cNvPr>
          <p:cNvSpPr/>
          <p:nvPr userDrawn="1"/>
        </p:nvSpPr>
        <p:spPr>
          <a:xfrm>
            <a:off x="8478838" y="0"/>
            <a:ext cx="371316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2EA17AA2-7945-40FC-9355-4675866C87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7D08EDB-785C-43C0-BE23-041849E8AED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207AB24F-3E63-4B3A-B708-5619D6A83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6104228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698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737131DA-1213-4163-A8FA-F632AFB7687F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16C87B2-7FA1-40AE-B178-391CE67CD4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702089B-3E1A-40FF-A412-C72F92F51DDB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F5B8749F-A043-4820-904F-BE48A639B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3713583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02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31038639-2656-42E2-84FC-D33C9CF3FFD9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9A1224CE-F5FC-4868-BCED-83DCEE42FC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9060CB-6C2D-42FA-8FB2-ADE7815DDD8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B88CDA52-0771-4C8A-BE11-4D518238F9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4717433" y="1558457"/>
            <a:ext cx="3009445" cy="40120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95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54B1EFD0-2E7C-43A1-8086-FBDCCC2C8D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45231EA1-A9D5-46AA-A27D-8D1446BCEB5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2683D06-F1E9-499E-B2B3-A75C78032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2CF6A33C-93AF-4ABA-9796-F8076F8A15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CD1EEED7-AB68-4ADA-A3ED-2F04168FB98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2F3ED4C-CCBD-4FD2-934E-759BDCB5865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21895EFE-348C-4FEF-B3AF-732F1380986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8764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8473537-DC6C-445C-8F5A-7D6EA64E49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B59364-88A1-46CC-B23E-A480BB785429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E2B355A-513E-4159-8F89-08A4EB97A2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8D64607B-A57C-43ED-A5F2-DD4EAC1E8F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23475647-5819-4916-9F92-47E69E2E406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B86F076A-737F-4181-BCAC-3D7F066502D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7F02FE5-C9D9-44FD-800C-D40FDF0CB7D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868063" y="1979875"/>
            <a:ext cx="4738977" cy="300559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6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26E22725-4763-46E8-AC41-683CE19092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B44EB110-F8B3-46CB-B985-F1E0D118AD3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BA3514D-CF02-44CD-834D-5A5693568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CEBD0EC7-2F92-4CC4-AE53-BA72F3696AD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6FA479B-F63E-4A75-A745-2B569E4601D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DBE2DC1-5972-4C1F-95BD-6F292706B08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078E7D6-1B02-4CF4-B5D3-0571A36952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1512047" y="2542501"/>
            <a:ext cx="4141694" cy="26156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47915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417C6BF-9776-415B-8B77-E5996EB267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9D2824-1258-499F-993C-6333E7B243DC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DB7F5C48-94C2-4ED0-8C06-A7931190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4508B975-3C32-43CD-9C1F-4303AE0FA16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67170EA5-80C5-47A2-B3FA-AE59319F617F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D6A0DE13-6FFA-460E-96C6-5EC8A6F164F5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17D07CDF-8066-4430-9DD2-37FB464A518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419225" y="2511016"/>
            <a:ext cx="1214823" cy="1214823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1895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E9DC02E-A816-4317-8C59-9EED72928E07}"/>
              </a:ext>
            </a:extLst>
          </p:cNvPr>
          <p:cNvSpPr/>
          <p:nvPr userDrawn="1"/>
        </p:nvSpPr>
        <p:spPr>
          <a:xfrm>
            <a:off x="0" y="0"/>
            <a:ext cx="54483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C9EC454-DF44-44D6-B711-A20DB42A7B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DD9EB26-DB88-4390-B3E8-4B4EC703884B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C89B8ED3-B14F-4640-9CA6-873DBD1F19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Рисунок 7"/>
          <p:cNvSpPr>
            <a:spLocks noGrp="1"/>
          </p:cNvSpPr>
          <p:nvPr>
            <p:ph type="pic" sz="quarter" idx="10"/>
          </p:nvPr>
        </p:nvSpPr>
        <p:spPr>
          <a:xfrm>
            <a:off x="5447721" y="0"/>
            <a:ext cx="674427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05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1FC0B1-B37B-4E0C-A673-085A70A7FFAA}"/>
              </a:ext>
            </a:extLst>
          </p:cNvPr>
          <p:cNvSpPr/>
          <p:nvPr userDrawn="1"/>
        </p:nvSpPr>
        <p:spPr>
          <a:xfrm>
            <a:off x="4776788" y="0"/>
            <a:ext cx="7415212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55964EA4-3D95-4889-B07F-FBA3D810E1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25F8569-E07D-47E8-91B6-BBBC916FEAA5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02EDD3C-6284-4715-9D47-120119D29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77671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30444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6D3917-6035-4860-977A-98FFBCD3D956}"/>
              </a:ext>
            </a:extLst>
          </p:cNvPr>
          <p:cNvSpPr/>
          <p:nvPr userDrawn="1"/>
        </p:nvSpPr>
        <p:spPr>
          <a:xfrm>
            <a:off x="5838825" y="0"/>
            <a:ext cx="6353175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880FC3A-143D-4B12-957E-CA8FDDFF92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1CD4E18-A744-4BDD-93AE-5F891D74183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E2333D48-8ACC-4154-AFCA-37EE696B46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5838825" cy="367886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5918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121119AA-F583-41D5-83EF-4C5C39DBB2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791080BF-311D-4D88-A06A-F17198E549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38830DB-1696-4888-983B-AA60A2989C81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8">
            <a:extLst>
              <a:ext uri="{FF2B5EF4-FFF2-40B4-BE49-F238E27FC236}">
                <a16:creationId xmlns:a16="http://schemas.microsoft.com/office/drawing/2014/main" id="{E273DE62-B604-41D3-94A5-A9B414632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9">
            <a:extLst>
              <a:ext uri="{FF2B5EF4-FFF2-40B4-BE49-F238E27FC236}">
                <a16:creationId xmlns:a16="http://schemas.microsoft.com/office/drawing/2014/main" id="{9A6B85F2-F1FF-46D7-8DF1-6630019359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DF714C10-208E-431A-A022-E2F998DF533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2304D868-18B2-44E5-BA0F-828CA461A64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2">
              <a:extLst>
                <a:ext uri="{FF2B5EF4-FFF2-40B4-BE49-F238E27FC236}">
                  <a16:creationId xmlns:a16="http://schemas.microsoft.com/office/drawing/2014/main" id="{4DEBA1FB-047C-4B3E-93B9-5B1A297D2FDD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955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AE18CC4-6CF9-40A0-A2B5-AD88AE119A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A72A9B4-8B97-4110-B419-EB5C2BF302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5A094446-B3D0-4CFE-B794-5F688E87C7D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DFDF6D1-D685-4D08-A793-8884E239F4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Группа 9">
            <a:extLst>
              <a:ext uri="{FF2B5EF4-FFF2-40B4-BE49-F238E27FC236}">
                <a16:creationId xmlns:a16="http://schemas.microsoft.com/office/drawing/2014/main" id="{9D61B4B1-FDB5-472D-B980-9C6A9D7A0D2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6D77E667-E8FD-4507-B9D1-E3D51B64A836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728420EA-1BDD-404A-A9EF-101D5E45AEA0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2">
              <a:extLst>
                <a:ext uri="{FF2B5EF4-FFF2-40B4-BE49-F238E27FC236}">
                  <a16:creationId xmlns:a16="http://schemas.microsoft.com/office/drawing/2014/main" id="{4AA9FE46-4190-47B9-9E60-8AC27251D57F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51615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468630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68603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60BF317-1D87-4939-8579-56069438D6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7EE12B-1395-4D9B-B64A-8E00FE874F2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09BABB20-CD97-4DD4-A251-933CAD01D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7448551" y="0"/>
            <a:ext cx="474345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1807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F9D52246-9969-4C90-9B70-0D7132EFE2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23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86155B8-B336-4538-B3F4-30F871BBB9CD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EBAF293-FFD7-48D7-A900-E42F253025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975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F8E14C0C-58A5-4618-84FA-6772DAEB3A9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461A876B-3285-4B45-A16E-285B5A201BD3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7A5E2A5-650F-41B6-99A1-53A33EEFF02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4BAD4B13-C0AF-4B55-83D8-5B1742E2B11A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429904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94386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88E2142-B8AF-4D7D-B146-FDDCA8901E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58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263582A-CD3A-4932-A1C3-66345066D052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A35E877-83A6-49A3-B723-CDD3A317E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3B35D16A-5A6E-4E28-8C21-5ABC5C79C4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F7021100-9BD7-43D1-9977-8E84C278509A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B32C908E-40EC-4A36-AFF8-95258C86DE8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D7AC1030-93A3-4283-B29B-ADA04CF17BC7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557852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1569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719618"/>
            <a:ext cx="12192001" cy="51383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86114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970725"/>
            <a:ext cx="12192001" cy="29165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89756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828800"/>
            <a:ext cx="12192000" cy="50292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1"/>
          </p:nvPr>
        </p:nvSpPr>
        <p:spPr>
          <a:xfrm>
            <a:off x="1282274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9"/>
          <p:cNvSpPr>
            <a:spLocks noGrp="1"/>
          </p:cNvSpPr>
          <p:nvPr>
            <p:ph type="pic" sz="quarter" idx="12"/>
          </p:nvPr>
        </p:nvSpPr>
        <p:spPr>
          <a:xfrm>
            <a:off x="3331712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9"/>
          <p:cNvSpPr>
            <a:spLocks noGrp="1"/>
          </p:cNvSpPr>
          <p:nvPr>
            <p:ph type="pic" sz="quarter" idx="13"/>
          </p:nvPr>
        </p:nvSpPr>
        <p:spPr>
          <a:xfrm>
            <a:off x="5381150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4"/>
          </p:nvPr>
        </p:nvSpPr>
        <p:spPr>
          <a:xfrm>
            <a:off x="7430588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5"/>
          </p:nvPr>
        </p:nvSpPr>
        <p:spPr>
          <a:xfrm>
            <a:off x="9480026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38404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44BA8A57-DDF3-4213-9D64-1699FA7347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4AE4DB1-4D64-4436-96E6-1B8B07C012E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1"/>
          </p:nvPr>
        </p:nvSpPr>
        <p:spPr>
          <a:xfrm>
            <a:off x="1405106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2"/>
          </p:nvPr>
        </p:nvSpPr>
        <p:spPr>
          <a:xfrm>
            <a:off x="3931545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3"/>
          </p:nvPr>
        </p:nvSpPr>
        <p:spPr>
          <a:xfrm>
            <a:off x="6457984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4"/>
          </p:nvPr>
        </p:nvSpPr>
        <p:spPr>
          <a:xfrm>
            <a:off x="8984422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80722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2F1DABE9-3D45-49ED-98C7-A7400E550C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477261C-5C42-4FA0-8AD3-7C88DC280BF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54063" y="2647950"/>
            <a:ext cx="3084011" cy="34099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087813" y="2647949"/>
            <a:ext cx="2865437" cy="159919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3"/>
          </p:nvPr>
        </p:nvSpPr>
        <p:spPr>
          <a:xfrm>
            <a:off x="4087813" y="4463716"/>
            <a:ext cx="2865437" cy="159418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74637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1949032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3"/>
          </p:nvPr>
        </p:nvSpPr>
        <p:spPr>
          <a:xfrm>
            <a:off x="754063" y="4595061"/>
            <a:ext cx="3641474" cy="150795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311693"/>
            <a:ext cx="194903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311693"/>
            <a:ext cx="186485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563895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955630" y="3311694"/>
            <a:ext cx="2494465" cy="128336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955630" y="4819654"/>
            <a:ext cx="2494465" cy="12833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2483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6">
            <a:extLst>
              <a:ext uri="{FF2B5EF4-FFF2-40B4-BE49-F238E27FC236}">
                <a16:creationId xmlns:a16="http://schemas.microsoft.com/office/drawing/2014/main" id="{293C4529-8FEF-4743-B8C9-3AAAAE830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E328696D-B294-44A8-A140-0598694F8B8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7">
            <a:extLst>
              <a:ext uri="{FF2B5EF4-FFF2-40B4-BE49-F238E27FC236}">
                <a16:creationId xmlns:a16="http://schemas.microsoft.com/office/drawing/2014/main" id="{F3438E08-4F07-4A98-9D48-BF2AB7642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Группа 8">
            <a:extLst>
              <a:ext uri="{FF2B5EF4-FFF2-40B4-BE49-F238E27FC236}">
                <a16:creationId xmlns:a16="http://schemas.microsoft.com/office/drawing/2014/main" id="{7BEA9A08-BBC4-4E4F-86AF-3B01C139CD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15" name="Прямая соединительная линия 9">
              <a:extLst>
                <a:ext uri="{FF2B5EF4-FFF2-40B4-BE49-F238E27FC236}">
                  <a16:creationId xmlns:a16="http://schemas.microsoft.com/office/drawing/2014/main" id="{2326FCEF-A3C6-4700-951D-6E10C19C448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">
              <a:extLst>
                <a:ext uri="{FF2B5EF4-FFF2-40B4-BE49-F238E27FC236}">
                  <a16:creationId xmlns:a16="http://schemas.microsoft.com/office/drawing/2014/main" id="{10786441-64BF-4423-A792-8A2096F4587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1">
              <a:extLst>
                <a:ext uri="{FF2B5EF4-FFF2-40B4-BE49-F238E27FC236}">
                  <a16:creationId xmlns:a16="http://schemas.microsoft.com/office/drawing/2014/main" id="{CA7149C6-8C54-49B9-971D-D2E8CFD66E9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2107400" cy="302382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923414"/>
            <a:ext cx="2107400" cy="217960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168502"/>
            <a:ext cx="1864851" cy="293451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608054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797262" y="3168502"/>
            <a:ext cx="2652834" cy="14265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797262" y="4676462"/>
            <a:ext cx="2652834" cy="142655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13553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3354978" y="713581"/>
            <a:ext cx="2374900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2"/>
          </p:nvPr>
        </p:nvSpPr>
        <p:spPr>
          <a:xfrm>
            <a:off x="3354978" y="2913145"/>
            <a:ext cx="2374900" cy="323127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3"/>
          </p:nvPr>
        </p:nvSpPr>
        <p:spPr>
          <a:xfrm>
            <a:off x="5936676" y="4266548"/>
            <a:ext cx="5377317" cy="18778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4"/>
          </p:nvPr>
        </p:nvSpPr>
        <p:spPr>
          <a:xfrm>
            <a:off x="5936676" y="713581"/>
            <a:ext cx="1760661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5"/>
          </p:nvPr>
        </p:nvSpPr>
        <p:spPr>
          <a:xfrm>
            <a:off x="5936675" y="2913145"/>
            <a:ext cx="1760661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6"/>
          <p:cNvSpPr>
            <a:spLocks noGrp="1"/>
          </p:cNvSpPr>
          <p:nvPr>
            <p:ph type="pic" sz="quarter" idx="16"/>
          </p:nvPr>
        </p:nvSpPr>
        <p:spPr>
          <a:xfrm>
            <a:off x="7876839" y="713581"/>
            <a:ext cx="3437154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6"/>
          <p:cNvSpPr>
            <a:spLocks noGrp="1"/>
          </p:cNvSpPr>
          <p:nvPr>
            <p:ph type="pic" sz="quarter" idx="17"/>
          </p:nvPr>
        </p:nvSpPr>
        <p:spPr>
          <a:xfrm>
            <a:off x="7876837" y="2913145"/>
            <a:ext cx="3437156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509556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2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3087322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7"/>
          </p:nvPr>
        </p:nvSpPr>
        <p:spPr>
          <a:xfrm>
            <a:off x="-1" y="2272570"/>
            <a:ext cx="3087323" cy="204424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8"/>
          </p:nvPr>
        </p:nvSpPr>
        <p:spPr>
          <a:xfrm>
            <a:off x="3080084" y="2261938"/>
            <a:ext cx="3023004" cy="205208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20"/>
          </p:nvPr>
        </p:nvSpPr>
        <p:spPr>
          <a:xfrm>
            <a:off x="9176084" y="2272570"/>
            <a:ext cx="3023004" cy="20386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21"/>
          </p:nvPr>
        </p:nvSpPr>
        <p:spPr>
          <a:xfrm>
            <a:off x="1956391" y="4303386"/>
            <a:ext cx="4139609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22"/>
          </p:nvPr>
        </p:nvSpPr>
        <p:spPr>
          <a:xfrm>
            <a:off x="0" y="4314019"/>
            <a:ext cx="1956391" cy="25439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24"/>
          </p:nvPr>
        </p:nvSpPr>
        <p:spPr>
          <a:xfrm>
            <a:off x="6096000" y="4303387"/>
            <a:ext cx="4089991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25"/>
          </p:nvPr>
        </p:nvSpPr>
        <p:spPr>
          <a:xfrm>
            <a:off x="3087322" y="7831"/>
            <a:ext cx="3008678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26"/>
          </p:nvPr>
        </p:nvSpPr>
        <p:spPr>
          <a:xfrm>
            <a:off x="6096001" y="0"/>
            <a:ext cx="6095848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7" name="Рисунок 12"/>
          <p:cNvSpPr>
            <a:spLocks noGrp="1"/>
          </p:cNvSpPr>
          <p:nvPr>
            <p:ph type="pic" sz="quarter" idx="27"/>
          </p:nvPr>
        </p:nvSpPr>
        <p:spPr>
          <a:xfrm>
            <a:off x="10185991" y="4303386"/>
            <a:ext cx="2013097" cy="25624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8" name="Рисунок 12"/>
          <p:cNvSpPr>
            <a:spLocks noGrp="1"/>
          </p:cNvSpPr>
          <p:nvPr>
            <p:ph type="pic" sz="quarter" idx="28"/>
          </p:nvPr>
        </p:nvSpPr>
        <p:spPr>
          <a:xfrm>
            <a:off x="6103088" y="2261937"/>
            <a:ext cx="3080084" cy="205208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52240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00288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-16071"/>
            <a:ext cx="12192000" cy="312942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074"/>
              <a:gd name="connsiteX1" fmla="*/ 10000 w 10000"/>
              <a:gd name="connsiteY1" fmla="*/ 74 h 10074"/>
              <a:gd name="connsiteX2" fmla="*/ 10000 w 10000"/>
              <a:gd name="connsiteY2" fmla="*/ 10074 h 10074"/>
              <a:gd name="connsiteX3" fmla="*/ 0 w 10000"/>
              <a:gd name="connsiteY3" fmla="*/ 10074 h 10074"/>
              <a:gd name="connsiteX4" fmla="*/ 0 w 10000"/>
              <a:gd name="connsiteY4" fmla="*/ 0 h 10074"/>
              <a:gd name="connsiteX0" fmla="*/ 0 w 10000"/>
              <a:gd name="connsiteY0" fmla="*/ 0 h 14410"/>
              <a:gd name="connsiteX1" fmla="*/ 10000 w 10000"/>
              <a:gd name="connsiteY1" fmla="*/ 74 h 14410"/>
              <a:gd name="connsiteX2" fmla="*/ 10000 w 10000"/>
              <a:gd name="connsiteY2" fmla="*/ 10074 h 14410"/>
              <a:gd name="connsiteX3" fmla="*/ 11 w 10000"/>
              <a:gd name="connsiteY3" fmla="*/ 14410 h 14410"/>
              <a:gd name="connsiteX4" fmla="*/ 0 w 10000"/>
              <a:gd name="connsiteY4" fmla="*/ 0 h 1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/>
          </p:nvPr>
        </p:nvSpPr>
        <p:spPr>
          <a:xfrm>
            <a:off x="1446213" y="2033588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02238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3"/>
          </p:nvPr>
        </p:nvSpPr>
        <p:spPr>
          <a:xfrm>
            <a:off x="8958263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7397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03351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1"/>
          </p:nvPr>
        </p:nvSpPr>
        <p:spPr>
          <a:xfrm>
            <a:off x="859477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2"/>
          </p:nvPr>
        </p:nvSpPr>
        <p:spPr>
          <a:xfrm>
            <a:off x="4737716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3"/>
          </p:nvPr>
        </p:nvSpPr>
        <p:spPr>
          <a:xfrm>
            <a:off x="8615955" y="2797457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66620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1CED023-E48A-48A5-A9FE-0EB2AC6C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4A670-F01F-4597-B9B9-3E9EFEBB0F5D}" type="datetimeFigureOut">
              <a:rPr lang="ru-RU"/>
              <a:pPr>
                <a:defRPr/>
              </a:pPr>
              <a:t>20.03.2022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D4A30E9-EA30-42AC-A401-812C4B30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7D829AD-7540-466A-B05D-5DDBAEE2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82D6D-8F6F-45F9-8B3C-73D2BE8E0C1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382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B9FF05E-2152-4EE6-956D-7FEB8FB8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01E88-D6DF-46B7-9675-CA16326E6DAA}" type="datetimeFigureOut">
              <a:rPr lang="ru-RU"/>
              <a:pPr>
                <a:defRPr/>
              </a:pPr>
              <a:t>20.03.2022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C4BA0540-AAA2-4616-B257-D7963FB0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EAA6ED0-9F9A-413E-9CE2-1C6FB05B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C7105-7262-4415-87C9-E28B1BA5BED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888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C0B143-CE1C-48B1-8F69-B10A5B12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77C9A-E606-4F79-BA08-071BE6D088CE}" type="datetimeFigureOut">
              <a:rPr lang="ru-RU"/>
              <a:pPr>
                <a:defRPr/>
              </a:pPr>
              <a:t>20.03.2022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E9185-17EA-4A4F-9300-7E593260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90E49C-0276-458F-811F-7FDD619F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9E854-D948-4F93-87AA-D3B2F43A452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389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E2096-8F94-4807-B20F-57476A45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BFA4-46E4-4D5B-84C3-6C7587B7395D}" type="datetimeFigureOut">
              <a:rPr lang="ru-RU"/>
              <a:pPr>
                <a:defRPr/>
              </a:pPr>
              <a:t>20.03.2022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2AC90-ACFB-4344-98BD-C0329B39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E1744-75E5-487E-BEC9-39EF894C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BC5F8-324B-48AD-B509-391C53341A1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043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2514600"/>
            <a:ext cx="12192000" cy="3657601"/>
          </a:xfrm>
        </p:spPr>
        <p:txBody>
          <a:bodyPr anchor="ctr" anchorCtr="0"/>
          <a:lstStyle>
            <a:lvl1pPr marL="0" indent="0" algn="ctr">
              <a:buFontTx/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365760"/>
            <a:ext cx="8644128" cy="6096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04800" y="975360"/>
            <a:ext cx="8644128" cy="6096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11606288" y="6505783"/>
            <a:ext cx="291709" cy="2120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6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2A709A2D-9E3D-4D9B-BCCB-BD26DDFCEC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948B22B-96C8-413D-8708-45DB7D03DF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E9909B-5CA4-4825-9E05-943A339CF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8BA87E-D565-4C47-9BBF-B89BF0D34876}" type="datetimeFigureOut">
              <a:rPr lang="ru-RU"/>
              <a:pPr>
                <a:defRPr/>
              </a:pPr>
              <a:t>20.03.2022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8945F-B136-43A9-B80C-6D99765C7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EF0BB-472A-4BB1-BBF9-1F52F5A9F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18E4574-86E1-45A5-9A6D-75719EA2283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  <p:sldLayoutId id="2147483821" r:id="rId28"/>
    <p:sldLayoutId id="2147483822" r:id="rId29"/>
    <p:sldLayoutId id="2147483823" r:id="rId30"/>
    <p:sldLayoutId id="2147483824" r:id="rId31"/>
    <p:sldLayoutId id="2147483825" r:id="rId32"/>
    <p:sldLayoutId id="2147483826" r:id="rId33"/>
    <p:sldLayoutId id="2147483790" r:id="rId34"/>
    <p:sldLayoutId id="2147483791" r:id="rId35"/>
    <p:sldLayoutId id="2147483792" r:id="rId36"/>
    <p:sldLayoutId id="2147483793" r:id="rId37"/>
    <p:sldLayoutId id="2147483828" r:id="rId3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591895" y="2381574"/>
            <a:ext cx="2380130" cy="4599595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11224346" y="0"/>
            <a:ext cx="914400" cy="4444651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62" y="294623"/>
            <a:ext cx="1775713" cy="211302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8521501" y="5524290"/>
            <a:ext cx="2141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20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5618747" y="4920916"/>
            <a:ext cx="1359569" cy="871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8237350" y="6585265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65" y="1065695"/>
            <a:ext cx="657471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600" dirty="0">
                <a:solidFill>
                  <a:schemeClr val="bg1"/>
                </a:solidFill>
                <a:latin typeface="Raleway Medium" panose="020B0603030101060003" pitchFamily="34" charset="0"/>
              </a:rPr>
              <a:t>Open Platform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600" dirty="0">
                <a:solidFill>
                  <a:srgbClr val="E23936"/>
                </a:solidFill>
                <a:latin typeface="Raleway ExtraBold" panose="020B0903030101060003" pitchFamily="34" charset="0"/>
              </a:rPr>
              <a:t>Enterprise Transformation</a:t>
            </a:r>
            <a:endParaRPr lang="en-US" altLang="ru-RU" sz="36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3" grpId="0"/>
      <p:bldP spid="36874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Cloud Asset Management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B7B6E8A-8B8D-4990-9E0E-A7C2D8B85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39760"/>
              </p:ext>
            </p:extLst>
          </p:nvPr>
        </p:nvGraphicFramePr>
        <p:xfrm>
          <a:off x="617368" y="694728"/>
          <a:ext cx="11114424" cy="3754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68137">
                  <a:extLst>
                    <a:ext uri="{9D8B030D-6E8A-4147-A177-3AD203B41FA5}">
                      <a16:colId xmlns:a16="http://schemas.microsoft.com/office/drawing/2014/main" val="2165813706"/>
                    </a:ext>
                  </a:extLst>
                </a:gridCol>
                <a:gridCol w="3341717">
                  <a:extLst>
                    <a:ext uri="{9D8B030D-6E8A-4147-A177-3AD203B41FA5}">
                      <a16:colId xmlns:a16="http://schemas.microsoft.com/office/drawing/2014/main" val="1880904077"/>
                    </a:ext>
                  </a:extLst>
                </a:gridCol>
                <a:gridCol w="1903614">
                  <a:extLst>
                    <a:ext uri="{9D8B030D-6E8A-4147-A177-3AD203B41FA5}">
                      <a16:colId xmlns:a16="http://schemas.microsoft.com/office/drawing/2014/main" val="931190501"/>
                    </a:ext>
                  </a:extLst>
                </a:gridCol>
                <a:gridCol w="1712422">
                  <a:extLst>
                    <a:ext uri="{9D8B030D-6E8A-4147-A177-3AD203B41FA5}">
                      <a16:colId xmlns:a16="http://schemas.microsoft.com/office/drawing/2014/main" val="497019303"/>
                    </a:ext>
                  </a:extLst>
                </a:gridCol>
                <a:gridCol w="2288534">
                  <a:extLst>
                    <a:ext uri="{9D8B030D-6E8A-4147-A177-3AD203B41FA5}">
                      <a16:colId xmlns:a16="http://schemas.microsoft.com/office/drawing/2014/main" val="940415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16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Discovery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AWS/AZURE/GCP/Kubernetes  accounts </a:t>
                      </a:r>
                    </a:p>
                    <a:p>
                      <a:r>
                        <a:rPr lang="en-US" dirty="0"/>
                        <a:t>(role </a:t>
                      </a:r>
                      <a:r>
                        <a:rPr lang="en-US" dirty="0" err="1"/>
                        <a:t>arn</a:t>
                      </a:r>
                      <a:r>
                        <a:rPr lang="en-US" dirty="0"/>
                        <a:t> or access key based)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AWS /AZURE/ GCP/ Kubernetes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asset lists</a:t>
                      </a:r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39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Provisioning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Account </a:t>
                      </a:r>
                    </a:p>
                    <a:p>
                      <a:r>
                        <a:rPr lang="en-US" dirty="0"/>
                        <a:t>Provisioning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Cluster Provisioning</a:t>
                      </a:r>
                      <a:endParaRPr lang="en-IN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</a:t>
                      </a:r>
                    </a:p>
                    <a:p>
                      <a:r>
                        <a:rPr lang="en-US" dirty="0"/>
                        <a:t>Provisioning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Self Service Provisioning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61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Analytics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Overall Cloud </a:t>
                      </a:r>
                    </a:p>
                    <a:p>
                      <a:r>
                        <a:rPr lang="en-US" dirty="0"/>
                        <a:t>Consumption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Compliance </a:t>
                      </a:r>
                    </a:p>
                    <a:p>
                      <a:r>
                        <a:rPr lang="en-US" dirty="0"/>
                        <a:t>Analytics</a:t>
                      </a:r>
                      <a:endParaRPr lang="en-IN" dirty="0"/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Billing </a:t>
                      </a:r>
                    </a:p>
                    <a:p>
                      <a:r>
                        <a:rPr lang="en-US" dirty="0"/>
                        <a:t>Analytics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3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RBAC/ Multitenancy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Org wide Teams </a:t>
                      </a:r>
                    </a:p>
                    <a:p>
                      <a:r>
                        <a:rPr lang="en-US" dirty="0"/>
                        <a:t>And Role</a:t>
                      </a:r>
                      <a:endParaRPr lang="en-IN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610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04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Cross Cloud Monitoring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B7B6E8A-8B8D-4990-9E0E-A7C2D8B85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138406"/>
              </p:ext>
            </p:extLst>
          </p:nvPr>
        </p:nvGraphicFramePr>
        <p:xfrm>
          <a:off x="617368" y="694728"/>
          <a:ext cx="11114424" cy="4668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683506">
                  <a:extLst>
                    <a:ext uri="{9D8B030D-6E8A-4147-A177-3AD203B41FA5}">
                      <a16:colId xmlns:a16="http://schemas.microsoft.com/office/drawing/2014/main" val="2165813706"/>
                    </a:ext>
                  </a:extLst>
                </a:gridCol>
                <a:gridCol w="2803141">
                  <a:extLst>
                    <a:ext uri="{9D8B030D-6E8A-4147-A177-3AD203B41FA5}">
                      <a16:colId xmlns:a16="http://schemas.microsoft.com/office/drawing/2014/main" val="1880904077"/>
                    </a:ext>
                  </a:extLst>
                </a:gridCol>
                <a:gridCol w="2452254">
                  <a:extLst>
                    <a:ext uri="{9D8B030D-6E8A-4147-A177-3AD203B41FA5}">
                      <a16:colId xmlns:a16="http://schemas.microsoft.com/office/drawing/2014/main" val="9311905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97019303"/>
                    </a:ext>
                  </a:extLst>
                </a:gridCol>
                <a:gridCol w="1504604">
                  <a:extLst>
                    <a:ext uri="{9D8B030D-6E8A-4147-A177-3AD203B41FA5}">
                      <a16:colId xmlns:a16="http://schemas.microsoft.com/office/drawing/2014/main" val="940415452"/>
                    </a:ext>
                  </a:extLst>
                </a:gridCol>
                <a:gridCol w="1024999">
                  <a:extLst>
                    <a:ext uri="{9D8B030D-6E8A-4147-A177-3AD203B41FA5}">
                      <a16:colId xmlns:a16="http://schemas.microsoft.com/office/drawing/2014/main" val="3351742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16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Dashboard </a:t>
                      </a:r>
                    </a:p>
                    <a:p>
                      <a:r>
                        <a:rPr lang="en-US" dirty="0"/>
                        <a:t>Catalogue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AWS /AZURE/GCP Dashboards </a:t>
                      </a:r>
                    </a:p>
                    <a:p>
                      <a:r>
                        <a:rPr lang="en-US" dirty="0"/>
                        <a:t>Lists with filters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39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Monitoring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u="sng" dirty="0">
                          <a:highlight>
                            <a:srgbClr val="00FF00"/>
                          </a:highlight>
                        </a:rPr>
                        <a:t>Enable Performance / Logs / Trace Based</a:t>
                      </a:r>
                    </a:p>
                    <a:p>
                      <a:r>
                        <a:rPr lang="en-US" i="1" u="sng" dirty="0">
                          <a:highlight>
                            <a:srgbClr val="00FF00"/>
                          </a:highlight>
                        </a:rPr>
                        <a:t>Data Collection sources on ENV</a:t>
                      </a:r>
                      <a:endParaRPr lang="en-IN" i="1" u="sng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i="1" u="sng" dirty="0">
                          <a:highlight>
                            <a:srgbClr val="00FF00"/>
                          </a:highlight>
                        </a:rPr>
                        <a:t>Enable Monitoring on Discovered Assets from Dashboard Catalogue</a:t>
                      </a:r>
                      <a:endParaRPr lang="en-IN" i="1" u="sng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AWS/AZURE/GCP/KUBE</a:t>
                      </a:r>
                    </a:p>
                    <a:p>
                      <a:r>
                        <a:rPr lang="en-US" dirty="0"/>
                        <a:t>Explorer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 Centric </a:t>
                      </a:r>
                    </a:p>
                    <a:p>
                      <a:r>
                        <a:rPr lang="en-US" dirty="0"/>
                        <a:t>Monitoring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615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Alerting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Alert Catalogue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Alerting Rules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Alert Dashboards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Alerts Filter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3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Service Desk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Ticket Central</a:t>
                      </a:r>
                      <a:endParaRPr lang="en-IN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Alert Ticket Integration</a:t>
                      </a:r>
                      <a:endParaRPr lang="en-IN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610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Workflows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 Desk &amp; workflows integration</a:t>
                      </a:r>
                      <a:endParaRPr lang="en-IN" dirty="0"/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794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52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Cloud Security &amp; Compliance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B7B6E8A-8B8D-4990-9E0E-A7C2D8B85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76350"/>
              </p:ext>
            </p:extLst>
          </p:nvPr>
        </p:nvGraphicFramePr>
        <p:xfrm>
          <a:off x="457200" y="877608"/>
          <a:ext cx="11114424" cy="1925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683506">
                  <a:extLst>
                    <a:ext uri="{9D8B030D-6E8A-4147-A177-3AD203B41FA5}">
                      <a16:colId xmlns:a16="http://schemas.microsoft.com/office/drawing/2014/main" val="2165813706"/>
                    </a:ext>
                  </a:extLst>
                </a:gridCol>
                <a:gridCol w="2587010">
                  <a:extLst>
                    <a:ext uri="{9D8B030D-6E8A-4147-A177-3AD203B41FA5}">
                      <a16:colId xmlns:a16="http://schemas.microsoft.com/office/drawing/2014/main" val="1880904077"/>
                    </a:ext>
                  </a:extLst>
                </a:gridCol>
                <a:gridCol w="2668385">
                  <a:extLst>
                    <a:ext uri="{9D8B030D-6E8A-4147-A177-3AD203B41FA5}">
                      <a16:colId xmlns:a16="http://schemas.microsoft.com/office/drawing/2014/main" val="9311905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97019303"/>
                    </a:ext>
                  </a:extLst>
                </a:gridCol>
                <a:gridCol w="1504604">
                  <a:extLst>
                    <a:ext uri="{9D8B030D-6E8A-4147-A177-3AD203B41FA5}">
                      <a16:colId xmlns:a16="http://schemas.microsoft.com/office/drawing/2014/main" val="940415452"/>
                    </a:ext>
                  </a:extLst>
                </a:gridCol>
                <a:gridCol w="1024999">
                  <a:extLst>
                    <a:ext uri="{9D8B030D-6E8A-4147-A177-3AD203B41FA5}">
                      <a16:colId xmlns:a16="http://schemas.microsoft.com/office/drawing/2014/main" val="3351742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16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Compliance </a:t>
                      </a:r>
                    </a:p>
                    <a:p>
                      <a:r>
                        <a:rPr lang="en-US" dirty="0"/>
                        <a:t>Engine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Rule / Policy /Compliances 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Compliance </a:t>
                      </a:r>
                    </a:p>
                    <a:p>
                      <a:r>
                        <a:rPr lang="en-US" dirty="0"/>
                        <a:t>Collector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Compliance </a:t>
                      </a:r>
                    </a:p>
                    <a:p>
                      <a:r>
                        <a:rPr lang="en-US" dirty="0"/>
                        <a:t>Reports / Dashboards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Alert Central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9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 </a:t>
                      </a:r>
                    </a:p>
                    <a:p>
                      <a:r>
                        <a:rPr lang="en-US" dirty="0"/>
                        <a:t>Editor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61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929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Tool Chain &amp; Automation Central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B7B6E8A-8B8D-4990-9E0E-A7C2D8B85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913198"/>
              </p:ext>
            </p:extLst>
          </p:nvPr>
        </p:nvGraphicFramePr>
        <p:xfrm>
          <a:off x="457200" y="877608"/>
          <a:ext cx="10897985" cy="13817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37124">
                  <a:extLst>
                    <a:ext uri="{9D8B030D-6E8A-4147-A177-3AD203B41FA5}">
                      <a16:colId xmlns:a16="http://schemas.microsoft.com/office/drawing/2014/main" val="2165813706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1880904077"/>
                    </a:ext>
                  </a:extLst>
                </a:gridCol>
                <a:gridCol w="3387376">
                  <a:extLst>
                    <a:ext uri="{9D8B030D-6E8A-4147-A177-3AD203B41FA5}">
                      <a16:colId xmlns:a16="http://schemas.microsoft.com/office/drawing/2014/main" val="931190501"/>
                    </a:ext>
                  </a:extLst>
                </a:gridCol>
                <a:gridCol w="2089410">
                  <a:extLst>
                    <a:ext uri="{9D8B030D-6E8A-4147-A177-3AD203B41FA5}">
                      <a16:colId xmlns:a16="http://schemas.microsoft.com/office/drawing/2014/main" val="497019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16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Tool Chain </a:t>
                      </a:r>
                    </a:p>
                    <a:p>
                      <a:r>
                        <a:rPr lang="en-US" dirty="0"/>
                        <a:t>Framework</a:t>
                      </a:r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Runbook/ Tools Catalogue 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 Catalogue</a:t>
                      </a:r>
                      <a:endParaRPr lang="en-IN" dirty="0"/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 Templates</a:t>
                      </a:r>
                      <a:endParaRPr lang="en-IN" dirty="0"/>
                    </a:p>
                  </a:txBody>
                  <a:tcPr>
                    <a:solidFill>
                      <a:srgbClr val="FF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9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61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213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 err="1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DevSecOps</a:t>
            </a:r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 Tooling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62A77-8690-4781-985B-623129CEE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08" y="805409"/>
            <a:ext cx="12192000" cy="565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789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Common Modules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B7B6E8A-8B8D-4990-9E0E-A7C2D8B85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221230"/>
              </p:ext>
            </p:extLst>
          </p:nvPr>
        </p:nvGraphicFramePr>
        <p:xfrm>
          <a:off x="457200" y="877608"/>
          <a:ext cx="10897985" cy="13817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37124">
                  <a:extLst>
                    <a:ext uri="{9D8B030D-6E8A-4147-A177-3AD203B41FA5}">
                      <a16:colId xmlns:a16="http://schemas.microsoft.com/office/drawing/2014/main" val="2165813706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1880904077"/>
                    </a:ext>
                  </a:extLst>
                </a:gridCol>
                <a:gridCol w="3387376">
                  <a:extLst>
                    <a:ext uri="{9D8B030D-6E8A-4147-A177-3AD203B41FA5}">
                      <a16:colId xmlns:a16="http://schemas.microsoft.com/office/drawing/2014/main" val="931190501"/>
                    </a:ext>
                  </a:extLst>
                </a:gridCol>
                <a:gridCol w="2089410">
                  <a:extLst>
                    <a:ext uri="{9D8B030D-6E8A-4147-A177-3AD203B41FA5}">
                      <a16:colId xmlns:a16="http://schemas.microsoft.com/office/drawing/2014/main" val="497019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316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Performance Manager</a:t>
                      </a:r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 Manager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Trace Manager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Manager</a:t>
                      </a:r>
                      <a:endParaRPr lang="en-IN" dirty="0"/>
                    </a:p>
                  </a:txBody>
                  <a:tcPr>
                    <a:solidFill>
                      <a:srgbClr val="FFF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9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 Catalogue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FSM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61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557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Cloud Asset Management 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D5F0E3B-F27C-48B6-B32B-86E8F1674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740894"/>
              </p:ext>
            </p:extLst>
          </p:nvPr>
        </p:nvGraphicFramePr>
        <p:xfrm>
          <a:off x="582270" y="719666"/>
          <a:ext cx="9459505" cy="479574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15541">
                  <a:extLst>
                    <a:ext uri="{9D8B030D-6E8A-4147-A177-3AD203B41FA5}">
                      <a16:colId xmlns:a16="http://schemas.microsoft.com/office/drawing/2014/main" val="3434215757"/>
                    </a:ext>
                  </a:extLst>
                </a:gridCol>
                <a:gridCol w="2750390">
                  <a:extLst>
                    <a:ext uri="{9D8B030D-6E8A-4147-A177-3AD203B41FA5}">
                      <a16:colId xmlns:a16="http://schemas.microsoft.com/office/drawing/2014/main" val="1742702270"/>
                    </a:ext>
                  </a:extLst>
                </a:gridCol>
                <a:gridCol w="4993574">
                  <a:extLst>
                    <a:ext uri="{9D8B030D-6E8A-4147-A177-3AD203B41FA5}">
                      <a16:colId xmlns:a16="http://schemas.microsoft.com/office/drawing/2014/main" val="1803097781"/>
                    </a:ext>
                  </a:extLst>
                </a:gridCol>
              </a:tblGrid>
              <a:tr h="38801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306047"/>
                  </a:ext>
                </a:extLst>
              </a:tr>
              <a:tr h="780013">
                <a:tc>
                  <a:txBody>
                    <a:bodyPr/>
                    <a:lstStyle/>
                    <a:p>
                      <a:r>
                        <a:rPr lang="en-US" dirty="0"/>
                        <a:t>Splunk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17B/ 2B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Analytic product – vast coverage of DS – supports any – a very big ecosystem of small apps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123387"/>
                  </a:ext>
                </a:extLst>
              </a:tr>
              <a:tr h="388011">
                <a:tc>
                  <a:txBody>
                    <a:bodyPr/>
                    <a:lstStyle/>
                    <a:p>
                      <a:r>
                        <a:rPr lang="en-US" dirty="0"/>
                        <a:t>Logic Monitor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150M funding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Pure observability – Many integrations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508967"/>
                  </a:ext>
                </a:extLst>
              </a:tr>
              <a:tr h="388011">
                <a:tc>
                  <a:txBody>
                    <a:bodyPr/>
                    <a:lstStyle/>
                    <a:p>
                      <a:r>
                        <a:rPr lang="en-US" dirty="0"/>
                        <a:t>Centilytics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10M rev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Pure analytics and optimization</a:t>
                      </a:r>
                    </a:p>
                    <a:p>
                      <a:r>
                        <a:rPr lang="en-US" dirty="0"/>
                        <a:t>Pros – Simple Approach / Cloud Security &amp;</a:t>
                      </a:r>
                    </a:p>
                    <a:p>
                      <a:r>
                        <a:rPr lang="en-US" dirty="0"/>
                        <a:t>AI-ML</a:t>
                      </a:r>
                    </a:p>
                    <a:p>
                      <a:r>
                        <a:rPr lang="en-IN" dirty="0"/>
                        <a:t>Cons – Chargeback/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182948"/>
                  </a:ext>
                </a:extLst>
              </a:tr>
              <a:tr h="388011">
                <a:tc>
                  <a:txBody>
                    <a:bodyPr/>
                    <a:lstStyle/>
                    <a:p>
                      <a:r>
                        <a:rPr lang="en-US" dirty="0"/>
                        <a:t>Sumo logic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 Catalogues and dashboarding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84458"/>
                  </a:ext>
                </a:extLst>
              </a:tr>
              <a:tr h="1528591">
                <a:tc>
                  <a:txBody>
                    <a:bodyPr/>
                    <a:lstStyle/>
                    <a:p>
                      <a:r>
                        <a:rPr lang="en-US" dirty="0" err="1"/>
                        <a:t>LogDNA</a:t>
                      </a:r>
                      <a:r>
                        <a:rPr lang="en-US" dirty="0"/>
                        <a:t>/ </a:t>
                      </a:r>
                      <a:r>
                        <a:rPr lang="en-US" dirty="0" err="1"/>
                        <a:t>Loggly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instana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cloudmonix</a:t>
                      </a:r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Many small guys in 50M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771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C03249C-3BFA-406A-91A2-6AC42F29830F}"/>
              </a:ext>
            </a:extLst>
          </p:cNvPr>
          <p:cNvSpPr txBox="1"/>
          <p:nvPr/>
        </p:nvSpPr>
        <p:spPr>
          <a:xfrm>
            <a:off x="457200" y="5624381"/>
            <a:ext cx="107313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Microservice focus + (Ready Made simple Perf/ava....Views) + Primarily solve SOA on multicloud env + Catalog Based very simple approach + Added Automation + Diagnostics</a:t>
            </a:r>
          </a:p>
          <a:p>
            <a:endParaRPr lang="en-US" dirty="0"/>
          </a:p>
          <a:p>
            <a:r>
              <a:rPr lang="en-US" dirty="0"/>
              <a:t>Segment – 50M like BC</a:t>
            </a:r>
          </a:p>
          <a:p>
            <a:r>
              <a:rPr lang="en-US" dirty="0"/>
              <a:t>				+</a:t>
            </a:r>
          </a:p>
          <a:p>
            <a:endParaRPr lang="en-US" dirty="0"/>
          </a:p>
          <a:p>
            <a:r>
              <a:rPr lang="en-US" dirty="0"/>
              <a:t>			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3712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Cross cloud Monitoring + Container +Toolchain + </a:t>
            </a:r>
            <a:r>
              <a:rPr lang="en-US" b="1" cap="small" dirty="0" err="1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Devsecops</a:t>
            </a:r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 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3249C-3BFA-406A-91A2-6AC42F29830F}"/>
              </a:ext>
            </a:extLst>
          </p:cNvPr>
          <p:cNvSpPr txBox="1"/>
          <p:nvPr/>
        </p:nvSpPr>
        <p:spPr>
          <a:xfrm>
            <a:off x="457200" y="640080"/>
            <a:ext cx="99915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Cross Cloud Monitoring -</a:t>
            </a:r>
            <a:r>
              <a:rPr lang="en-US" dirty="0" err="1"/>
              <a:t>DataDog</a:t>
            </a:r>
            <a:r>
              <a:rPr lang="en-US" dirty="0"/>
              <a:t> / </a:t>
            </a:r>
            <a:r>
              <a:rPr lang="en-US" dirty="0" err="1"/>
              <a:t>ThousandEyes</a:t>
            </a:r>
            <a:r>
              <a:rPr lang="en-US" dirty="0"/>
              <a:t> / </a:t>
            </a:r>
            <a:r>
              <a:rPr lang="en-US" dirty="0" err="1"/>
              <a:t>Appdynamics</a:t>
            </a:r>
            <a:r>
              <a:rPr lang="en-US" dirty="0"/>
              <a:t> / New Relic  / </a:t>
            </a:r>
            <a:r>
              <a:rPr lang="en-US" dirty="0" err="1"/>
              <a:t>Sumologic</a:t>
            </a:r>
            <a:r>
              <a:rPr lang="en-US" dirty="0"/>
              <a:t> / </a:t>
            </a:r>
          </a:p>
          <a:p>
            <a:endParaRPr lang="en-US" dirty="0"/>
          </a:p>
          <a:p>
            <a:r>
              <a:rPr lang="en-US" dirty="0"/>
              <a:t>Container Management Platform -Rancher / </a:t>
            </a:r>
            <a:r>
              <a:rPr lang="en-US" dirty="0" err="1"/>
              <a:t>Openshift</a:t>
            </a:r>
            <a:r>
              <a:rPr lang="en-US" dirty="0"/>
              <a:t> /</a:t>
            </a:r>
          </a:p>
          <a:p>
            <a:endParaRPr lang="en-US" dirty="0"/>
          </a:p>
          <a:p>
            <a:r>
              <a:rPr lang="en-US" dirty="0"/>
              <a:t>DevSecOps Platform - Gitlab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865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79457"/>
            <a:ext cx="457200" cy="49244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1731792" y="79457"/>
            <a:ext cx="457200" cy="49244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582270" y="79455"/>
            <a:ext cx="920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Investments 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8237351" y="6585266"/>
            <a:ext cx="4223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cap="small" dirty="0">
                <a:latin typeface="Arial"/>
              </a:rPr>
              <a:t>© 2020 SYNECTIKS. All Rights Reserved. Proprietary and Confidential.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DA57F51-57C6-4387-8F0F-32EF5CDF8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602376"/>
              </p:ext>
            </p:extLst>
          </p:nvPr>
        </p:nvGraphicFramePr>
        <p:xfrm>
          <a:off x="142240" y="571898"/>
          <a:ext cx="11569232" cy="4053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95615">
                  <a:extLst>
                    <a:ext uri="{9D8B030D-6E8A-4147-A177-3AD203B41FA5}">
                      <a16:colId xmlns:a16="http://schemas.microsoft.com/office/drawing/2014/main" val="3540373349"/>
                    </a:ext>
                  </a:extLst>
                </a:gridCol>
                <a:gridCol w="3715789">
                  <a:extLst>
                    <a:ext uri="{9D8B030D-6E8A-4147-A177-3AD203B41FA5}">
                      <a16:colId xmlns:a16="http://schemas.microsoft.com/office/drawing/2014/main" val="51117418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825815523"/>
                    </a:ext>
                  </a:extLst>
                </a:gridCol>
                <a:gridCol w="2522449">
                  <a:extLst>
                    <a:ext uri="{9D8B030D-6E8A-4147-A177-3AD203B41FA5}">
                      <a16:colId xmlns:a16="http://schemas.microsoft.com/office/drawing/2014/main" val="1024580144"/>
                    </a:ext>
                  </a:extLst>
                </a:gridCol>
                <a:gridCol w="3020979">
                  <a:extLst>
                    <a:ext uri="{9D8B030D-6E8A-4147-A177-3AD203B41FA5}">
                      <a16:colId xmlns:a16="http://schemas.microsoft.com/office/drawing/2014/main" val="3208440757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Additional Budget</a:t>
                      </a:r>
                      <a:endParaRPr lang="en-IN" sz="2000" dirty="0">
                        <a:ln>
                          <a:solidFill>
                            <a:schemeClr val="accent1"/>
                          </a:solidFill>
                        </a:ln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140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Existing Team 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Current         Projected          Diff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Manoj –-    1.2 L/M         1.8 L/M           60K/M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Shahbaz – 72K/M          1.2L/M             50k/M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Akbar –      55K/M          90k/M            35K/M 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Sidesh –     45K/M          65K/M            20K/M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Papu –       250K/M        375K/M          125K/M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Zakir – 60k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3.15L/m</a:t>
                      </a:r>
                      <a:endParaRPr lang="en-IN" sz="1200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  <a:p>
                      <a:pPr marL="0" algn="l" defTabSz="914400" rtl="0" eaLnBrk="1" latinLnBrk="0" hangingPunct="1"/>
                      <a:endParaRPr lang="en-US" sz="1200" kern="1200" dirty="0">
                        <a:ln>
                          <a:solidFill>
                            <a:schemeClr val="accent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 Analytics ---</a:t>
                      </a:r>
                    </a:p>
                    <a:p>
                      <a:pPr marL="0" algn="l" defTabSz="914400" rtl="0" eaLnBrk="1" latinLnBrk="0" hangingPunct="1"/>
                      <a:endParaRPr lang="en-US" sz="1200" kern="1200" dirty="0">
                        <a:ln>
                          <a:solidFill>
                            <a:schemeClr val="accent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 Blocks  --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Procurement Application –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EMS  App (defer) – </a:t>
                      </a:r>
                    </a:p>
                    <a:p>
                      <a:pPr marL="0" algn="l" defTabSz="914400" rtl="0" eaLnBrk="1" latinLnBrk="0" hangingPunct="1"/>
                      <a:endParaRPr lang="en-US" sz="1200" kern="1200" dirty="0">
                        <a:ln>
                          <a:solidFill>
                            <a:schemeClr val="accent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Kubernetes Services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COGS = $280K +  $20k=$300k/Y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 $50K (current Loss)</a:t>
                      </a:r>
                    </a:p>
                    <a:p>
                      <a:pPr marL="0" algn="l" defTabSz="914400" rtl="0" eaLnBrk="1" latinLnBrk="0" hangingPunct="1"/>
                      <a:endParaRPr lang="en-US" sz="1200" kern="1200" dirty="0">
                        <a:ln>
                          <a:solidFill>
                            <a:schemeClr val="accent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US" sz="1200" kern="1200" dirty="0">
                        <a:ln>
                          <a:solidFill>
                            <a:schemeClr val="accent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Increased MRR - $30K/m</a:t>
                      </a:r>
                    </a:p>
                    <a:p>
                      <a:pPr marL="0" algn="l" defTabSz="914400" rtl="0" eaLnBrk="1" latinLnBrk="0" hangingPunct="1"/>
                      <a:endParaRPr lang="en-US" sz="1600" b="1" kern="1200" dirty="0">
                        <a:ln>
                          <a:solidFill>
                            <a:schemeClr val="accent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Increased Product Value =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$1.5M  in 1 year</a:t>
                      </a:r>
                    </a:p>
                    <a:p>
                      <a:endParaRPr lang="en-IN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742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Extension</a:t>
                      </a:r>
                      <a:endParaRPr lang="en-IN" sz="1200" kern="1200" dirty="0">
                        <a:ln>
                          <a:solidFill>
                            <a:schemeClr val="accent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Jasmin – 2 Sets </a:t>
                      </a:r>
                    </a:p>
                    <a:p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Manoj – 2 Sets</a:t>
                      </a:r>
                    </a:p>
                    <a:p>
                      <a:endParaRPr lang="en-IN" sz="1200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3L/m</a:t>
                      </a:r>
                      <a:endParaRPr lang="en-IN" sz="1200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  <a:p>
                      <a:r>
                        <a:rPr lang="en-IN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3L/m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 sz="1200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965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 Guys</a:t>
                      </a:r>
                      <a:endParaRPr lang="en-IN" sz="1200" kern="1200" dirty="0">
                        <a:ln>
                          <a:solidFill>
                            <a:schemeClr val="accent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L5 -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Sets Cloud Automation </a:t>
                      </a:r>
                    </a:p>
                    <a:p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2 Tech Writer 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4L/m </a:t>
                      </a:r>
                    </a:p>
                    <a:p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3.5L/m</a:t>
                      </a:r>
                    </a:p>
                    <a:p>
                      <a:r>
                        <a:rPr lang="en-IN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70k/m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 sz="1200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472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Other</a:t>
                      </a:r>
                      <a:endParaRPr lang="en-IN" sz="1200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Tools Subscription –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Figma --$1008/Y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Trainings –$500/Y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Cloud Expenses  - $12000/Y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Channel Memberships - $5000/Y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n>
                            <a:solidFill>
                              <a:schemeClr val="accent1"/>
                            </a:solidFill>
                          </a:ln>
                        </a:rPr>
                        <a:t>$20k/Y</a:t>
                      </a:r>
                      <a:endParaRPr lang="en-IN" sz="1200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998094"/>
                  </a:ext>
                </a:extLst>
              </a:tr>
            </a:tbl>
          </a:graphicData>
        </a:graphic>
      </p:graphicFrame>
      <p:graphicFrame>
        <p:nvGraphicFramePr>
          <p:cNvPr id="3" name="Table 11">
            <a:extLst>
              <a:ext uri="{FF2B5EF4-FFF2-40B4-BE49-F238E27FC236}">
                <a16:creationId xmlns:a16="http://schemas.microsoft.com/office/drawing/2014/main" id="{FA241F31-1027-4123-AEE0-EB8DDAA9C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652890"/>
              </p:ext>
            </p:extLst>
          </p:nvPr>
        </p:nvGraphicFramePr>
        <p:xfrm>
          <a:off x="142240" y="4642921"/>
          <a:ext cx="11569230" cy="17373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569230">
                  <a:extLst>
                    <a:ext uri="{9D8B030D-6E8A-4147-A177-3AD203B41FA5}">
                      <a16:colId xmlns:a16="http://schemas.microsoft.com/office/drawing/2014/main" val="2340565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UI  -- Jasmin Team– 2.25</a:t>
                      </a:r>
                    </a:p>
                    <a:p>
                      <a:r>
                        <a:rPr lang="en-US" sz="1200" dirty="0"/>
                        <a:t>API – Manoj Team -1.8</a:t>
                      </a:r>
                    </a:p>
                    <a:p>
                      <a:r>
                        <a:rPr lang="en-IN" sz="1200" dirty="0"/>
                        <a:t>PM – Akbar &amp; Team -2.2 Lakhs</a:t>
                      </a:r>
                    </a:p>
                    <a:p>
                      <a:r>
                        <a:rPr lang="en-IN" sz="1200" dirty="0"/>
                        <a:t>Cloud – Shahbaz &amp; Team-2.2 Lakhs</a:t>
                      </a:r>
                    </a:p>
                    <a:p>
                      <a:r>
                        <a:rPr lang="en-IN" sz="1200" dirty="0"/>
                        <a:t>Papu-2.5 Lakh</a:t>
                      </a:r>
                    </a:p>
                    <a:p>
                      <a:r>
                        <a:rPr lang="en-IN" sz="1200" dirty="0"/>
                        <a:t>Others – 1L</a:t>
                      </a:r>
                    </a:p>
                    <a:p>
                      <a:r>
                        <a:rPr lang="en-IN" sz="1200" dirty="0"/>
                        <a:t>Total -11.8 Lacs – $15.7k</a:t>
                      </a:r>
                    </a:p>
                    <a:p>
                      <a:r>
                        <a:rPr lang="en-IN" sz="1200" dirty="0"/>
                        <a:t>MRR- 843750 Rs - $11.25k</a:t>
                      </a:r>
                    </a:p>
                    <a:p>
                      <a:r>
                        <a:rPr lang="en-IN" sz="1200" dirty="0"/>
                        <a:t>3.5 L deficit ( Outsourcing / Custom Solutioning…)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976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4622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Raleway SemiBold"/>
        <a:ea typeface=""/>
        <a:cs typeface=""/>
      </a:majorFont>
      <a:minorFont>
        <a:latin typeface="Raleway SemiBol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6A054E-ABAA-487E-BDCC-4A9FD79941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D2A5A3-3151-4923-9A9F-F2B71B246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D938AE-9373-4D0D-8808-5E3ED707707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9841</TotalTime>
  <Words>714</Words>
  <Application>Microsoft Office PowerPoint</Application>
  <PresentationFormat>Widescreen</PresentationFormat>
  <Paragraphs>175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Black</vt:lpstr>
      <vt:lpstr>Calibri</vt:lpstr>
      <vt:lpstr>Helvetica</vt:lpstr>
      <vt:lpstr>Raleway</vt:lpstr>
      <vt:lpstr>Raleway ExtraBold</vt:lpstr>
      <vt:lpstr>Raleway Medium</vt:lpstr>
      <vt:lpstr>Raleway SemiBold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76</cp:revision>
  <dcterms:created xsi:type="dcterms:W3CDTF">2020-09-24T16:20:12Z</dcterms:created>
  <dcterms:modified xsi:type="dcterms:W3CDTF">2022-03-20T11:28:47Z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