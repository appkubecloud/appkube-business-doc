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11"/>
  </p:notesMasterIdLst>
  <p:handoutMasterIdLst>
    <p:handoutMasterId r:id="rId12"/>
  </p:handoutMasterIdLst>
  <p:sldIdLst>
    <p:sldId id="360" r:id="rId5"/>
    <p:sldId id="419" r:id="rId6"/>
    <p:sldId id="420" r:id="rId7"/>
    <p:sldId id="426" r:id="rId8"/>
    <p:sldId id="421" r:id="rId9"/>
    <p:sldId id="422" r:id="rId10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4" d="100"/>
          <a:sy n="104" d="100"/>
        </p:scale>
        <p:origin x="68" y="9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8" r:id="rId1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 (Transformation As A Service)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pPr algn="ctr"/>
            <a:r>
              <a:rPr lang="en-US"/>
              <a:t>Capabilities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D3C48-BA0F-4B60-A233-D7410E8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372" y="513728"/>
            <a:ext cx="8454366" cy="44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9A1D1F-2955-4E4F-82B1-0D5D16C5558F}"/>
              </a:ext>
            </a:extLst>
          </p:cNvPr>
          <p:cNvGrpSpPr/>
          <p:nvPr/>
        </p:nvGrpSpPr>
        <p:grpSpPr>
          <a:xfrm>
            <a:off x="6346105" y="656420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477708" y="1621026"/>
              <a:ext cx="208422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Experience Team with a proven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track record of CloudOps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enabled with DevSecOps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4134941" y="1400893"/>
              <a:ext cx="7697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Expertise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AFA6C39-B349-42A8-BD9B-B643DAE3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998" y="823581"/>
              <a:ext cx="559168" cy="55916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DB8FA62-00E4-4787-B505-87E0680796F3}"/>
              </a:ext>
            </a:extLst>
          </p:cNvPr>
          <p:cNvGrpSpPr/>
          <p:nvPr/>
        </p:nvGrpSpPr>
        <p:grpSpPr>
          <a:xfrm>
            <a:off x="3487705" y="65642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71948" y="1621026"/>
              <a:ext cx="198163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10+ Large Scale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Migration And Modernization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experience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323377" y="1400893"/>
              <a:ext cx="8787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Experience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A4C9E413-DB2D-4EBF-8396-DCC17636F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6793" y="886588"/>
              <a:ext cx="474725" cy="47472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0E1E57-D637-47A0-AD98-FDFE44F0B7B7}"/>
              </a:ext>
            </a:extLst>
          </p:cNvPr>
          <p:cNvGrpSpPr/>
          <p:nvPr/>
        </p:nvGrpSpPr>
        <p:grpSpPr>
          <a:xfrm>
            <a:off x="629306" y="656420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22746" y="1621026"/>
              <a:ext cx="2108269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open Product Driven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Model allows customers to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quickly build, deliver and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orchestrate cross cloud services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 @50% time &amp; cost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736510" y="1400893"/>
              <a:ext cx="10807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Time &amp; Money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FE3E376-43E4-4A68-83F2-04F49C1E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10932" y="871190"/>
              <a:ext cx="450109" cy="45010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FE2753-F811-4D49-8120-8FFDDB647595}"/>
              </a:ext>
            </a:extLst>
          </p:cNvPr>
          <p:cNvGrpSpPr/>
          <p:nvPr/>
        </p:nvGrpSpPr>
        <p:grpSpPr>
          <a:xfrm>
            <a:off x="3506241" y="2937350"/>
            <a:ext cx="2156360" cy="2041482"/>
            <a:chOff x="3463806" y="2937350"/>
            <a:chExt cx="2156360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463806" y="3927810"/>
              <a:ext cx="2156360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Xformation Product is a single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platform to manage all your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workloads distributed across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multiple clouds and boundaries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within a single control plane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12462" y="3720751"/>
              <a:ext cx="14590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Single Control Panel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7159AAD-AF33-4A59-A68F-EDDFA8B89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67405" y="3170719"/>
              <a:ext cx="409190" cy="40919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432C30-421E-46CC-8FC3-AE0FFC42E14D}"/>
              </a:ext>
            </a:extLst>
          </p:cNvPr>
          <p:cNvGrpSpPr/>
          <p:nvPr/>
        </p:nvGrpSpPr>
        <p:grpSpPr>
          <a:xfrm>
            <a:off x="6346105" y="2937350"/>
            <a:ext cx="2147146" cy="2041482"/>
            <a:chOff x="6203307" y="2937350"/>
            <a:chExt cx="2147146" cy="20414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3F2A7D-7C3A-4DF4-9C29-E27614BDEE65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126DD3-0726-411A-8106-C3DC1C3E1BE2}"/>
                </a:ext>
              </a:extLst>
            </p:cNvPr>
            <p:cNvSpPr txBox="1"/>
            <p:nvPr/>
          </p:nvSpPr>
          <p:spPr>
            <a:xfrm>
              <a:off x="6271637" y="3927810"/>
              <a:ext cx="20104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compliance and security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assessment tools make sure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your hybrid cloud journey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meets your business compliance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D8A5-47A8-4FA7-99AD-9BC26EA031E0}"/>
                </a:ext>
              </a:extLst>
            </p:cNvPr>
            <p:cNvSpPr txBox="1"/>
            <p:nvPr/>
          </p:nvSpPr>
          <p:spPr>
            <a:xfrm>
              <a:off x="6479229" y="3720751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Compliance &amp; Security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1B8E0D0D-BF9F-4C38-86FD-B8AA862D4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76298" y="3150260"/>
              <a:ext cx="450109" cy="4501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D8AE21-E826-4C08-9E20-C911EC502090}"/>
              </a:ext>
            </a:extLst>
          </p:cNvPr>
          <p:cNvGrpSpPr/>
          <p:nvPr/>
        </p:nvGrpSpPr>
        <p:grpSpPr>
          <a:xfrm>
            <a:off x="583020" y="2937350"/>
            <a:ext cx="2239717" cy="2041482"/>
            <a:chOff x="6157022" y="2937350"/>
            <a:chExt cx="2239717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2EEE2A-6D98-4EE5-A072-915D1EAAB76F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95942E-F129-415C-BB6A-A62D55CD334B}"/>
                </a:ext>
              </a:extLst>
            </p:cNvPr>
            <p:cNvSpPr txBox="1"/>
            <p:nvPr/>
          </p:nvSpPr>
          <p:spPr>
            <a:xfrm>
              <a:off x="6157022" y="3927810"/>
              <a:ext cx="223971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100% Customer Retention Rate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s</a:t>
              </a:r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ubstantiated by excellent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CFDD9C-5C2D-4034-836B-76C52C90D5F5}"/>
                </a:ext>
              </a:extLst>
            </p:cNvPr>
            <p:cNvSpPr txBox="1"/>
            <p:nvPr/>
          </p:nvSpPr>
          <p:spPr>
            <a:xfrm>
              <a:off x="6523312" y="3720751"/>
              <a:ext cx="1507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Long Term Retention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F873C04-7716-4CD0-BCBD-0F3BDF94D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54111" y="3114212"/>
              <a:ext cx="522197" cy="522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33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8352A-25F3-43AF-A4E4-C568CC1A7FD5}"/>
              </a:ext>
            </a:extLst>
          </p:cNvPr>
          <p:cNvGrpSpPr/>
          <p:nvPr/>
        </p:nvGrpSpPr>
        <p:grpSpPr>
          <a:xfrm>
            <a:off x="6345936" y="293735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26259" y="1621026"/>
              <a:ext cx="207300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Use our existing automation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 to automate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infrastructure, operations,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security in hybrid IT environment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015603" y="1400893"/>
              <a:ext cx="14943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Extreme Automation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0363C06-E528-4201-8A1D-D8BFC484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8888" y="841755"/>
              <a:ext cx="495120" cy="49512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292871-787C-468F-ABB3-5FBE2DEB4CC5}"/>
              </a:ext>
            </a:extLst>
          </p:cNvPr>
          <p:cNvGrpSpPr/>
          <p:nvPr/>
        </p:nvGrpSpPr>
        <p:grpSpPr>
          <a:xfrm>
            <a:off x="3488436" y="706767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679686" y="1621026"/>
              <a:ext cx="168026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advanced partnership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 major public cloud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providers help you to get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support at every stage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3650836" y="1400893"/>
              <a:ext cx="17379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Public Cloud Partnership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16FA376-851B-4E67-9719-E5FD710B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7818" y="803622"/>
              <a:ext cx="599095" cy="59909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4369B7-46B3-43A7-9416-D2F492692E93}"/>
              </a:ext>
            </a:extLst>
          </p:cNvPr>
          <p:cNvGrpSpPr/>
          <p:nvPr/>
        </p:nvGrpSpPr>
        <p:grpSpPr>
          <a:xfrm>
            <a:off x="6345936" y="706767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80462" y="1621026"/>
              <a:ext cx="199285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Committed to codifying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our know-how, we write open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Products and Distribute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307709" y="1400893"/>
              <a:ext cx="19383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Myriad Pro" panose="020B0503030403020204" pitchFamily="34" charset="0"/>
                </a:rPr>
                <a:t>Open-Source Contribution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33D78A1B-7420-454B-994A-5F3576EB0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8587" y="843477"/>
              <a:ext cx="450109" cy="45010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E6BCCA-E098-42FA-AEA0-89CF07D38CFC}"/>
              </a:ext>
            </a:extLst>
          </p:cNvPr>
          <p:cNvGrpSpPr/>
          <p:nvPr/>
        </p:nvGrpSpPr>
        <p:grpSpPr>
          <a:xfrm>
            <a:off x="630936" y="2937350"/>
            <a:ext cx="2147146" cy="2041482"/>
            <a:chOff x="689187" y="2937350"/>
            <a:chExt cx="2147146" cy="204148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4372AF-A4BA-4693-A78E-2FCEF169017F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18D696-0450-4347-87C4-AE07256728AE}"/>
                </a:ext>
              </a:extLst>
            </p:cNvPr>
            <p:cNvSpPr txBox="1"/>
            <p:nvPr/>
          </p:nvSpPr>
          <p:spPr>
            <a:xfrm>
              <a:off x="754311" y="3927810"/>
              <a:ext cx="201689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We do optimal resource pooling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from multiple clouds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DFCC1B-F0DA-4084-9A9A-6FAC1C746F1D}"/>
                </a:ext>
              </a:extLst>
            </p:cNvPr>
            <p:cNvSpPr txBox="1"/>
            <p:nvPr/>
          </p:nvSpPr>
          <p:spPr>
            <a:xfrm>
              <a:off x="1013202" y="3720751"/>
              <a:ext cx="14991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Optimization Service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AC1EDEA-F65B-49F3-994A-8FB31510A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73670" y="3158737"/>
              <a:ext cx="474725" cy="47472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15903E-72D3-4F96-A3BD-1DE46B6FDC3F}"/>
              </a:ext>
            </a:extLst>
          </p:cNvPr>
          <p:cNvGrpSpPr/>
          <p:nvPr/>
        </p:nvGrpSpPr>
        <p:grpSpPr>
          <a:xfrm>
            <a:off x="3488436" y="2937350"/>
            <a:ext cx="2147146" cy="2041482"/>
            <a:chOff x="3468412" y="2937350"/>
            <a:chExt cx="2147146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689828" y="3927810"/>
              <a:ext cx="170431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every engagement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focused on empowerment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– not dependency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37309" y="3720751"/>
              <a:ext cx="14093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Engagement Model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D4091BA8-1794-473A-88FA-A5EE5C1FA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89805" y="3134681"/>
              <a:ext cx="495120" cy="49512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CEC4F-56C3-43E8-8770-AB3D4F134FF0}"/>
              </a:ext>
            </a:extLst>
          </p:cNvPr>
          <p:cNvGrpSpPr/>
          <p:nvPr/>
        </p:nvGrpSpPr>
        <p:grpSpPr>
          <a:xfrm>
            <a:off x="630936" y="662395"/>
            <a:ext cx="2147146" cy="2041482"/>
            <a:chOff x="689187" y="2937350"/>
            <a:chExt cx="2147146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0AA6E9-4ADC-4229-BBA7-11AB8625A6BD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B44323-DC03-4634-B9D5-236FED081938}"/>
                </a:ext>
              </a:extLst>
            </p:cNvPr>
            <p:cNvSpPr txBox="1"/>
            <p:nvPr/>
          </p:nvSpPr>
          <p:spPr>
            <a:xfrm>
              <a:off x="774349" y="3927810"/>
              <a:ext cx="197682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Single point of contact for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Application Migration,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Transformation and Integration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to cloud-native Apps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EA2D88-10BE-423F-A6AC-744B49424C10}"/>
                </a:ext>
              </a:extLst>
            </p:cNvPr>
            <p:cNvSpPr txBox="1"/>
            <p:nvPr/>
          </p:nvSpPr>
          <p:spPr>
            <a:xfrm>
              <a:off x="1274488" y="3720751"/>
              <a:ext cx="976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E2E Solution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9ED8C96-ADBD-4440-AD05-268861F9A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13686" y="3143338"/>
              <a:ext cx="450109" cy="45010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23F76E-C6B7-4AB1-94B6-BEF690821E40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2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r>
              <a:rPr lang="en-US" dirty="0"/>
              <a:t>Engagement Model</a:t>
            </a:r>
          </a:p>
        </p:txBody>
      </p:sp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61C19F2C-50D3-4A2A-A1B7-A04E8DC2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50" y="585913"/>
            <a:ext cx="8131359" cy="441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1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2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Pricing Model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BC18D5C-5699-4FB4-98AB-36FC56F4F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065110"/>
              </p:ext>
            </p:extLst>
          </p:nvPr>
        </p:nvGraphicFramePr>
        <p:xfrm>
          <a:off x="696492" y="596118"/>
          <a:ext cx="7865048" cy="40447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82620">
                  <a:extLst>
                    <a:ext uri="{9D8B030D-6E8A-4147-A177-3AD203B41FA5}">
                      <a16:colId xmlns:a16="http://schemas.microsoft.com/office/drawing/2014/main" val="2373957596"/>
                    </a:ext>
                  </a:extLst>
                </a:gridCol>
                <a:gridCol w="6582428">
                  <a:extLst>
                    <a:ext uri="{9D8B030D-6E8A-4147-A177-3AD203B41FA5}">
                      <a16:colId xmlns:a16="http://schemas.microsoft.com/office/drawing/2014/main" val="3872354840"/>
                    </a:ext>
                  </a:extLst>
                </a:gridCol>
              </a:tblGrid>
              <a:tr h="505597">
                <a:tc>
                  <a:txBody>
                    <a:bodyPr/>
                    <a:lstStyle/>
                    <a:p>
                      <a:r>
                        <a:rPr lang="en-IN" b="0" dirty="0"/>
                        <a:t>Outcome </a:t>
                      </a:r>
                    </a:p>
                    <a:p>
                      <a:r>
                        <a:rPr lang="en-IN" b="0" dirty="0"/>
                        <a:t>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Budget for estimated outcome volume. </a:t>
                      </a:r>
                    </a:p>
                    <a:p>
                      <a:r>
                        <a:rPr lang="en-US" b="0" dirty="0"/>
                        <a:t>Payment based on result / SLAs.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822417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Managed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Budget for monthly fixed cost and x% of variance cost.</a:t>
                      </a:r>
                    </a:p>
                    <a:p>
                      <a:r>
                        <a:rPr lang="en-US" dirty="0"/>
                        <a:t>Payment</a:t>
                      </a:r>
                      <a:r>
                        <a:rPr lang="en-IN" dirty="0"/>
                        <a:t> based on delivered units.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94072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Transaction 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Budget for a specific transaction volume band per agreed duration.</a:t>
                      </a:r>
                    </a:p>
                    <a:p>
                      <a:r>
                        <a:rPr lang="en-US" dirty="0"/>
                        <a:t>Payment based on transaction volume executed in agreed 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72868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Fixed Price 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/ limited budget with predicted needs for few years.</a:t>
                      </a:r>
                    </a:p>
                    <a:p>
                      <a:r>
                        <a:rPr lang="en-US" dirty="0"/>
                        <a:t>Payment based on Milestone/ project Completion.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002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Time &amp; Material(T&amp;M)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Floating budget.</a:t>
                      </a:r>
                    </a:p>
                    <a:p>
                      <a:r>
                        <a:rPr lang="en-IN" dirty="0"/>
                        <a:t>Payment based on Effort 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11909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Hybrid (T&amp;M for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 wise budget, Phase1: Floating budget Phase2 : Specific / limited budget.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Payment – Phase1 –Effort Based, Phase2 – Milestone / Project Completion.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754457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Dedicated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monthly budget.</a:t>
                      </a:r>
                    </a:p>
                    <a:p>
                      <a:r>
                        <a:rPr lang="en-IN" dirty="0"/>
                        <a:t>Payment based on resource.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18644"/>
                  </a:ext>
                </a:extLst>
              </a:tr>
              <a:tr h="505597">
                <a:tc gridSpan="2">
                  <a:txBody>
                    <a:bodyPr/>
                    <a:lstStyle/>
                    <a:p>
                      <a:r>
                        <a:rPr lang="en-IN" b="1" dirty="0"/>
                        <a:t>While we are open to any flexible model, we strongly prefer, outcome based pricing model substantiated by our open product driven solutioning that protect customer investments.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989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0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979</TotalTime>
  <Words>410</Words>
  <Application>Microsoft Office PowerPoint</Application>
  <PresentationFormat>On-screen Show (16:9)</PresentationFormat>
  <Paragraphs>89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Myriad Pro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120</cp:revision>
  <dcterms:created xsi:type="dcterms:W3CDTF">2020-09-08T11:22:38Z</dcterms:created>
  <dcterms:modified xsi:type="dcterms:W3CDTF">2023-03-31T08:49:02Z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