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12"/>
  </p:notesMasterIdLst>
  <p:handoutMasterIdLst>
    <p:handoutMasterId r:id="rId13"/>
  </p:handoutMasterIdLst>
  <p:sldIdLst>
    <p:sldId id="360" r:id="rId5"/>
    <p:sldId id="336" r:id="rId6"/>
    <p:sldId id="405" r:id="rId7"/>
    <p:sldId id="420" r:id="rId8"/>
    <p:sldId id="421" r:id="rId9"/>
    <p:sldId id="422" r:id="rId10"/>
    <p:sldId id="423" r:id="rId11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6DD9FF"/>
    <a:srgbClr val="5F5E5F"/>
    <a:srgbClr val="919D9D"/>
    <a:srgbClr val="F3F4F0"/>
    <a:srgbClr val="F3FDD3"/>
    <a:srgbClr val="000000"/>
    <a:srgbClr val="F37021"/>
    <a:srgbClr val="CCE0D7"/>
    <a:srgbClr val="E1E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4291" autoAdjust="0"/>
  </p:normalViewPr>
  <p:slideViewPr>
    <p:cSldViewPr snapToGrid="0">
      <p:cViewPr varScale="1">
        <p:scale>
          <a:sx n="104" d="100"/>
          <a:sy n="104" d="100"/>
        </p:scale>
        <p:origin x="68" y="9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6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E85B5817-9E14-4673-92EB-9ECDD66C37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1" r="13806" b="-2"/>
          <a:stretch/>
        </p:blipFill>
        <p:spPr>
          <a:xfrm>
            <a:off x="3078480" y="10"/>
            <a:ext cx="6065520" cy="51434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37DF7F-C465-4C61-8C40-6C5D6855FD92}"/>
              </a:ext>
            </a:extLst>
          </p:cNvPr>
          <p:cNvSpPr txBox="1"/>
          <p:nvPr/>
        </p:nvSpPr>
        <p:spPr>
          <a:xfrm>
            <a:off x="278320" y="870966"/>
            <a:ext cx="2578608" cy="8435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90000"/>
              </a:buClr>
              <a:buSzPct val="100000"/>
            </a:pPr>
            <a:r>
              <a:rPr lang="en-US" sz="2800" b="1" dirty="0">
                <a:solidFill>
                  <a:srgbClr val="C00000"/>
                </a:solidFill>
                <a:latin typeface="Raleway ExtraBold" panose="020B0903030101060003" pitchFamily="34" charset="0"/>
                <a:ea typeface="+mj-ea"/>
                <a:cs typeface="+mj-cs"/>
              </a:rPr>
              <a:t>Agenda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0CFBE8-FF4A-4E85-ABB0-D9E4CA2CA889}"/>
              </a:ext>
            </a:extLst>
          </p:cNvPr>
          <p:cNvSpPr txBox="1">
            <a:spLocks/>
          </p:cNvSpPr>
          <p:nvPr/>
        </p:nvSpPr>
        <p:spPr>
          <a:xfrm>
            <a:off x="278320" y="2038540"/>
            <a:ext cx="3178864" cy="24054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75000"/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233363" indent="-233363" algn="l" defTabSz="457200" rtl="0" eaLnBrk="1" latinLnBrk="0" hangingPunct="1">
              <a:spcBef>
                <a:spcPct val="20000"/>
              </a:spcBef>
              <a:buClr>
                <a:srgbClr val="DA291C"/>
              </a:buClr>
              <a:buSzPct val="80000"/>
              <a:buFont typeface="Wingdings" panose="05000000000000000000" pitchFamily="2" charset="2"/>
              <a:buChar char="u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461963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Clr>
                <a:srgbClr val="919D9D"/>
              </a:buClr>
              <a:buFont typeface="Arial" panose="020B0604020202020204" pitchFamily="34" charset="0"/>
              <a:buChar char="■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909638" indent="-21907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Rationale / Datafication</a:t>
            </a:r>
          </a:p>
          <a:p>
            <a:pPr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Raleway Medium"/>
            </a:endParaRPr>
          </a:p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Modules</a:t>
            </a:r>
          </a:p>
          <a:p>
            <a:pPr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Raleway Medium"/>
            </a:endParaRPr>
          </a:p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ROI</a:t>
            </a: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8279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fld id="{4D82F6D6-BD64-564F-BDB4-3E98167DF08D}" type="slidenum">
              <a:rPr lang="en-US" sz="1200">
                <a:solidFill>
                  <a:schemeClr val="tx1"/>
                </a:solidFill>
                <a:latin typeface="Calibri" panose="020F0502020204030204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FF6E38-F753-46CF-AFD0-097191BDF204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Rationale for Development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9D2A50-C641-DEB6-9A6B-86E3908CFBB5}"/>
              </a:ext>
            </a:extLst>
          </p:cNvPr>
          <p:cNvSpPr/>
          <p:nvPr/>
        </p:nvSpPr>
        <p:spPr>
          <a:xfrm>
            <a:off x="213360" y="558459"/>
            <a:ext cx="8814039" cy="4473809"/>
          </a:xfrm>
          <a:prstGeom prst="roundRect">
            <a:avLst/>
          </a:prstGeom>
          <a:solidFill>
            <a:schemeClr val="bg1">
              <a:lumMod val="9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Problem Statement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Appkube SRE currently support dynamic dashboarding – </a:t>
            </a:r>
            <a:r>
              <a:rPr lang="en-US" dirty="0" err="1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i.e</a:t>
            </a: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 we publish the Perf/ Availability/ Reliability / Security / Data Protection Dashboards in Catalogue and customer could hook/ enable them with discovered App/ Data service. This workflow still need some interactions from customers like enabling monitoring or setting up the different data collection technique(metrics / logs / Trace). We would like to make this process further seamless and automatic and deliver a more business-oriented customer journey reducing the infrastructure jargons. </a:t>
            </a:r>
            <a:endParaRPr lang="en-IN" dirty="0">
              <a:solidFill>
                <a:schemeClr val="tx1"/>
              </a:solidFill>
              <a:latin typeface="Cascadia Mono ExtraLight" panose="020B0609020000020004" pitchFamily="49" charset="0"/>
              <a:ea typeface="Cascadia Mono ExtraLight" panose="020B0609020000020004" pitchFamily="49" charset="0"/>
              <a:cs typeface="Cascadia Mono ExtraLight" panose="020B0609020000020004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C55AEE-CB5B-742E-9FFF-62DB7E1B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57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2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Key Objective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C55AEE-CB5B-742E-9FFF-62DB7E1B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57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CC5C23-856A-B993-2DC6-8F52F0201753}"/>
              </a:ext>
            </a:extLst>
          </p:cNvPr>
          <p:cNvSpPr/>
          <p:nvPr/>
        </p:nvSpPr>
        <p:spPr>
          <a:xfrm>
            <a:off x="213360" y="558459"/>
            <a:ext cx="8814039" cy="4473809"/>
          </a:xfrm>
          <a:prstGeom prst="roundRect">
            <a:avLst/>
          </a:prstGeom>
          <a:solidFill>
            <a:schemeClr val="bg1">
              <a:lumMod val="9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Deliver cloud App/Data Services explorers that integrates with Appkube CMDB and delivers business friendly visibility.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Cascadia Mono ExtraLight" panose="020B0609020000020004" pitchFamily="49" charset="0"/>
              <a:ea typeface="Cascadia Mono ExtraLight" panose="020B0609020000020004" pitchFamily="49" charset="0"/>
              <a:cs typeface="Cascadia Mono ExtraLight" panose="020B06090200000200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Auto discover / provision the log/trace data inside the asset discovery module so that Services Explorer should work.</a:t>
            </a:r>
          </a:p>
        </p:txBody>
      </p:sp>
    </p:spTree>
    <p:extLst>
      <p:ext uri="{BB962C8B-B14F-4D97-AF65-F5344CB8AC3E}">
        <p14:creationId xmlns:p14="http://schemas.microsoft.com/office/powerpoint/2010/main" val="3089967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Key Challenges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C55AEE-CB5B-742E-9FFF-62DB7E1B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57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CC5C23-856A-B993-2DC6-8F52F0201753}"/>
              </a:ext>
            </a:extLst>
          </p:cNvPr>
          <p:cNvSpPr/>
          <p:nvPr/>
        </p:nvSpPr>
        <p:spPr>
          <a:xfrm>
            <a:off x="213360" y="558459"/>
            <a:ext cx="8814039" cy="4473809"/>
          </a:xfrm>
          <a:prstGeom prst="roundRect">
            <a:avLst/>
          </a:prstGeom>
          <a:solidFill>
            <a:schemeClr val="bg1">
              <a:lumMod val="9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There are huge </a:t>
            </a:r>
            <a:r>
              <a:rPr lang="en-US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(UX </a:t>
            </a: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Design/ Programming ) effort requires to write a Cloud Service Explorer and there are thousands of cloud services for every cloud.</a:t>
            </a:r>
          </a:p>
          <a:p>
            <a:pPr algn="just"/>
            <a:endParaRPr lang="en-US" dirty="0">
              <a:solidFill>
                <a:schemeClr val="tx1"/>
              </a:solidFill>
              <a:latin typeface="Cascadia Mono ExtraLight" panose="020B0609020000020004" pitchFamily="49" charset="0"/>
              <a:ea typeface="Cascadia Mono ExtraLight" panose="020B0609020000020004" pitchFamily="49" charset="0"/>
              <a:cs typeface="Cascadia Mono Extra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284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Target Solution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C55AEE-CB5B-742E-9FFF-62DB7E1B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57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CC5C23-856A-B993-2DC6-8F52F0201753}"/>
              </a:ext>
            </a:extLst>
          </p:cNvPr>
          <p:cNvSpPr/>
          <p:nvPr/>
        </p:nvSpPr>
        <p:spPr>
          <a:xfrm>
            <a:off x="213360" y="558459"/>
            <a:ext cx="8814039" cy="4473809"/>
          </a:xfrm>
          <a:prstGeom prst="roundRect">
            <a:avLst/>
          </a:prstGeom>
          <a:solidFill>
            <a:schemeClr val="bg1">
              <a:lumMod val="9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Create interfaces in asset manager to auto discover/ provision log &amp; trace data collection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Create additional functionalities in our artifact editor so that we can build service explorer without putting huge programming effort as follows: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Create query proxy to collect data from API/Metric/Log /Trace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Separate AWSX-API , AWSX-Metric , AWSX-Logs , AWSX-Trace </a:t>
            </a:r>
            <a:r>
              <a:rPr lang="en-US" dirty="0" err="1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Api</a:t>
            </a: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 servers behind query proxy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Create UI interface to pass the API/METRIC/LOG/TRACE Query and hook in UI panel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In our Standalone UI , have the ability to render artifact </a:t>
            </a:r>
            <a:r>
              <a:rPr lang="en-US" dirty="0" err="1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json</a:t>
            </a: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 that is published from artifact editor.</a:t>
            </a:r>
          </a:p>
          <a:p>
            <a:pPr algn="just"/>
            <a:endParaRPr lang="en-US" dirty="0">
              <a:solidFill>
                <a:schemeClr val="tx1"/>
              </a:solidFill>
              <a:latin typeface="Cascadia Mono ExtraLight" panose="020B0609020000020004" pitchFamily="49" charset="0"/>
              <a:ea typeface="Cascadia Mono ExtraLight" panose="020B0609020000020004" pitchFamily="49" charset="0"/>
              <a:cs typeface="Cascadia Mono Extra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7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Expected Results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C55AEE-CB5B-742E-9FFF-62DB7E1B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57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CC5C23-856A-B993-2DC6-8F52F0201753}"/>
              </a:ext>
            </a:extLst>
          </p:cNvPr>
          <p:cNvSpPr/>
          <p:nvPr/>
        </p:nvSpPr>
        <p:spPr>
          <a:xfrm>
            <a:off x="213360" y="558459"/>
            <a:ext cx="8814039" cy="4473809"/>
          </a:xfrm>
          <a:prstGeom prst="roundRect">
            <a:avLst/>
          </a:prstGeom>
          <a:solidFill>
            <a:schemeClr val="bg1">
              <a:lumMod val="95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Create finer customer experience with cloud services explorer.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Reduce 50-60% programming / testing effort to develop service explorer as because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Query/</a:t>
            </a:r>
            <a:r>
              <a:rPr lang="en-US" dirty="0" err="1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Api’s</a:t>
            </a: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 get tested while developers write artifacts in artifacts editor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UI development only involves writing custom panel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No UI </a:t>
            </a:r>
            <a:r>
              <a:rPr lang="en-US" dirty="0" err="1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Api</a:t>
            </a: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 integration effort requires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scadia Mono ExtraLight" panose="020B0609020000020004" pitchFamily="49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Artifacts creator simply create explorer Apps in editor and publishes them so that standalone UI can consume.</a:t>
            </a:r>
          </a:p>
          <a:p>
            <a:pPr algn="just"/>
            <a:endParaRPr lang="en-US" dirty="0">
              <a:solidFill>
                <a:schemeClr val="tx1"/>
              </a:solidFill>
              <a:latin typeface="Cascadia Mono ExtraLight" panose="020B0609020000020004" pitchFamily="49" charset="0"/>
              <a:ea typeface="Cascadia Mono ExtraLight" panose="020B0609020000020004" pitchFamily="49" charset="0"/>
              <a:cs typeface="Cascadia Mono Extra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2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7065</TotalTime>
  <Words>385</Words>
  <Application>Microsoft Office PowerPoint</Application>
  <PresentationFormat>On-screen Show (16:9)</PresentationFormat>
  <Paragraphs>43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Cascadia Mono ExtraLight</vt:lpstr>
      <vt:lpstr>Helvetica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82</cp:revision>
  <dcterms:created xsi:type="dcterms:W3CDTF">2020-09-08T11:22:38Z</dcterms:created>
  <dcterms:modified xsi:type="dcterms:W3CDTF">2023-04-19T08:45:49Z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